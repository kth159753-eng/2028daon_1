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bd6a175424375" /><Relationship Type="http://schemas.openxmlformats.org/officeDocument/2006/relationships/extended-properties" Target="/docProps/app.xml" Id="R68dcf5b585af4da2" /><Relationship Type="http://schemas.openxmlformats.org/officeDocument/2006/relationships/officeDocument" Target="/ppt/presentation.xml" Id="Ra8c5429060d44a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33e65f9494151"/>
  </p:sldMasterIdLst>
  <p:notesMasterIdLst>
    <p:notesMasterId xmlns:r="http://schemas.openxmlformats.org/officeDocument/2006/relationships" r:id="R9894ba6ee3d34fd9"/>
  </p:notesMasterIdLst>
  <p:sldIdLst>
    <p:sldId xmlns:r="http://schemas.openxmlformats.org/officeDocument/2006/relationships" id="256" r:id="R78cabc6b07b74df2"/>
    <p:sldId xmlns:r="http://schemas.openxmlformats.org/officeDocument/2006/relationships" id="257" r:id="Receedf6c0e88435b"/>
    <p:sldId xmlns:r="http://schemas.openxmlformats.org/officeDocument/2006/relationships" id="258" r:id="Rcda019f8ef0b4e78"/>
  </p:sldIdLst>
  <p:sldSz cx="8591550" cy="7578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a45b26d7894078" /><Relationship Type="http://schemas.openxmlformats.org/officeDocument/2006/relationships/slideMaster" Target="/ppt/slideMasters/slideMaster1.xml" Id="R7fc33e65f9494151" /><Relationship Type="http://schemas.openxmlformats.org/officeDocument/2006/relationships/notesMaster" Target="/ppt/notesMasters/notesMaster1.xml" Id="R9894ba6ee3d34fd9" /><Relationship Type="http://schemas.openxmlformats.org/officeDocument/2006/relationships/presProps" Target="/ppt/presProps.xml" Id="Re0d5a24ea3a14ab1" /><Relationship Type="http://schemas.openxmlformats.org/officeDocument/2006/relationships/tableStyles" Target="/ppt/tableStyles.xml" Id="R7c105e27eb324b15" /><Relationship Type="http://schemas.openxmlformats.org/officeDocument/2006/relationships/slide" Target="/ppt/slides/slide1.xml" Id="R78cabc6b07b74df2" /><Relationship Type="http://schemas.openxmlformats.org/officeDocument/2006/relationships/slide" Target="/ppt/slides/slide2.xml" Id="Receedf6c0e88435b" /><Relationship Type="http://schemas.openxmlformats.org/officeDocument/2006/relationships/slide" Target="/ppt/slides/slide3.xml" Id="Rcda019f8ef0b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e0d5e05d4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e740ed2bd34169" /><Relationship Type="http://schemas.openxmlformats.org/officeDocument/2006/relationships/notesMaster" Target="/ppt/notesMasters/notesMaster1.xml" Id="Rd60abccf5ec6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fc4b27af441f7" /><Relationship Type="http://schemas.openxmlformats.org/officeDocument/2006/relationships/notesMaster" Target="/ppt/notesMasters/notesMaster1.xml" Id="R4784edb69179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fe14ececc24c32" /><Relationship Type="http://schemas.openxmlformats.org/officeDocument/2006/relationships/notesMaster" Target="/ppt/notesMasters/notesMaster1.xml" Id="Rf8c50b143513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교육부·대교협 2028학년도 대학입학전형시행계획 발표 보도자료 3~4쪽. 인원과 비율은 원문 정시 항목 발췌. 전형기간 자율화 전형은 전형유형에 따라 분리 반영하며 수능위주는 정시에 포함. 표와 집필 원고는 각각 편집 가능한 개별 객체임.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2028학년도 정시모집 인원은 66,894명으로 전년보다 1,240명 감소하였다. 이 가운데 수능위주 전형은 61,779명으로 정시 전체의 92.4%를 차지한다. 전년보다 1,416명 줄고 비율도 0.4%p 낮아졌지만, 수능위주로 선발하는 기조는 유지된다.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수능위주 전형의 감소인원이 정시 전체 감소인원보다 많은 것은 학생부교과전형이 282명 증가하여 다른 전형의 감소분을 일부 상쇄했기 때문이다. 학생부교과전형은 510명으로 늘었으나, 정시 전체에서 차지하는 비율은 0.8%이다.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따라서 정시 지원에서는 수능 성적을 중심으로 판단하되 대학별 전형방법을 함께 확인해야 한다. ‘수능위주’라는 분류만으로 수능 100% 전형이라고 해석해서는 안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교육부·대교협 2028학년도 대학입학전형시행계획 발표 보도자료 3~4쪽. 인원과 비율은 원문 정시 항목 발췌. 전형기간 자율화 전형은 전형유형에 따라 분리 반영하며 수능위주는 정시에 포함. 표와 집필 원고는 각각 편집 가능한 개별 객체임.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2028학년도 수도권 정시모집 인원은 45,037명으로 전년보다 994명 감소하였다. 전국 정시 감소인원 1,240명 가운데 994명이 수도권에서 줄어든 것이다. 수도권과 비수도권 모두 정시 인원이 감소했으나, 감소 규모는 수도권이 더 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수도권 수능위주 전형은 42,314명으로 전년보다 961명 감소하였다. 수도권 정시 전체 감소인원 994명의 대부분이 수능위주 전형에서 발생한 셈이다. 다만 수능위주 전형의 비율은 원문 표시 기준으로 두 학년도 모두 94.0%이다.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실기/실적위주는 32명, 학생부교과는 3명 감소하였고, 학생부종합은 60명으로 동일하다. 수도권 정시의 전체 규모는 줄었지만, 수능위주 전형에 집중된 선발 구조는 이어지고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교육부·대교협 2028학년도 대학입학전형시행계획 발표 보도자료 3~4쪽. 인원과 비율은 원문 정시 항목 발췌. 전형기간 자율화 전형은 전형유형에 따라 분리 반영하며 수능위주는 정시에 포함. 표와 집필 원고는 각각 편집 가능한 개별 객체임.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2028학년도 비수도권 정시모집 인원은 21,857명으로 전년보다 246명 감소하였다. 수능위주 전형은 19,465명으로 455명 줄었으며, 비수도권 정시에서 차지하는 비율도 90.1%에서 89.1%로 1.0%p 낮아졌다.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수능위주 전형의 감소폭에 비해 정시 전체 감소폭이 작은 것은 학생부교과전형이 157명에서 442명으로 285명 증가했기 때문이다. 교과전형 비율도 0.7%에서 2.0%로 높아졌다. 전국 정시 교과전형의 증가인원 282명은 비수도권 285명 증가와 수도권 3명 감소가 합쳐진 결과이다.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비수도권에서도 수능위주 전형이 정시 선발의 중심이지만, 전형 구성의 변화는 수도권과 다르다. 전체 인원의 감소만 보기보다 지원 대학의 전형유형과 모집인원 변화를 함께 살펴볼 필요가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6913cca864d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4338ef8e544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d02513c6a46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229ddaf0c46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784cd43264b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6e4269ae841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20D953-402B-4926-83FA-83769443C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9155" y="2863074"/>
            <a:ext cx="6873240" cy="1094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2E2D22-D601-40B2-835C-33D367E290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8733" y="4168299"/>
            <a:ext cx="6014085" cy="842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D1CF14-1EEA-40C0-84E5-0389A792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9155" y="3157802"/>
            <a:ext cx="6873240" cy="1263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6498AF-B331-49AE-86C5-EE61321D5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275" y="589456"/>
            <a:ext cx="7625001" cy="92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78D956-F3CC-4D9A-9460-67D4E2810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275" y="2105201"/>
            <a:ext cx="7625001" cy="471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109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75880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90669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05458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20247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35035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49824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64613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87940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AAC05D-DFDC-415E-AD45-21B1F93CB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275" y="589456"/>
            <a:ext cx="7625001" cy="92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786D93-AEB1-430C-9D0B-ABA487EBB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275" y="2105201"/>
            <a:ext cx="3544014" cy="471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109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75880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90669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05458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20247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35035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49824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64613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87940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29296E-0507-4299-92CF-90E2A7C9AD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64261" y="2105201"/>
            <a:ext cx="3544014" cy="471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109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75880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90669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05458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20247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35035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49824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64613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87940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744CCF-B5ED-488A-B19D-9CBA79B75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275" y="589456"/>
            <a:ext cx="7625001" cy="92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7730C8-DC6C-4D02-96FC-1C8CDBDCB6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275" y="2105201"/>
            <a:ext cx="3544014" cy="4715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109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75880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90669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05458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20247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35035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49824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64613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879402" indent="-161092" algn="l">
              <a:lnSpc>
                <a:spcPct val="110000"/>
              </a:lnSpc>
              <a:spcBef>
                <a:spcPts val="0"/>
              </a:spcBef>
              <a:spcAft>
                <a:spcPts val="846"/>
              </a:spcAft>
              <a:buChar char="•"/>
              <a:defRPr sz="1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ee0286b084edf" /><Relationship Type="http://schemas.openxmlformats.org/officeDocument/2006/relationships/slideLayout" Target="/ppt/slideLayouts/slideLayout1.xml" Id="Rd6bcd9191a734d2b" /><Relationship Type="http://schemas.openxmlformats.org/officeDocument/2006/relationships/slideLayout" Target="/ppt/slideLayouts/slideLayout2.xml" Id="R6f51c22111014451" /><Relationship Type="http://schemas.openxmlformats.org/officeDocument/2006/relationships/slideLayout" Target="/ppt/slideLayouts/slideLayout3.xml" Id="R95439eb684184957" /><Relationship Type="http://schemas.openxmlformats.org/officeDocument/2006/relationships/slideLayout" Target="/ppt/slideLayouts/slideLayout4.xml" Id="Rcddb95ec59ce4481" /><Relationship Type="http://schemas.openxmlformats.org/officeDocument/2006/relationships/slideLayout" Target="/ppt/slideLayouts/slideLayout5.xml" Id="R47777d6252834e9b" /><Relationship Type="http://schemas.openxmlformats.org/officeDocument/2006/relationships/slideLayout" Target="/ppt/slideLayouts/slideLayout6.xml" Id="Rf4d59bb72ead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bcd9191a734d2b"/>
    <p:sldLayoutId xmlns:r="http://schemas.openxmlformats.org/officeDocument/2006/relationships" id="2147483650" r:id="R6f51c22111014451"/>
    <p:sldLayoutId xmlns:r="http://schemas.openxmlformats.org/officeDocument/2006/relationships" id="2147483651" r:id="R95439eb684184957"/>
    <p:sldLayoutId xmlns:r="http://schemas.openxmlformats.org/officeDocument/2006/relationships" id="2147483652" r:id="Rcddb95ec59ce4481"/>
    <p:sldLayoutId xmlns:r="http://schemas.openxmlformats.org/officeDocument/2006/relationships" id="2147483653" r:id="R47777d6252834e9b"/>
    <p:sldLayoutId xmlns:r="http://schemas.openxmlformats.org/officeDocument/2006/relationships" id="2147483654" r:id="Rf4d59bb72ead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dec52cc5341c9" /><Relationship Type="http://schemas.openxmlformats.org/officeDocument/2006/relationships/notesSlide" Target="/ppt/notesSlides/notesSlide1.xml" Id="R33d567b142b5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961593b784119" /><Relationship Type="http://schemas.openxmlformats.org/officeDocument/2006/relationships/notesSlide" Target="/ppt/notesSlides/notesSlide2.xml" Id="Rf71e24605e9a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8fae389ee4d33" /><Relationship Type="http://schemas.openxmlformats.org/officeDocument/2006/relationships/notesSlide" Target="/ppt/notesSlides/notesSlide3.xml" Id="R67d9b12e71a741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8DFF6-0CE8-4413-AF58-1106B97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8600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2028학년도 정시모집 전형유형과 권역별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FA096-20C0-49FA-BAE0-AB64E3D6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838200"/>
            <a:ext cx="7953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1  정시모집 수능위주 선발 기조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BE311-FCA5-4B85-A99B-9F3ECCB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43025"/>
            <a:ext cx="795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전국 정시모집 전형유형별 모집인원  (단위: 명, %)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60F12-06D3-4F7B-A648-A36AA35C888C}"/>
              </a:ext>
            </a:extLst>
          </p:cNvPr>
          <p:cNvGraphicFramePr/>
          <p:nvPr/>
        </p:nvGraphicFramePr>
        <p:xfrm>
          <a:off xmlns:a="http://schemas.openxmlformats.org/drawingml/2006/main" x="314325" y="1685925"/>
          <a:ext xmlns:a="http://schemas.openxmlformats.org/drawingml/2006/main" cx="7953375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143125"/>
                <a:gridCol w="2143125"/>
                <a:gridCol w="123825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63,195 (92.8%)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61,779 (92.4%)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-1,416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4,574 (6.7%)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4,484 (6.7%)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-90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228 (0.3%)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510 (0.8%)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+282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 (0.2%)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 (0.2%)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정시 합계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68,134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66,894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-1,240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29B5E-950B-4C51-A7C8-25066172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29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주: 괄호 안은 전국 정시 전체 대비 비율이며, 반올림으로 합계가 100.0%와 다를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57711-DF29-4981-8B80-0A00FCDD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03872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2028학년도 정시모집 인원은 66,894명으로 전년보다 1,240명 감소하였다. 이 가운데 수능위주 전형은 61,779명으로 정시 전체의 92.4%를 차지한다. 전년보다 1,416명 줄고 비율도 0.4%p 낮아졌지만, 수능위주로 선발하는 기조는 유지된다.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B1336-788F-4AEB-A906-D5BAB0FA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53100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수능위주 전형의 감소인원이 정시 전체 감소인원보다 많은 것은 학생부교과전형이 282명 증가하여 다른 전형의 감소분을 일부 상쇄했기 때문이다. 학생부교과전형은 510명으로 늘었으나, 정시 전체에서 차지하는 비율은 0.8%이다.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D416C-530F-4B40-A31C-EA1A929D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따라서 정시 지원에서는 수능 성적을 중심으로 판단하되 대학별 전형방법을 함께 확인해야 한다. ‘수능위주’라는 분류만으로 수능 100% 전형이라고 해석해서는 안 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07C9E-C5EB-4A12-9987-E5228669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286625"/>
            <a:ext cx="795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출처: 대교협 2028학년도 대학입학전형시행계획 발표, 3~4쪽. 기준: 2026. 4. 29. 09시.</a:t>
            </a:r>
          </a:p>
        </p:txBody>
      </p:sp>
    </p:spTree>
    <p:extLst>
      <p:ext uri="{BB962C8B-B14F-4D97-AF65-F5344CB8AC3E}">
        <p14:creationId xmlns:p14="http://schemas.microsoft.com/office/powerpoint/2010/main" val="1001584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581E8-2278-47E0-8AF7-16207EB0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8600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2028학년도 정시모집 전형유형과 권역별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89523-A063-4DBF-B0AD-2E67F2C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838200"/>
            <a:ext cx="7953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  수도권 정시 수능위주 비율 94.0%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B20C8-6480-4387-AABA-97C4385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43025"/>
            <a:ext cx="795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수도권 정시모집 전형유형별 모집인원  (단위: 명, %)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AE7AF-EC10-406C-957B-BE8F3BC42D59}"/>
              </a:ext>
            </a:extLst>
          </p:cNvPr>
          <p:cNvGraphicFramePr/>
          <p:nvPr/>
        </p:nvGraphicFramePr>
        <p:xfrm>
          <a:off xmlns:a="http://schemas.openxmlformats.org/drawingml/2006/main" x="314325" y="1685925"/>
          <a:ext xmlns:a="http://schemas.openxmlformats.org/drawingml/2006/main" cx="7953375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143125"/>
                <a:gridCol w="2143125"/>
                <a:gridCol w="123825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43,275 (94.0%)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42,314 (94.0%)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-961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2,612 (5.7%)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2,580 (5.7%)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 (0.2%)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 (0.2%)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 (0.1%)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 (0.1%)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수도권 정시 합계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46,031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45,037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-994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83FE-4634-47C3-AE0F-923E468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29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주: 괄호 안은 수도권 정시 전체 대비 비율이며, 반올림으로 합계가 100.0%와 다를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78687-DBA1-4B8D-918B-0D0714A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03872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2028학년도 수도권 정시모집 인원은 45,037명으로 전년보다 994명 감소하였다. 전국 정시 감소인원 1,240명 가운데 994명이 수도권에서 줄어든 것이다. 수도권과 비수도권 모두 정시 인원이 감소했으나, 감소 규모는 수도권이 더 크다.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2A6F9-BCDB-467C-9C94-BFA775C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53100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수도권 수능위주 전형은 42,314명으로 전년보다 961명 감소하였다. 수도권 정시 전체 감소인원 994명의 대부분이 수능위주 전형에서 발생한 셈이다. 다만 수능위주 전형의 비율은 원문 표시 기준으로 두 학년도 모두 94.0%이다.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187B-6F44-407C-BC19-8428DB5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실기/실적위주는 32명, 학생부교과는 3명 감소하였고, 학생부종합은 60명으로 동일하다. 수도권 정시의 전체 규모는 줄었지만, 수능위주 전형에 집중된 선발 구조는 이어지고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1926C-1678-4E46-B514-A0D05697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286625"/>
            <a:ext cx="795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출처: 대교협 2028학년도 대학입학전형시행계획 발표, 3~4쪽. 기준: 2026. 4. 29. 09시.</a:t>
            </a:r>
          </a:p>
        </p:txBody>
      </p:sp>
    </p:spTree>
    <p:extLst>
      <p:ext uri="{BB962C8B-B14F-4D97-AF65-F5344CB8AC3E}">
        <p14:creationId xmlns:p14="http://schemas.microsoft.com/office/powerpoint/2010/main" val="1537873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954CF-0B20-4A8A-99BF-B908FF3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8600"/>
            <a:ext cx="795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2028학년도 정시모집 전형유형과 권역별 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1E85E-DE4A-4A0D-8582-1238BC7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838200"/>
            <a:ext cx="7953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3  비수도권 정시 감소 속 교과전형 증가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8CEA4-5883-4EB9-B116-99490C6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43025"/>
            <a:ext cx="795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비수도권 정시모집 전형유형별 모집인원  (단위: 명, %)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C118C-C6B4-48F5-91E8-4D2CD1D7D0B1}"/>
              </a:ext>
            </a:extLst>
          </p:cNvPr>
          <p:cNvGraphicFramePr/>
          <p:nvPr/>
        </p:nvGraphicFramePr>
        <p:xfrm>
          <a:off xmlns:a="http://schemas.openxmlformats.org/drawingml/2006/main" x="314325" y="1685925"/>
          <a:ext xmlns:a="http://schemas.openxmlformats.org/drawingml/2006/main" cx="7953375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143125"/>
                <a:gridCol w="2143125"/>
                <a:gridCol w="123825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전형유형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2028학년도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증감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T w="6191">
                      <a:solidFill>
                        <a:srgbClr val="B8C1CC"/>
                      </a:solidFill>
                      <a:prstDash val="solid"/>
                    </a:lnT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수능위주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19,920 (90.1%)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19,465 (89.1%)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-455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실기/실적위주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1,962 (8.9%)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1,904 (8.7%)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-58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학생부위주(교과)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 (0.7%)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442 (2.0%)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04E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+285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학생부위주(종합)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 (0.3%)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 (0.2%)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-15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(0.0%)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비수도권 정시 합계</a:t>
                      </a:r>
                    </a:p>
                  </a:txBody>
                  <a:tcPr marL="76200" marR="76200" marT="38100" marB="38100" anchor="ctr">
                    <a:lnL w="6191">
                      <a:solidFill>
                        <a:srgbClr val="B8C1CC"/>
                      </a:solidFill>
                      <a:prstDash val="solid"/>
                    </a:lnL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22,103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21,857 (100.0%)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-246</a:t>
                      </a:r>
                    </a:p>
                  </a:txBody>
                  <a:tcPr marL="76200" marR="76200" marT="38100" marB="38100" anchor="ctr">
                    <a:lnR w="6191">
                      <a:solidFill>
                        <a:srgbClr val="B8C1CC"/>
                      </a:solidFill>
                      <a:prstDash val="solid"/>
                    </a:lnR>
                    <a:lnB w="6191">
                      <a:solidFill>
                        <a:srgbClr val="B8C1CC"/>
                      </a:solidFill>
                      <a:prstDash val="solid"/>
                    </a:lnB>
                    <a:solidFill>
                      <a:srgbClr val="E4EA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1D96F-2D6B-4E36-9A09-CBFD08F2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29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주: 괄호 안은 비수도권 정시 전체 대비 비율이며, 반올림으로 합계가 100.0%와 다를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EEF47-8FE9-4CCF-ACA1-F81B8A2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03872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2028학년도 비수도권 정시모집 인원은 21,857명으로 전년보다 246명 감소하였다. 수능위주 전형은 19,465명으로 455명 줄었으며, 비수도권 정시에서 차지하는 비율도 90.1%에서 89.1%로 1.0%p 낮아졌다.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AA730-7853-4334-94D1-698C37C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53100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수능위주 전형의 감소폭에 비해 정시 전체 감소폭이 작은 것은 학생부교과전형이 157명에서 442명으로 285명 증가했기 때문이다. 교과전형 비율도 0.7%에서 2.0%로 높아졌다. 전국 정시 교과전형의 증가인원 282명은 비수도권 285명 증가와 수도권 3명 감소가 합쳐진 결과이다.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7F4B0-803E-4483-BF3C-903F18D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467475"/>
            <a:ext cx="7953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23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비수도권에서도 수능위주 전형이 정시 선발의 중심이지만, 전형 구성의 변화는 수도권과 다르다. 전체 인원의 감소만 보기보다 지원 대학의 전형유형과 모집인원 변화를 함께 살펴볼 필요가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251F1-858A-4009-8E8C-8CE67193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7286625"/>
            <a:ext cx="795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출처: 대교협 2028학년도 대학입학전형시행계획 발표, 3~4쪽. 기준: 2026. 4. 29. 09시.</a:t>
            </a:r>
          </a:p>
        </p:txBody>
      </p:sp>
    </p:spTree>
    <p:extLst>
      <p:ext uri="{BB962C8B-B14F-4D97-AF65-F5344CB8AC3E}">
        <p14:creationId xmlns:p14="http://schemas.microsoft.com/office/powerpoint/2010/main" val="1719929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2026-10-19T00:29:41.8800000Z</dcterms:created>
  <dcterms:modified xsi:type="dcterms:W3CDTF">2026-10-19T00:29:41.8800000Z</dcterms:modified>
</coreProperties>
</file>