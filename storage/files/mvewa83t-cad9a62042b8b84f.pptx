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1430000" cy="10082213"/>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2" y="3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수능 성적과 전형의 조건을 함께 읽는다</a:t>
            </a:r>
          </a:p>
          <a:p>
            <a:r>
              <a:t>SEN 183·204·211·257쪽</a:t>
            </a:r>
          </a:p>
          <a:p>
            <a:r>
              <a:t>인천 18~20쪽</a:t>
            </a:r>
          </a:p>
          <a:p>
            <a:endParaRPr/>
          </a:p>
          <a:p>
            <a:endParaRPr/>
          </a:p>
          <a:p>
            <a:r>
              <a:t>2028학년도 정시는 하나의 선발 방식으로 설명하기 어렵다. 수능 100% 전형이 유지되는 한편, 학생부를 함께 반영하거나 수능을 최저학력기준으로 활용하는 전형도 운영된다. 같은 대학의 전형이라도 지원자격과 평가방식이 달라질 수 있다.</a:t>
            </a:r>
          </a:p>
          <a:p>
            <a:endParaRPr/>
          </a:p>
          <a:p>
            <a:r>
              <a:t>따라서 대학 이름을 고르기 전에 전형을 구분해야 한다. 지원자격, 선발 단계, 학생부 평가방법, 수능 활용지표, 탐구 반영방식의 순서로 확인하면 대학별 차이를 구체적으로 파악할 수 있다.</a:t>
            </a:r>
          </a:p>
          <a:p>
            <a:endParaRPr/>
          </a:p>
          <a:p>
            <a:r>
              <a:t>전형 수를 세기 전에 비교 기준을 정한다</a:t>
            </a:r>
          </a:p>
          <a:p>
            <a:r>
              <a:t>첨부 엑셀 00_기준·01_군별합계·02_전형상세</a:t>
            </a:r>
          </a:p>
          <a:p>
            <a:r>
              <a:t>각 대학 2028 시행계획</a:t>
            </a:r>
          </a:p>
          <a:p>
            <a:r>
              <a:t>주력 구조 수는 대학 전체의 공식 정시 전형 총개수가 아님. 숙명여대는 동일 전형 안에서 모집군별 방법이 다름.</a:t>
            </a:r>
          </a:p>
          <a:p>
            <a:endParaRPr/>
          </a:p>
          <a:p>
            <a:r>
              <a:t>뒤의 숫자는 대학이 운영하는 모든 정시 전형의 총개수가 아니라 주력 선발구조의 수이다. 동일한 일반전형이 여러 모집군에서 운영되면 하나로 묶고, 대학이 별도 명칭으로 구분한 주력 유형은 나누었다. 전형유형의 수와 지원 가능한 원서 수는 같지 않다.</a:t>
            </a:r>
          </a:p>
          <a:p>
            <a:endParaRPr/>
          </a:p>
          <a:p>
            <a:r>
              <a:t>지원 가능 표시는 국내 고교의 일반적인 졸업(예정)자 기준이다. 고교 유형, 성적 기재 학기, 추천, 성별 등 세부 조건은 해당 전형의 자격을 충족해야 한다. 인원은 시행계획 단계의 계획치이므로 최종 모집인원과 구분한다.</a:t>
            </a:r>
          </a:p>
          <a:p>
            <a:endParaRPr/>
          </a:p>
          <a:p>
            <a:r>
              <a:t>근거 원문 경로는 별도 근거목록 파일 참조</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전형수는 표에 기재한 정원내 주력 전형·유형의 수이다. 동일 일반전형의 모집군별 중복은 묶고, 특별전형 전체 총수와 구분했다.</a:t>
            </a:r>
          </a:p>
          <a:p>
            <a:endParaRPr/>
          </a:p>
          <a:p>
            <a:r>
              <a:t>비고의 현역·추천·신설·분리·이원화는 앞에 적힌 전형에 적용한다. 표시가 없더라도 성별, 고교 유형, 성적 기재 학기 및 필수 수능 응시영역을 충족해야 한다.</a:t>
            </a:r>
          </a:p>
          <a:p>
            <a:endParaRPr/>
          </a:p>
          <a:p>
            <a:r>
              <a:t>서울 / 건국대(서울)</a:t>
            </a:r>
          </a:p>
          <a:p>
            <a:r>
              <a:t>전형수 1: KU일반</a:t>
            </a:r>
          </a:p>
          <a:p>
            <a:r>
              <a:t>선발구조: 일반 인문·자연 수능 100 / 다군 단과대학 자유전공만 수능 90+교과정성 10</a:t>
            </a:r>
          </a:p>
          <a:p>
            <a:r>
              <a:t>비고: —</a:t>
            </a:r>
          </a:p>
          <a:p>
            <a:r>
              <a:t>근거: 각 대학 2028 시행계획·SEN 대학별 정시 전형방법; 원문 경로는 기존 근거목록 참조</a:t>
            </a:r>
          </a:p>
          <a:p>
            <a:endParaRPr/>
          </a:p>
          <a:p>
            <a:r>
              <a:t>서울 / 경희대(서울)</a:t>
            </a:r>
          </a:p>
          <a:p>
            <a:r>
              <a:t>전형수 2: 수능·학생부형 / 수능형</a:t>
            </a:r>
          </a:p>
          <a:p>
            <a:r>
              <a:t>선발구조: 수능·학생부형: 수능 90+교과 5+출결 2.5+봉사 2.5 / 수능형: 수능 100</a:t>
            </a:r>
          </a:p>
          <a:p>
            <a:r>
              <a:t>비고: 일반: 이원화</a:t>
            </a:r>
          </a:p>
          <a:p>
            <a:r>
              <a:t>근거: 각 대학 2028 시행계획·SEN 대학별 정시 전형방법; 원문 경로는 기존 근거목록 참조; 비고 근거: SEN 131쪽(정시 일반전형 이원화)</a:t>
            </a:r>
          </a:p>
          <a:p>
            <a:endParaRPr/>
          </a:p>
          <a:p>
            <a:r>
              <a:t>서울 / 고려대(안암)</a:t>
            </a:r>
          </a:p>
          <a:p>
            <a:r>
              <a:t>전형수 2: 일반 / 교과우수</a:t>
            </a:r>
          </a:p>
          <a:p>
            <a:r>
              <a:t>선발구조: 일반 수능 100 / 교과우수 수능 80+교과 20</a:t>
            </a:r>
          </a:p>
          <a:p>
            <a:r>
              <a:t>비고: 교과우수: 현역</a:t>
            </a:r>
          </a:p>
          <a:p>
            <a:r>
              <a:t>근거: 각 대학 2028 시행계획·SEN 대학별 정시 전형방법; 원문 경로는 기존 근거목록 참조; 비고 근거: 원문 PDF 26쪽(국내고·2028년 2월 졸업·6학기)</a:t>
            </a:r>
          </a:p>
          <a:p>
            <a:endParaRPr/>
          </a:p>
          <a:p>
            <a:r>
              <a:t>서울 / 광운대</a:t>
            </a:r>
          </a:p>
          <a:p>
            <a:r>
              <a:t>전형수 1: 일반학생</a:t>
            </a:r>
          </a:p>
          <a:p>
            <a:r>
              <a:t>선발구조: 일반 인문·자연 수능 100</a:t>
            </a:r>
          </a:p>
          <a:p>
            <a:r>
              <a:t>비고: —</a:t>
            </a:r>
          </a:p>
          <a:p>
            <a:r>
              <a:t>근거: 각 대학 2028 시행계획·SEN 대학별 정시 전형방법; 원문 경로는 기존 근거목록 참조</a:t>
            </a:r>
          </a:p>
          <a:p>
            <a:endParaRPr/>
          </a:p>
          <a:p>
            <a:r>
              <a:t>서울 / 국민대</a:t>
            </a:r>
          </a:p>
          <a:p>
            <a:r>
              <a:t>전형수 1: 일반</a:t>
            </a:r>
          </a:p>
          <a:p>
            <a:r>
              <a:t>선발구조: 일반 인문·자연 수능 100, 탐구 1</a:t>
            </a:r>
          </a:p>
          <a:p>
            <a:r>
              <a:t>비고: —</a:t>
            </a:r>
          </a:p>
          <a:p>
            <a:r>
              <a:t>근거: 각 대학 2028 시행계획·SEN 대학별 정시 전형방법; 원문 경로는 기존 근거목록 참조</a:t>
            </a:r>
          </a:p>
          <a:p>
            <a:endParaRPr/>
          </a:p>
          <a:p>
            <a:r>
              <a:t>서울 / 덕성여대</a:t>
            </a:r>
          </a:p>
          <a:p>
            <a:r>
              <a:t>전형수 2: 수능우수Ⅰ / 수능우수Ⅱ</a:t>
            </a:r>
          </a:p>
          <a:p>
            <a:r>
              <a:t>선발구조: Ⅰ 수능 100 / Ⅱ 수능 90+교과 10 / 진로선택 이수학점 가산 별도</a:t>
            </a:r>
          </a:p>
          <a:p>
            <a:r>
              <a:t>비고: —</a:t>
            </a:r>
          </a:p>
          <a:p>
            <a:r>
              <a:t>근거: 원문 PDF 17쪽; SEN 158쪽</a:t>
            </a:r>
          </a:p>
          <a:p>
            <a:endParaRPr/>
          </a:p>
          <a:p>
            <a:r>
              <a:t>서울 / 동국대(서울)</a:t>
            </a:r>
          </a:p>
          <a:p>
            <a:r>
              <a:t>전형수 1: 일반</a:t>
            </a:r>
          </a:p>
          <a:p>
            <a:r>
              <a:t>선발구조: 일반 인문·자연 수능 80+학생부평가 20</a:t>
            </a:r>
          </a:p>
          <a:p>
            <a:r>
              <a:t>비고: —</a:t>
            </a:r>
          </a:p>
          <a:p>
            <a:r>
              <a:t>근거: 각 대학 2028 시행계획·SEN 대학별 정시 전형방법; 원문 경로는 기존 근거목록 참조</a:t>
            </a:r>
          </a:p>
          <a:p>
            <a:endParaRPr/>
          </a:p>
          <a:p>
            <a:r>
              <a:t>서울 / 동덕여대</a:t>
            </a:r>
          </a:p>
          <a:p>
            <a:r>
              <a:t>전형수 1: 수능우수자</a:t>
            </a:r>
          </a:p>
          <a:p>
            <a:r>
              <a:t>선발구조: 인문·자연 수능 100</a:t>
            </a:r>
          </a:p>
          <a:p>
            <a:r>
              <a:t>비고: —</a:t>
            </a:r>
          </a:p>
          <a:p>
            <a:r>
              <a:t>근거: 원문 수능우수자 안내; SEN 165쪽</a:t>
            </a:r>
          </a:p>
          <a:p>
            <a:endParaRPr/>
          </a:p>
          <a:p>
            <a:r>
              <a:t>서울 / 명지대(인문)</a:t>
            </a:r>
          </a:p>
          <a:p>
            <a:r>
              <a:t>전형수 1: 일반</a:t>
            </a:r>
          </a:p>
          <a:p>
            <a:r>
              <a:t>선발구조: 수능 90+출결 10</a:t>
            </a:r>
          </a:p>
          <a:p>
            <a:r>
              <a:t>비고: —</a:t>
            </a:r>
          </a:p>
          <a:p>
            <a:r>
              <a:t>근거: 원문 PDF 3·5쪽; SEN 168쪽</a:t>
            </a:r>
          </a:p>
          <a:p>
            <a:endParaRPr/>
          </a:p>
          <a:p>
            <a:r>
              <a:t>서울 / 상명대(서울)</a:t>
            </a:r>
          </a:p>
          <a:p>
            <a:r>
              <a:t>전형수 1: 수능</a:t>
            </a:r>
          </a:p>
          <a:p>
            <a:r>
              <a:t>선발구조: 일반 인문·자연 수능 100</a:t>
            </a:r>
          </a:p>
          <a:p>
            <a:r>
              <a:t>비고: —</a:t>
            </a:r>
          </a:p>
          <a:p>
            <a:r>
              <a:t>근거: 각 대학 2028 시행계획·SEN 대학별 정시 전형방법; 원문 경로는 기존 근거목록 참조</a:t>
            </a:r>
          </a:p>
          <a:p>
            <a:endParaRPr/>
          </a:p>
          <a:p>
            <a:r>
              <a:t>서울 / 서강대</a:t>
            </a:r>
          </a:p>
          <a:p>
            <a:r>
              <a:t>전형수 2: 일반 / 지역균형</a:t>
            </a:r>
          </a:p>
          <a:p>
            <a:r>
              <a:t>선발구조: 일반 수능 100 / 지역균형 수능 80+교과 10+출결 10</a:t>
            </a:r>
          </a:p>
          <a:p>
            <a:r>
              <a:t>비고: 지역균형: 현역·추천·신설</a:t>
            </a:r>
          </a:p>
          <a:p>
            <a:r>
              <a:t>근거: 각 대학 2028 시행계획·SEN 대학별 정시 전형방법; 원문 경로는 기존 근거목록 참조; 비고 근거: 원문 PDF 18~19쪽; SEN 183쪽(현역·추천·신설)</a:t>
            </a:r>
          </a:p>
          <a:p>
            <a:endParaRPr/>
          </a:p>
          <a:p>
            <a:r>
              <a:t>서울 / 서경대</a:t>
            </a:r>
          </a:p>
          <a:p>
            <a:r>
              <a:t>전형수 1: 수능우수자</a:t>
            </a:r>
          </a:p>
          <a:p>
            <a:r>
              <a:t>선발구조: 수능우수자 모집단위 수능 100 / 실기·군사 별도</a:t>
            </a:r>
          </a:p>
          <a:p>
            <a:r>
              <a:t>비고: —</a:t>
            </a:r>
          </a:p>
          <a:p>
            <a:r>
              <a:t>근거: 원문 PDF 12쪽; SEN 186쪽</a:t>
            </a:r>
          </a:p>
          <a:p>
            <a:endParaRPr/>
          </a:p>
          <a:p>
            <a:r>
              <a:t>서울 / 서울과학기술대</a:t>
            </a:r>
          </a:p>
          <a:p>
            <a:r>
              <a:t>전형수 1: 일반</a:t>
            </a:r>
          </a:p>
          <a:p>
            <a:r>
              <a:t>선발구조: 일반 인문·자연 수능 100</a:t>
            </a:r>
          </a:p>
          <a:p>
            <a:r>
              <a:t>비고: —</a:t>
            </a:r>
          </a:p>
          <a:p>
            <a:r>
              <a:t>근거: 각 대학 2028 시행계획·SEN 대학별 정시 전형방법; 원문 경로는 기존 근거목록 참조</a:t>
            </a:r>
          </a:p>
          <a:p>
            <a:endParaRPr/>
          </a:p>
          <a:p>
            <a:r>
              <a:t>서울 / 서울대</a:t>
            </a:r>
          </a:p>
          <a:p>
            <a:r>
              <a:t>전형수 1: 일반</a:t>
            </a:r>
          </a:p>
          <a:p>
            <a:r>
              <a:t>선발구조: 일반 대부분: 1단계 수능 100(3배수) / 2단계 수능 60+교과역량 40</a:t>
            </a:r>
          </a:p>
          <a:p>
            <a:r>
              <a:t>비고: —</a:t>
            </a:r>
          </a:p>
          <a:p>
            <a:r>
              <a:t>근거: 각 대학 2028 시행계획·SEN 대학별 정시 전형방법; 원문 경로는 기존 근거목록 참조</a:t>
            </a:r>
          </a:p>
          <a:p>
            <a:endParaRPr/>
          </a:p>
          <a:p>
            <a:r>
              <a:t>전형수=표의 주력 유형 수(군 중복 통합, 특별·예체능·군사·계약·이월 제외). 현역=졸업예정자 한정, 추천=학교장 추천.</a:t>
            </a:r>
          </a:p>
          <a:p>
            <a:r>
              <a:t>신설·분리·이원화는 명시된 전형에 적용. —=키워드 표시 없음. 지역은 캠퍼스·본부 기준(성균관대·경기대는 서울·경기 통합). 성별·고교유형 등 세부조건 별도.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전형수는 표에 기재한 정원내 주력 전형·유형의 수이다. 동일 일반전형의 모집군별 중복은 묶고, 특별전형 전체 총수와 구분했다.</a:t>
            </a:r>
          </a:p>
          <a:p>
            <a:endParaRPr/>
          </a:p>
          <a:p>
            <a:r>
              <a:t>비고의 현역·추천·신설·분리·이원화는 앞에 적힌 전형에 적용한다. 표시가 없더라도 성별, 고교 유형, 성적 기재 학기 및 필수 수능 응시영역을 충족해야 한다.</a:t>
            </a:r>
          </a:p>
          <a:p>
            <a:endParaRPr/>
          </a:p>
          <a:p>
            <a:r>
              <a:t>서울 / 서울시립대</a:t>
            </a:r>
          </a:p>
          <a:p>
            <a:r>
              <a:t>전형수 1: 일반</a:t>
            </a:r>
          </a:p>
          <a:p>
            <a:r>
              <a:t>선발구조: 인문·자연 수능 80+교과 18+출결 2</a:t>
            </a:r>
          </a:p>
          <a:p>
            <a:r>
              <a:t>비고: —</a:t>
            </a:r>
          </a:p>
          <a:p>
            <a:r>
              <a:t>근거: 각 대학 2028 시행계획·SEN 대학별 정시 전형방법; 원문 경로는 기존 근거목록 참조</a:t>
            </a:r>
          </a:p>
          <a:p>
            <a:endParaRPr/>
          </a:p>
          <a:p>
            <a:r>
              <a:t>서울 / 서울여대</a:t>
            </a:r>
          </a:p>
          <a:p>
            <a:r>
              <a:t>전형수 1: 수능</a:t>
            </a:r>
          </a:p>
          <a:p>
            <a:r>
              <a:t>선발구조: 우수 영역 순 반영, 수학과 수학 필수</a:t>
            </a:r>
          </a:p>
          <a:p>
            <a:r>
              <a:t>비고: —</a:t>
            </a:r>
          </a:p>
          <a:p>
            <a:r>
              <a:t>근거: 각 대학 2028 시행계획·SEN 대학별 정시 전형방법; 원문 경로는 기존 근거목록 참조</a:t>
            </a:r>
          </a:p>
          <a:p>
            <a:endParaRPr/>
          </a:p>
          <a:p>
            <a:r>
              <a:t>서울 / 성균관대</a:t>
            </a:r>
          </a:p>
          <a:p>
            <a:r>
              <a:t>전형수 3: 일반형 / 특화형 / 융합인재</a:t>
            </a:r>
          </a:p>
          <a:p>
            <a:r>
              <a:t>선발구조: 일반형·특화형 수능 100 / 융합인재 학생부 100+수능최저</a:t>
            </a:r>
          </a:p>
          <a:p>
            <a:r>
              <a:t>비고: 일반형·특화형: 분리</a:t>
            </a:r>
          </a:p>
          <a:p>
            <a:r>
              <a:t>근거: 각 대학 2028 시행계획·SEN 대학별 정시 전형방법; 원문 경로는 기존 근거목록 참조; 비고 근거: SEN 204쪽(일반형·특화형 분리)</a:t>
            </a:r>
          </a:p>
          <a:p>
            <a:endParaRPr/>
          </a:p>
          <a:p>
            <a:r>
              <a:t>서울 / 성신여대</a:t>
            </a:r>
          </a:p>
          <a:p>
            <a:r>
              <a:t>전형수 1: 일반학생</a:t>
            </a:r>
          </a:p>
          <a:p>
            <a:r>
              <a:t>선발구조: 일반 인문·자연 수능 100</a:t>
            </a:r>
          </a:p>
          <a:p>
            <a:r>
              <a:t>비고: —</a:t>
            </a:r>
          </a:p>
          <a:p>
            <a:r>
              <a:t>근거: 각 대학 2028 시행계획·SEN 대학별 정시 전형방법; 원문 경로는 기존 근거목록 참조</a:t>
            </a:r>
          </a:p>
          <a:p>
            <a:endParaRPr/>
          </a:p>
          <a:p>
            <a:r>
              <a:t>서울 / 세종대</a:t>
            </a:r>
          </a:p>
          <a:p>
            <a:r>
              <a:t>전형수 2: 수능형 / 융합형</a:t>
            </a:r>
          </a:p>
          <a:p>
            <a:r>
              <a:t>선발구조: 수능형 100, 융합형 90+교과정성 10</a:t>
            </a:r>
          </a:p>
          <a:p>
            <a:r>
              <a:t>비고: 일반학생: 분리 융합형: 신설</a:t>
            </a:r>
          </a:p>
          <a:p>
            <a:r>
              <a:t>근거: 각 대학 2028 시행계획·SEN 대학별 정시 전형방법; 원문 경로는 기존 근거목록 참조; 비고 근거: SEN 211쪽(분리 및 신설)</a:t>
            </a:r>
          </a:p>
          <a:p>
            <a:endParaRPr/>
          </a:p>
          <a:p>
            <a:r>
              <a:t>서울 / 숙명여대</a:t>
            </a:r>
          </a:p>
          <a:p>
            <a:r>
              <a:t>전형수 1: 일반학생</a:t>
            </a:r>
          </a:p>
          <a:p>
            <a:r>
              <a:t>선발구조: 가군 인문·자연 수능 80+서류 20 / 나·다군 수능 100</a:t>
            </a:r>
          </a:p>
          <a:p>
            <a:r>
              <a:t>비고: —</a:t>
            </a:r>
          </a:p>
          <a:p>
            <a:r>
              <a:t>근거: 각 대학 2028 시행계획·SEN 대학별 정시 전형방법; 원문 경로는 기존 근거목록 참조</a:t>
            </a:r>
          </a:p>
          <a:p>
            <a:endParaRPr/>
          </a:p>
          <a:p>
            <a:r>
              <a:t>서울 / 숭실대</a:t>
            </a:r>
          </a:p>
          <a:p>
            <a:r>
              <a:t>전형수 1: 일반</a:t>
            </a:r>
          </a:p>
          <a:p>
            <a:r>
              <a:t>선발구조: 일반 인문·자연 수능 100</a:t>
            </a:r>
          </a:p>
          <a:p>
            <a:r>
              <a:t>비고: —</a:t>
            </a:r>
          </a:p>
          <a:p>
            <a:r>
              <a:t>근거: 각 대학 2028 시행계획·SEN 대학별 정시 전형방법; 원문 경로는 기존 근거목록 참조</a:t>
            </a:r>
          </a:p>
          <a:p>
            <a:endParaRPr/>
          </a:p>
          <a:p>
            <a:r>
              <a:t>서울 / 연세대</a:t>
            </a:r>
          </a:p>
          <a:p>
            <a:r>
              <a:t>전형수 1: 일반</a:t>
            </a:r>
          </a:p>
          <a:p>
            <a:r>
              <a:t>선발구조: 일반계열 수능 90+서류 10</a:t>
            </a:r>
          </a:p>
          <a:p>
            <a:r>
              <a:t>비고: —</a:t>
            </a:r>
          </a:p>
          <a:p>
            <a:r>
              <a:t>근거: 각 대학 2028 시행계획·SEN 대학별 정시 전형방법; 원문 경로는 기존 근거목록 참조</a:t>
            </a:r>
          </a:p>
          <a:p>
            <a:endParaRPr/>
          </a:p>
          <a:p>
            <a:r>
              <a:t>서울 / 이화여대</a:t>
            </a:r>
          </a:p>
          <a:p>
            <a:r>
              <a:t>전형수 2: 수능 / 수능-학생부</a:t>
            </a:r>
          </a:p>
          <a:p>
            <a:r>
              <a:t>선발구조: 수능전형 수능 100 / 수능-학생부전형 수능 85+서류 15</a:t>
            </a:r>
          </a:p>
          <a:p>
            <a:r>
              <a:t>비고: 수능-학생부: 신설</a:t>
            </a:r>
          </a:p>
          <a:p>
            <a:r>
              <a:t>근거: 각 대학 2028 시행계획·SEN 대학별 정시 전형방법; 원문 경로는 기존 근거목록 참조; 비고 근거: SEN 236쪽(수능-학생부 신설)</a:t>
            </a:r>
          </a:p>
          <a:p>
            <a:endParaRPr/>
          </a:p>
          <a:p>
            <a:r>
              <a:t>서울 / 중앙대</a:t>
            </a:r>
          </a:p>
          <a:p>
            <a:r>
              <a:t>전형수 2: 수능89 / 수능67</a:t>
            </a:r>
          </a:p>
          <a:p>
            <a:r>
              <a:t>선발구조: 수능89: 수능 89+출결 11 / 수능67: 수능 67+서류 33+수능최저</a:t>
            </a:r>
          </a:p>
          <a:p>
            <a:r>
              <a:t>비고: 수능67: 신설</a:t>
            </a:r>
          </a:p>
          <a:p>
            <a:r>
              <a:t>근거: 각 대학 2028 시행계획·SEN 대학별 정시 전형방법; 원문 경로는 기존 근거목록 참조; 비고 근거: SEN 257쪽(수능67 신설)</a:t>
            </a:r>
          </a:p>
          <a:p>
            <a:endParaRPr/>
          </a:p>
          <a:p>
            <a:r>
              <a:t>서울 / 한국외대(서울)</a:t>
            </a:r>
          </a:p>
          <a:p>
            <a:r>
              <a:t>전형수 1: 일반</a:t>
            </a:r>
          </a:p>
          <a:p>
            <a:r>
              <a:t>선발구조: 수능 100, A·B 중 유리한 환산점수 / 탐구 상위 1과목</a:t>
            </a:r>
          </a:p>
          <a:p>
            <a:r>
              <a:t>비고: —</a:t>
            </a:r>
          </a:p>
          <a:p>
            <a:r>
              <a:t>근거: 각 대학 2028 시행계획·SEN 대학별 정시 전형방법; 원문 경로는 기존 근거목록 참조</a:t>
            </a:r>
          </a:p>
          <a:p>
            <a:endParaRPr/>
          </a:p>
          <a:p>
            <a:r>
              <a:t>서울 / 한성대</a:t>
            </a:r>
          </a:p>
          <a:p>
            <a:r>
              <a:t>전형수 1: 수능위주</a:t>
            </a:r>
          </a:p>
          <a:p>
            <a:r>
              <a:t>선발구조: 일반 인문·자연 수능 100</a:t>
            </a:r>
          </a:p>
          <a:p>
            <a:r>
              <a:t>비고: —</a:t>
            </a:r>
          </a:p>
          <a:p>
            <a:r>
              <a:t>근거: 각 대학 2028 시행계획·SEN 대학별 정시 전형방법; 원문 경로는 기존 근거목록 참조</a:t>
            </a:r>
          </a:p>
          <a:p>
            <a:endParaRPr/>
          </a:p>
          <a:p>
            <a:r>
              <a:t>서울 / 한양대(서울)</a:t>
            </a:r>
          </a:p>
          <a:p>
            <a:r>
              <a:t>전형수 1: 수능 일반</a:t>
            </a:r>
          </a:p>
          <a:p>
            <a:r>
              <a:t>선발구조: 수능 90+학생부종합평가 10</a:t>
            </a:r>
          </a:p>
          <a:p>
            <a:r>
              <a:t>비고: —</a:t>
            </a:r>
          </a:p>
          <a:p>
            <a:r>
              <a:t>근거: 각 대학 2028 시행계획·SEN 대학별 정시 전형방법; 원문 경로는 기존 근거목록 참조</a:t>
            </a:r>
          </a:p>
          <a:p>
            <a:endParaRPr/>
          </a:p>
          <a:p>
            <a:r>
              <a:t>서울 / 홍익대(서울)</a:t>
            </a:r>
          </a:p>
          <a:p>
            <a:r>
              <a:t>전형수 1: 수능우수자</a:t>
            </a:r>
          </a:p>
          <a:p>
            <a:r>
              <a:t>선발구조: 다군 인문·자연 수능 90+교과 10</a:t>
            </a:r>
          </a:p>
          <a:p>
            <a:r>
              <a:t>비고: —</a:t>
            </a:r>
          </a:p>
          <a:p>
            <a:r>
              <a:t>근거: 각 대학 2028 시행계획·SEN 대학별 정시 전형방법; 원문 경로는 기존 근거목록 참조</a:t>
            </a:r>
          </a:p>
          <a:p>
            <a:endParaRPr/>
          </a:p>
          <a:p>
            <a:r>
              <a:t>전형수=표의 주력 유형 수(군 중복 통합, 특별·예체능·군사·계약·이월 제외). 현역=졸업예정자 한정, 추천=학교장 추천.</a:t>
            </a:r>
          </a:p>
          <a:p>
            <a:r>
              <a:t>신설·분리·이원화는 명시된 전형에 적용. —=키워드 표시 없음. 지역은 캠퍼스·본부 기준(성균관대·경기대는 서울·경기 통합). 성별·고교유형 등 세부조건 별도.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전형수는 표에 기재한 정원내 주력 전형·유형의 수이다. 동일 일반전형의 모집군별 중복은 묶고, 특별전형 전체 총수와 구분했다.</a:t>
            </a:r>
          </a:p>
          <a:p>
            <a:endParaRPr/>
          </a:p>
          <a:p>
            <a:r>
              <a:t>비고의 현역·추천·신설·분리·이원화는 앞에 적힌 전형에 적용한다. 표시가 없더라도 성별, 고교 유형, 성적 기재 학기 및 필수 수능 응시영역을 충족해야 한다.</a:t>
            </a:r>
          </a:p>
          <a:p>
            <a:endParaRPr/>
          </a:p>
          <a:p>
            <a:r>
              <a:t>경기 / 가천대</a:t>
            </a:r>
          </a:p>
          <a:p>
            <a:r>
              <a:t>전형수 2: 일반1 / 일반2</a:t>
            </a:r>
          </a:p>
          <a:p>
            <a:r>
              <a:t>선발구조: 일반1·일반2 수능 100 / 일반1 백분위 / 일반2 표준점수</a:t>
            </a:r>
          </a:p>
          <a:p>
            <a:r>
              <a:t>비고: —</a:t>
            </a:r>
          </a:p>
          <a:p>
            <a:r>
              <a:t>근거: 각 대학 2028 시행계획·SEN 대학별 정시 전형방법; 원문 경로는 기존 근거목록 참조</a:t>
            </a:r>
          </a:p>
          <a:p>
            <a:endParaRPr/>
          </a:p>
          <a:p>
            <a:r>
              <a:t>경기 / 가톨릭대(성심)</a:t>
            </a:r>
          </a:p>
          <a:p>
            <a:r>
              <a:t>전형수 2: 일반Ⅰ / 일반Ⅱ</a:t>
            </a:r>
          </a:p>
          <a:p>
            <a:r>
              <a:t>선발구조: 성심 모집단위 Ⅰ·Ⅱ 수능 100 / 성의 의예 일반Ⅲ는 이 표에서 제외</a:t>
            </a:r>
          </a:p>
          <a:p>
            <a:r>
              <a:t>비고: —</a:t>
            </a:r>
          </a:p>
          <a:p>
            <a:r>
              <a:t>근거: 원문 PDF 26~27쪽</a:t>
            </a:r>
          </a:p>
          <a:p>
            <a:endParaRPr/>
          </a:p>
          <a:p>
            <a:r>
              <a:t>경기 / 경기대(서울·수원)</a:t>
            </a:r>
          </a:p>
          <a:p>
            <a:r>
              <a:t>전형수 2: 일반학생Ⅰ / 일반학생Ⅱ</a:t>
            </a:r>
          </a:p>
          <a:p>
            <a:r>
              <a:t>선발구조: Ⅰ 비실기 수능 100 / Ⅱ 자유전공 수능 95+교과 5(출결 감점 별도)</a:t>
            </a:r>
          </a:p>
          <a:p>
            <a:r>
              <a:t>비고: —</a:t>
            </a:r>
          </a:p>
          <a:p>
            <a:r>
              <a:t>근거: 원문 PDF 23쪽; SEN 118쪽</a:t>
            </a:r>
          </a:p>
          <a:p>
            <a:endParaRPr/>
          </a:p>
          <a:p>
            <a:r>
              <a:t>경기 / 경희대(국제)</a:t>
            </a:r>
          </a:p>
          <a:p>
            <a:r>
              <a:t>전형수 2: 수능·학생부형 / 수능형</a:t>
            </a:r>
          </a:p>
          <a:p>
            <a:r>
              <a:t>선발구조: 수능·학생부형: 수능 90+교과 5+출결 2.5+봉사 2.5 / 수능형: 수능 100</a:t>
            </a:r>
          </a:p>
          <a:p>
            <a:r>
              <a:t>비고: 일반: 이원화</a:t>
            </a:r>
          </a:p>
          <a:p>
            <a:r>
              <a:t>근거: 각 대학 2028 시행계획·SEN 대학별 정시 전형방법; 원문 경로는 기존 근거목록 참조; 비고 근거: SEN 131쪽(정시 일반전형 이원화)</a:t>
            </a:r>
          </a:p>
          <a:p>
            <a:endParaRPr/>
          </a:p>
          <a:p>
            <a:r>
              <a:t>경기 / 단국대(죽전)</a:t>
            </a:r>
          </a:p>
          <a:p>
            <a:r>
              <a:t>전형수 1: 일반학생</a:t>
            </a:r>
          </a:p>
          <a:p>
            <a:r>
              <a:t>선발구조: 일반 인문·자연 수능 90+학생부정성 10</a:t>
            </a:r>
          </a:p>
          <a:p>
            <a:r>
              <a:t>비고: —</a:t>
            </a:r>
          </a:p>
          <a:p>
            <a:r>
              <a:t>근거: 각 대학 2028 시행계획·SEN 대학별 정시 전형방법; 원문 경로는 기존 근거목록 참조</a:t>
            </a:r>
          </a:p>
          <a:p>
            <a:endParaRPr/>
          </a:p>
          <a:p>
            <a:r>
              <a:t>경기 / 수원대</a:t>
            </a:r>
          </a:p>
          <a:p>
            <a:r>
              <a:t>전형수 2: 수능일반1 / 수능일반2</a:t>
            </a:r>
          </a:p>
          <a:p>
            <a:r>
              <a:t>선발구조: 두 전형 수능 100 / 1: 국어/수학 필수 반영 / 2: 우수 3영역</a:t>
            </a:r>
          </a:p>
          <a:p>
            <a:r>
              <a:t>비고: —</a:t>
            </a:r>
          </a:p>
          <a:p>
            <a:r>
              <a:t>근거: 원문 PDF 11·14쪽; SEN 214쪽</a:t>
            </a:r>
          </a:p>
          <a:p>
            <a:endParaRPr/>
          </a:p>
          <a:p>
            <a:r>
              <a:t>경기 / 아주대</a:t>
            </a:r>
          </a:p>
          <a:p>
            <a:r>
              <a:t>전형수 4: 일반1 / 2 / 3 / 4</a:t>
            </a:r>
          </a:p>
          <a:p>
            <a:r>
              <a:t>선발구조: 일반1 의학: 수능 95+면접 5 / 일반2 자유전공·3 일반·4 간호교차: 수능 100</a:t>
            </a:r>
          </a:p>
          <a:p>
            <a:r>
              <a:t>비고: —</a:t>
            </a:r>
          </a:p>
          <a:p>
            <a:r>
              <a:t>근거: 각 대학 2028 시행계획·SEN 대학별 정시 전형방법; 원문 경로는 기존 근거목록 참조</a:t>
            </a:r>
          </a:p>
          <a:p>
            <a:endParaRPr/>
          </a:p>
          <a:p>
            <a:r>
              <a:t>경기 / 한경국립대</a:t>
            </a:r>
          </a:p>
          <a:p>
            <a:r>
              <a:t>전형수 1: 일반</a:t>
            </a:r>
          </a:p>
          <a:p>
            <a:r>
              <a:t>선발구조: 수능 90+출결 10</a:t>
            </a:r>
          </a:p>
          <a:p>
            <a:r>
              <a:t>비고: —</a:t>
            </a:r>
          </a:p>
          <a:p>
            <a:r>
              <a:t>근거: 원문 정시 전형방법; SEN 274쪽</a:t>
            </a:r>
          </a:p>
          <a:p>
            <a:endParaRPr/>
          </a:p>
          <a:p>
            <a:r>
              <a:t>전형수=표의 주력 유형 수(군 중복 통합, 특별·예체능·군사·계약·이월 제외). 현역=졸업예정자 한정, 추천=학교장 추천.</a:t>
            </a:r>
          </a:p>
          <a:p>
            <a:r>
              <a:t>신설·분리·이원화는 명시된 전형에 적용. —=키워드 표시 없음. 지역은 캠퍼스·본부 기준(성균관대·경기대는 서울·경기 통합). 성별·고교유형 등 세부조건 별도.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전형수는 표에 기재한 정원내 주력 전형·유형의 수이다. 동일 일반전형의 모집군별 중복은 묶고, 특별전형 전체 총수와 구분했다.</a:t>
            </a:r>
          </a:p>
          <a:p>
            <a:endParaRPr/>
          </a:p>
          <a:p>
            <a:r>
              <a:t>비고의 현역·추천·신설·분리·이원화는 앞에 적힌 전형에 적용한다. 표시가 없더라도 성별, 고교 유형, 성적 기재 학기 및 필수 수능 응시영역을 충족해야 한다.</a:t>
            </a:r>
          </a:p>
          <a:p>
            <a:endParaRPr/>
          </a:p>
          <a:p>
            <a:r>
              <a:t>경기 / 한국공학대</a:t>
            </a:r>
          </a:p>
          <a:p>
            <a:r>
              <a:t>전형수 2: 일반학생1 / 일반학생2</a:t>
            </a:r>
          </a:p>
          <a:p>
            <a:r>
              <a:t>선발구조: 두 전형 수능 100 / 2: 수학 포함 우수 3영역 45·35·20</a:t>
            </a:r>
          </a:p>
          <a:p>
            <a:r>
              <a:t>비고: —</a:t>
            </a:r>
          </a:p>
          <a:p>
            <a:r>
              <a:t>근거: 원문 PDF 11쪽; SEN 277쪽</a:t>
            </a:r>
          </a:p>
          <a:p>
            <a:endParaRPr/>
          </a:p>
          <a:p>
            <a:r>
              <a:t>경기 / 한국외대(글로벌)</a:t>
            </a:r>
          </a:p>
          <a:p>
            <a:r>
              <a:t>전형수 1: 일반</a:t>
            </a:r>
          </a:p>
          <a:p>
            <a:r>
              <a:t>선발구조: 수능 100, A·B 중 유리한 환산점수 / 탐구 상위 1과목</a:t>
            </a:r>
          </a:p>
          <a:p>
            <a:r>
              <a:t>비고: —</a:t>
            </a:r>
          </a:p>
          <a:p>
            <a:r>
              <a:t>근거: 각 대학 2028 시행계획·SEN 대학별 정시 전형방법; 원문 경로는 기존 근거목록 참조</a:t>
            </a:r>
          </a:p>
          <a:p>
            <a:endParaRPr/>
          </a:p>
          <a:p>
            <a:r>
              <a:t>경기 / 한국항공대</a:t>
            </a:r>
          </a:p>
          <a:p>
            <a:r>
              <a:t>전형수 1: 일반</a:t>
            </a:r>
          </a:p>
          <a:p>
            <a:r>
              <a:t>선발구조: 수능 100, 항공운항 신체검사 별도</a:t>
            </a:r>
          </a:p>
          <a:p>
            <a:r>
              <a:t>비고: —</a:t>
            </a:r>
          </a:p>
          <a:p>
            <a:r>
              <a:t>근거: 각 대학 2028 시행계획·SEN 대학별 정시 전형방법; 원문 경로는 기존 근거목록 참조</a:t>
            </a:r>
          </a:p>
          <a:p>
            <a:endParaRPr/>
          </a:p>
          <a:p>
            <a:r>
              <a:t>경기 / 한양대(ERICA)</a:t>
            </a:r>
          </a:p>
          <a:p>
            <a:r>
              <a:t>전형수 1: 일반</a:t>
            </a:r>
          </a:p>
          <a:p>
            <a:r>
              <a:t>선발구조: 일반 인문·자연 수능 100</a:t>
            </a:r>
          </a:p>
          <a:p>
            <a:r>
              <a:t>비고: —</a:t>
            </a:r>
          </a:p>
          <a:p>
            <a:r>
              <a:t>근거: 각 대학 2028 시행계획·SEN 대학별 정시 전형방법; 원문 경로는 기존 근거목록 참조</a:t>
            </a:r>
          </a:p>
          <a:p>
            <a:endParaRPr/>
          </a:p>
          <a:p>
            <a:r>
              <a:t>인천 / 인천대</a:t>
            </a:r>
          </a:p>
          <a:p>
            <a:r>
              <a:t>전형수 1: 일반학생</a:t>
            </a:r>
          </a:p>
          <a:p>
            <a:r>
              <a:t>선발구조: 일반 인문·자연 수능 100 / 체육·공연예술 별도</a:t>
            </a:r>
          </a:p>
          <a:p>
            <a:r>
              <a:t>비고: —</a:t>
            </a:r>
          </a:p>
          <a:p>
            <a:r>
              <a:t>근거: 원문 PDF 11·25쪽; SEN 240쪽</a:t>
            </a:r>
          </a:p>
          <a:p>
            <a:endParaRPr/>
          </a:p>
          <a:p>
            <a:r>
              <a:t>인천 / 인하대</a:t>
            </a:r>
          </a:p>
          <a:p>
            <a:r>
              <a:t>전형수 1: 일반</a:t>
            </a:r>
          </a:p>
          <a:p>
            <a:r>
              <a:t>선발구조: 일반 인문·자연 수능 100</a:t>
            </a:r>
          </a:p>
          <a:p>
            <a:r>
              <a:t>비고: —</a:t>
            </a:r>
          </a:p>
          <a:p>
            <a:r>
              <a:t>근거: 각 대학 2028 시행계획·SEN 대학별 정시 전형방법; 원문 경로는 기존 근거목록 참조</a:t>
            </a:r>
          </a:p>
          <a:p>
            <a:endParaRPr/>
          </a:p>
          <a:p>
            <a:r>
              <a:t>전형수=표의 주력 유형 수(군 중복 통합, 특별·예체능·군사·계약·이월 제외). 현역=졸업예정자 한정, 추천=학교장 추천.</a:t>
            </a:r>
          </a:p>
          <a:p>
            <a:r>
              <a:t>신설·분리·이원화는 명시된 전형에 적용. —=키워드 표시 없음. 지역은 캠퍼스·본부 기준(성균관대·경기대는 서울·경기 통합). 성별·고교유형 등 세부조건 별도.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거점국립대도 학생부 반영 여부가 다르다</a:t>
            </a:r>
          </a:p>
          <a:p>
            <a:r>
              <a:t>SEN 108·123·127·172·245쪽</a:t>
            </a:r>
          </a:p>
          <a:p>
            <a:r>
              <a:t>강원(춘천) PDF 27쪽, 경북 43쪽, 경상 16쪽, 부산 29~30쪽, 전남 22쪽</a:t>
            </a:r>
          </a:p>
          <a:p>
            <a:r>
              <a:t>예체능 실기 운영 모집단위 제외. 강원대는 캠퍼스별 세부 방식 구분.</a:t>
            </a:r>
          </a:p>
          <a:p>
            <a:endParaRPr/>
          </a:p>
          <a:p>
            <a:r>
              <a:t>지방거점국립대의 정시 역시 수능 100%로 일괄 설명할 수 없다. 경북대는 학생부교과를 10% 반영하고, 부산대는 학업충실도평가를 20% 반영한다. 같은 학생부 반영이라도 정량 산출인지 정성평가인지 구분해서 읽어야 한다.</a:t>
            </a:r>
          </a:p>
          <a:p>
            <a:endParaRPr/>
          </a:p>
          <a:p>
            <a:r>
              <a:t>이 표는 일반 지원자를 대상으로 하는 주력 전형만 비교한 것이다. 강원인재·지역인재·수능지역 등 지역 자격이 필요한 전형은 별도로 운영되므로, 일반전형의 지원 가능 여부를 해당 전형에 그대로 적용할 수 없다.</a:t>
            </a:r>
          </a:p>
          <a:p>
            <a:endParaRPr/>
          </a:p>
          <a:p>
            <a:r>
              <a:t>일반전형과 지역 자격 전형을 분리해서 읽는다</a:t>
            </a:r>
          </a:p>
          <a:p>
            <a:r>
              <a:t>SEN 249·252·265·269쪽</a:t>
            </a:r>
          </a:p>
          <a:p>
            <a:r>
              <a:t>전북 PDF 43쪽, 제주 38쪽, 충남 32쪽, 충북 17쪽</a:t>
            </a:r>
          </a:p>
          <a:p>
            <a:r>
              <a:t>지역인재·지역의사·경제배려·농어촌·이월 전형은 위 구조 수에서 제외.</a:t>
            </a:r>
          </a:p>
          <a:p>
            <a:endParaRPr/>
          </a:p>
          <a:p>
            <a:r>
              <a:t>전북대와 제주대, 충북대는 일반 인문·자연계의 수능 100% 구조를 확인할 수 있다. 충남대는 수능과 학교생활기록부를 함께 반영하며, 시행계획에 제시된 80·15·5는 실질반영비율이라는 점에 유의해야 한다.</a:t>
            </a:r>
          </a:p>
          <a:p>
            <a:endParaRPr/>
          </a:p>
          <a:p>
            <a:r>
              <a:t>졸업생이라는 이유만으로 일반전형 지원이 제한되는 것은 아니다. 다만 지역인재 전형은 고교 소재지와 이수기간을 확인해야 하며, 일부 의약학·간호 모집단위는 중학교 이수 및 거주 요건도 적용된다.</a:t>
            </a:r>
          </a:p>
          <a:p>
            <a:endParaRPr/>
          </a:p>
          <a:p>
            <a:r>
              <a:t>지역인재는 졸업연도보다 이수·거주 요건이 중요하다</a:t>
            </a:r>
          </a:p>
          <a:p>
            <a:r>
              <a:t>경북 PDF 43쪽, 경상 16쪽, 부산 30쪽, 전남 22쪽, 제주 38쪽</a:t>
            </a:r>
          </a:p>
          <a:p>
            <a:r>
              <a:t>수의예과를 의·치·약·간호의 강화 요건과 일괄적으로 묶지 않음.</a:t>
            </a:r>
          </a:p>
          <a:p>
            <a:endParaRPr/>
          </a:p>
          <a:p>
            <a:r>
              <a:t>지역인재 전형은 해당 지역의 고교 교육과정을 이수했는지가 출발점이다. 같은 지역에 현재 거주하고 있다는 사실만으로 지원자격이 성립하는 것은 아니며, 입학일부터 졸업일까지의 이수 조건을 살펴야 한다.</a:t>
            </a:r>
          </a:p>
          <a:p>
            <a:endParaRPr/>
          </a:p>
          <a:p>
            <a:r>
              <a:t>2022학년도 이후 중학교 입학자 중 대학이 지정한 의약학·간호 모집단위 지원자는 비수도권 중학교와 해당 지역 고교 이수, 재학기간 중 거주 요건을 추가로 확인해야 한다. 적용 모집단위가 대학마다 다르므로 하나의 조건으로 일반화해서는 안 된다.</a:t>
            </a:r>
          </a:p>
          <a:p>
            <a:endParaRPr/>
          </a:p>
          <a:p>
            <a:r>
              <a:t>근거 원문 경로는 별도 근거목록 파일 참조</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신설·이원화·방법 변경을 구분한다</a:t>
            </a:r>
          </a:p>
          <a:p>
            <a:r>
              <a:t>SEN 131·183·204·211쪽</a:t>
            </a:r>
          </a:p>
          <a:p>
            <a:r>
              <a:t>이화 PDF 3·15~16쪽</a:t>
            </a:r>
          </a:p>
          <a:p>
            <a:r>
              <a:t>서강 PDF 19쪽</a:t>
            </a:r>
          </a:p>
          <a:p>
            <a:r>
              <a:t>성균관대 융합인재는 존재·방법을 확인했으며, 이 표에서 신설로 단정하지 않음.</a:t>
            </a:r>
          </a:p>
          <a:p>
            <a:endParaRPr/>
          </a:p>
          <a:p>
            <a:r>
              <a:t>신설 전형의 등장은 지원 경로가 달라졌다는 뜻이지만, 모든 변화가 신설에 해당하는 것은 아니다. 기존 전형을 유형별로 나눈 경우와 같은 전형 안에서 평가요소를 바꾼 경우를 구분해야 전년 결과를 정확히 해석할 수 있다.</a:t>
            </a:r>
          </a:p>
          <a:p>
            <a:endParaRPr/>
          </a:p>
          <a:p>
            <a:r>
              <a:t>서강대 지역균형은 지원자격 자체가 다른 신설 전형이다. 경희대·성균관대·세종대는 세부 유형별 평가방식과 수능 산출 구조를 비교해야 하며, 이화여대는 수능전형과 수능-학생부전형의 차이를 함께 살펴야 한다.</a:t>
            </a:r>
          </a:p>
          <a:p>
            <a:endParaRPr/>
          </a:p>
          <a:p>
            <a:r>
              <a:t>학생부 반영 전형이라고 졸업생이 모두 배제되지는 않는다</a:t>
            </a:r>
          </a:p>
          <a:p>
            <a:r>
              <a:t>고려 PDF 24·26쪽</a:t>
            </a:r>
          </a:p>
          <a:p>
            <a:r>
              <a:t>서강 PDF 18~19쪽</a:t>
            </a:r>
          </a:p>
          <a:p>
            <a:r>
              <a:t>성균관 PDF 42쪽</a:t>
            </a:r>
          </a:p>
          <a:p>
            <a:r>
              <a:t>고려 교과우수는 지원 불가 학교 유형이 별도로 규정됨. 서강은 졸업기준의 연말·1월 졸업 포함 규정 확인.</a:t>
            </a:r>
          </a:p>
          <a:p>
            <a:endParaRPr/>
          </a:p>
          <a:p>
            <a:r>
              <a:t>졸업생 지원 가능 여부는 학생부 반영 비율만으로 판단할 수 없다. 고려대 교과우수와 서강대 지역균형은 졸업예정자 제한이 있지만, 성균관대 정시 융합인재는 고교 졸업(예정)자와 동등 학력 인정자에게 지원자격을 부여한다.</a:t>
            </a:r>
          </a:p>
          <a:p>
            <a:endParaRPr/>
          </a:p>
          <a:p>
            <a:r>
              <a:t>‘현역 가능’도 모든 재학생에게 지원자격이 있다는 뜻은 아니다. 해당 학년도 졸업예정 여부와 학교 유형, 성적 기재 학기, 학교장 추천 등 각 전형의 조건을 함께 충족해야 한다.</a:t>
            </a:r>
          </a:p>
          <a:p>
            <a:endParaRPr/>
          </a:p>
          <a:p>
            <a:r>
              <a:t>근거 원문 경로는 별도 근거목록 파일 참조</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학생부 반영의 범위와 비율이 바뀐다</a:t>
            </a:r>
          </a:p>
          <a:p>
            <a:r>
              <a:t>SEN 160·195·307쪽</a:t>
            </a:r>
          </a:p>
          <a:p>
            <a:r>
              <a:t>단국 시행계획 주요 변경사항</a:t>
            </a:r>
          </a:p>
          <a:p>
            <a:r>
              <a:t>부산 시행계획 4·29쪽</a:t>
            </a:r>
          </a:p>
          <a:p>
            <a:r>
              <a:t>반영비율은 별도 표시가 없는 한 시행계획의 명목비율. 충남대 실질비율과 혼용하지 않음.</a:t>
            </a:r>
          </a:p>
          <a:p>
            <a:endParaRPr/>
          </a:p>
          <a:p>
            <a:r>
              <a:t>학생부를 반영한다는 사실보다 어디에, 어떤 방식으로 반영하는지가 중요하다. 교과성적을 정해진 산식으로 환산하는 방식과 학교생활기록부의 내용을 종합적으로 평가하는 방식은 준비 방향이 다르다.</a:t>
            </a:r>
          </a:p>
          <a:p>
            <a:endParaRPr/>
          </a:p>
          <a:p>
            <a:r>
              <a:t>대학 전체로 확대해서 해석하지 않는 것도 중요하다. 이 표는 기재된 적용 범위의 변화를 설명한다. 예체능 실기 모집단위, 군사학과, 별도 특별전형은 해당 모집단위의 전형방법을 따로 확인해야 한다.</a:t>
            </a:r>
          </a:p>
          <a:p>
            <a:endParaRPr/>
          </a:p>
          <a:p>
            <a:r>
              <a:t>지표 변경과 군 이동도 전년 비교를 바꾼다</a:t>
            </a:r>
          </a:p>
          <a:p>
            <a:r>
              <a:t>고려 PDF 4쪽, 연세 주요 변경사항</a:t>
            </a:r>
          </a:p>
          <a:p>
            <a:r>
              <a:t>SEN 211·242·252·298쪽</a:t>
            </a:r>
          </a:p>
          <a:p>
            <a:endParaRPr/>
          </a:p>
          <a:p>
            <a:endParaRPr/>
          </a:p>
          <a:p>
            <a:r>
              <a:t>전년도 결과를 참고할 때에는 모집인원뿐 아니라 모집군, 지원자격, 활용지표가 같은지도 확인해야 한다. 전형명이 같아도 계산에 사용하는 점수가 달라지면 같은 수능 성적의 환산 결과가 달라질 수 있다.</a:t>
            </a:r>
          </a:p>
          <a:p>
            <a:endParaRPr/>
          </a:p>
          <a:p>
            <a:r>
              <a:t>선택과목 가산점의 폐지를 사회·과학탐구 반영비율의 동일화로 해석해서는 안 된다. 가산점과 영역별 가중치는 다른 장치이므로, 대학이 공표한 2028학년도 반영표를 기준으로 구분해야 한다.</a:t>
            </a:r>
          </a:p>
          <a:p>
            <a:endParaRPr/>
          </a:p>
          <a:p>
            <a:r>
              <a:t>근거 원문 경로는 별도 근거목록 파일 참조</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정성평가는 점수보다 평가 대상부터 읽는다</a:t>
            </a:r>
          </a:p>
          <a:p>
            <a:r>
              <a:t>인천 18~20쪽</a:t>
            </a:r>
          </a:p>
          <a:p>
            <a:r>
              <a:t>서울 PDF 17~20·36쪽</a:t>
            </a:r>
          </a:p>
          <a:p>
            <a:r>
              <a:t>동국 학생부 평가 안내</a:t>
            </a:r>
          </a:p>
          <a:p>
            <a:r>
              <a:t>서울대 의·수의는 60+20+면접 20. 연세대 의예는 단계형으로 별도.</a:t>
            </a:r>
          </a:p>
          <a:p>
            <a:endParaRPr/>
          </a:p>
          <a:p>
            <a:r>
              <a:t>정성평가는 학생부의 한 항목을 수치로 바꾸는 데 그치지 않는다. 지원자가 어떤 과목을 선택하고 어떻게 학습했는지, 학교생활을 얼마나 충실하게 수행했는지를 대학이 제시한 기준에 따라 평가한다.</a:t>
            </a:r>
          </a:p>
          <a:p>
            <a:endParaRPr/>
          </a:p>
          <a:p>
            <a:r>
              <a:t>다만 평가 대상이 모든 대학에서 동일하지는 않다. 교과학습발달상황을 중심으로 보는지, 출결과 행동특성까지 포함하는지 구분해야 한다. 반영비율만 비교하면 실제 평가의 차이를 놓칠 수 있다.</a:t>
            </a:r>
          </a:p>
          <a:p>
            <a:endParaRPr/>
          </a:p>
          <a:p>
            <a:r>
              <a:t>서류 반영 비율이 같아도 내용은 다르다</a:t>
            </a:r>
          </a:p>
          <a:p>
            <a:r>
              <a:t>중앙 PDF 32쪽</a:t>
            </a:r>
          </a:p>
          <a:p>
            <a:r>
              <a:t>이화 PDF 15~16쪽</a:t>
            </a:r>
          </a:p>
          <a:p>
            <a:r>
              <a:t>성균관 PDF 42쪽</a:t>
            </a:r>
          </a:p>
          <a:p>
            <a:r>
              <a:t>인천 20쪽</a:t>
            </a:r>
          </a:p>
          <a:p>
            <a:endParaRPr/>
          </a:p>
          <a:p>
            <a:endParaRPr/>
          </a:p>
          <a:p>
            <a:r>
              <a:t>중앙대 수능67은 수능 등급을 전형점수로 활용하면서 서류평가와 수능최저학력기준을 함께 적용한다. 성균관대 정시 융합인재는 학생부 100%로 선발하되 수능최저를 충족해야 하므로, 일반적인 수능 100% 전형과는 구조가 다르다.</a:t>
            </a:r>
          </a:p>
          <a:p>
            <a:endParaRPr/>
          </a:p>
          <a:p>
            <a:r>
              <a:t>숙명여대는 모집군별 적용 범위에 특히 주의해야 한다. 가군 인문·자연의 서류 20%를 나·다군 수능 100% 모집단위에까지 확대해서 해석해서는 안 된다. 이화여대 역시 수능전형과 수능-학생부전형을 구분해야 한다.</a:t>
            </a:r>
          </a:p>
          <a:p>
            <a:endParaRPr/>
          </a:p>
          <a:p>
            <a:r>
              <a:t>일부 모집단위에만 적용되는 정성평가도 있다</a:t>
            </a:r>
          </a:p>
          <a:p>
            <a:r>
              <a:t>건국 PDF 36쪽</a:t>
            </a:r>
          </a:p>
          <a:p>
            <a:r>
              <a:t>단국 PDF 25·35쪽</a:t>
            </a:r>
          </a:p>
          <a:p>
            <a:r>
              <a:t>인천 18~19쪽</a:t>
            </a:r>
          </a:p>
          <a:p>
            <a:r>
              <a:t>부산 PDF 29~30쪽</a:t>
            </a:r>
          </a:p>
          <a:p>
            <a:r>
              <a:t>원고의 “자유전공”은 KU자유전공학부와 단과대학 자유전공학부를 구분하여 사용.</a:t>
            </a:r>
          </a:p>
          <a:p>
            <a:endParaRPr/>
          </a:p>
          <a:p>
            <a:r>
              <a:t>건국대는 대학 전체의 KU일반을 90+10으로 묶어 설명하면 오류가 생긴다. 교과정성 10%는 다군 단과대학 자유전공학부에 적용되며, 가·나군의 학과·학부와 다른 자유전공 모집단위는 해당 시행계획의 구분을 따라야 한다.</a:t>
            </a:r>
          </a:p>
          <a:p>
            <a:endParaRPr/>
          </a:p>
          <a:p>
            <a:r>
              <a:t>세종대는 수능형과 융합형을 나누어 비교하고, 단국대와 부산대는 예체능·군사 등 별도 평가방법이 있는 모집단위를 분리해야 한다. 일부 적용 사례를 대학 전체의 특성으로 일반화하지 않는 것이 정확한 집필의 출발점이다.</a:t>
            </a:r>
          </a:p>
          <a:p>
            <a:endParaRPr/>
          </a:p>
          <a:p>
            <a:r>
              <a:t>근거 원문 경로는 별도 근거목록 파일 참조</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정량평가는 반영 과목과 환산표를 확인한다</a:t>
            </a:r>
          </a:p>
          <a:p>
            <a:r>
              <a:t>인천 18~20쪽</a:t>
            </a:r>
          </a:p>
          <a:p>
            <a:r>
              <a:t>고려 PDF 26쪽</a:t>
            </a:r>
          </a:p>
          <a:p>
            <a:r>
              <a:t>서강 PDF 31~32쪽</a:t>
            </a:r>
          </a:p>
          <a:p>
            <a:r>
              <a:t>홍익대는 다군 인문·자연 기준. 미술계열 단계별 전형과 구분.</a:t>
            </a:r>
          </a:p>
          <a:p>
            <a:endParaRPr/>
          </a:p>
          <a:p>
            <a:r>
              <a:t>정량평가에서는 대학의 반영 대상 과목과 성적 산출식이 핵심이다. 전 과목을 반영하는 대학과 상위 과목을 골라 반영하는 대학은 같은 내신 평균을 사용하더라도 결과가 달라질 수 있다.</a:t>
            </a:r>
          </a:p>
          <a:p>
            <a:endParaRPr/>
          </a:p>
          <a:p>
            <a:r>
              <a:t>석차등급과 성취도를 어떻게 연결하는지, 이수학점을 가중하는지, 출결을 별도 점수로 반영하는지를 확인해야 한다. 대학별 환산점수를 계산하지 않고 학생부 반영비율만으로 유불리를 단정하기는 어렵다.</a:t>
            </a:r>
          </a:p>
          <a:p>
            <a:endParaRPr/>
          </a:p>
          <a:p>
            <a:r>
              <a:t>교과 반영과 출결 반영은 다른 요소다</a:t>
            </a:r>
          </a:p>
          <a:p>
            <a:r>
              <a:t>SEN 131·123·265쪽</a:t>
            </a:r>
          </a:p>
          <a:p>
            <a:r>
              <a:t>중앙 PDF 30쪽</a:t>
            </a:r>
          </a:p>
          <a:p>
            <a:r>
              <a:t>충남 PDF 32쪽</a:t>
            </a:r>
          </a:p>
          <a:p>
            <a:r>
              <a:t>충남대 전형 배점 수능 300·교과 100·출결 100, 시행계획에 실질반영비율 별도 표기.</a:t>
            </a:r>
          </a:p>
          <a:p>
            <a:endParaRPr/>
          </a:p>
          <a:p>
            <a:r>
              <a:t>학생부를 반영하는 대학을 모두 내신등급 반영 대학으로 묶어서는 안 된다. 중앙대 수능89는 출결을 반영하며, 경희대 수능·학생부형은 교과·출결·봉사를 나누어 적용한다. 무엇을 평가하는지부터 구분해야 한다.</a:t>
            </a:r>
          </a:p>
          <a:p>
            <a:endParaRPr/>
          </a:p>
          <a:p>
            <a:r>
              <a:t>충남대는 명목 배점과 실질반영비율이 다르다. 시행계획의 80·15·5를 사용할 때에는 반드시 실질반영비율이라고 밝혀야 한다. 경북대도 수시의 교과이수충실도 평가를 정시 교과 10%에 그대로 대입해서는 안 된다.</a:t>
            </a:r>
          </a:p>
          <a:p>
            <a:endParaRPr/>
          </a:p>
          <a:p>
            <a:r>
              <a:t>근거 원문 경로는 별도 근거목록 파일 참조</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표준점수·백분위·등급은 서로 다른 지표다</a:t>
            </a:r>
          </a:p>
          <a:p>
            <a:r>
              <a:t>인천 18~20쪽</a:t>
            </a:r>
          </a:p>
          <a:p>
            <a:r>
              <a:t>SEN 109·124·250·253·258·299쪽</a:t>
            </a:r>
          </a:p>
          <a:p>
            <a:r>
              <a:t>영어·한국사 처리까지 모든 영역이 동일한 지표를 사용한다는 뜻은 아님.</a:t>
            </a:r>
          </a:p>
          <a:p>
            <a:endParaRPr/>
          </a:p>
          <a:p>
            <a:r>
              <a:t>수능 활용지표는 단순한 표기의 차이가 아니다. 같은 성적표라도 표준점수와 백분위 중 무엇을 사용하는지에 따라 대학별 환산 결과가 달라진다. 영어·한국사는 등급을 별도 환산하거나 가감점으로 적용하는 경우가 많다.</a:t>
            </a:r>
          </a:p>
          <a:p>
            <a:endParaRPr/>
          </a:p>
          <a:p>
            <a:r>
              <a:t>‘혼합’이나 ‘표준점수’라는 요약 표기만으로 세부 계산을 끝내서는 안 된다. 국어·수학·탐구의 원자료와 대학 자체 변환 여부를 나누어 확인해야 하며, 확정되지 않은 변환점수는 임의로 산출해서는 안 된다.</a:t>
            </a:r>
          </a:p>
          <a:p>
            <a:endParaRPr/>
          </a:p>
          <a:p>
            <a:r>
              <a:t>같은 대학에서도 전형별 활용지표가 다르다</a:t>
            </a:r>
          </a:p>
          <a:p>
            <a:r>
              <a:t>가천 시행계획 정시 반영방법</a:t>
            </a:r>
          </a:p>
          <a:p>
            <a:r>
              <a:t>고려 PDF 4·24~26쪽</a:t>
            </a:r>
          </a:p>
          <a:p>
            <a:r>
              <a:t>서강 PDF 31~32쪽</a:t>
            </a:r>
          </a:p>
          <a:p>
            <a:r>
              <a:t>서울 PDF 17~18쪽</a:t>
            </a:r>
          </a:p>
          <a:p>
            <a:r>
              <a:t>중앙 PDF 30·32쪽</a:t>
            </a:r>
          </a:p>
          <a:p>
            <a:endParaRPr/>
          </a:p>
          <a:p>
            <a:endParaRPr/>
          </a:p>
          <a:p>
            <a:r>
              <a:t>전형별 비교에서는 학생부 비율뿐 아니라 수능 성적의 산출 방식도 함께 바뀌는지 확인해야 한다. 고려대 일반과 교과우수, 서강대 일반과 지역균형은 수능 활용지표가 달라 단순히 학생부 점수만 더해 비교할 수 없다.</a:t>
            </a:r>
          </a:p>
          <a:p>
            <a:endParaRPr/>
          </a:p>
          <a:p>
            <a:r>
              <a:t>서울대는 단계별로 수능 지표 자체가 바뀐다. 1단계 통과 가능성과 2단계 최종 선발 가능성을 나누어 판단해야 한다. 중앙대 수능67도 수능최저 충족 여부와 등급의 전형점수 환산을 서로 구분해야 한다.</a:t>
            </a:r>
          </a:p>
          <a:p>
            <a:endParaRPr/>
          </a:p>
          <a:p>
            <a:r>
              <a:t>근거 원문 경로는 별도 근거목록 파일 참조</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단계형은 1단계와 최종 선발을 따로 읽는다</a:t>
            </a:r>
          </a:p>
          <a:p>
            <a:r>
              <a:t>서울 PDF 17·20쪽</a:t>
            </a:r>
          </a:p>
          <a:p>
            <a:r>
              <a:t>연세 PDF 24쪽</a:t>
            </a:r>
          </a:p>
          <a:p>
            <a:r>
              <a:t>홍익 시행계획 정시 미술</a:t>
            </a:r>
          </a:p>
          <a:p>
            <a:r>
              <a:t>아주 시행계획 정시 일반1</a:t>
            </a:r>
          </a:p>
          <a:p>
            <a:r>
              <a:t>고려 PDF 24·26쪽</a:t>
            </a:r>
          </a:p>
          <a:p>
            <a:r>
              <a:t>예체능·군사·의학 특수 모집단위를 일반 인문·자연 전형에 일반화하지 않음.</a:t>
            </a:r>
          </a:p>
          <a:p>
            <a:endParaRPr/>
          </a:p>
          <a:p>
            <a:r>
              <a:t>단계형 전형에서는 1단계 선발기준과 최종 합격기준이 다르다. 먼저 수능으로 일정 배수를 선발한 뒤 학생부·면접·실기 등을 합산하는 구조라면, 각 단계의 평가요소를 분리해서 읽어야 한다.</a:t>
            </a:r>
          </a:p>
          <a:p>
            <a:endParaRPr/>
          </a:p>
          <a:p>
            <a:r>
              <a:t>면접이 있다는 이유만으로 단계형이라고 판단해서도 안 된다. 아주대 의학 일반1은 수능과 면접을 일괄합산한다. 고려대 의학 일반·교과우수의 적성·인성면접처럼 별도 배점 없이 활용하는 방식도 구분할 필요가 있다.</a:t>
            </a:r>
          </a:p>
          <a:p>
            <a:endParaRPr/>
          </a:p>
          <a:p>
            <a:r>
              <a:t>근거 원문 경로는 별도 근거목록 파일 참조</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응시 과목 수와 반영 과목 수는 다르다</a:t>
            </a:r>
          </a:p>
          <a:p>
            <a:r>
              <a:t>인천 18~20·24쪽</a:t>
            </a:r>
          </a:p>
          <a:p>
            <a:r>
              <a:t>성균관 PDF 38쪽</a:t>
            </a:r>
          </a:p>
          <a:p>
            <a:r>
              <a:t>이화 PDF 15~16쪽</a:t>
            </a:r>
          </a:p>
          <a:p>
            <a:endParaRPr/>
          </a:p>
          <a:p>
            <a:endParaRPr/>
          </a:p>
          <a:p>
            <a:r>
              <a:t>탐구 1과목 반영은 수능에서 한 과목만 응시해도 된다는 뜻과 다르다. 수능 응시 체제와 대학이 성적을 계산하는 방식을 구분해야 한다. 대학별 필수 응시영역을 먼저 확인하고, 그다음 실제 반영 과목 수를 살펴야 한다.</a:t>
            </a:r>
          </a:p>
          <a:p>
            <a:endParaRPr/>
          </a:p>
          <a:p>
            <a:r>
              <a:t>두 과목을 반영하는 경우에도 단순 평균인지, 사회·과학을 고정 가중하는지, 높은 점수에 더 큰 비중을 주는지에 따라 결과가 달라진다. ‘탐구 2’라는 한 줄 표기로는 이 차이를 충분히 설명할 수 없다.</a:t>
            </a:r>
          </a:p>
          <a:p>
            <a:endParaRPr/>
          </a:p>
          <a:p>
            <a:r>
              <a:t>상위 1과목 반영 대학은 적용 범위를 확인한다</a:t>
            </a:r>
          </a:p>
          <a:p>
            <a:r>
              <a:t>SEN 114·132쪽</a:t>
            </a:r>
          </a:p>
          <a:p>
            <a:r>
              <a:t>인천 18·20쪽</a:t>
            </a:r>
          </a:p>
          <a:p>
            <a:r>
              <a:t>한국항공 시행계획 수능 반영</a:t>
            </a:r>
          </a:p>
          <a:p>
            <a:endParaRPr/>
          </a:p>
          <a:p>
            <a:endParaRPr/>
          </a:p>
          <a:p>
            <a:r>
              <a:t>상위 1과목 반영은 탐구 두 점수의 차이가 큰 수험생에게 중요한 비교 항목이 된다. 다만 유리한 탐구 한 과목만으로 지원 유불리를 판단할 수는 없으며, 다른 영역의 가중치와 가산점까지 합친 환산점수를 비교해야 한다.</a:t>
            </a:r>
          </a:p>
          <a:p>
            <a:endParaRPr/>
          </a:p>
          <a:p>
            <a:r>
              <a:t>특히 경희대는 인문·사회와 자연의 방식이 다르다. 건국대도 일반 인문·자연과 예체능을 같은 표기로 묶지 않아야 한다. 대학명 옆에 적용 계열과 전형 범위를 함께 적는 편이 정확하다.</a:t>
            </a:r>
          </a:p>
          <a:p>
            <a:endParaRPr/>
          </a:p>
          <a:p>
            <a:r>
              <a:t>근거 원문 경로는 별도 근거목록 파일 참조</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두 과목 반영도 가중 방식에 따라 달라진다</a:t>
            </a:r>
          </a:p>
          <a:p>
            <a:r>
              <a:t>성균관 PDF 38쪽</a:t>
            </a:r>
          </a:p>
          <a:p>
            <a:r>
              <a:t>이화 PDF 15~16쪽</a:t>
            </a:r>
          </a:p>
          <a:p>
            <a:r>
              <a:t>서울 PDF 18쪽</a:t>
            </a:r>
          </a:p>
          <a:p>
            <a:r>
              <a:t>SEN 132쪽</a:t>
            </a:r>
          </a:p>
          <a:p>
            <a:r>
              <a:t>서울대의 상대비율은 모집단위군별로 다름. 이화 다군 일부 수능전형은 탐구 우수 1개 영역.</a:t>
            </a:r>
          </a:p>
          <a:p>
            <a:endParaRPr/>
          </a:p>
          <a:p>
            <a:r>
              <a:t>탐구 두 과목을 반영한다는 공통점만으로 대학들을 같은 방식으로 분류해서는 안 된다. 성균관대의 상위 순 70:30, 이화여대의 우수 영역 순 반영, 사회·과학 고정 가중은 서로 다른 계산 방식이다.</a:t>
            </a:r>
          </a:p>
          <a:p>
            <a:endParaRPr/>
          </a:p>
          <a:p>
            <a:r>
              <a:t>서울대의 국어 100·수학 120·사회 50·과학 30은 상대 반영비율이다. 이를 그대로 퍼센트로 적으면 오류가 된다. 표에 반영비율의 단위와 기준을 밝히면 독자가 계산의 의미를 오해하지 않는다.</a:t>
            </a:r>
          </a:p>
          <a:p>
            <a:endParaRPr/>
          </a:p>
          <a:p>
            <a:r>
              <a:t>근거 원문 경로는 별도 근거목록 파일 참조</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거점국립대 활용지표와 탐구 비교 1</a:t>
            </a:r>
          </a:p>
          <a:p>
            <a:r>
              <a:t>SEN 109·124·128쪽</a:t>
            </a:r>
          </a:p>
          <a:p>
            <a:r>
              <a:t>강원·경북·경상 시행계획 수능 반영방법</a:t>
            </a:r>
          </a:p>
          <a:p>
            <a:r>
              <a:t>강원대 캠퍼스별 모집단위 예외·가산점은 해당 캠퍼스 시행계획 기준.</a:t>
            </a:r>
          </a:p>
          <a:p>
            <a:endParaRPr/>
          </a:p>
          <a:p>
            <a:r>
              <a:t>강원대는 캠퍼스별 반영방식을 하나로 묶지 않는 것이 중요하다. 춘천의 계열별 반영비율과 삼척·도계의 우수 영역 선택 방식, 강릉·원주의 우수 영역 선택 방식을 나누어 정리해야 한다.</a:t>
            </a:r>
          </a:p>
          <a:p>
            <a:endParaRPr/>
          </a:p>
          <a:p>
            <a:r>
              <a:t>경북대와 경상국립대는 표준점수를 활용하지만 영역별 반영비율은 같지 않다. 인문·자연계열의 사회·과학 가중치를 확인하고, 영어와 한국사의 별도 처리까지 포함해 환산 구조를 읽어야 한다.</a:t>
            </a:r>
          </a:p>
          <a:p>
            <a:endParaRPr/>
          </a:p>
          <a:p>
            <a:r>
              <a:t>거점국립대 활용지표와 탐구 비교 2</a:t>
            </a:r>
          </a:p>
          <a:p>
            <a:r>
              <a:t>SEN 173·246·250·253·266·270쪽</a:t>
            </a:r>
          </a:p>
          <a:p>
            <a:r>
              <a:t>각 대학 시행계획 수능 반영방법</a:t>
            </a:r>
          </a:p>
          <a:p>
            <a:r>
              <a:t>부산대는 요약자료의 지표 명칭보다 시행계획의 영역별 산출식을 우선 확인.</a:t>
            </a:r>
          </a:p>
          <a:p>
            <a:endParaRPr/>
          </a:p>
          <a:p>
            <a:r>
              <a:t>지방거점국립대의 탐구 반영 과목 수도 동일하지 않다. 전남대는 일반 모집단위와 의약학계열의 반영방식이 다르고, 제주대는 1과목을 반영한다. 다른 대학의 기준을 그대로 옮겨 쓰지 않아야 한다.</a:t>
            </a:r>
          </a:p>
          <a:p>
            <a:endParaRPr/>
          </a:p>
          <a:p>
            <a:r>
              <a:t>전북대는 백분위를, 충남대와 충북대는 표준점수를 활용한다. 같은 탐구 2과목 반영이라도 활용지표와 계열별 가중치가 다르므로, 대학별 환산식에 따라 비교해야 한다.</a:t>
            </a:r>
          </a:p>
          <a:p>
            <a:endParaRPr/>
          </a:p>
          <a:p>
            <a:r>
              <a:t>근거 원문 경로는 별도 근거목록 파일 참조</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서울대는 단계와 평가점수 범위를 함께 본다</a:t>
            </a:r>
          </a:p>
          <a:p>
            <a:r>
              <a:t>서울 PDF 17~20·35~36쪽</a:t>
            </a:r>
          </a:p>
          <a:p>
            <a:r>
              <a:t>미술·체육·음악 등은 별도 전형방법. 교과역량 2인 평가점수 평균, 결격 사유 규정 별도.</a:t>
            </a:r>
          </a:p>
          <a:p>
            <a:endParaRPr/>
          </a:p>
          <a:p>
            <a:r>
              <a:t>서울대 정시 일반전형은 1단계와 2단계에서 수능 지표와 평가요소가 달라진다. 대부분 모집단위는 수능 등급으로 3배수를 선발한 뒤 수능 백분위와 교과역량평가를 합산한다. 의과대학과 수의과대학은 면접 20점을 별도로 반영한다.</a:t>
            </a:r>
          </a:p>
          <a:p>
            <a:endParaRPr/>
          </a:p>
          <a:p>
            <a:r>
              <a:t>교과역량평가 40점이라는 배점을 곧바로 40점의 변별폭으로 해석해서는 안 된다. 제시된 평가등급 점수는 35~40점이다. 또 일부 인문 모집단위는 수능 제2외국어/한문 응시가 필수이며, 고교 과목 이수 권장과는 다른 조건이다.</a:t>
            </a:r>
          </a:p>
          <a:p>
            <a:endParaRPr/>
          </a:p>
          <a:p>
            <a:r>
              <a:t>성균관대는 수능 유형과 학생부형을 구분한다</a:t>
            </a:r>
          </a:p>
          <a:p>
            <a:r>
              <a:t>성균관 PDF 34~42쪽</a:t>
            </a:r>
          </a:p>
          <a:p>
            <a:r>
              <a:t>정시 융합인재 모집단위: 교육학·한문교육·수학교육·컴퓨터교육. 일반형 정원내·계약학과 인원 구분.</a:t>
            </a:r>
          </a:p>
          <a:p>
            <a:endParaRPr/>
          </a:p>
          <a:p>
            <a:r>
              <a:t>성균관대 정시는 일반형과 특화형의 수능 산출방식을 구분하는 것이 먼저다. 특화형도 수능 100% 전형이지만, 특정 영역을 강조하는 가중 구조와 대학 자체 변환점수를 활용한다. 수능 100%라는 공통점만으로 두 유형을 동일하게 볼 수 없다.</a:t>
            </a:r>
          </a:p>
          <a:p>
            <a:endParaRPr/>
          </a:p>
          <a:p>
            <a:r>
              <a:t>다군 융합인재는 학생부 100%로 선발하며 수능최저학력기준을 적용한다. 국어·수학·영어·사회·과학의 5개 영역(과목) 중 3개 등급 합 6 이내가 기준이다. 해당 전형은 졸업생도 지원할 수 있다.</a:t>
            </a:r>
          </a:p>
          <a:p>
            <a:endParaRPr/>
          </a:p>
          <a:p>
            <a:r>
              <a:t>근거 원문 경로는 별도 근거목록 파일 참조</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전형 이름보다 적용 범위와 근거가 먼저다</a:t>
            </a:r>
          </a:p>
          <a:p>
            <a:r>
              <a:t>첨부 PDF 2종·엑셀, 보관 시행계획 원문</a:t>
            </a:r>
          </a:p>
          <a:p>
            <a:r>
              <a:t>대학별 원문 경로·페이지는 슬라이드 노트와 근거 목록 참조</a:t>
            </a:r>
          </a:p>
          <a:p>
            <a:r>
              <a:t>자료 기준: SEN 2026. 7. 2. 및 각 시행계획 공표본. 최신 변경 공지 전체를 확인한 최종 요강판은 아님.</a:t>
            </a:r>
          </a:p>
          <a:p>
            <a:endParaRPr/>
          </a:p>
          <a:p>
            <a:r>
              <a:t>이 자료는 대학별 시행계획을 기준으로 전형의 구조를 비교한 집필용 원고이다. 원문에 명시된 사실과 준비 방향에 대한 해석을 구분하고, 적용 범위가 있는 사례에는 모집군·전형·모집단위를 함께 표기하였다.</a:t>
            </a:r>
          </a:p>
          <a:p>
            <a:endParaRPr/>
          </a:p>
          <a:p>
            <a:r>
              <a:t>최종 모집요강이 발표되면 지원자격, 모집단위, 모집군, 수시 이월, 학생부 및 수능 산출식을 다시 대조해야 한다. 시행계획에 없는 비교내신이나 미확정 변환점수는 수치로 가정해 제시하지 않았다.</a:t>
            </a:r>
          </a:p>
          <a:p>
            <a:endParaRPr/>
          </a:p>
          <a:p>
            <a:r>
              <a:t>근거 원문 경로는 별도 근거목록 파일 참조</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B5ACB01-69C2-4747-B3B0-931C720B1C5C}"/>
              </a:ext>
            </a:extLst>
          </p:cNvPr>
          <p:cNvSpPr>
            <a:spLocks noGrp="1"/>
          </p:cNvSpPr>
          <p:nvPr>
            <p:ph type="title"/>
          </p:nvPr>
        </p:nvSpPr>
        <p:spPr>
          <a:xfrm>
            <a:off x="1143000" y="3808967"/>
            <a:ext cx="9144000" cy="1456370"/>
          </a:xfrm>
          <a:prstGeom prst="rect">
            <a:avLst/>
          </a:prstGeom>
          <a:noFill/>
          <a:ln>
            <a:noFill/>
            <a:prstDash val="solid"/>
          </a:ln>
        </p:spPr>
        <p:txBody>
          <a:bodyPr wrap="square" lIns="0" tIns="0" rIns="0" bIns="0" anchor="ctr">
            <a:normAutofit/>
          </a:bodyPr>
          <a:lstStyle>
            <a:defPPr algn="ctr">
              <a:defRPr sz="4500" b="1">
                <a:solidFill>
                  <a:schemeClr val="tx1"/>
                </a:solidFill>
                <a:latin typeface="+mj-lt"/>
                <a:ea typeface="+mj-lt"/>
                <a:cs typeface="+mj-lt"/>
              </a:defRPr>
            </a:defPPr>
            <a:lvl1pPr marL="0" indent="0" algn="ctr">
              <a:lnSpc>
                <a:spcPct val="110000"/>
              </a:lnSpc>
              <a:spcBef>
                <a:spcPts val="0"/>
              </a:spcBef>
              <a:spcAft>
                <a:spcPts val="0"/>
              </a:spcAft>
              <a:buNone/>
              <a:defRPr sz="4500" b="1">
                <a:solidFill>
                  <a:schemeClr val="tx1"/>
                </a:solidFill>
                <a:latin typeface="+mj-lt"/>
                <a:ea typeface="+mj-lt"/>
                <a:cs typeface="+mj-lt"/>
              </a:defRPr>
            </a:lvl1pPr>
            <a:lvl2pPr marL="0" indent="0" algn="ctr">
              <a:lnSpc>
                <a:spcPct val="110000"/>
              </a:lnSpc>
              <a:spcBef>
                <a:spcPts val="0"/>
              </a:spcBef>
              <a:spcAft>
                <a:spcPts val="0"/>
              </a:spcAft>
              <a:buNone/>
              <a:defRPr sz="4500" b="1">
                <a:solidFill>
                  <a:schemeClr val="tx1"/>
                </a:solidFill>
                <a:latin typeface="+mj-lt"/>
                <a:ea typeface="+mj-lt"/>
                <a:cs typeface="+mj-lt"/>
              </a:defRPr>
            </a:lvl2pPr>
            <a:lvl3pPr marL="0" indent="0" algn="ctr">
              <a:lnSpc>
                <a:spcPct val="110000"/>
              </a:lnSpc>
              <a:spcBef>
                <a:spcPts val="0"/>
              </a:spcBef>
              <a:spcAft>
                <a:spcPts val="0"/>
              </a:spcAft>
              <a:buNone/>
              <a:defRPr sz="4500" b="1">
                <a:solidFill>
                  <a:schemeClr val="tx1"/>
                </a:solidFill>
                <a:latin typeface="+mj-lt"/>
                <a:ea typeface="+mj-lt"/>
                <a:cs typeface="+mj-lt"/>
              </a:defRPr>
            </a:lvl3pPr>
            <a:lvl4pPr marL="0" indent="0" algn="ctr">
              <a:lnSpc>
                <a:spcPct val="110000"/>
              </a:lnSpc>
              <a:spcBef>
                <a:spcPts val="0"/>
              </a:spcBef>
              <a:spcAft>
                <a:spcPts val="0"/>
              </a:spcAft>
              <a:buNone/>
              <a:defRPr sz="4500" b="1">
                <a:solidFill>
                  <a:schemeClr val="tx1"/>
                </a:solidFill>
                <a:latin typeface="+mj-lt"/>
                <a:ea typeface="+mj-lt"/>
                <a:cs typeface="+mj-lt"/>
              </a:defRPr>
            </a:lvl4pPr>
            <a:lvl5pPr marL="0" indent="0" algn="ctr">
              <a:lnSpc>
                <a:spcPct val="110000"/>
              </a:lnSpc>
              <a:spcBef>
                <a:spcPts val="0"/>
              </a:spcBef>
              <a:spcAft>
                <a:spcPts val="0"/>
              </a:spcAft>
              <a:buNone/>
              <a:defRPr sz="4500" b="1">
                <a:solidFill>
                  <a:schemeClr val="tx1"/>
                </a:solidFill>
                <a:latin typeface="+mj-lt"/>
                <a:ea typeface="+mj-lt"/>
                <a:cs typeface="+mj-lt"/>
              </a:defRPr>
            </a:lvl5pPr>
            <a:lvl6pPr marL="0" indent="0" algn="ctr">
              <a:lnSpc>
                <a:spcPct val="110000"/>
              </a:lnSpc>
              <a:spcBef>
                <a:spcPts val="0"/>
              </a:spcBef>
              <a:spcAft>
                <a:spcPts val="0"/>
              </a:spcAft>
              <a:buNone/>
              <a:defRPr sz="4500" b="1">
                <a:solidFill>
                  <a:schemeClr val="tx1"/>
                </a:solidFill>
                <a:latin typeface="+mj-lt"/>
                <a:ea typeface="+mj-lt"/>
                <a:cs typeface="+mj-lt"/>
              </a:defRPr>
            </a:lvl6pPr>
            <a:lvl7pPr marL="0" indent="0" algn="ctr">
              <a:lnSpc>
                <a:spcPct val="110000"/>
              </a:lnSpc>
              <a:spcBef>
                <a:spcPts val="0"/>
              </a:spcBef>
              <a:spcAft>
                <a:spcPts val="0"/>
              </a:spcAft>
              <a:buNone/>
              <a:defRPr sz="4500" b="1">
                <a:solidFill>
                  <a:schemeClr val="tx1"/>
                </a:solidFill>
                <a:latin typeface="+mj-lt"/>
                <a:ea typeface="+mj-lt"/>
                <a:cs typeface="+mj-lt"/>
              </a:defRPr>
            </a:lvl7pPr>
            <a:lvl8pPr marL="0" indent="0" algn="ctr">
              <a:lnSpc>
                <a:spcPct val="110000"/>
              </a:lnSpc>
              <a:spcBef>
                <a:spcPts val="0"/>
              </a:spcBef>
              <a:spcAft>
                <a:spcPts val="0"/>
              </a:spcAft>
              <a:buNone/>
              <a:defRPr sz="4500" b="1">
                <a:solidFill>
                  <a:schemeClr val="tx1"/>
                </a:solidFill>
                <a:latin typeface="+mj-lt"/>
                <a:ea typeface="+mj-lt"/>
                <a:cs typeface="+mj-lt"/>
              </a:defRPr>
            </a:lvl8pPr>
            <a:lvl9pPr marL="0" indent="0" algn="ctr">
              <a:lnSpc>
                <a:spcPct val="110000"/>
              </a:lnSpc>
              <a:spcBef>
                <a:spcPts val="0"/>
              </a:spcBef>
              <a:spcAft>
                <a:spcPts val="0"/>
              </a:spcAft>
              <a:buNone/>
              <a:defRPr sz="45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82B89B61-FB83-4CEA-9054-AE3F1518E23E}"/>
              </a:ext>
            </a:extLst>
          </p:cNvPr>
          <p:cNvSpPr>
            <a:spLocks noGrp="1"/>
          </p:cNvSpPr>
          <p:nvPr>
            <p:ph type="subTitle" idx="1"/>
          </p:nvPr>
        </p:nvSpPr>
        <p:spPr>
          <a:xfrm>
            <a:off x="1714500" y="5545409"/>
            <a:ext cx="8001000" cy="1120285"/>
          </a:xfrm>
          <a:prstGeom prst="rect">
            <a:avLst/>
          </a:prstGeom>
          <a:noFill/>
          <a:ln>
            <a:noFill/>
            <a:prstDash val="solid"/>
          </a:ln>
        </p:spPr>
        <p:txBody>
          <a:bodyPr wrap="square" lIns="0" tIns="0" rIns="0" bIns="0" anchor="ctr">
            <a:normAutofit/>
          </a:bodyPr>
          <a:lstStyle>
            <a:defPPr algn="ctr">
              <a:defRPr sz="1969" b="0">
                <a:solidFill>
                  <a:schemeClr val="tx1"/>
                </a:solidFill>
                <a:latin typeface="+mn-lt"/>
                <a:ea typeface="+mn-lt"/>
                <a:cs typeface="+mn-lt"/>
              </a:defRPr>
            </a:defPPr>
            <a:lvl1pPr marL="0" indent="0" algn="ctr">
              <a:lnSpc>
                <a:spcPct val="110000"/>
              </a:lnSpc>
              <a:spcBef>
                <a:spcPts val="0"/>
              </a:spcBef>
              <a:spcAft>
                <a:spcPts val="0"/>
              </a:spcAft>
              <a:buNone/>
              <a:defRPr sz="1969" b="0">
                <a:solidFill>
                  <a:schemeClr val="tx1"/>
                </a:solidFill>
                <a:latin typeface="+mn-lt"/>
                <a:ea typeface="+mn-lt"/>
                <a:cs typeface="+mn-lt"/>
              </a:defRPr>
            </a:lvl1pPr>
            <a:lvl2pPr marL="0" indent="0" algn="ctr">
              <a:lnSpc>
                <a:spcPct val="110000"/>
              </a:lnSpc>
              <a:spcBef>
                <a:spcPts val="0"/>
              </a:spcBef>
              <a:spcAft>
                <a:spcPts val="0"/>
              </a:spcAft>
              <a:buNone/>
              <a:defRPr sz="1969" b="0">
                <a:solidFill>
                  <a:schemeClr val="tx1"/>
                </a:solidFill>
                <a:latin typeface="+mn-lt"/>
                <a:ea typeface="+mn-lt"/>
                <a:cs typeface="+mn-lt"/>
              </a:defRPr>
            </a:lvl2pPr>
            <a:lvl3pPr marL="0" indent="0" algn="ctr">
              <a:lnSpc>
                <a:spcPct val="110000"/>
              </a:lnSpc>
              <a:spcBef>
                <a:spcPts val="0"/>
              </a:spcBef>
              <a:spcAft>
                <a:spcPts val="0"/>
              </a:spcAft>
              <a:buNone/>
              <a:defRPr sz="1969" b="0">
                <a:solidFill>
                  <a:schemeClr val="tx1"/>
                </a:solidFill>
                <a:latin typeface="+mn-lt"/>
                <a:ea typeface="+mn-lt"/>
                <a:cs typeface="+mn-lt"/>
              </a:defRPr>
            </a:lvl3pPr>
            <a:lvl4pPr marL="0" indent="0" algn="ctr">
              <a:lnSpc>
                <a:spcPct val="110000"/>
              </a:lnSpc>
              <a:spcBef>
                <a:spcPts val="0"/>
              </a:spcBef>
              <a:spcAft>
                <a:spcPts val="0"/>
              </a:spcAft>
              <a:buNone/>
              <a:defRPr sz="1969" b="0">
                <a:solidFill>
                  <a:schemeClr val="tx1"/>
                </a:solidFill>
                <a:latin typeface="+mn-lt"/>
                <a:ea typeface="+mn-lt"/>
                <a:cs typeface="+mn-lt"/>
              </a:defRPr>
            </a:lvl4pPr>
            <a:lvl5pPr marL="0" indent="0" algn="ctr">
              <a:lnSpc>
                <a:spcPct val="110000"/>
              </a:lnSpc>
              <a:spcBef>
                <a:spcPts val="0"/>
              </a:spcBef>
              <a:spcAft>
                <a:spcPts val="0"/>
              </a:spcAft>
              <a:buNone/>
              <a:defRPr sz="1969" b="0">
                <a:solidFill>
                  <a:schemeClr val="tx1"/>
                </a:solidFill>
                <a:latin typeface="+mn-lt"/>
                <a:ea typeface="+mn-lt"/>
                <a:cs typeface="+mn-lt"/>
              </a:defRPr>
            </a:lvl5pPr>
            <a:lvl6pPr marL="0" indent="0" algn="ctr">
              <a:lnSpc>
                <a:spcPct val="110000"/>
              </a:lnSpc>
              <a:spcBef>
                <a:spcPts val="0"/>
              </a:spcBef>
              <a:spcAft>
                <a:spcPts val="0"/>
              </a:spcAft>
              <a:buNone/>
              <a:defRPr sz="1969" b="0">
                <a:solidFill>
                  <a:schemeClr val="tx1"/>
                </a:solidFill>
                <a:latin typeface="+mn-lt"/>
                <a:ea typeface="+mn-lt"/>
                <a:cs typeface="+mn-lt"/>
              </a:defRPr>
            </a:lvl6pPr>
            <a:lvl7pPr marL="0" indent="0" algn="ctr">
              <a:lnSpc>
                <a:spcPct val="110000"/>
              </a:lnSpc>
              <a:spcBef>
                <a:spcPts val="0"/>
              </a:spcBef>
              <a:spcAft>
                <a:spcPts val="0"/>
              </a:spcAft>
              <a:buNone/>
              <a:defRPr sz="1969" b="0">
                <a:solidFill>
                  <a:schemeClr val="tx1"/>
                </a:solidFill>
                <a:latin typeface="+mn-lt"/>
                <a:ea typeface="+mn-lt"/>
                <a:cs typeface="+mn-lt"/>
              </a:defRPr>
            </a:lvl7pPr>
            <a:lvl8pPr marL="0" indent="0" algn="ctr">
              <a:lnSpc>
                <a:spcPct val="110000"/>
              </a:lnSpc>
              <a:spcBef>
                <a:spcPts val="0"/>
              </a:spcBef>
              <a:spcAft>
                <a:spcPts val="0"/>
              </a:spcAft>
              <a:buNone/>
              <a:defRPr sz="1969" b="0">
                <a:solidFill>
                  <a:schemeClr val="tx1"/>
                </a:solidFill>
                <a:latin typeface="+mn-lt"/>
                <a:ea typeface="+mn-lt"/>
                <a:cs typeface="+mn-lt"/>
              </a:defRPr>
            </a:lvl8pPr>
            <a:lvl9pPr marL="0" indent="0" algn="ctr">
              <a:lnSpc>
                <a:spcPct val="110000"/>
              </a:lnSpc>
              <a:spcBef>
                <a:spcPts val="0"/>
              </a:spcBef>
              <a:spcAft>
                <a:spcPts val="0"/>
              </a:spcAft>
              <a:buNone/>
              <a:defRPr sz="1969"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AFD146B5-9B26-419C-B1A3-5A09D063DB2A}"/>
              </a:ext>
            </a:extLst>
          </p:cNvPr>
          <p:cNvSpPr>
            <a:spLocks noGrp="1"/>
          </p:cNvSpPr>
          <p:nvPr>
            <p:ph type="title"/>
          </p:nvPr>
        </p:nvSpPr>
        <p:spPr>
          <a:xfrm>
            <a:off x="1143000" y="4201067"/>
            <a:ext cx="9144000" cy="1680427"/>
          </a:xfrm>
          <a:prstGeom prst="rect">
            <a:avLst/>
          </a:prstGeom>
          <a:noFill/>
          <a:ln>
            <a:noFill/>
            <a:prstDash val="solid"/>
          </a:ln>
        </p:spPr>
        <p:txBody>
          <a:bodyPr wrap="square" lIns="0" tIns="0" rIns="0" bIns="0" anchor="ctr">
            <a:normAutofit/>
          </a:bodyPr>
          <a:lstStyle>
            <a:defPPr algn="ctr">
              <a:defRPr sz="3938" b="1">
                <a:solidFill>
                  <a:schemeClr val="tx1"/>
                </a:solidFill>
                <a:latin typeface="+mj-lt"/>
                <a:ea typeface="+mj-lt"/>
                <a:cs typeface="+mj-lt"/>
              </a:defRPr>
            </a:defPPr>
            <a:lvl1pPr marL="0" indent="0" algn="ctr">
              <a:lnSpc>
                <a:spcPct val="110000"/>
              </a:lnSpc>
              <a:spcBef>
                <a:spcPts val="0"/>
              </a:spcBef>
              <a:spcAft>
                <a:spcPts val="0"/>
              </a:spcAft>
              <a:buNone/>
              <a:defRPr sz="3938" b="1">
                <a:solidFill>
                  <a:schemeClr val="tx1"/>
                </a:solidFill>
                <a:latin typeface="+mj-lt"/>
                <a:ea typeface="+mj-lt"/>
                <a:cs typeface="+mj-lt"/>
              </a:defRPr>
            </a:lvl1pPr>
            <a:lvl2pPr marL="0" indent="0" algn="ctr">
              <a:lnSpc>
                <a:spcPct val="110000"/>
              </a:lnSpc>
              <a:spcBef>
                <a:spcPts val="0"/>
              </a:spcBef>
              <a:spcAft>
                <a:spcPts val="0"/>
              </a:spcAft>
              <a:buNone/>
              <a:defRPr sz="3938" b="1">
                <a:solidFill>
                  <a:schemeClr val="tx1"/>
                </a:solidFill>
                <a:latin typeface="+mj-lt"/>
                <a:ea typeface="+mj-lt"/>
                <a:cs typeface="+mj-lt"/>
              </a:defRPr>
            </a:lvl2pPr>
            <a:lvl3pPr marL="0" indent="0" algn="ctr">
              <a:lnSpc>
                <a:spcPct val="110000"/>
              </a:lnSpc>
              <a:spcBef>
                <a:spcPts val="0"/>
              </a:spcBef>
              <a:spcAft>
                <a:spcPts val="0"/>
              </a:spcAft>
              <a:buNone/>
              <a:defRPr sz="3938" b="1">
                <a:solidFill>
                  <a:schemeClr val="tx1"/>
                </a:solidFill>
                <a:latin typeface="+mj-lt"/>
                <a:ea typeface="+mj-lt"/>
                <a:cs typeface="+mj-lt"/>
              </a:defRPr>
            </a:lvl3pPr>
            <a:lvl4pPr marL="0" indent="0" algn="ctr">
              <a:lnSpc>
                <a:spcPct val="110000"/>
              </a:lnSpc>
              <a:spcBef>
                <a:spcPts val="0"/>
              </a:spcBef>
              <a:spcAft>
                <a:spcPts val="0"/>
              </a:spcAft>
              <a:buNone/>
              <a:defRPr sz="3938" b="1">
                <a:solidFill>
                  <a:schemeClr val="tx1"/>
                </a:solidFill>
                <a:latin typeface="+mj-lt"/>
                <a:ea typeface="+mj-lt"/>
                <a:cs typeface="+mj-lt"/>
              </a:defRPr>
            </a:lvl4pPr>
            <a:lvl5pPr marL="0" indent="0" algn="ctr">
              <a:lnSpc>
                <a:spcPct val="110000"/>
              </a:lnSpc>
              <a:spcBef>
                <a:spcPts val="0"/>
              </a:spcBef>
              <a:spcAft>
                <a:spcPts val="0"/>
              </a:spcAft>
              <a:buNone/>
              <a:defRPr sz="3938" b="1">
                <a:solidFill>
                  <a:schemeClr val="tx1"/>
                </a:solidFill>
                <a:latin typeface="+mj-lt"/>
                <a:ea typeface="+mj-lt"/>
                <a:cs typeface="+mj-lt"/>
              </a:defRPr>
            </a:lvl5pPr>
            <a:lvl6pPr marL="0" indent="0" algn="ctr">
              <a:lnSpc>
                <a:spcPct val="110000"/>
              </a:lnSpc>
              <a:spcBef>
                <a:spcPts val="0"/>
              </a:spcBef>
              <a:spcAft>
                <a:spcPts val="0"/>
              </a:spcAft>
              <a:buNone/>
              <a:defRPr sz="3938" b="1">
                <a:solidFill>
                  <a:schemeClr val="tx1"/>
                </a:solidFill>
                <a:latin typeface="+mj-lt"/>
                <a:ea typeface="+mj-lt"/>
                <a:cs typeface="+mj-lt"/>
              </a:defRPr>
            </a:lvl6pPr>
            <a:lvl7pPr marL="0" indent="0" algn="ctr">
              <a:lnSpc>
                <a:spcPct val="110000"/>
              </a:lnSpc>
              <a:spcBef>
                <a:spcPts val="0"/>
              </a:spcBef>
              <a:spcAft>
                <a:spcPts val="0"/>
              </a:spcAft>
              <a:buNone/>
              <a:defRPr sz="3938" b="1">
                <a:solidFill>
                  <a:schemeClr val="tx1"/>
                </a:solidFill>
                <a:latin typeface="+mj-lt"/>
                <a:ea typeface="+mj-lt"/>
                <a:cs typeface="+mj-lt"/>
              </a:defRPr>
            </a:lvl7pPr>
            <a:lvl8pPr marL="0" indent="0" algn="ctr">
              <a:lnSpc>
                <a:spcPct val="110000"/>
              </a:lnSpc>
              <a:spcBef>
                <a:spcPts val="0"/>
              </a:spcBef>
              <a:spcAft>
                <a:spcPts val="0"/>
              </a:spcAft>
              <a:buNone/>
              <a:defRPr sz="3938" b="1">
                <a:solidFill>
                  <a:schemeClr val="tx1"/>
                </a:solidFill>
                <a:latin typeface="+mj-lt"/>
                <a:ea typeface="+mj-lt"/>
                <a:cs typeface="+mj-lt"/>
              </a:defRPr>
            </a:lvl8pPr>
            <a:lvl9pPr marL="0" indent="0" algn="ctr">
              <a:lnSpc>
                <a:spcPct val="110000"/>
              </a:lnSpc>
              <a:spcBef>
                <a:spcPts val="0"/>
              </a:spcBef>
              <a:spcAft>
                <a:spcPts val="0"/>
              </a:spcAft>
              <a:buNone/>
              <a:defRPr sz="3938"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1F31664-667F-42C2-B761-D87117AA5023}"/>
              </a:ext>
            </a:extLst>
          </p:cNvPr>
          <p:cNvSpPr>
            <a:spLocks noGrp="1"/>
          </p:cNvSpPr>
          <p:nvPr>
            <p:ph type="title"/>
          </p:nvPr>
        </p:nvSpPr>
        <p:spPr>
          <a:xfrm>
            <a:off x="642938" y="784199"/>
            <a:ext cx="10144125" cy="1232313"/>
          </a:xfrm>
          <a:prstGeom prst="rect">
            <a:avLst/>
          </a:prstGeom>
          <a:noFill/>
          <a:ln>
            <a:noFill/>
            <a:prstDash val="solid"/>
          </a:ln>
        </p:spPr>
        <p:txBody>
          <a:bodyPr wrap="square" lIns="0" tIns="0" rIns="0" bIns="0" anchor="t">
            <a:normAutofit/>
          </a:bodyPr>
          <a:lstStyle>
            <a:defPPr algn="l">
              <a:defRPr sz="3094" b="1">
                <a:solidFill>
                  <a:schemeClr val="tx1"/>
                </a:solidFill>
                <a:latin typeface="+mj-lt"/>
                <a:ea typeface="+mj-lt"/>
                <a:cs typeface="+mj-lt"/>
              </a:defRPr>
            </a:defPPr>
            <a:lvl1pPr marL="0" indent="0" algn="l">
              <a:lnSpc>
                <a:spcPct val="110000"/>
              </a:lnSpc>
              <a:spcBef>
                <a:spcPts val="0"/>
              </a:spcBef>
              <a:spcAft>
                <a:spcPts val="0"/>
              </a:spcAft>
              <a:buNone/>
              <a:defRPr sz="3094" b="1">
                <a:solidFill>
                  <a:schemeClr val="tx1"/>
                </a:solidFill>
                <a:latin typeface="+mj-lt"/>
                <a:ea typeface="+mj-lt"/>
                <a:cs typeface="+mj-lt"/>
              </a:defRPr>
            </a:lvl1pPr>
            <a:lvl2pPr marL="0" indent="0" algn="l">
              <a:lnSpc>
                <a:spcPct val="110000"/>
              </a:lnSpc>
              <a:spcBef>
                <a:spcPts val="0"/>
              </a:spcBef>
              <a:spcAft>
                <a:spcPts val="0"/>
              </a:spcAft>
              <a:buNone/>
              <a:defRPr sz="3094" b="1">
                <a:solidFill>
                  <a:schemeClr val="tx1"/>
                </a:solidFill>
                <a:latin typeface="+mj-lt"/>
                <a:ea typeface="+mj-lt"/>
                <a:cs typeface="+mj-lt"/>
              </a:defRPr>
            </a:lvl2pPr>
            <a:lvl3pPr marL="0" indent="0" algn="l">
              <a:lnSpc>
                <a:spcPct val="110000"/>
              </a:lnSpc>
              <a:spcBef>
                <a:spcPts val="0"/>
              </a:spcBef>
              <a:spcAft>
                <a:spcPts val="0"/>
              </a:spcAft>
              <a:buNone/>
              <a:defRPr sz="3094" b="1">
                <a:solidFill>
                  <a:schemeClr val="tx1"/>
                </a:solidFill>
                <a:latin typeface="+mj-lt"/>
                <a:ea typeface="+mj-lt"/>
                <a:cs typeface="+mj-lt"/>
              </a:defRPr>
            </a:lvl3pPr>
            <a:lvl4pPr marL="0" indent="0" algn="l">
              <a:lnSpc>
                <a:spcPct val="110000"/>
              </a:lnSpc>
              <a:spcBef>
                <a:spcPts val="0"/>
              </a:spcBef>
              <a:spcAft>
                <a:spcPts val="0"/>
              </a:spcAft>
              <a:buNone/>
              <a:defRPr sz="3094" b="1">
                <a:solidFill>
                  <a:schemeClr val="tx1"/>
                </a:solidFill>
                <a:latin typeface="+mj-lt"/>
                <a:ea typeface="+mj-lt"/>
                <a:cs typeface="+mj-lt"/>
              </a:defRPr>
            </a:lvl4pPr>
            <a:lvl5pPr marL="0" indent="0" algn="l">
              <a:lnSpc>
                <a:spcPct val="110000"/>
              </a:lnSpc>
              <a:spcBef>
                <a:spcPts val="0"/>
              </a:spcBef>
              <a:spcAft>
                <a:spcPts val="0"/>
              </a:spcAft>
              <a:buNone/>
              <a:defRPr sz="3094" b="1">
                <a:solidFill>
                  <a:schemeClr val="tx1"/>
                </a:solidFill>
                <a:latin typeface="+mj-lt"/>
                <a:ea typeface="+mj-lt"/>
                <a:cs typeface="+mj-lt"/>
              </a:defRPr>
            </a:lvl5pPr>
            <a:lvl6pPr marL="0" indent="0" algn="l">
              <a:lnSpc>
                <a:spcPct val="110000"/>
              </a:lnSpc>
              <a:spcBef>
                <a:spcPts val="0"/>
              </a:spcBef>
              <a:spcAft>
                <a:spcPts val="0"/>
              </a:spcAft>
              <a:buNone/>
              <a:defRPr sz="3094" b="1">
                <a:solidFill>
                  <a:schemeClr val="tx1"/>
                </a:solidFill>
                <a:latin typeface="+mj-lt"/>
                <a:ea typeface="+mj-lt"/>
                <a:cs typeface="+mj-lt"/>
              </a:defRPr>
            </a:lvl6pPr>
            <a:lvl7pPr marL="0" indent="0" algn="l">
              <a:lnSpc>
                <a:spcPct val="110000"/>
              </a:lnSpc>
              <a:spcBef>
                <a:spcPts val="0"/>
              </a:spcBef>
              <a:spcAft>
                <a:spcPts val="0"/>
              </a:spcAft>
              <a:buNone/>
              <a:defRPr sz="3094" b="1">
                <a:solidFill>
                  <a:schemeClr val="tx1"/>
                </a:solidFill>
                <a:latin typeface="+mj-lt"/>
                <a:ea typeface="+mj-lt"/>
                <a:cs typeface="+mj-lt"/>
              </a:defRPr>
            </a:lvl7pPr>
            <a:lvl8pPr marL="0" indent="0" algn="l">
              <a:lnSpc>
                <a:spcPct val="110000"/>
              </a:lnSpc>
              <a:spcBef>
                <a:spcPts val="0"/>
              </a:spcBef>
              <a:spcAft>
                <a:spcPts val="0"/>
              </a:spcAft>
              <a:buNone/>
              <a:defRPr sz="3094" b="1">
                <a:solidFill>
                  <a:schemeClr val="tx1"/>
                </a:solidFill>
                <a:latin typeface="+mj-lt"/>
                <a:ea typeface="+mj-lt"/>
                <a:cs typeface="+mj-lt"/>
              </a:defRPr>
            </a:lvl8pPr>
            <a:lvl9pPr marL="0" indent="0" algn="l">
              <a:lnSpc>
                <a:spcPct val="110000"/>
              </a:lnSpc>
              <a:spcBef>
                <a:spcPts val="0"/>
              </a:spcBef>
              <a:spcAft>
                <a:spcPts val="0"/>
              </a:spcAft>
              <a:buNone/>
              <a:defRPr sz="3094"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E6C900FD-3D1C-4879-847F-95EC9C053443}"/>
              </a:ext>
            </a:extLst>
          </p:cNvPr>
          <p:cNvSpPr>
            <a:spLocks noGrp="1"/>
          </p:cNvSpPr>
          <p:nvPr>
            <p:ph type="body" idx="1"/>
          </p:nvPr>
        </p:nvSpPr>
        <p:spPr>
          <a:xfrm>
            <a:off x="642938" y="2800711"/>
            <a:ext cx="10144125" cy="6273594"/>
          </a:xfrm>
          <a:prstGeom prst="rect">
            <a:avLst/>
          </a:prstGeom>
          <a:noFill/>
          <a:ln>
            <a:noFill/>
            <a:prstDash val="solid"/>
          </a:ln>
        </p:spPr>
        <p:txBody>
          <a:bodyPr wrap="square" lIns="0" tIns="0" rIns="0" bIns="0" anchor="t">
            <a:normAutofit/>
          </a:bodyPr>
          <a:lstStyle>
            <a:defPPr algn="l">
              <a:defRPr sz="2109" b="0">
                <a:solidFill>
                  <a:schemeClr val="tx1"/>
                </a:solidFill>
                <a:latin typeface="+mn-lt"/>
                <a:ea typeface="+mn-lt"/>
                <a:cs typeface="+mn-lt"/>
              </a:defRPr>
            </a:defPPr>
            <a:lvl1pPr marL="214313" indent="-214312" algn="l">
              <a:lnSpc>
                <a:spcPct val="110000"/>
              </a:lnSpc>
              <a:spcBef>
                <a:spcPts val="0"/>
              </a:spcBef>
              <a:spcAft>
                <a:spcPts val="1125"/>
              </a:spcAft>
              <a:buChar char="•"/>
              <a:defRPr sz="2109" b="0">
                <a:solidFill>
                  <a:schemeClr val="tx1"/>
                </a:solidFill>
                <a:latin typeface="+mn-lt"/>
                <a:ea typeface="+mn-lt"/>
                <a:cs typeface="+mn-lt"/>
              </a:defRPr>
            </a:lvl1pPr>
            <a:lvl2pPr marL="500063" indent="-214312" algn="l">
              <a:lnSpc>
                <a:spcPct val="110000"/>
              </a:lnSpc>
              <a:spcBef>
                <a:spcPts val="0"/>
              </a:spcBef>
              <a:spcAft>
                <a:spcPts val="1125"/>
              </a:spcAft>
              <a:buChar char="•"/>
              <a:defRPr sz="2109" b="0">
                <a:solidFill>
                  <a:schemeClr val="tx1"/>
                </a:solidFill>
                <a:latin typeface="+mn-lt"/>
                <a:ea typeface="+mn-lt"/>
                <a:cs typeface="+mn-lt"/>
              </a:defRPr>
            </a:lvl2pPr>
            <a:lvl3pPr marL="785813" indent="-214312" algn="l">
              <a:lnSpc>
                <a:spcPct val="110000"/>
              </a:lnSpc>
              <a:spcBef>
                <a:spcPts val="0"/>
              </a:spcBef>
              <a:spcAft>
                <a:spcPts val="1125"/>
              </a:spcAft>
              <a:buChar char="•"/>
              <a:defRPr sz="2109" b="0">
                <a:solidFill>
                  <a:schemeClr val="tx1"/>
                </a:solidFill>
                <a:latin typeface="+mn-lt"/>
                <a:ea typeface="+mn-lt"/>
                <a:cs typeface="+mn-lt"/>
              </a:defRPr>
            </a:lvl3pPr>
            <a:lvl4pPr marL="1071563" indent="-214312" algn="l">
              <a:lnSpc>
                <a:spcPct val="110000"/>
              </a:lnSpc>
              <a:spcBef>
                <a:spcPts val="0"/>
              </a:spcBef>
              <a:spcAft>
                <a:spcPts val="1125"/>
              </a:spcAft>
              <a:buChar char="•"/>
              <a:defRPr sz="2109" b="0">
                <a:solidFill>
                  <a:schemeClr val="tx1"/>
                </a:solidFill>
                <a:latin typeface="+mn-lt"/>
                <a:ea typeface="+mn-lt"/>
                <a:cs typeface="+mn-lt"/>
              </a:defRPr>
            </a:lvl4pPr>
            <a:lvl5pPr marL="1357313" indent="-214312" algn="l">
              <a:lnSpc>
                <a:spcPct val="110000"/>
              </a:lnSpc>
              <a:spcBef>
                <a:spcPts val="0"/>
              </a:spcBef>
              <a:spcAft>
                <a:spcPts val="1125"/>
              </a:spcAft>
              <a:buChar char="•"/>
              <a:defRPr sz="2109" b="0">
                <a:solidFill>
                  <a:schemeClr val="tx1"/>
                </a:solidFill>
                <a:latin typeface="+mn-lt"/>
                <a:ea typeface="+mn-lt"/>
                <a:cs typeface="+mn-lt"/>
              </a:defRPr>
            </a:lvl5pPr>
            <a:lvl6pPr marL="1643063" indent="-214312" algn="l">
              <a:lnSpc>
                <a:spcPct val="110000"/>
              </a:lnSpc>
              <a:spcBef>
                <a:spcPts val="0"/>
              </a:spcBef>
              <a:spcAft>
                <a:spcPts val="1125"/>
              </a:spcAft>
              <a:buChar char="•"/>
              <a:defRPr sz="2109" b="0">
                <a:solidFill>
                  <a:schemeClr val="tx1"/>
                </a:solidFill>
                <a:latin typeface="+mn-lt"/>
                <a:ea typeface="+mn-lt"/>
                <a:cs typeface="+mn-lt"/>
              </a:defRPr>
            </a:lvl6pPr>
            <a:lvl7pPr marL="1928813" indent="-214312" algn="l">
              <a:lnSpc>
                <a:spcPct val="110000"/>
              </a:lnSpc>
              <a:spcBef>
                <a:spcPts val="0"/>
              </a:spcBef>
              <a:spcAft>
                <a:spcPts val="1125"/>
              </a:spcAft>
              <a:buChar char="•"/>
              <a:defRPr sz="2109" b="0">
                <a:solidFill>
                  <a:schemeClr val="tx1"/>
                </a:solidFill>
                <a:latin typeface="+mn-lt"/>
                <a:ea typeface="+mn-lt"/>
                <a:cs typeface="+mn-lt"/>
              </a:defRPr>
            </a:lvl7pPr>
            <a:lvl8pPr marL="2214563" indent="-214312" algn="l">
              <a:lnSpc>
                <a:spcPct val="110000"/>
              </a:lnSpc>
              <a:spcBef>
                <a:spcPts val="0"/>
              </a:spcBef>
              <a:spcAft>
                <a:spcPts val="1125"/>
              </a:spcAft>
              <a:buChar char="•"/>
              <a:defRPr sz="2109" b="0">
                <a:solidFill>
                  <a:schemeClr val="tx1"/>
                </a:solidFill>
                <a:latin typeface="+mn-lt"/>
                <a:ea typeface="+mn-lt"/>
                <a:cs typeface="+mn-lt"/>
              </a:defRPr>
            </a:lvl8pPr>
            <a:lvl9pPr marL="2500313" indent="-214312" algn="l">
              <a:lnSpc>
                <a:spcPct val="110000"/>
              </a:lnSpc>
              <a:spcBef>
                <a:spcPts val="0"/>
              </a:spcBef>
              <a:spcAft>
                <a:spcPts val="1125"/>
              </a:spcAft>
              <a:buChar char="•"/>
              <a:defRPr sz="2109"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F479B20B-8E8B-4D3E-AB33-3A30C4C0EA63}"/>
              </a:ext>
            </a:extLst>
          </p:cNvPr>
          <p:cNvSpPr>
            <a:spLocks noGrp="1"/>
          </p:cNvSpPr>
          <p:nvPr>
            <p:ph type="title"/>
          </p:nvPr>
        </p:nvSpPr>
        <p:spPr>
          <a:xfrm>
            <a:off x="642938" y="784199"/>
            <a:ext cx="10144125" cy="1232313"/>
          </a:xfrm>
          <a:prstGeom prst="rect">
            <a:avLst/>
          </a:prstGeom>
          <a:noFill/>
          <a:ln>
            <a:noFill/>
            <a:prstDash val="solid"/>
          </a:ln>
        </p:spPr>
        <p:txBody>
          <a:bodyPr wrap="square" lIns="0" tIns="0" rIns="0" bIns="0" anchor="t">
            <a:normAutofit/>
          </a:bodyPr>
          <a:lstStyle>
            <a:defPPr algn="l">
              <a:defRPr sz="3094" b="1">
                <a:solidFill>
                  <a:schemeClr val="tx1"/>
                </a:solidFill>
                <a:latin typeface="+mj-lt"/>
                <a:ea typeface="+mj-lt"/>
                <a:cs typeface="+mj-lt"/>
              </a:defRPr>
            </a:defPPr>
            <a:lvl1pPr marL="0" indent="0" algn="l">
              <a:lnSpc>
                <a:spcPct val="110000"/>
              </a:lnSpc>
              <a:spcBef>
                <a:spcPts val="0"/>
              </a:spcBef>
              <a:spcAft>
                <a:spcPts val="0"/>
              </a:spcAft>
              <a:buNone/>
              <a:defRPr sz="3094" b="1">
                <a:solidFill>
                  <a:schemeClr val="tx1"/>
                </a:solidFill>
                <a:latin typeface="+mj-lt"/>
                <a:ea typeface="+mj-lt"/>
                <a:cs typeface="+mj-lt"/>
              </a:defRPr>
            </a:lvl1pPr>
            <a:lvl2pPr marL="0" indent="0" algn="l">
              <a:lnSpc>
                <a:spcPct val="110000"/>
              </a:lnSpc>
              <a:spcBef>
                <a:spcPts val="0"/>
              </a:spcBef>
              <a:spcAft>
                <a:spcPts val="0"/>
              </a:spcAft>
              <a:buNone/>
              <a:defRPr sz="3094" b="1">
                <a:solidFill>
                  <a:schemeClr val="tx1"/>
                </a:solidFill>
                <a:latin typeface="+mj-lt"/>
                <a:ea typeface="+mj-lt"/>
                <a:cs typeface="+mj-lt"/>
              </a:defRPr>
            </a:lvl2pPr>
            <a:lvl3pPr marL="0" indent="0" algn="l">
              <a:lnSpc>
                <a:spcPct val="110000"/>
              </a:lnSpc>
              <a:spcBef>
                <a:spcPts val="0"/>
              </a:spcBef>
              <a:spcAft>
                <a:spcPts val="0"/>
              </a:spcAft>
              <a:buNone/>
              <a:defRPr sz="3094" b="1">
                <a:solidFill>
                  <a:schemeClr val="tx1"/>
                </a:solidFill>
                <a:latin typeface="+mj-lt"/>
                <a:ea typeface="+mj-lt"/>
                <a:cs typeface="+mj-lt"/>
              </a:defRPr>
            </a:lvl3pPr>
            <a:lvl4pPr marL="0" indent="0" algn="l">
              <a:lnSpc>
                <a:spcPct val="110000"/>
              </a:lnSpc>
              <a:spcBef>
                <a:spcPts val="0"/>
              </a:spcBef>
              <a:spcAft>
                <a:spcPts val="0"/>
              </a:spcAft>
              <a:buNone/>
              <a:defRPr sz="3094" b="1">
                <a:solidFill>
                  <a:schemeClr val="tx1"/>
                </a:solidFill>
                <a:latin typeface="+mj-lt"/>
                <a:ea typeface="+mj-lt"/>
                <a:cs typeface="+mj-lt"/>
              </a:defRPr>
            </a:lvl4pPr>
            <a:lvl5pPr marL="0" indent="0" algn="l">
              <a:lnSpc>
                <a:spcPct val="110000"/>
              </a:lnSpc>
              <a:spcBef>
                <a:spcPts val="0"/>
              </a:spcBef>
              <a:spcAft>
                <a:spcPts val="0"/>
              </a:spcAft>
              <a:buNone/>
              <a:defRPr sz="3094" b="1">
                <a:solidFill>
                  <a:schemeClr val="tx1"/>
                </a:solidFill>
                <a:latin typeface="+mj-lt"/>
                <a:ea typeface="+mj-lt"/>
                <a:cs typeface="+mj-lt"/>
              </a:defRPr>
            </a:lvl5pPr>
            <a:lvl6pPr marL="0" indent="0" algn="l">
              <a:lnSpc>
                <a:spcPct val="110000"/>
              </a:lnSpc>
              <a:spcBef>
                <a:spcPts val="0"/>
              </a:spcBef>
              <a:spcAft>
                <a:spcPts val="0"/>
              </a:spcAft>
              <a:buNone/>
              <a:defRPr sz="3094" b="1">
                <a:solidFill>
                  <a:schemeClr val="tx1"/>
                </a:solidFill>
                <a:latin typeface="+mj-lt"/>
                <a:ea typeface="+mj-lt"/>
                <a:cs typeface="+mj-lt"/>
              </a:defRPr>
            </a:lvl6pPr>
            <a:lvl7pPr marL="0" indent="0" algn="l">
              <a:lnSpc>
                <a:spcPct val="110000"/>
              </a:lnSpc>
              <a:spcBef>
                <a:spcPts val="0"/>
              </a:spcBef>
              <a:spcAft>
                <a:spcPts val="0"/>
              </a:spcAft>
              <a:buNone/>
              <a:defRPr sz="3094" b="1">
                <a:solidFill>
                  <a:schemeClr val="tx1"/>
                </a:solidFill>
                <a:latin typeface="+mj-lt"/>
                <a:ea typeface="+mj-lt"/>
                <a:cs typeface="+mj-lt"/>
              </a:defRPr>
            </a:lvl7pPr>
            <a:lvl8pPr marL="0" indent="0" algn="l">
              <a:lnSpc>
                <a:spcPct val="110000"/>
              </a:lnSpc>
              <a:spcBef>
                <a:spcPts val="0"/>
              </a:spcBef>
              <a:spcAft>
                <a:spcPts val="0"/>
              </a:spcAft>
              <a:buNone/>
              <a:defRPr sz="3094" b="1">
                <a:solidFill>
                  <a:schemeClr val="tx1"/>
                </a:solidFill>
                <a:latin typeface="+mj-lt"/>
                <a:ea typeface="+mj-lt"/>
                <a:cs typeface="+mj-lt"/>
              </a:defRPr>
            </a:lvl8pPr>
            <a:lvl9pPr marL="0" indent="0" algn="l">
              <a:lnSpc>
                <a:spcPct val="110000"/>
              </a:lnSpc>
              <a:spcBef>
                <a:spcPts val="0"/>
              </a:spcBef>
              <a:spcAft>
                <a:spcPts val="0"/>
              </a:spcAft>
              <a:buNone/>
              <a:defRPr sz="3094"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0A613190-4121-460C-8866-824257144A41}"/>
              </a:ext>
            </a:extLst>
          </p:cNvPr>
          <p:cNvSpPr>
            <a:spLocks noGrp="1"/>
          </p:cNvSpPr>
          <p:nvPr>
            <p:ph type="body" idx="1"/>
          </p:nvPr>
        </p:nvSpPr>
        <p:spPr>
          <a:xfrm>
            <a:off x="642938" y="2800711"/>
            <a:ext cx="4714875" cy="6273594"/>
          </a:xfrm>
          <a:prstGeom prst="rect">
            <a:avLst/>
          </a:prstGeom>
          <a:noFill/>
          <a:ln>
            <a:noFill/>
            <a:prstDash val="solid"/>
          </a:ln>
        </p:spPr>
        <p:txBody>
          <a:bodyPr wrap="square" lIns="0" tIns="0" rIns="0" bIns="0" anchor="t">
            <a:normAutofit/>
          </a:bodyPr>
          <a:lstStyle>
            <a:defPPr algn="l">
              <a:defRPr sz="1969" b="0">
                <a:solidFill>
                  <a:schemeClr val="tx1"/>
                </a:solidFill>
                <a:latin typeface="+mn-lt"/>
                <a:ea typeface="+mn-lt"/>
                <a:cs typeface="+mn-lt"/>
              </a:defRPr>
            </a:defPPr>
            <a:lvl1pPr marL="214313" indent="-214312" algn="l">
              <a:lnSpc>
                <a:spcPct val="110000"/>
              </a:lnSpc>
              <a:spcBef>
                <a:spcPts val="0"/>
              </a:spcBef>
              <a:spcAft>
                <a:spcPts val="1125"/>
              </a:spcAft>
              <a:buChar char="•"/>
              <a:defRPr sz="1969" b="0">
                <a:solidFill>
                  <a:schemeClr val="tx1"/>
                </a:solidFill>
                <a:latin typeface="+mn-lt"/>
                <a:ea typeface="+mn-lt"/>
                <a:cs typeface="+mn-lt"/>
              </a:defRPr>
            </a:lvl1pPr>
            <a:lvl2pPr marL="500063" indent="-214312" algn="l">
              <a:lnSpc>
                <a:spcPct val="110000"/>
              </a:lnSpc>
              <a:spcBef>
                <a:spcPts val="0"/>
              </a:spcBef>
              <a:spcAft>
                <a:spcPts val="1125"/>
              </a:spcAft>
              <a:buChar char="•"/>
              <a:defRPr sz="1969" b="0">
                <a:solidFill>
                  <a:schemeClr val="tx1"/>
                </a:solidFill>
                <a:latin typeface="+mn-lt"/>
                <a:ea typeface="+mn-lt"/>
                <a:cs typeface="+mn-lt"/>
              </a:defRPr>
            </a:lvl2pPr>
            <a:lvl3pPr marL="785813" indent="-214312" algn="l">
              <a:lnSpc>
                <a:spcPct val="110000"/>
              </a:lnSpc>
              <a:spcBef>
                <a:spcPts val="0"/>
              </a:spcBef>
              <a:spcAft>
                <a:spcPts val="1125"/>
              </a:spcAft>
              <a:buChar char="•"/>
              <a:defRPr sz="1969" b="0">
                <a:solidFill>
                  <a:schemeClr val="tx1"/>
                </a:solidFill>
                <a:latin typeface="+mn-lt"/>
                <a:ea typeface="+mn-lt"/>
                <a:cs typeface="+mn-lt"/>
              </a:defRPr>
            </a:lvl3pPr>
            <a:lvl4pPr marL="1071563" indent="-214312" algn="l">
              <a:lnSpc>
                <a:spcPct val="110000"/>
              </a:lnSpc>
              <a:spcBef>
                <a:spcPts val="0"/>
              </a:spcBef>
              <a:spcAft>
                <a:spcPts val="1125"/>
              </a:spcAft>
              <a:buChar char="•"/>
              <a:defRPr sz="1969" b="0">
                <a:solidFill>
                  <a:schemeClr val="tx1"/>
                </a:solidFill>
                <a:latin typeface="+mn-lt"/>
                <a:ea typeface="+mn-lt"/>
                <a:cs typeface="+mn-lt"/>
              </a:defRPr>
            </a:lvl4pPr>
            <a:lvl5pPr marL="1357313" indent="-214312" algn="l">
              <a:lnSpc>
                <a:spcPct val="110000"/>
              </a:lnSpc>
              <a:spcBef>
                <a:spcPts val="0"/>
              </a:spcBef>
              <a:spcAft>
                <a:spcPts val="1125"/>
              </a:spcAft>
              <a:buChar char="•"/>
              <a:defRPr sz="1969" b="0">
                <a:solidFill>
                  <a:schemeClr val="tx1"/>
                </a:solidFill>
                <a:latin typeface="+mn-lt"/>
                <a:ea typeface="+mn-lt"/>
                <a:cs typeface="+mn-lt"/>
              </a:defRPr>
            </a:lvl5pPr>
            <a:lvl6pPr marL="1643063" indent="-214312" algn="l">
              <a:lnSpc>
                <a:spcPct val="110000"/>
              </a:lnSpc>
              <a:spcBef>
                <a:spcPts val="0"/>
              </a:spcBef>
              <a:spcAft>
                <a:spcPts val="1125"/>
              </a:spcAft>
              <a:buChar char="•"/>
              <a:defRPr sz="1969" b="0">
                <a:solidFill>
                  <a:schemeClr val="tx1"/>
                </a:solidFill>
                <a:latin typeface="+mn-lt"/>
                <a:ea typeface="+mn-lt"/>
                <a:cs typeface="+mn-lt"/>
              </a:defRPr>
            </a:lvl6pPr>
            <a:lvl7pPr marL="1928813" indent="-214312" algn="l">
              <a:lnSpc>
                <a:spcPct val="110000"/>
              </a:lnSpc>
              <a:spcBef>
                <a:spcPts val="0"/>
              </a:spcBef>
              <a:spcAft>
                <a:spcPts val="1125"/>
              </a:spcAft>
              <a:buChar char="•"/>
              <a:defRPr sz="1969" b="0">
                <a:solidFill>
                  <a:schemeClr val="tx1"/>
                </a:solidFill>
                <a:latin typeface="+mn-lt"/>
                <a:ea typeface="+mn-lt"/>
                <a:cs typeface="+mn-lt"/>
              </a:defRPr>
            </a:lvl7pPr>
            <a:lvl8pPr marL="2214563" indent="-214312" algn="l">
              <a:lnSpc>
                <a:spcPct val="110000"/>
              </a:lnSpc>
              <a:spcBef>
                <a:spcPts val="0"/>
              </a:spcBef>
              <a:spcAft>
                <a:spcPts val="1125"/>
              </a:spcAft>
              <a:buChar char="•"/>
              <a:defRPr sz="1969" b="0">
                <a:solidFill>
                  <a:schemeClr val="tx1"/>
                </a:solidFill>
                <a:latin typeface="+mn-lt"/>
                <a:ea typeface="+mn-lt"/>
                <a:cs typeface="+mn-lt"/>
              </a:defRPr>
            </a:lvl8pPr>
            <a:lvl9pPr marL="2500313" indent="-214312" algn="l">
              <a:lnSpc>
                <a:spcPct val="110000"/>
              </a:lnSpc>
              <a:spcBef>
                <a:spcPts val="0"/>
              </a:spcBef>
              <a:spcAft>
                <a:spcPts val="1125"/>
              </a:spcAft>
              <a:buChar char="•"/>
              <a:defRPr sz="1969"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608B0A47-01FB-4A6F-AA92-8342C96D04A7}"/>
              </a:ext>
            </a:extLst>
          </p:cNvPr>
          <p:cNvSpPr>
            <a:spLocks noGrp="1"/>
          </p:cNvSpPr>
          <p:nvPr>
            <p:ph type="body" idx="2"/>
          </p:nvPr>
        </p:nvSpPr>
        <p:spPr>
          <a:xfrm>
            <a:off x="6072188" y="2800711"/>
            <a:ext cx="4714875" cy="6273594"/>
          </a:xfrm>
          <a:prstGeom prst="rect">
            <a:avLst/>
          </a:prstGeom>
          <a:noFill/>
          <a:ln>
            <a:noFill/>
            <a:prstDash val="solid"/>
          </a:ln>
        </p:spPr>
        <p:txBody>
          <a:bodyPr wrap="square" lIns="0" tIns="0" rIns="0" bIns="0" anchor="t">
            <a:normAutofit/>
          </a:bodyPr>
          <a:lstStyle>
            <a:defPPr algn="l">
              <a:defRPr sz="1969" b="0">
                <a:solidFill>
                  <a:schemeClr val="tx1"/>
                </a:solidFill>
                <a:latin typeface="+mn-lt"/>
                <a:ea typeface="+mn-lt"/>
                <a:cs typeface="+mn-lt"/>
              </a:defRPr>
            </a:defPPr>
            <a:lvl1pPr marL="214313" indent="-214312" algn="l">
              <a:lnSpc>
                <a:spcPct val="110000"/>
              </a:lnSpc>
              <a:spcBef>
                <a:spcPts val="0"/>
              </a:spcBef>
              <a:spcAft>
                <a:spcPts val="1125"/>
              </a:spcAft>
              <a:buChar char="•"/>
              <a:defRPr sz="1969" b="0">
                <a:solidFill>
                  <a:schemeClr val="tx1"/>
                </a:solidFill>
                <a:latin typeface="+mn-lt"/>
                <a:ea typeface="+mn-lt"/>
                <a:cs typeface="+mn-lt"/>
              </a:defRPr>
            </a:lvl1pPr>
            <a:lvl2pPr marL="500063" indent="-214312" algn="l">
              <a:lnSpc>
                <a:spcPct val="110000"/>
              </a:lnSpc>
              <a:spcBef>
                <a:spcPts val="0"/>
              </a:spcBef>
              <a:spcAft>
                <a:spcPts val="1125"/>
              </a:spcAft>
              <a:buChar char="•"/>
              <a:defRPr sz="1969" b="0">
                <a:solidFill>
                  <a:schemeClr val="tx1"/>
                </a:solidFill>
                <a:latin typeface="+mn-lt"/>
                <a:ea typeface="+mn-lt"/>
                <a:cs typeface="+mn-lt"/>
              </a:defRPr>
            </a:lvl2pPr>
            <a:lvl3pPr marL="785813" indent="-214312" algn="l">
              <a:lnSpc>
                <a:spcPct val="110000"/>
              </a:lnSpc>
              <a:spcBef>
                <a:spcPts val="0"/>
              </a:spcBef>
              <a:spcAft>
                <a:spcPts val="1125"/>
              </a:spcAft>
              <a:buChar char="•"/>
              <a:defRPr sz="1969" b="0">
                <a:solidFill>
                  <a:schemeClr val="tx1"/>
                </a:solidFill>
                <a:latin typeface="+mn-lt"/>
                <a:ea typeface="+mn-lt"/>
                <a:cs typeface="+mn-lt"/>
              </a:defRPr>
            </a:lvl3pPr>
            <a:lvl4pPr marL="1071563" indent="-214312" algn="l">
              <a:lnSpc>
                <a:spcPct val="110000"/>
              </a:lnSpc>
              <a:spcBef>
                <a:spcPts val="0"/>
              </a:spcBef>
              <a:spcAft>
                <a:spcPts val="1125"/>
              </a:spcAft>
              <a:buChar char="•"/>
              <a:defRPr sz="1969" b="0">
                <a:solidFill>
                  <a:schemeClr val="tx1"/>
                </a:solidFill>
                <a:latin typeface="+mn-lt"/>
                <a:ea typeface="+mn-lt"/>
                <a:cs typeface="+mn-lt"/>
              </a:defRPr>
            </a:lvl4pPr>
            <a:lvl5pPr marL="1357313" indent="-214312" algn="l">
              <a:lnSpc>
                <a:spcPct val="110000"/>
              </a:lnSpc>
              <a:spcBef>
                <a:spcPts val="0"/>
              </a:spcBef>
              <a:spcAft>
                <a:spcPts val="1125"/>
              </a:spcAft>
              <a:buChar char="•"/>
              <a:defRPr sz="1969" b="0">
                <a:solidFill>
                  <a:schemeClr val="tx1"/>
                </a:solidFill>
                <a:latin typeface="+mn-lt"/>
                <a:ea typeface="+mn-lt"/>
                <a:cs typeface="+mn-lt"/>
              </a:defRPr>
            </a:lvl5pPr>
            <a:lvl6pPr marL="1643063" indent="-214312" algn="l">
              <a:lnSpc>
                <a:spcPct val="110000"/>
              </a:lnSpc>
              <a:spcBef>
                <a:spcPts val="0"/>
              </a:spcBef>
              <a:spcAft>
                <a:spcPts val="1125"/>
              </a:spcAft>
              <a:buChar char="•"/>
              <a:defRPr sz="1969" b="0">
                <a:solidFill>
                  <a:schemeClr val="tx1"/>
                </a:solidFill>
                <a:latin typeface="+mn-lt"/>
                <a:ea typeface="+mn-lt"/>
                <a:cs typeface="+mn-lt"/>
              </a:defRPr>
            </a:lvl6pPr>
            <a:lvl7pPr marL="1928813" indent="-214312" algn="l">
              <a:lnSpc>
                <a:spcPct val="110000"/>
              </a:lnSpc>
              <a:spcBef>
                <a:spcPts val="0"/>
              </a:spcBef>
              <a:spcAft>
                <a:spcPts val="1125"/>
              </a:spcAft>
              <a:buChar char="•"/>
              <a:defRPr sz="1969" b="0">
                <a:solidFill>
                  <a:schemeClr val="tx1"/>
                </a:solidFill>
                <a:latin typeface="+mn-lt"/>
                <a:ea typeface="+mn-lt"/>
                <a:cs typeface="+mn-lt"/>
              </a:defRPr>
            </a:lvl7pPr>
            <a:lvl8pPr marL="2214563" indent="-214312" algn="l">
              <a:lnSpc>
                <a:spcPct val="110000"/>
              </a:lnSpc>
              <a:spcBef>
                <a:spcPts val="0"/>
              </a:spcBef>
              <a:spcAft>
                <a:spcPts val="1125"/>
              </a:spcAft>
              <a:buChar char="•"/>
              <a:defRPr sz="1969" b="0">
                <a:solidFill>
                  <a:schemeClr val="tx1"/>
                </a:solidFill>
                <a:latin typeface="+mn-lt"/>
                <a:ea typeface="+mn-lt"/>
                <a:cs typeface="+mn-lt"/>
              </a:defRPr>
            </a:lvl8pPr>
            <a:lvl9pPr marL="2500313" indent="-214312" algn="l">
              <a:lnSpc>
                <a:spcPct val="110000"/>
              </a:lnSpc>
              <a:spcBef>
                <a:spcPts val="0"/>
              </a:spcBef>
              <a:spcAft>
                <a:spcPts val="1125"/>
              </a:spcAft>
              <a:buChar char="•"/>
              <a:defRPr sz="1969"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D3E3887-DD89-40C2-BF68-894CF2D732BC}"/>
              </a:ext>
            </a:extLst>
          </p:cNvPr>
          <p:cNvSpPr>
            <a:spLocks noGrp="1"/>
          </p:cNvSpPr>
          <p:nvPr>
            <p:ph type="title"/>
          </p:nvPr>
        </p:nvSpPr>
        <p:spPr>
          <a:xfrm>
            <a:off x="642938" y="784199"/>
            <a:ext cx="10144125" cy="1232313"/>
          </a:xfrm>
          <a:prstGeom prst="rect">
            <a:avLst/>
          </a:prstGeom>
          <a:noFill/>
          <a:ln>
            <a:noFill/>
            <a:prstDash val="solid"/>
          </a:ln>
        </p:spPr>
        <p:txBody>
          <a:bodyPr wrap="square" lIns="0" tIns="0" rIns="0" bIns="0" anchor="t">
            <a:normAutofit/>
          </a:bodyPr>
          <a:lstStyle>
            <a:defPPr algn="l">
              <a:defRPr sz="3094" b="1">
                <a:solidFill>
                  <a:schemeClr val="tx1"/>
                </a:solidFill>
                <a:latin typeface="+mj-lt"/>
                <a:ea typeface="+mj-lt"/>
                <a:cs typeface="+mj-lt"/>
              </a:defRPr>
            </a:defPPr>
            <a:lvl1pPr marL="0" indent="0" algn="l">
              <a:lnSpc>
                <a:spcPct val="110000"/>
              </a:lnSpc>
              <a:spcBef>
                <a:spcPts val="0"/>
              </a:spcBef>
              <a:spcAft>
                <a:spcPts val="0"/>
              </a:spcAft>
              <a:buNone/>
              <a:defRPr sz="3094" b="1">
                <a:solidFill>
                  <a:schemeClr val="tx1"/>
                </a:solidFill>
                <a:latin typeface="+mj-lt"/>
                <a:ea typeface="+mj-lt"/>
                <a:cs typeface="+mj-lt"/>
              </a:defRPr>
            </a:lvl1pPr>
            <a:lvl2pPr marL="0" indent="0" algn="l">
              <a:lnSpc>
                <a:spcPct val="110000"/>
              </a:lnSpc>
              <a:spcBef>
                <a:spcPts val="0"/>
              </a:spcBef>
              <a:spcAft>
                <a:spcPts val="0"/>
              </a:spcAft>
              <a:buNone/>
              <a:defRPr sz="3094" b="1">
                <a:solidFill>
                  <a:schemeClr val="tx1"/>
                </a:solidFill>
                <a:latin typeface="+mj-lt"/>
                <a:ea typeface="+mj-lt"/>
                <a:cs typeface="+mj-lt"/>
              </a:defRPr>
            </a:lvl2pPr>
            <a:lvl3pPr marL="0" indent="0" algn="l">
              <a:lnSpc>
                <a:spcPct val="110000"/>
              </a:lnSpc>
              <a:spcBef>
                <a:spcPts val="0"/>
              </a:spcBef>
              <a:spcAft>
                <a:spcPts val="0"/>
              </a:spcAft>
              <a:buNone/>
              <a:defRPr sz="3094" b="1">
                <a:solidFill>
                  <a:schemeClr val="tx1"/>
                </a:solidFill>
                <a:latin typeface="+mj-lt"/>
                <a:ea typeface="+mj-lt"/>
                <a:cs typeface="+mj-lt"/>
              </a:defRPr>
            </a:lvl3pPr>
            <a:lvl4pPr marL="0" indent="0" algn="l">
              <a:lnSpc>
                <a:spcPct val="110000"/>
              </a:lnSpc>
              <a:spcBef>
                <a:spcPts val="0"/>
              </a:spcBef>
              <a:spcAft>
                <a:spcPts val="0"/>
              </a:spcAft>
              <a:buNone/>
              <a:defRPr sz="3094" b="1">
                <a:solidFill>
                  <a:schemeClr val="tx1"/>
                </a:solidFill>
                <a:latin typeface="+mj-lt"/>
                <a:ea typeface="+mj-lt"/>
                <a:cs typeface="+mj-lt"/>
              </a:defRPr>
            </a:lvl4pPr>
            <a:lvl5pPr marL="0" indent="0" algn="l">
              <a:lnSpc>
                <a:spcPct val="110000"/>
              </a:lnSpc>
              <a:spcBef>
                <a:spcPts val="0"/>
              </a:spcBef>
              <a:spcAft>
                <a:spcPts val="0"/>
              </a:spcAft>
              <a:buNone/>
              <a:defRPr sz="3094" b="1">
                <a:solidFill>
                  <a:schemeClr val="tx1"/>
                </a:solidFill>
                <a:latin typeface="+mj-lt"/>
                <a:ea typeface="+mj-lt"/>
                <a:cs typeface="+mj-lt"/>
              </a:defRPr>
            </a:lvl5pPr>
            <a:lvl6pPr marL="0" indent="0" algn="l">
              <a:lnSpc>
                <a:spcPct val="110000"/>
              </a:lnSpc>
              <a:spcBef>
                <a:spcPts val="0"/>
              </a:spcBef>
              <a:spcAft>
                <a:spcPts val="0"/>
              </a:spcAft>
              <a:buNone/>
              <a:defRPr sz="3094" b="1">
                <a:solidFill>
                  <a:schemeClr val="tx1"/>
                </a:solidFill>
                <a:latin typeface="+mj-lt"/>
                <a:ea typeface="+mj-lt"/>
                <a:cs typeface="+mj-lt"/>
              </a:defRPr>
            </a:lvl6pPr>
            <a:lvl7pPr marL="0" indent="0" algn="l">
              <a:lnSpc>
                <a:spcPct val="110000"/>
              </a:lnSpc>
              <a:spcBef>
                <a:spcPts val="0"/>
              </a:spcBef>
              <a:spcAft>
                <a:spcPts val="0"/>
              </a:spcAft>
              <a:buNone/>
              <a:defRPr sz="3094" b="1">
                <a:solidFill>
                  <a:schemeClr val="tx1"/>
                </a:solidFill>
                <a:latin typeface="+mj-lt"/>
                <a:ea typeface="+mj-lt"/>
                <a:cs typeface="+mj-lt"/>
              </a:defRPr>
            </a:lvl7pPr>
            <a:lvl8pPr marL="0" indent="0" algn="l">
              <a:lnSpc>
                <a:spcPct val="110000"/>
              </a:lnSpc>
              <a:spcBef>
                <a:spcPts val="0"/>
              </a:spcBef>
              <a:spcAft>
                <a:spcPts val="0"/>
              </a:spcAft>
              <a:buNone/>
              <a:defRPr sz="3094" b="1">
                <a:solidFill>
                  <a:schemeClr val="tx1"/>
                </a:solidFill>
                <a:latin typeface="+mj-lt"/>
                <a:ea typeface="+mj-lt"/>
                <a:cs typeface="+mj-lt"/>
              </a:defRPr>
            </a:lvl8pPr>
            <a:lvl9pPr marL="0" indent="0" algn="l">
              <a:lnSpc>
                <a:spcPct val="110000"/>
              </a:lnSpc>
              <a:spcBef>
                <a:spcPts val="0"/>
              </a:spcBef>
              <a:spcAft>
                <a:spcPts val="0"/>
              </a:spcAft>
              <a:buNone/>
              <a:defRPr sz="3094"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4043F2D4-53F8-4EF8-BCA7-163C2793E64A}"/>
              </a:ext>
            </a:extLst>
          </p:cNvPr>
          <p:cNvSpPr>
            <a:spLocks noGrp="1"/>
          </p:cNvSpPr>
          <p:nvPr>
            <p:ph type="body" idx="1"/>
          </p:nvPr>
        </p:nvSpPr>
        <p:spPr>
          <a:xfrm>
            <a:off x="642938" y="2800711"/>
            <a:ext cx="4714875" cy="6273594"/>
          </a:xfrm>
          <a:prstGeom prst="rect">
            <a:avLst/>
          </a:prstGeom>
          <a:noFill/>
          <a:ln>
            <a:noFill/>
            <a:prstDash val="solid"/>
          </a:ln>
        </p:spPr>
        <p:txBody>
          <a:bodyPr wrap="square" lIns="0" tIns="0" rIns="0" bIns="0" anchor="t">
            <a:normAutofit/>
          </a:bodyPr>
          <a:lstStyle>
            <a:defPPr algn="l">
              <a:defRPr sz="2109" b="0">
                <a:solidFill>
                  <a:schemeClr val="tx1"/>
                </a:solidFill>
                <a:latin typeface="+mn-lt"/>
                <a:ea typeface="+mn-lt"/>
                <a:cs typeface="+mn-lt"/>
              </a:defRPr>
            </a:defPPr>
            <a:lvl1pPr marL="214313" indent="-214312" algn="l">
              <a:lnSpc>
                <a:spcPct val="110000"/>
              </a:lnSpc>
              <a:spcBef>
                <a:spcPts val="0"/>
              </a:spcBef>
              <a:spcAft>
                <a:spcPts val="1125"/>
              </a:spcAft>
              <a:buChar char="•"/>
              <a:defRPr sz="2109" b="0">
                <a:solidFill>
                  <a:schemeClr val="tx1"/>
                </a:solidFill>
                <a:latin typeface="+mn-lt"/>
                <a:ea typeface="+mn-lt"/>
                <a:cs typeface="+mn-lt"/>
              </a:defRPr>
            </a:lvl1pPr>
            <a:lvl2pPr marL="500063" indent="-214312" algn="l">
              <a:lnSpc>
                <a:spcPct val="110000"/>
              </a:lnSpc>
              <a:spcBef>
                <a:spcPts val="0"/>
              </a:spcBef>
              <a:spcAft>
                <a:spcPts val="1125"/>
              </a:spcAft>
              <a:buChar char="•"/>
              <a:defRPr sz="2109" b="0">
                <a:solidFill>
                  <a:schemeClr val="tx1"/>
                </a:solidFill>
                <a:latin typeface="+mn-lt"/>
                <a:ea typeface="+mn-lt"/>
                <a:cs typeface="+mn-lt"/>
              </a:defRPr>
            </a:lvl2pPr>
            <a:lvl3pPr marL="785813" indent="-214312" algn="l">
              <a:lnSpc>
                <a:spcPct val="110000"/>
              </a:lnSpc>
              <a:spcBef>
                <a:spcPts val="0"/>
              </a:spcBef>
              <a:spcAft>
                <a:spcPts val="1125"/>
              </a:spcAft>
              <a:buChar char="•"/>
              <a:defRPr sz="2109" b="0">
                <a:solidFill>
                  <a:schemeClr val="tx1"/>
                </a:solidFill>
                <a:latin typeface="+mn-lt"/>
                <a:ea typeface="+mn-lt"/>
                <a:cs typeface="+mn-lt"/>
              </a:defRPr>
            </a:lvl3pPr>
            <a:lvl4pPr marL="1071563" indent="-214312" algn="l">
              <a:lnSpc>
                <a:spcPct val="110000"/>
              </a:lnSpc>
              <a:spcBef>
                <a:spcPts val="0"/>
              </a:spcBef>
              <a:spcAft>
                <a:spcPts val="1125"/>
              </a:spcAft>
              <a:buChar char="•"/>
              <a:defRPr sz="2109" b="0">
                <a:solidFill>
                  <a:schemeClr val="tx1"/>
                </a:solidFill>
                <a:latin typeface="+mn-lt"/>
                <a:ea typeface="+mn-lt"/>
                <a:cs typeface="+mn-lt"/>
              </a:defRPr>
            </a:lvl4pPr>
            <a:lvl5pPr marL="1357313" indent="-214312" algn="l">
              <a:lnSpc>
                <a:spcPct val="110000"/>
              </a:lnSpc>
              <a:spcBef>
                <a:spcPts val="0"/>
              </a:spcBef>
              <a:spcAft>
                <a:spcPts val="1125"/>
              </a:spcAft>
              <a:buChar char="•"/>
              <a:defRPr sz="2109" b="0">
                <a:solidFill>
                  <a:schemeClr val="tx1"/>
                </a:solidFill>
                <a:latin typeface="+mn-lt"/>
                <a:ea typeface="+mn-lt"/>
                <a:cs typeface="+mn-lt"/>
              </a:defRPr>
            </a:lvl5pPr>
            <a:lvl6pPr marL="1643063" indent="-214312" algn="l">
              <a:lnSpc>
                <a:spcPct val="110000"/>
              </a:lnSpc>
              <a:spcBef>
                <a:spcPts val="0"/>
              </a:spcBef>
              <a:spcAft>
                <a:spcPts val="1125"/>
              </a:spcAft>
              <a:buChar char="•"/>
              <a:defRPr sz="2109" b="0">
                <a:solidFill>
                  <a:schemeClr val="tx1"/>
                </a:solidFill>
                <a:latin typeface="+mn-lt"/>
                <a:ea typeface="+mn-lt"/>
                <a:cs typeface="+mn-lt"/>
              </a:defRPr>
            </a:lvl6pPr>
            <a:lvl7pPr marL="1928813" indent="-214312" algn="l">
              <a:lnSpc>
                <a:spcPct val="110000"/>
              </a:lnSpc>
              <a:spcBef>
                <a:spcPts val="0"/>
              </a:spcBef>
              <a:spcAft>
                <a:spcPts val="1125"/>
              </a:spcAft>
              <a:buChar char="•"/>
              <a:defRPr sz="2109" b="0">
                <a:solidFill>
                  <a:schemeClr val="tx1"/>
                </a:solidFill>
                <a:latin typeface="+mn-lt"/>
                <a:ea typeface="+mn-lt"/>
                <a:cs typeface="+mn-lt"/>
              </a:defRPr>
            </a:lvl7pPr>
            <a:lvl8pPr marL="2214563" indent="-214312" algn="l">
              <a:lnSpc>
                <a:spcPct val="110000"/>
              </a:lnSpc>
              <a:spcBef>
                <a:spcPts val="0"/>
              </a:spcBef>
              <a:spcAft>
                <a:spcPts val="1125"/>
              </a:spcAft>
              <a:buChar char="•"/>
              <a:defRPr sz="2109" b="0">
                <a:solidFill>
                  <a:schemeClr val="tx1"/>
                </a:solidFill>
                <a:latin typeface="+mn-lt"/>
                <a:ea typeface="+mn-lt"/>
                <a:cs typeface="+mn-lt"/>
              </a:defRPr>
            </a:lvl8pPr>
            <a:lvl9pPr marL="2500313" indent="-214312" algn="l">
              <a:lnSpc>
                <a:spcPct val="110000"/>
              </a:lnSpc>
              <a:spcBef>
                <a:spcPts val="0"/>
              </a:spcBef>
              <a:spcAft>
                <a:spcPts val="1125"/>
              </a:spcAft>
              <a:buChar char="•"/>
              <a:defRPr sz="2109"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직사각형 9">
            <a:extLst>
              <a:ext uri="{FF2B5EF4-FFF2-40B4-BE49-F238E27FC236}">
                <a16:creationId xmlns:a16="http://schemas.microsoft.com/office/drawing/2014/main" id="{EA74E748-AA57-45B2-A277-210E8654AB4F}"/>
              </a:ext>
            </a:extLst>
          </p:cNvPr>
          <p:cNvSpPr>
            <a:spLocks noGrp="1"/>
          </p:cNvSpPr>
          <p:nvPr/>
        </p:nvSpPr>
        <p:spPr>
          <a:xfrm>
            <a:off x="381000" y="228600"/>
            <a:ext cx="9525000" cy="238125"/>
          </a:xfrm>
          <a:prstGeom prst="rect">
            <a:avLst/>
          </a:prstGeom>
          <a:noFill/>
          <a:ln w="0">
            <a:noFill/>
          </a:ln>
        </p:spPr>
        <p:txBody>
          <a:bodyPr lIns="0" tIns="0" rIns="0" bIns="0" anchor="t"/>
          <a:lstStyle>
            <a:defPPr>
              <a:defRPr sz="1200" b="1">
                <a:solidFill>
                  <a:srgbClr val="002060"/>
                </a:solidFill>
                <a:latin typeface="맑은 고딕"/>
                <a:ea typeface="맑은 고딕"/>
                <a:cs typeface="맑은 고딕"/>
              </a:defRPr>
            </a:defPPr>
            <a:lvl1pPr>
              <a:defRPr sz="1200" b="1">
                <a:solidFill>
                  <a:srgbClr val="002060"/>
                </a:solidFill>
                <a:latin typeface="맑은 고딕"/>
                <a:ea typeface="맑은 고딕"/>
                <a:cs typeface="맑은 고딕"/>
              </a:defRPr>
            </a:lvl1pPr>
            <a:lvl2pPr>
              <a:defRPr sz="1200" b="1">
                <a:solidFill>
                  <a:srgbClr val="002060"/>
                </a:solidFill>
                <a:latin typeface="맑은 고딕"/>
                <a:ea typeface="맑은 고딕"/>
                <a:cs typeface="맑은 고딕"/>
              </a:defRPr>
            </a:lvl2pPr>
            <a:lvl3pPr>
              <a:defRPr sz="1200" b="1">
                <a:solidFill>
                  <a:srgbClr val="002060"/>
                </a:solidFill>
                <a:latin typeface="맑은 고딕"/>
                <a:ea typeface="맑은 고딕"/>
                <a:cs typeface="맑은 고딕"/>
              </a:defRPr>
            </a:lvl3pPr>
            <a:lvl4pPr>
              <a:defRPr sz="1200" b="1">
                <a:solidFill>
                  <a:srgbClr val="002060"/>
                </a:solidFill>
                <a:latin typeface="맑은 고딕"/>
                <a:ea typeface="맑은 고딕"/>
                <a:cs typeface="맑은 고딕"/>
              </a:defRPr>
            </a:lvl4pPr>
            <a:lvl5pPr>
              <a:defRPr sz="1200" b="1">
                <a:solidFill>
                  <a:srgbClr val="002060"/>
                </a:solidFill>
                <a:latin typeface="맑은 고딕"/>
                <a:ea typeface="맑은 고딕"/>
                <a:cs typeface="맑은 고딕"/>
              </a:defRPr>
            </a:lvl5pPr>
            <a:lvl6pPr>
              <a:defRPr sz="1200" b="1">
                <a:solidFill>
                  <a:srgbClr val="002060"/>
                </a:solidFill>
                <a:latin typeface="맑은 고딕"/>
                <a:ea typeface="맑은 고딕"/>
                <a:cs typeface="맑은 고딕"/>
              </a:defRPr>
            </a:lvl6pPr>
            <a:lvl7pPr>
              <a:defRPr sz="1200" b="1">
                <a:solidFill>
                  <a:srgbClr val="002060"/>
                </a:solidFill>
                <a:latin typeface="맑은 고딕"/>
                <a:ea typeface="맑은 고딕"/>
                <a:cs typeface="맑은 고딕"/>
              </a:defRPr>
            </a:lvl7pPr>
            <a:lvl8pPr>
              <a:defRPr sz="1200" b="1">
                <a:solidFill>
                  <a:srgbClr val="002060"/>
                </a:solidFill>
                <a:latin typeface="맑은 고딕"/>
                <a:ea typeface="맑은 고딕"/>
                <a:cs typeface="맑은 고딕"/>
              </a:defRPr>
            </a:lvl8pPr>
            <a:lvl9pPr>
              <a:defRPr sz="1200" b="1">
                <a:solidFill>
                  <a:srgbClr val="002060"/>
                </a:solidFill>
                <a:latin typeface="맑은 고딕"/>
                <a:ea typeface="맑은 고딕"/>
                <a:cs typeface="맑은 고딕"/>
              </a:defRPr>
            </a:lvl9pPr>
          </a:lstStyle>
          <a:p>
            <a:pPr>
              <a:defRPr sz="1200" b="1">
                <a:solidFill>
                  <a:srgbClr val="002060"/>
                </a:solidFill>
                <a:latin typeface="맑은 고딕"/>
                <a:ea typeface="맑은 고딕"/>
                <a:cs typeface="맑은 고딕"/>
              </a:defRPr>
            </a:pPr>
            <a:r>
              <a:rPr sz="1200" b="1">
                <a:solidFill>
                  <a:srgbClr val="002060"/>
                </a:solidFill>
                <a:latin typeface="맑은 고딕"/>
                <a:ea typeface="맑은 고딕"/>
                <a:cs typeface="맑은 고딕"/>
              </a:rPr>
              <a:t>2028 정시  대학별 전형 비교</a:t>
            </a:r>
          </a:p>
        </p:txBody>
      </p:sp>
      <p:sp>
        <p:nvSpPr>
          <p:cNvPr id="2" name="직사각형 1">
            <a:extLst>
              <a:ext uri="{FF2B5EF4-FFF2-40B4-BE49-F238E27FC236}">
                <a16:creationId xmlns:a16="http://schemas.microsoft.com/office/drawing/2014/main" id="{CAF46F6A-D643-4541-BAE7-ED4F80473034}"/>
              </a:ext>
            </a:extLst>
          </p:cNvPr>
          <p:cNvSpPr>
            <a:spLocks noGrp="1"/>
          </p:cNvSpPr>
          <p:nvPr/>
        </p:nvSpPr>
        <p:spPr>
          <a:xfrm>
            <a:off x="381000" y="619125"/>
            <a:ext cx="10668000" cy="533400"/>
          </a:xfrm>
          <a:prstGeom prst="rect">
            <a:avLst/>
          </a:prstGeom>
          <a:noFill/>
          <a:ln w="0">
            <a:noFill/>
          </a:ln>
        </p:spPr>
        <p:txBody>
          <a:bodyPr lIns="0" tIns="0" rIns="0" bIns="0" anchor="t"/>
          <a:lstStyle>
            <a:defPPr>
              <a:defRPr sz="2400" b="1">
                <a:solidFill>
                  <a:srgbClr val="002060"/>
                </a:solidFill>
                <a:latin typeface="맑은 고딕"/>
                <a:ea typeface="맑은 고딕"/>
                <a:cs typeface="맑은 고딕"/>
              </a:defRPr>
            </a:defPPr>
            <a:lvl1pPr>
              <a:defRPr sz="2400" b="1">
                <a:solidFill>
                  <a:srgbClr val="002060"/>
                </a:solidFill>
                <a:latin typeface="맑은 고딕"/>
                <a:ea typeface="맑은 고딕"/>
                <a:cs typeface="맑은 고딕"/>
              </a:defRPr>
            </a:lvl1pPr>
            <a:lvl2pPr>
              <a:defRPr sz="2400" b="1">
                <a:solidFill>
                  <a:srgbClr val="002060"/>
                </a:solidFill>
                <a:latin typeface="맑은 고딕"/>
                <a:ea typeface="맑은 고딕"/>
                <a:cs typeface="맑은 고딕"/>
              </a:defRPr>
            </a:lvl2pPr>
            <a:lvl3pPr>
              <a:defRPr sz="2400" b="1">
                <a:solidFill>
                  <a:srgbClr val="002060"/>
                </a:solidFill>
                <a:latin typeface="맑은 고딕"/>
                <a:ea typeface="맑은 고딕"/>
                <a:cs typeface="맑은 고딕"/>
              </a:defRPr>
            </a:lvl3pPr>
            <a:lvl4pPr>
              <a:defRPr sz="2400" b="1">
                <a:solidFill>
                  <a:srgbClr val="002060"/>
                </a:solidFill>
                <a:latin typeface="맑은 고딕"/>
                <a:ea typeface="맑은 고딕"/>
                <a:cs typeface="맑은 고딕"/>
              </a:defRPr>
            </a:lvl4pPr>
            <a:lvl5pPr>
              <a:defRPr sz="2400" b="1">
                <a:solidFill>
                  <a:srgbClr val="002060"/>
                </a:solidFill>
                <a:latin typeface="맑은 고딕"/>
                <a:ea typeface="맑은 고딕"/>
                <a:cs typeface="맑은 고딕"/>
              </a:defRPr>
            </a:lvl5pPr>
            <a:lvl6pPr>
              <a:defRPr sz="2400" b="1">
                <a:solidFill>
                  <a:srgbClr val="002060"/>
                </a:solidFill>
                <a:latin typeface="맑은 고딕"/>
                <a:ea typeface="맑은 고딕"/>
                <a:cs typeface="맑은 고딕"/>
              </a:defRPr>
            </a:lvl6pPr>
            <a:lvl7pPr>
              <a:defRPr sz="2400" b="1">
                <a:solidFill>
                  <a:srgbClr val="002060"/>
                </a:solidFill>
                <a:latin typeface="맑은 고딕"/>
                <a:ea typeface="맑은 고딕"/>
                <a:cs typeface="맑은 고딕"/>
              </a:defRPr>
            </a:lvl7pPr>
            <a:lvl8pPr>
              <a:defRPr sz="2400" b="1">
                <a:solidFill>
                  <a:srgbClr val="002060"/>
                </a:solidFill>
                <a:latin typeface="맑은 고딕"/>
                <a:ea typeface="맑은 고딕"/>
                <a:cs typeface="맑은 고딕"/>
              </a:defRPr>
            </a:lvl8pPr>
            <a:lvl9pPr>
              <a:defRPr sz="2400" b="1">
                <a:solidFill>
                  <a:srgbClr val="002060"/>
                </a:solidFill>
                <a:latin typeface="맑은 고딕"/>
                <a:ea typeface="맑은 고딕"/>
                <a:cs typeface="맑은 고딕"/>
              </a:defRPr>
            </a:lvl9pPr>
          </a:lstStyle>
          <a:p>
            <a:pPr>
              <a:defRPr sz="2400" b="1">
                <a:solidFill>
                  <a:srgbClr val="002060"/>
                </a:solidFill>
                <a:latin typeface="맑은 고딕"/>
                <a:ea typeface="맑은 고딕"/>
                <a:cs typeface="맑은 고딕"/>
              </a:defRPr>
            </a:pPr>
            <a:r>
              <a:rPr sz="2400" b="1">
                <a:solidFill>
                  <a:srgbClr val="002060"/>
                </a:solidFill>
                <a:latin typeface="맑은 고딕"/>
                <a:ea typeface="맑은 고딕"/>
                <a:cs typeface="맑은 고딕"/>
              </a:rPr>
              <a:t>2028 정시의 특징과 비교 기준</a:t>
            </a:r>
          </a:p>
        </p:txBody>
      </p:sp>
      <p:sp>
        <p:nvSpPr>
          <p:cNvPr id="3" name="직사각형 2">
            <a:extLst>
              <a:ext uri="{FF2B5EF4-FFF2-40B4-BE49-F238E27FC236}">
                <a16:creationId xmlns:a16="http://schemas.microsoft.com/office/drawing/2014/main" id="{F576453F-1DB0-4D84-8208-8B9E3F083149}"/>
              </a:ext>
            </a:extLst>
          </p:cNvPr>
          <p:cNvSpPr>
            <a:spLocks noGrp="1"/>
          </p:cNvSpPr>
          <p:nvPr/>
        </p:nvSpPr>
        <p:spPr>
          <a:xfrm>
            <a:off x="381000" y="1381125"/>
            <a:ext cx="10668000" cy="257175"/>
          </a:xfrm>
          <a:prstGeom prst="rect">
            <a:avLst/>
          </a:prstGeom>
          <a:noFill/>
          <a:ln w="0">
            <a:noFill/>
          </a:ln>
        </p:spPr>
        <p:txBody>
          <a:bodyPr lIns="0" tIns="0" rIns="0" bIns="0" anchor="t"/>
          <a:lstStyle>
            <a:defPPr>
              <a:defRPr sz="1425" b="1">
                <a:solidFill>
                  <a:srgbClr val="002060"/>
                </a:solidFill>
                <a:latin typeface="맑은 고딕"/>
                <a:ea typeface="맑은 고딕"/>
                <a:cs typeface="맑은 고딕"/>
              </a:defRPr>
            </a:defPPr>
            <a:lvl1pPr>
              <a:defRPr sz="1425" b="1">
                <a:solidFill>
                  <a:srgbClr val="002060"/>
                </a:solidFill>
                <a:latin typeface="맑은 고딕"/>
                <a:ea typeface="맑은 고딕"/>
                <a:cs typeface="맑은 고딕"/>
              </a:defRPr>
            </a:lvl1pPr>
            <a:lvl2pPr>
              <a:defRPr sz="1425" b="1">
                <a:solidFill>
                  <a:srgbClr val="002060"/>
                </a:solidFill>
                <a:latin typeface="맑은 고딕"/>
                <a:ea typeface="맑은 고딕"/>
                <a:cs typeface="맑은 고딕"/>
              </a:defRPr>
            </a:lvl2pPr>
            <a:lvl3pPr>
              <a:defRPr sz="1425" b="1">
                <a:solidFill>
                  <a:srgbClr val="002060"/>
                </a:solidFill>
                <a:latin typeface="맑은 고딕"/>
                <a:ea typeface="맑은 고딕"/>
                <a:cs typeface="맑은 고딕"/>
              </a:defRPr>
            </a:lvl3pPr>
            <a:lvl4pPr>
              <a:defRPr sz="1425" b="1">
                <a:solidFill>
                  <a:srgbClr val="002060"/>
                </a:solidFill>
                <a:latin typeface="맑은 고딕"/>
                <a:ea typeface="맑은 고딕"/>
                <a:cs typeface="맑은 고딕"/>
              </a:defRPr>
            </a:lvl4pPr>
            <a:lvl5pPr>
              <a:defRPr sz="1425" b="1">
                <a:solidFill>
                  <a:srgbClr val="002060"/>
                </a:solidFill>
                <a:latin typeface="맑은 고딕"/>
                <a:ea typeface="맑은 고딕"/>
                <a:cs typeface="맑은 고딕"/>
              </a:defRPr>
            </a:lvl5pPr>
            <a:lvl6pPr>
              <a:defRPr sz="1425" b="1">
                <a:solidFill>
                  <a:srgbClr val="002060"/>
                </a:solidFill>
                <a:latin typeface="맑은 고딕"/>
                <a:ea typeface="맑은 고딕"/>
                <a:cs typeface="맑은 고딕"/>
              </a:defRPr>
            </a:lvl6pPr>
            <a:lvl7pPr>
              <a:defRPr sz="1425" b="1">
                <a:solidFill>
                  <a:srgbClr val="002060"/>
                </a:solidFill>
                <a:latin typeface="맑은 고딕"/>
                <a:ea typeface="맑은 고딕"/>
                <a:cs typeface="맑은 고딕"/>
              </a:defRPr>
            </a:lvl7pPr>
            <a:lvl8pPr>
              <a:defRPr sz="1425" b="1">
                <a:solidFill>
                  <a:srgbClr val="002060"/>
                </a:solidFill>
                <a:latin typeface="맑은 고딕"/>
                <a:ea typeface="맑은 고딕"/>
                <a:cs typeface="맑은 고딕"/>
              </a:defRPr>
            </a:lvl8pPr>
            <a:lvl9pPr>
              <a:defRPr sz="1425" b="1">
                <a:solidFill>
                  <a:srgbClr val="002060"/>
                </a:solidFill>
                <a:latin typeface="맑은 고딕"/>
                <a:ea typeface="맑은 고딕"/>
                <a:cs typeface="맑은 고딕"/>
              </a:defRPr>
            </a:lvl9pPr>
          </a:lstStyle>
          <a:p>
            <a:pPr>
              <a:defRPr sz="1425" b="1">
                <a:solidFill>
                  <a:srgbClr val="002060"/>
                </a:solidFill>
                <a:latin typeface="맑은 고딕"/>
                <a:ea typeface="맑은 고딕"/>
                <a:cs typeface="맑은 고딕"/>
              </a:defRPr>
            </a:pPr>
            <a:r>
              <a:rPr sz="1425" b="1">
                <a:solidFill>
                  <a:srgbClr val="002060"/>
                </a:solidFill>
                <a:latin typeface="맑은 고딕"/>
                <a:ea typeface="맑은 고딕"/>
                <a:cs typeface="맑은 고딕"/>
              </a:rPr>
              <a:t>수능 성적과 전형의 조건을 함께 읽는다</a:t>
            </a:r>
          </a:p>
        </p:txBody>
      </p:sp>
      <p:graphicFrame>
        <p:nvGraphicFramePr>
          <p:cNvPr id="4" name="표 3">
            <a:extLst>
              <a:ext uri="{FF2B5EF4-FFF2-40B4-BE49-F238E27FC236}">
                <a16:creationId xmlns:a16="http://schemas.microsoft.com/office/drawing/2014/main" id="{CC2C772D-E170-4F04-9CBB-FC79F55FB2EC}"/>
              </a:ext>
            </a:extLst>
          </p:cNvPr>
          <p:cNvGraphicFramePr/>
          <p:nvPr>
            <p:extLst>
              <p:ext uri="{D42A27DB-BD31-4B8C-83A1-F6EECF244321}">
                <p14:modId xmlns:p14="http://schemas.microsoft.com/office/powerpoint/2010/main" val="2521135641"/>
              </p:ext>
            </p:extLst>
          </p:nvPr>
        </p:nvGraphicFramePr>
        <p:xfrm>
          <a:off x="381000" y="1704975"/>
          <a:ext cx="10668000" cy="2305050"/>
        </p:xfrm>
        <a:graphic>
          <a:graphicData uri="http://schemas.openxmlformats.org/drawingml/2006/table">
            <a:tbl>
              <a:tblPr/>
              <a:tblGrid>
                <a:gridCol w="2762250">
                  <a:extLst>
                    <a:ext uri="{9D8B030D-6E8A-4147-A177-3AD203B41FA5}">
                      <a16:colId xmlns:a16="http://schemas.microsoft.com/office/drawing/2014/main" val="20000"/>
                    </a:ext>
                  </a:extLst>
                </a:gridCol>
                <a:gridCol w="7905750">
                  <a:extLst>
                    <a:ext uri="{9D8B030D-6E8A-4147-A177-3AD203B41FA5}">
                      <a16:colId xmlns:a16="http://schemas.microsoft.com/office/drawing/2014/main" val="20001"/>
                    </a:ext>
                  </a:extLst>
                </a:gridCol>
              </a:tblGrid>
              <a:tr h="400050">
                <a:tc>
                  <a:txBody>
                    <a:bodyPr/>
                    <a:lstStyle/>
                    <a:p>
                      <a:r>
                        <a:rPr lang="ko-KR" altLang="en-US" sz="1500" b="1" dirty="0">
                          <a:solidFill>
                            <a:srgbClr val="FFFFFF"/>
                          </a:solidFill>
                          <a:latin typeface="맑은 고딕"/>
                          <a:ea typeface="맑은 고딕"/>
                          <a:cs typeface="맑은 고딕"/>
                        </a:rPr>
                        <a:t>구분</a:t>
                      </a:r>
                      <a:endParaRPr sz="1500" b="1" dirty="0">
                        <a:solidFill>
                          <a:srgbClr val="FFFFFF"/>
                        </a:solidFill>
                        <a:latin typeface="맑은 고딕"/>
                        <a:ea typeface="맑은 고딕"/>
                        <a:cs typeface="맑은 고딕"/>
                      </a:endParaRPr>
                    </a:p>
                  </a:txBody>
                  <a:tcPr marL="95250" marR="95250" marT="47625" marB="47625" anchor="ctr">
                    <a:lnL w="5715">
                      <a:solidFill>
                        <a:srgbClr val="C5CFDA"/>
                      </a:solidFill>
                      <a:prstDash val="soli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lang="ko-KR" altLang="en-US" sz="1500" b="1" dirty="0">
                          <a:solidFill>
                            <a:srgbClr val="FFFFFF"/>
                          </a:solidFill>
                          <a:latin typeface="맑은 고딕"/>
                          <a:ea typeface="맑은 고딕"/>
                          <a:cs typeface="맑은 고딕"/>
                        </a:rPr>
                        <a:t>주요 내용</a:t>
                      </a:r>
                      <a:endParaRPr sz="1500" b="1" dirty="0">
                        <a:solidFill>
                          <a:srgbClr val="FFFFFF"/>
                        </a:solidFill>
                        <a:latin typeface="맑은 고딕"/>
                        <a:ea typeface="맑은 고딕"/>
                        <a:cs typeface="맑은 고딕"/>
                      </a:endParaRP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extLst>
                  <a:ext uri="{0D108BD9-81ED-4DB2-BD59-A6C34878D82A}">
                    <a16:rowId xmlns:a16="http://schemas.microsoft.com/office/drawing/2014/main" val="10000"/>
                  </a:ext>
                </a:extLst>
              </a:tr>
              <a:tr h="381000">
                <a:tc>
                  <a:txBody>
                    <a:bodyPr/>
                    <a:lstStyle/>
                    <a:p>
                      <a:r>
                        <a:rPr sz="1500" b="1" dirty="0" err="1">
                          <a:solidFill>
                            <a:srgbClr val="17212D"/>
                          </a:solidFill>
                          <a:latin typeface="맑은 고딕"/>
                          <a:ea typeface="맑은 고딕"/>
                          <a:cs typeface="맑은 고딕"/>
                        </a:rPr>
                        <a:t>전형</a:t>
                      </a:r>
                      <a:r>
                        <a:rPr lang="en-US" sz="1500" b="1" dirty="0">
                          <a:solidFill>
                            <a:srgbClr val="17212D"/>
                          </a:solidFill>
                          <a:latin typeface="맑은 고딕"/>
                          <a:ea typeface="맑은 고딕"/>
                          <a:cs typeface="맑은 고딕"/>
                        </a:rPr>
                        <a:t> </a:t>
                      </a:r>
                      <a:r>
                        <a:rPr lang="ko-KR" altLang="en-US" sz="1500" b="1" dirty="0">
                          <a:solidFill>
                            <a:srgbClr val="17212D"/>
                          </a:solidFill>
                          <a:latin typeface="맑은 고딕"/>
                          <a:ea typeface="맑은 고딕"/>
                          <a:cs typeface="맑은 고딕"/>
                        </a:rPr>
                        <a:t>유형의 다양화</a:t>
                      </a:r>
                      <a:endParaRPr sz="1500" b="1" dirty="0">
                        <a:solidFill>
                          <a:srgbClr val="17212D"/>
                        </a:solidFill>
                        <a:latin typeface="맑은 고딕"/>
                        <a:ea typeface="맑은 고딕"/>
                        <a:cs typeface="맑은 고딕"/>
                      </a:endParaRP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dirty="0" err="1">
                          <a:solidFill>
                            <a:srgbClr val="17212D"/>
                          </a:solidFill>
                          <a:latin typeface="맑은 고딕"/>
                          <a:ea typeface="맑은 고딕"/>
                          <a:cs typeface="맑은 고딕"/>
                        </a:rPr>
                        <a:t>수능</a:t>
                      </a:r>
                      <a:r>
                        <a:rPr sz="1500" b="0" dirty="0">
                          <a:solidFill>
                            <a:srgbClr val="17212D"/>
                          </a:solidFill>
                          <a:latin typeface="맑은 고딕"/>
                          <a:ea typeface="맑은 고딕"/>
                          <a:cs typeface="맑은 고딕"/>
                        </a:rPr>
                        <a:t> 100%, </a:t>
                      </a:r>
                      <a:r>
                        <a:rPr sz="1500" b="0" dirty="0" err="1">
                          <a:solidFill>
                            <a:srgbClr val="17212D"/>
                          </a:solidFill>
                          <a:latin typeface="맑은 고딕"/>
                          <a:ea typeface="맑은 고딕"/>
                          <a:cs typeface="맑은 고딕"/>
                        </a:rPr>
                        <a:t>학생부</a:t>
                      </a:r>
                      <a:r>
                        <a:rPr sz="1500" b="0" dirty="0">
                          <a:solidFill>
                            <a:srgbClr val="17212D"/>
                          </a:solidFill>
                          <a:latin typeface="맑은 고딕"/>
                          <a:ea typeface="맑은 고딕"/>
                          <a:cs typeface="맑은 고딕"/>
                        </a:rPr>
                        <a:t> </a:t>
                      </a:r>
                      <a:r>
                        <a:rPr sz="1500" b="0" dirty="0" err="1">
                          <a:solidFill>
                            <a:srgbClr val="17212D"/>
                          </a:solidFill>
                          <a:latin typeface="맑은 고딕"/>
                          <a:ea typeface="맑은 고딕"/>
                          <a:cs typeface="맑은 고딕"/>
                        </a:rPr>
                        <a:t>합산</a:t>
                      </a:r>
                      <a:r>
                        <a:rPr sz="1500" b="0" dirty="0">
                          <a:solidFill>
                            <a:srgbClr val="17212D"/>
                          </a:solidFill>
                          <a:latin typeface="맑은 고딕"/>
                          <a:ea typeface="맑은 고딕"/>
                          <a:cs typeface="맑은 고딕"/>
                        </a:rPr>
                        <a:t>, </a:t>
                      </a:r>
                      <a:r>
                        <a:rPr sz="1500" b="0" dirty="0" err="1">
                          <a:solidFill>
                            <a:srgbClr val="17212D"/>
                          </a:solidFill>
                          <a:latin typeface="맑은 고딕"/>
                          <a:ea typeface="맑은 고딕"/>
                          <a:cs typeface="맑은 고딕"/>
                        </a:rPr>
                        <a:t>서류</a:t>
                      </a:r>
                      <a:r>
                        <a:rPr sz="1500" b="0" dirty="0">
                          <a:solidFill>
                            <a:srgbClr val="17212D"/>
                          </a:solidFill>
                          <a:latin typeface="맑은 고딕"/>
                          <a:ea typeface="맑은 고딕"/>
                          <a:cs typeface="맑은 고딕"/>
                        </a:rPr>
                        <a:t> </a:t>
                      </a:r>
                      <a:r>
                        <a:rPr sz="1500" b="0" dirty="0" err="1">
                          <a:solidFill>
                            <a:srgbClr val="17212D"/>
                          </a:solidFill>
                          <a:latin typeface="맑은 고딕"/>
                          <a:ea typeface="맑은 고딕"/>
                          <a:cs typeface="맑은 고딕"/>
                        </a:rPr>
                        <a:t>중심</a:t>
                      </a:r>
                      <a:r>
                        <a:rPr sz="1500" b="0" dirty="0">
                          <a:solidFill>
                            <a:srgbClr val="17212D"/>
                          </a:solidFill>
                          <a:latin typeface="맑은 고딕"/>
                          <a:ea typeface="맑은 고딕"/>
                          <a:cs typeface="맑은 고딕"/>
                        </a:rPr>
                        <a:t> </a:t>
                      </a:r>
                      <a:r>
                        <a:rPr sz="1500" b="0" dirty="0" err="1">
                          <a:solidFill>
                            <a:srgbClr val="17212D"/>
                          </a:solidFill>
                          <a:latin typeface="맑은 고딕"/>
                          <a:ea typeface="맑은 고딕"/>
                          <a:cs typeface="맑은 고딕"/>
                        </a:rPr>
                        <a:t>전형이</a:t>
                      </a:r>
                      <a:r>
                        <a:rPr sz="1500" b="0" dirty="0">
                          <a:solidFill>
                            <a:srgbClr val="17212D"/>
                          </a:solidFill>
                          <a:latin typeface="맑은 고딕"/>
                          <a:ea typeface="맑은 고딕"/>
                          <a:cs typeface="맑은 고딕"/>
                        </a:rPr>
                        <a:t> </a:t>
                      </a:r>
                      <a:r>
                        <a:rPr sz="1500" b="0" dirty="0" err="1">
                          <a:solidFill>
                            <a:srgbClr val="17212D"/>
                          </a:solidFill>
                          <a:latin typeface="맑은 고딕"/>
                          <a:ea typeface="맑은 고딕"/>
                          <a:cs typeface="맑은 고딕"/>
                        </a:rPr>
                        <a:t>병존</a:t>
                      </a:r>
                      <a:endParaRPr sz="1500" b="0" dirty="0">
                        <a:solidFill>
                          <a:srgbClr val="17212D"/>
                        </a:solidFill>
                        <a:latin typeface="맑은 고딕"/>
                        <a:ea typeface="맑은 고딕"/>
                        <a:cs typeface="맑은 고딕"/>
                      </a:endParaRP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1"/>
                  </a:ext>
                </a:extLst>
              </a:tr>
              <a:tr h="381000">
                <a:tc>
                  <a:txBody>
                    <a:bodyPr/>
                    <a:lstStyle/>
                    <a:p>
                      <a:r>
                        <a:rPr sz="1500" b="1" dirty="0" err="1">
                          <a:solidFill>
                            <a:srgbClr val="17212D"/>
                          </a:solidFill>
                          <a:latin typeface="맑은 고딕"/>
                          <a:ea typeface="맑은 고딕"/>
                          <a:cs typeface="맑은 고딕"/>
                        </a:rPr>
                        <a:t>지원자격의</a:t>
                      </a:r>
                      <a:r>
                        <a:rPr sz="1500" b="1" dirty="0">
                          <a:solidFill>
                            <a:srgbClr val="17212D"/>
                          </a:solidFill>
                          <a:latin typeface="맑은 고딕"/>
                          <a:ea typeface="맑은 고딕"/>
                          <a:cs typeface="맑은 고딕"/>
                        </a:rPr>
                        <a:t> </a:t>
                      </a:r>
                      <a:r>
                        <a:rPr sz="1500" b="1" dirty="0" err="1">
                          <a:solidFill>
                            <a:srgbClr val="17212D"/>
                          </a:solidFill>
                          <a:latin typeface="맑은 고딕"/>
                          <a:ea typeface="맑은 고딕"/>
                          <a:cs typeface="맑은 고딕"/>
                        </a:rPr>
                        <a:t>차이</a:t>
                      </a:r>
                      <a:endParaRPr sz="1500" b="1" dirty="0">
                        <a:solidFill>
                          <a:srgbClr val="17212D"/>
                        </a:solidFill>
                        <a:latin typeface="맑은 고딕"/>
                        <a:ea typeface="맑은 고딕"/>
                        <a:cs typeface="맑은 고딕"/>
                      </a:endParaRP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lang="ko-KR" altLang="en-US" sz="1600" dirty="0"/>
                        <a:t>동일 대학에서도 졸업예정자만 지원 가능한 전형과 졸업자도 지원 가능한 전형 구분</a:t>
                      </a:r>
                      <a:endParaRPr sz="1500" b="0" dirty="0">
                        <a:solidFill>
                          <a:srgbClr val="17212D"/>
                        </a:solidFill>
                        <a:latin typeface="맑은 고딕"/>
                        <a:ea typeface="맑은 고딕"/>
                        <a:cs typeface="맑은 고딕"/>
                      </a:endParaRP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2"/>
                  </a:ext>
                </a:extLst>
              </a:tr>
              <a:tr h="381000">
                <a:tc>
                  <a:txBody>
                    <a:bodyPr/>
                    <a:lstStyle/>
                    <a:p>
                      <a:r>
                        <a:rPr sz="1500" b="1" dirty="0" err="1">
                          <a:solidFill>
                            <a:srgbClr val="17212D"/>
                          </a:solidFill>
                          <a:latin typeface="맑은 고딕"/>
                          <a:ea typeface="맑은 고딕"/>
                          <a:cs typeface="맑은 고딕"/>
                        </a:rPr>
                        <a:t>학생부</a:t>
                      </a:r>
                      <a:r>
                        <a:rPr sz="1500" b="1" dirty="0">
                          <a:solidFill>
                            <a:srgbClr val="17212D"/>
                          </a:solidFill>
                          <a:latin typeface="맑은 고딕"/>
                          <a:ea typeface="맑은 고딕"/>
                          <a:cs typeface="맑은 고딕"/>
                        </a:rPr>
                        <a:t> </a:t>
                      </a:r>
                      <a:r>
                        <a:rPr sz="1500" b="1" dirty="0" err="1">
                          <a:solidFill>
                            <a:srgbClr val="17212D"/>
                          </a:solidFill>
                          <a:latin typeface="맑은 고딕"/>
                          <a:ea typeface="맑은 고딕"/>
                          <a:cs typeface="맑은 고딕"/>
                        </a:rPr>
                        <a:t>평가</a:t>
                      </a:r>
                      <a:r>
                        <a:rPr lang="en-US" sz="1500" b="1" dirty="0">
                          <a:solidFill>
                            <a:srgbClr val="17212D"/>
                          </a:solidFill>
                          <a:latin typeface="맑은 고딕"/>
                          <a:ea typeface="맑은 고딕"/>
                          <a:cs typeface="맑은 고딕"/>
                        </a:rPr>
                        <a:t> </a:t>
                      </a:r>
                      <a:r>
                        <a:rPr lang="ko-KR" altLang="en-US" sz="1500" b="1" dirty="0">
                          <a:solidFill>
                            <a:srgbClr val="17212D"/>
                          </a:solidFill>
                          <a:latin typeface="맑은 고딕"/>
                          <a:ea typeface="맑은 고딕"/>
                          <a:cs typeface="맑은 고딕"/>
                        </a:rPr>
                        <a:t>방식</a:t>
                      </a:r>
                      <a:endParaRPr sz="1500" b="1" dirty="0">
                        <a:solidFill>
                          <a:srgbClr val="17212D"/>
                        </a:solidFill>
                        <a:latin typeface="맑은 고딕"/>
                        <a:ea typeface="맑은 고딕"/>
                        <a:cs typeface="맑은 고딕"/>
                      </a:endParaRP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lang="ko-KR" altLang="en-US" sz="1600" dirty="0"/>
                        <a:t>교과 성적의 정량평가와 교과 이수</a:t>
                      </a:r>
                      <a:r>
                        <a:rPr lang="en-US" altLang="ko-KR" sz="1600" dirty="0"/>
                        <a:t>·</a:t>
                      </a:r>
                      <a:r>
                        <a:rPr lang="ko-KR" altLang="en-US" sz="1600" dirty="0"/>
                        <a:t>학업역량 등의 정성평가 구분</a:t>
                      </a:r>
                      <a:endParaRPr sz="1500" b="0" dirty="0">
                        <a:solidFill>
                          <a:srgbClr val="17212D"/>
                        </a:solidFill>
                        <a:latin typeface="맑은 고딕"/>
                        <a:ea typeface="맑은 고딕"/>
                        <a:cs typeface="맑은 고딕"/>
                      </a:endParaRP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3"/>
                  </a:ext>
                </a:extLst>
              </a:tr>
              <a:tr h="381000">
                <a:tc>
                  <a:txBody>
                    <a:bodyPr/>
                    <a:lstStyle/>
                    <a:p>
                      <a:r>
                        <a:rPr sz="1500" b="1" dirty="0" err="1">
                          <a:solidFill>
                            <a:srgbClr val="17212D"/>
                          </a:solidFill>
                          <a:latin typeface="맑은 고딕"/>
                          <a:ea typeface="맑은 고딕"/>
                          <a:cs typeface="맑은 고딕"/>
                        </a:rPr>
                        <a:t>수능</a:t>
                      </a:r>
                      <a:r>
                        <a:rPr sz="1500" b="1" dirty="0">
                          <a:solidFill>
                            <a:srgbClr val="17212D"/>
                          </a:solidFill>
                          <a:latin typeface="맑은 고딕"/>
                          <a:ea typeface="맑은 고딕"/>
                          <a:cs typeface="맑은 고딕"/>
                        </a:rPr>
                        <a:t> </a:t>
                      </a:r>
                      <a:r>
                        <a:rPr sz="1500" b="1" dirty="0" err="1">
                          <a:solidFill>
                            <a:srgbClr val="17212D"/>
                          </a:solidFill>
                          <a:latin typeface="맑은 고딕"/>
                          <a:ea typeface="맑은 고딕"/>
                          <a:cs typeface="맑은 고딕"/>
                        </a:rPr>
                        <a:t>산출</a:t>
                      </a:r>
                      <a:r>
                        <a:rPr sz="1500" b="1" dirty="0">
                          <a:solidFill>
                            <a:srgbClr val="17212D"/>
                          </a:solidFill>
                          <a:latin typeface="맑은 고딕"/>
                          <a:ea typeface="맑은 고딕"/>
                          <a:cs typeface="맑은 고딕"/>
                        </a:rPr>
                        <a:t> </a:t>
                      </a:r>
                      <a:r>
                        <a:rPr lang="ko-KR" altLang="en-US" sz="1500" b="1" dirty="0">
                          <a:solidFill>
                            <a:srgbClr val="17212D"/>
                          </a:solidFill>
                          <a:latin typeface="맑은 고딕"/>
                          <a:ea typeface="맑은 고딕"/>
                          <a:cs typeface="맑은 고딕"/>
                        </a:rPr>
                        <a:t>활용</a:t>
                      </a:r>
                      <a:endParaRPr sz="1500" b="1" dirty="0">
                        <a:solidFill>
                          <a:srgbClr val="17212D"/>
                        </a:solidFill>
                        <a:latin typeface="맑은 고딕"/>
                        <a:ea typeface="맑은 고딕"/>
                        <a:cs typeface="맑은 고딕"/>
                      </a:endParaRP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lang="ko-KR" altLang="en-US" sz="1600" dirty="0"/>
                        <a:t>표준점수</a:t>
                      </a:r>
                      <a:r>
                        <a:rPr lang="en-US" altLang="ko-KR" sz="1600" dirty="0"/>
                        <a:t>·</a:t>
                      </a:r>
                      <a:r>
                        <a:rPr lang="ko-KR" altLang="en-US" sz="1600" dirty="0"/>
                        <a:t>백분위</a:t>
                      </a:r>
                      <a:r>
                        <a:rPr lang="en-US" altLang="ko-KR" sz="1600" dirty="0"/>
                        <a:t>·</a:t>
                      </a:r>
                      <a:r>
                        <a:rPr lang="ko-KR" altLang="en-US" sz="1600" dirty="0"/>
                        <a:t>등급 및 대학별 자체 변환점수 활용 방식 확인</a:t>
                      </a:r>
                      <a:endParaRPr sz="1500" b="0" dirty="0">
                        <a:solidFill>
                          <a:srgbClr val="17212D"/>
                        </a:solidFill>
                        <a:latin typeface="맑은 고딕"/>
                        <a:ea typeface="맑은 고딕"/>
                        <a:cs typeface="맑은 고딕"/>
                      </a:endParaRP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4"/>
                  </a:ext>
                </a:extLst>
              </a:tr>
              <a:tr h="381000">
                <a:tc>
                  <a:txBody>
                    <a:bodyPr/>
                    <a:lstStyle/>
                    <a:p>
                      <a:r>
                        <a:rPr sz="1500" b="1" dirty="0" err="1">
                          <a:solidFill>
                            <a:srgbClr val="17212D"/>
                          </a:solidFill>
                          <a:latin typeface="맑은 고딕"/>
                          <a:ea typeface="맑은 고딕"/>
                          <a:cs typeface="맑은 고딕"/>
                        </a:rPr>
                        <a:t>탐구반영</a:t>
                      </a:r>
                      <a:r>
                        <a:rPr lang="en-US" sz="1500" b="1" dirty="0">
                          <a:solidFill>
                            <a:srgbClr val="17212D"/>
                          </a:solidFill>
                          <a:latin typeface="맑은 고딕"/>
                          <a:ea typeface="맑은 고딕"/>
                          <a:cs typeface="맑은 고딕"/>
                        </a:rPr>
                        <a:t> </a:t>
                      </a:r>
                      <a:r>
                        <a:rPr lang="ko-KR" altLang="en-US" sz="1500" b="1" dirty="0">
                          <a:solidFill>
                            <a:srgbClr val="17212D"/>
                          </a:solidFill>
                          <a:latin typeface="맑은 고딕"/>
                          <a:ea typeface="맑은 고딕"/>
                          <a:cs typeface="맑은 고딕"/>
                        </a:rPr>
                        <a:t>영역</a:t>
                      </a:r>
                      <a:endParaRPr sz="1500" b="1" dirty="0">
                        <a:solidFill>
                          <a:srgbClr val="17212D"/>
                        </a:solidFill>
                        <a:latin typeface="맑은 고딕"/>
                        <a:ea typeface="맑은 고딕"/>
                        <a:cs typeface="맑은 고딕"/>
                      </a:endParaRP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lang="ko-KR" altLang="en-US" sz="1600" dirty="0"/>
                        <a:t>탐구 </a:t>
                      </a:r>
                      <a:r>
                        <a:rPr lang="en-US" altLang="ko-KR" sz="1600" dirty="0"/>
                        <a:t>1</a:t>
                      </a:r>
                      <a:r>
                        <a:rPr lang="ko-KR" altLang="en-US" sz="1600" dirty="0"/>
                        <a:t>과목</a:t>
                      </a:r>
                      <a:r>
                        <a:rPr lang="en-US" altLang="ko-KR" sz="1600" dirty="0"/>
                        <a:t>·2</a:t>
                      </a:r>
                      <a:r>
                        <a:rPr lang="ko-KR" altLang="en-US" sz="1600" dirty="0"/>
                        <a:t>과목 반영 여부와 과목별 가중치 및 가산점 확인</a:t>
                      </a:r>
                      <a:endParaRPr sz="1500" b="0" dirty="0">
                        <a:solidFill>
                          <a:srgbClr val="17212D"/>
                        </a:solidFill>
                        <a:latin typeface="맑은 고딕"/>
                        <a:ea typeface="맑은 고딕"/>
                        <a:cs typeface="맑은 고딕"/>
                      </a:endParaRP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5" name="직사각형 4">
            <a:extLst>
              <a:ext uri="{FF2B5EF4-FFF2-40B4-BE49-F238E27FC236}">
                <a16:creationId xmlns:a16="http://schemas.microsoft.com/office/drawing/2014/main" id="{90F1265E-8098-479C-9FD4-DADF377F982D}"/>
              </a:ext>
            </a:extLst>
          </p:cNvPr>
          <p:cNvSpPr>
            <a:spLocks noGrp="1"/>
          </p:cNvSpPr>
          <p:nvPr/>
        </p:nvSpPr>
        <p:spPr>
          <a:xfrm>
            <a:off x="381000" y="4238625"/>
            <a:ext cx="10668000" cy="257175"/>
          </a:xfrm>
          <a:prstGeom prst="rect">
            <a:avLst/>
          </a:prstGeom>
          <a:noFill/>
          <a:ln w="0">
            <a:noFill/>
          </a:ln>
        </p:spPr>
        <p:txBody>
          <a:bodyPr lIns="0" tIns="0" rIns="0" bIns="0" anchor="t"/>
          <a:lstStyle>
            <a:defPPr>
              <a:defRPr sz="1425" b="1">
                <a:solidFill>
                  <a:srgbClr val="002060"/>
                </a:solidFill>
                <a:latin typeface="맑은 고딕"/>
                <a:ea typeface="맑은 고딕"/>
                <a:cs typeface="맑은 고딕"/>
              </a:defRPr>
            </a:defPPr>
            <a:lvl1pPr>
              <a:defRPr sz="1425" b="1">
                <a:solidFill>
                  <a:srgbClr val="002060"/>
                </a:solidFill>
                <a:latin typeface="맑은 고딕"/>
                <a:ea typeface="맑은 고딕"/>
                <a:cs typeface="맑은 고딕"/>
              </a:defRPr>
            </a:lvl1pPr>
            <a:lvl2pPr>
              <a:defRPr sz="1425" b="1">
                <a:solidFill>
                  <a:srgbClr val="002060"/>
                </a:solidFill>
                <a:latin typeface="맑은 고딕"/>
                <a:ea typeface="맑은 고딕"/>
                <a:cs typeface="맑은 고딕"/>
              </a:defRPr>
            </a:lvl2pPr>
            <a:lvl3pPr>
              <a:defRPr sz="1425" b="1">
                <a:solidFill>
                  <a:srgbClr val="002060"/>
                </a:solidFill>
                <a:latin typeface="맑은 고딕"/>
                <a:ea typeface="맑은 고딕"/>
                <a:cs typeface="맑은 고딕"/>
              </a:defRPr>
            </a:lvl3pPr>
            <a:lvl4pPr>
              <a:defRPr sz="1425" b="1">
                <a:solidFill>
                  <a:srgbClr val="002060"/>
                </a:solidFill>
                <a:latin typeface="맑은 고딕"/>
                <a:ea typeface="맑은 고딕"/>
                <a:cs typeface="맑은 고딕"/>
              </a:defRPr>
            </a:lvl4pPr>
            <a:lvl5pPr>
              <a:defRPr sz="1425" b="1">
                <a:solidFill>
                  <a:srgbClr val="002060"/>
                </a:solidFill>
                <a:latin typeface="맑은 고딕"/>
                <a:ea typeface="맑은 고딕"/>
                <a:cs typeface="맑은 고딕"/>
              </a:defRPr>
            </a:lvl5pPr>
            <a:lvl6pPr>
              <a:defRPr sz="1425" b="1">
                <a:solidFill>
                  <a:srgbClr val="002060"/>
                </a:solidFill>
                <a:latin typeface="맑은 고딕"/>
                <a:ea typeface="맑은 고딕"/>
                <a:cs typeface="맑은 고딕"/>
              </a:defRPr>
            </a:lvl6pPr>
            <a:lvl7pPr>
              <a:defRPr sz="1425" b="1">
                <a:solidFill>
                  <a:srgbClr val="002060"/>
                </a:solidFill>
                <a:latin typeface="맑은 고딕"/>
                <a:ea typeface="맑은 고딕"/>
                <a:cs typeface="맑은 고딕"/>
              </a:defRPr>
            </a:lvl7pPr>
            <a:lvl8pPr>
              <a:defRPr sz="1425" b="1">
                <a:solidFill>
                  <a:srgbClr val="002060"/>
                </a:solidFill>
                <a:latin typeface="맑은 고딕"/>
                <a:ea typeface="맑은 고딕"/>
                <a:cs typeface="맑은 고딕"/>
              </a:defRPr>
            </a:lvl8pPr>
            <a:lvl9pPr>
              <a:defRPr sz="1425" b="1">
                <a:solidFill>
                  <a:srgbClr val="002060"/>
                </a:solidFill>
                <a:latin typeface="맑은 고딕"/>
                <a:ea typeface="맑은 고딕"/>
                <a:cs typeface="맑은 고딕"/>
              </a:defRPr>
            </a:lvl9pPr>
          </a:lstStyle>
          <a:p>
            <a:pPr>
              <a:defRPr sz="1425" b="1">
                <a:solidFill>
                  <a:srgbClr val="002060"/>
                </a:solidFill>
                <a:latin typeface="맑은 고딕"/>
                <a:ea typeface="맑은 고딕"/>
                <a:cs typeface="맑은 고딕"/>
              </a:defRPr>
            </a:pPr>
            <a:r>
              <a:rPr sz="1425" b="1">
                <a:solidFill>
                  <a:srgbClr val="002060"/>
                </a:solidFill>
                <a:latin typeface="맑은 고딕"/>
                <a:ea typeface="맑은 고딕"/>
                <a:cs typeface="맑은 고딕"/>
              </a:rPr>
              <a:t>전형 수를 세기 전에 비교 기준을 정한다</a:t>
            </a:r>
          </a:p>
        </p:txBody>
      </p:sp>
      <p:graphicFrame>
        <p:nvGraphicFramePr>
          <p:cNvPr id="6" name="표 5">
            <a:extLst>
              <a:ext uri="{FF2B5EF4-FFF2-40B4-BE49-F238E27FC236}">
                <a16:creationId xmlns:a16="http://schemas.microsoft.com/office/drawing/2014/main" id="{FD28A36A-CA75-4B2E-8E8C-CAA493F22577}"/>
              </a:ext>
            </a:extLst>
          </p:cNvPr>
          <p:cNvGraphicFramePr/>
          <p:nvPr>
            <p:extLst>
              <p:ext uri="{D42A27DB-BD31-4B8C-83A1-F6EECF244321}">
                <p14:modId xmlns:p14="http://schemas.microsoft.com/office/powerpoint/2010/main" val="1154242132"/>
              </p:ext>
            </p:extLst>
          </p:nvPr>
        </p:nvGraphicFramePr>
        <p:xfrm>
          <a:off x="381000" y="4562475"/>
          <a:ext cx="10668000" cy="2516505"/>
        </p:xfrm>
        <a:graphic>
          <a:graphicData uri="http://schemas.openxmlformats.org/drawingml/2006/table">
            <a:tbl>
              <a:tblPr/>
              <a:tblGrid>
                <a:gridCol w="2762250">
                  <a:extLst>
                    <a:ext uri="{9D8B030D-6E8A-4147-A177-3AD203B41FA5}">
                      <a16:colId xmlns:a16="http://schemas.microsoft.com/office/drawing/2014/main" val="20000"/>
                    </a:ext>
                  </a:extLst>
                </a:gridCol>
                <a:gridCol w="7905750">
                  <a:extLst>
                    <a:ext uri="{9D8B030D-6E8A-4147-A177-3AD203B41FA5}">
                      <a16:colId xmlns:a16="http://schemas.microsoft.com/office/drawing/2014/main" val="20001"/>
                    </a:ext>
                  </a:extLst>
                </a:gridCol>
              </a:tblGrid>
              <a:tr h="400050">
                <a:tc>
                  <a:txBody>
                    <a:bodyPr/>
                    <a:lstStyle/>
                    <a:p>
                      <a:r>
                        <a:rPr sz="1500" b="1">
                          <a:solidFill>
                            <a:srgbClr val="FFFFFF"/>
                          </a:solidFill>
                          <a:latin typeface="맑은 고딕"/>
                          <a:ea typeface="맑은 고딕"/>
                          <a:cs typeface="맑은 고딕"/>
                        </a:rPr>
                        <a:t>구분</a:t>
                      </a:r>
                    </a:p>
                  </a:txBody>
                  <a:tcPr marL="95250" marR="95250" marT="47625" marB="47625" anchor="ctr">
                    <a:lnL w="5715">
                      <a:solidFill>
                        <a:srgbClr val="C5CFDA"/>
                      </a:solidFill>
                      <a:prstDash val="soli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lang="ko-KR" altLang="en-US" sz="1500" b="1" dirty="0">
                          <a:solidFill>
                            <a:srgbClr val="FFFFFF"/>
                          </a:solidFill>
                          <a:latin typeface="맑은 고딕"/>
                          <a:ea typeface="맑은 고딕"/>
                          <a:cs typeface="맑은 고딕"/>
                        </a:rPr>
                        <a:t>집계 및 분류 기준</a:t>
                      </a:r>
                      <a:endParaRPr sz="1500" b="1" dirty="0">
                        <a:solidFill>
                          <a:srgbClr val="FFFFFF"/>
                        </a:solidFill>
                        <a:latin typeface="맑은 고딕"/>
                        <a:ea typeface="맑은 고딕"/>
                        <a:cs typeface="맑은 고딕"/>
                      </a:endParaRP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extLst>
                  <a:ext uri="{0D108BD9-81ED-4DB2-BD59-A6C34878D82A}">
                    <a16:rowId xmlns:a16="http://schemas.microsoft.com/office/drawing/2014/main" val="10000"/>
                  </a:ext>
                </a:extLst>
              </a:tr>
              <a:tr h="381000">
                <a:tc>
                  <a:txBody>
                    <a:bodyPr/>
                    <a:lstStyle/>
                    <a:p>
                      <a:r>
                        <a:rPr sz="1500" b="1" dirty="0" err="1">
                          <a:solidFill>
                            <a:srgbClr val="17212D"/>
                          </a:solidFill>
                          <a:latin typeface="맑은 고딕"/>
                          <a:ea typeface="맑은 고딕"/>
                          <a:cs typeface="맑은 고딕"/>
                        </a:rPr>
                        <a:t>수도권</a:t>
                      </a:r>
                      <a:r>
                        <a:rPr sz="1500" b="1" dirty="0">
                          <a:solidFill>
                            <a:srgbClr val="17212D"/>
                          </a:solidFill>
                          <a:latin typeface="맑은 고딕"/>
                          <a:ea typeface="맑은 고딕"/>
                          <a:cs typeface="맑은 고딕"/>
                        </a:rPr>
                        <a:t> </a:t>
                      </a:r>
                      <a:r>
                        <a:rPr sz="1500" b="1" dirty="0" err="1">
                          <a:solidFill>
                            <a:srgbClr val="17212D"/>
                          </a:solidFill>
                          <a:latin typeface="맑은 고딕"/>
                          <a:ea typeface="맑은 고딕"/>
                          <a:cs typeface="맑은 고딕"/>
                        </a:rPr>
                        <a:t>범위</a:t>
                      </a:r>
                      <a:endParaRPr sz="1500" b="1" dirty="0">
                        <a:solidFill>
                          <a:srgbClr val="17212D"/>
                        </a:solidFill>
                        <a:latin typeface="맑은 고딕"/>
                        <a:ea typeface="맑은 고딕"/>
                        <a:cs typeface="맑은 고딕"/>
                      </a:endParaRP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dirty="0" err="1">
                          <a:solidFill>
                            <a:srgbClr val="17212D"/>
                          </a:solidFill>
                          <a:latin typeface="맑은 고딕"/>
                          <a:ea typeface="맑은 고딕"/>
                          <a:cs typeface="맑은 고딕"/>
                        </a:rPr>
                        <a:t>원문을</a:t>
                      </a:r>
                      <a:r>
                        <a:rPr sz="1500" b="0" dirty="0">
                          <a:solidFill>
                            <a:srgbClr val="17212D"/>
                          </a:solidFill>
                          <a:latin typeface="맑은 고딕"/>
                          <a:ea typeface="맑은 고딕"/>
                          <a:cs typeface="맑은 고딕"/>
                        </a:rPr>
                        <a:t> </a:t>
                      </a:r>
                      <a:r>
                        <a:rPr sz="1500" b="0" dirty="0" err="1">
                          <a:solidFill>
                            <a:srgbClr val="17212D"/>
                          </a:solidFill>
                          <a:latin typeface="맑은 고딕"/>
                          <a:ea typeface="맑은 고딕"/>
                          <a:cs typeface="맑은 고딕"/>
                        </a:rPr>
                        <a:t>대조한</a:t>
                      </a:r>
                      <a:r>
                        <a:rPr sz="1500" b="0" dirty="0">
                          <a:solidFill>
                            <a:srgbClr val="17212D"/>
                          </a:solidFill>
                          <a:latin typeface="맑은 고딕"/>
                          <a:ea typeface="맑은 고딕"/>
                          <a:cs typeface="맑은 고딕"/>
                        </a:rPr>
                        <a:t> </a:t>
                      </a:r>
                      <a:r>
                        <a:rPr sz="1500" b="0" dirty="0" err="1">
                          <a:solidFill>
                            <a:srgbClr val="17212D"/>
                          </a:solidFill>
                          <a:latin typeface="맑은 고딕"/>
                          <a:ea typeface="맑은 고딕"/>
                          <a:cs typeface="맑은 고딕"/>
                        </a:rPr>
                        <a:t>수도권</a:t>
                      </a:r>
                      <a:r>
                        <a:rPr sz="1500" b="0" dirty="0">
                          <a:solidFill>
                            <a:srgbClr val="17212D"/>
                          </a:solidFill>
                          <a:latin typeface="맑은 고딕"/>
                          <a:ea typeface="맑은 고딕"/>
                          <a:cs typeface="맑은 고딕"/>
                        </a:rPr>
                        <a:t> </a:t>
                      </a:r>
                      <a:r>
                        <a:rPr sz="1500" b="0" dirty="0" err="1">
                          <a:solidFill>
                            <a:srgbClr val="17212D"/>
                          </a:solidFill>
                          <a:latin typeface="맑은 고딕"/>
                          <a:ea typeface="맑은 고딕"/>
                          <a:cs typeface="맑은 고딕"/>
                        </a:rPr>
                        <a:t>주요</a:t>
                      </a:r>
                      <a:r>
                        <a:rPr sz="1500" b="0" dirty="0">
                          <a:solidFill>
                            <a:srgbClr val="17212D"/>
                          </a:solidFill>
                          <a:latin typeface="맑은 고딕"/>
                          <a:ea typeface="맑은 고딕"/>
                          <a:cs typeface="맑은 고딕"/>
                        </a:rPr>
                        <a:t> 42개 </a:t>
                      </a:r>
                      <a:r>
                        <a:rPr sz="1500" b="0" dirty="0" err="1">
                          <a:solidFill>
                            <a:srgbClr val="17212D"/>
                          </a:solidFill>
                          <a:latin typeface="맑은 고딕"/>
                          <a:ea typeface="맑은 고딕"/>
                          <a:cs typeface="맑은 고딕"/>
                        </a:rPr>
                        <a:t>대학·캠퍼스</a:t>
                      </a:r>
                      <a:r>
                        <a:rPr sz="1500" b="0" dirty="0">
                          <a:solidFill>
                            <a:srgbClr val="17212D"/>
                          </a:solidFill>
                          <a:latin typeface="맑은 고딕"/>
                          <a:ea typeface="맑은 고딕"/>
                          <a:cs typeface="맑은 고딕"/>
                        </a:rPr>
                        <a:t> </a:t>
                      </a:r>
                      <a:r>
                        <a:rPr sz="1500" b="0" dirty="0" err="1">
                          <a:solidFill>
                            <a:srgbClr val="17212D"/>
                          </a:solidFill>
                          <a:latin typeface="맑은 고딕"/>
                          <a:ea typeface="맑은 고딕"/>
                          <a:cs typeface="맑은 고딕"/>
                        </a:rPr>
                        <a:t>항목</a:t>
                      </a:r>
                      <a:endParaRPr sz="1500" b="0" dirty="0">
                        <a:solidFill>
                          <a:srgbClr val="17212D"/>
                        </a:solidFill>
                        <a:latin typeface="맑은 고딕"/>
                        <a:ea typeface="맑은 고딕"/>
                        <a:cs typeface="맑은 고딕"/>
                      </a:endParaRP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1"/>
                  </a:ext>
                </a:extLst>
              </a:tr>
              <a:tr h="381000">
                <a:tc>
                  <a:txBody>
                    <a:bodyPr/>
                    <a:lstStyle/>
                    <a:p>
                      <a:r>
                        <a:rPr sz="1500" b="1">
                          <a:solidFill>
                            <a:srgbClr val="17212D"/>
                          </a:solidFill>
                          <a:latin typeface="맑은 고딕"/>
                          <a:ea typeface="맑은 고딕"/>
                          <a:cs typeface="맑은 고딕"/>
                        </a:rPr>
                        <a:t>지방거점국립대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강원·경북·경상국립·부산·전남·전북·제주·충남·충북</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2"/>
                  </a:ext>
                </a:extLst>
              </a:tr>
              <a:tr h="592455">
                <a:tc>
                  <a:txBody>
                    <a:bodyPr/>
                    <a:lstStyle/>
                    <a:p>
                      <a:r>
                        <a:rPr sz="1500" b="1">
                          <a:solidFill>
                            <a:srgbClr val="17212D"/>
                          </a:solidFill>
                          <a:latin typeface="맑은 고딕"/>
                          <a:ea typeface="맑은 고딕"/>
                          <a:cs typeface="맑은 고딕"/>
                        </a:rPr>
                        <a:t>주력 구조 수</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대학이 구분한 정원내 주력 전형·유형의 명칭 기준(일반전형의 모집군별 구분은 묶음)</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3"/>
                  </a:ext>
                </a:extLst>
              </a:tr>
              <a:tr h="381000">
                <a:tc>
                  <a:txBody>
                    <a:bodyPr/>
                    <a:lstStyle/>
                    <a:p>
                      <a:r>
                        <a:rPr sz="1500" b="1">
                          <a:solidFill>
                            <a:srgbClr val="17212D"/>
                          </a:solidFill>
                          <a:latin typeface="맑은 고딕"/>
                          <a:ea typeface="맑은 고딕"/>
                          <a:cs typeface="맑은 고딕"/>
                        </a:rPr>
                        <a:t>수에 포함하지 않음</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예체능·군사·계약·정원외·지역인재·이월 전용 전형</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4"/>
                  </a:ext>
                </a:extLst>
              </a:tr>
              <a:tr h="381000">
                <a:tc>
                  <a:txBody>
                    <a:bodyPr/>
                    <a:lstStyle/>
                    <a:p>
                      <a:r>
                        <a:rPr sz="1500" b="1">
                          <a:solidFill>
                            <a:srgbClr val="17212D"/>
                          </a:solidFill>
                          <a:latin typeface="맑은 고딕"/>
                          <a:ea typeface="맑은 고딕"/>
                          <a:cs typeface="맑은 고딕"/>
                        </a:rPr>
                        <a:t>현역·졸업생</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dirty="0" err="1">
                          <a:solidFill>
                            <a:srgbClr val="17212D"/>
                          </a:solidFill>
                          <a:latin typeface="맑은 고딕"/>
                          <a:ea typeface="맑은 고딕"/>
                          <a:cs typeface="맑은 고딕"/>
                        </a:rPr>
                        <a:t>현역은</a:t>
                      </a:r>
                      <a:r>
                        <a:rPr sz="1500" b="0" dirty="0">
                          <a:solidFill>
                            <a:srgbClr val="17212D"/>
                          </a:solidFill>
                          <a:latin typeface="맑은 고딕"/>
                          <a:ea typeface="맑은 고딕"/>
                          <a:cs typeface="맑은 고딕"/>
                        </a:rPr>
                        <a:t> </a:t>
                      </a:r>
                      <a:r>
                        <a:rPr sz="1500" b="0" dirty="0" err="1">
                          <a:solidFill>
                            <a:srgbClr val="17212D"/>
                          </a:solidFill>
                          <a:latin typeface="맑은 고딕"/>
                          <a:ea typeface="맑은 고딕"/>
                          <a:cs typeface="맑은 고딕"/>
                        </a:rPr>
                        <a:t>해당</a:t>
                      </a:r>
                      <a:r>
                        <a:rPr sz="1500" b="0" dirty="0">
                          <a:solidFill>
                            <a:srgbClr val="17212D"/>
                          </a:solidFill>
                          <a:latin typeface="맑은 고딕"/>
                          <a:ea typeface="맑은 고딕"/>
                          <a:cs typeface="맑은 고딕"/>
                        </a:rPr>
                        <a:t> </a:t>
                      </a:r>
                      <a:r>
                        <a:rPr sz="1500" b="0" dirty="0" err="1">
                          <a:solidFill>
                            <a:srgbClr val="17212D"/>
                          </a:solidFill>
                          <a:latin typeface="맑은 고딕"/>
                          <a:ea typeface="맑은 고딕"/>
                          <a:cs typeface="맑은 고딕"/>
                        </a:rPr>
                        <a:t>학년도</a:t>
                      </a:r>
                      <a:r>
                        <a:rPr sz="1500" b="0" dirty="0">
                          <a:solidFill>
                            <a:srgbClr val="17212D"/>
                          </a:solidFill>
                          <a:latin typeface="맑은 고딕"/>
                          <a:ea typeface="맑은 고딕"/>
                          <a:cs typeface="맑은 고딕"/>
                        </a:rPr>
                        <a:t> </a:t>
                      </a:r>
                      <a:r>
                        <a:rPr sz="1500" b="0" dirty="0" err="1">
                          <a:solidFill>
                            <a:srgbClr val="17212D"/>
                          </a:solidFill>
                          <a:latin typeface="맑은 고딕"/>
                          <a:ea typeface="맑은 고딕"/>
                          <a:cs typeface="맑은 고딕"/>
                        </a:rPr>
                        <a:t>고교</a:t>
                      </a:r>
                      <a:r>
                        <a:rPr sz="1500" b="0" dirty="0">
                          <a:solidFill>
                            <a:srgbClr val="17212D"/>
                          </a:solidFill>
                          <a:latin typeface="맑은 고딕"/>
                          <a:ea typeface="맑은 고딕"/>
                          <a:cs typeface="맑은 고딕"/>
                        </a:rPr>
                        <a:t> </a:t>
                      </a:r>
                      <a:r>
                        <a:rPr sz="1500" b="0" dirty="0" err="1">
                          <a:solidFill>
                            <a:srgbClr val="17212D"/>
                          </a:solidFill>
                          <a:latin typeface="맑은 고딕"/>
                          <a:ea typeface="맑은 고딕"/>
                          <a:cs typeface="맑은 고딕"/>
                        </a:rPr>
                        <a:t>졸업예정자</a:t>
                      </a:r>
                      <a:r>
                        <a:rPr sz="1500" b="0" dirty="0">
                          <a:solidFill>
                            <a:srgbClr val="17212D"/>
                          </a:solidFill>
                          <a:latin typeface="맑은 고딕"/>
                          <a:ea typeface="맑은 고딕"/>
                          <a:cs typeface="맑은 고딕"/>
                        </a:rPr>
                        <a:t>, </a:t>
                      </a:r>
                      <a:r>
                        <a:rPr sz="1500" b="0" dirty="0" err="1">
                          <a:solidFill>
                            <a:srgbClr val="17212D"/>
                          </a:solidFill>
                          <a:latin typeface="맑은 고딕"/>
                          <a:ea typeface="맑은 고딕"/>
                          <a:cs typeface="맑은 고딕"/>
                        </a:rPr>
                        <a:t>졸업생은</a:t>
                      </a:r>
                      <a:r>
                        <a:rPr sz="1500" b="0" dirty="0">
                          <a:solidFill>
                            <a:srgbClr val="17212D"/>
                          </a:solidFill>
                          <a:latin typeface="맑은 고딕"/>
                          <a:ea typeface="맑은 고딕"/>
                          <a:cs typeface="맑은 고딕"/>
                        </a:rPr>
                        <a:t> </a:t>
                      </a:r>
                      <a:r>
                        <a:rPr sz="1500" b="0" dirty="0" err="1">
                          <a:solidFill>
                            <a:srgbClr val="17212D"/>
                          </a:solidFill>
                          <a:latin typeface="맑은 고딕"/>
                          <a:ea typeface="맑은 고딕"/>
                          <a:cs typeface="맑은 고딕"/>
                        </a:rPr>
                        <a:t>기졸업자</a:t>
                      </a:r>
                      <a:endParaRPr sz="1500" b="0" dirty="0">
                        <a:solidFill>
                          <a:srgbClr val="17212D"/>
                        </a:solidFill>
                        <a:latin typeface="맑은 고딕"/>
                        <a:ea typeface="맑은 고딕"/>
                        <a:cs typeface="맑은 고딕"/>
                      </a:endParaRP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7" name="직사각형 6">
            <a:extLst>
              <a:ext uri="{FF2B5EF4-FFF2-40B4-BE49-F238E27FC236}">
                <a16:creationId xmlns:a16="http://schemas.microsoft.com/office/drawing/2014/main" id="{6BDA7620-2CC4-4E01-826B-CFCAA44C2F75}"/>
              </a:ext>
            </a:extLst>
          </p:cNvPr>
          <p:cNvSpPr>
            <a:spLocks noGrp="1"/>
          </p:cNvSpPr>
          <p:nvPr/>
        </p:nvSpPr>
        <p:spPr>
          <a:xfrm>
            <a:off x="381000" y="7202805"/>
            <a:ext cx="10668000" cy="257175"/>
          </a:xfrm>
          <a:prstGeom prst="rect">
            <a:avLst/>
          </a:prstGeom>
          <a:noFill/>
          <a:ln w="0">
            <a:noFill/>
          </a:ln>
        </p:spPr>
        <p:txBody>
          <a:bodyPr lIns="0" tIns="0" rIns="0" bIns="0" anchor="t"/>
          <a:lstStyle>
            <a:defPPr>
              <a:defRPr sz="1125" b="0">
                <a:solidFill>
                  <a:srgbClr val="535D69"/>
                </a:solidFill>
                <a:latin typeface="맑은 고딕"/>
                <a:ea typeface="맑은 고딕"/>
                <a:cs typeface="맑은 고딕"/>
              </a:defRPr>
            </a:defPPr>
            <a:lvl1pPr>
              <a:defRPr sz="1125" b="0">
                <a:solidFill>
                  <a:srgbClr val="535D69"/>
                </a:solidFill>
                <a:latin typeface="맑은 고딕"/>
                <a:ea typeface="맑은 고딕"/>
                <a:cs typeface="맑은 고딕"/>
              </a:defRPr>
            </a:lvl1pPr>
            <a:lvl2pPr>
              <a:defRPr sz="1125" b="0">
                <a:solidFill>
                  <a:srgbClr val="535D69"/>
                </a:solidFill>
                <a:latin typeface="맑은 고딕"/>
                <a:ea typeface="맑은 고딕"/>
                <a:cs typeface="맑은 고딕"/>
              </a:defRPr>
            </a:lvl2pPr>
            <a:lvl3pPr>
              <a:defRPr sz="1125" b="0">
                <a:solidFill>
                  <a:srgbClr val="535D69"/>
                </a:solidFill>
                <a:latin typeface="맑은 고딕"/>
                <a:ea typeface="맑은 고딕"/>
                <a:cs typeface="맑은 고딕"/>
              </a:defRPr>
            </a:lvl3pPr>
            <a:lvl4pPr>
              <a:defRPr sz="1125" b="0">
                <a:solidFill>
                  <a:srgbClr val="535D69"/>
                </a:solidFill>
                <a:latin typeface="맑은 고딕"/>
                <a:ea typeface="맑은 고딕"/>
                <a:cs typeface="맑은 고딕"/>
              </a:defRPr>
            </a:lvl4pPr>
            <a:lvl5pPr>
              <a:defRPr sz="1125" b="0">
                <a:solidFill>
                  <a:srgbClr val="535D69"/>
                </a:solidFill>
                <a:latin typeface="맑은 고딕"/>
                <a:ea typeface="맑은 고딕"/>
                <a:cs typeface="맑은 고딕"/>
              </a:defRPr>
            </a:lvl5pPr>
            <a:lvl6pPr>
              <a:defRPr sz="1125" b="0">
                <a:solidFill>
                  <a:srgbClr val="535D69"/>
                </a:solidFill>
                <a:latin typeface="맑은 고딕"/>
                <a:ea typeface="맑은 고딕"/>
                <a:cs typeface="맑은 고딕"/>
              </a:defRPr>
            </a:lvl6pPr>
            <a:lvl7pPr>
              <a:defRPr sz="1125" b="0">
                <a:solidFill>
                  <a:srgbClr val="535D69"/>
                </a:solidFill>
                <a:latin typeface="맑은 고딕"/>
                <a:ea typeface="맑은 고딕"/>
                <a:cs typeface="맑은 고딕"/>
              </a:defRPr>
            </a:lvl7pPr>
            <a:lvl8pPr>
              <a:defRPr sz="1125" b="0">
                <a:solidFill>
                  <a:srgbClr val="535D69"/>
                </a:solidFill>
                <a:latin typeface="맑은 고딕"/>
                <a:ea typeface="맑은 고딕"/>
                <a:cs typeface="맑은 고딕"/>
              </a:defRPr>
            </a:lvl8pPr>
            <a:lvl9pPr>
              <a:defRPr sz="1125" b="0">
                <a:solidFill>
                  <a:srgbClr val="535D69"/>
                </a:solidFill>
                <a:latin typeface="맑은 고딕"/>
                <a:ea typeface="맑은 고딕"/>
                <a:cs typeface="맑은 고딕"/>
              </a:defRPr>
            </a:lvl9pPr>
          </a:lstStyle>
          <a:p>
            <a:pPr>
              <a:defRPr sz="1125" b="0">
                <a:solidFill>
                  <a:srgbClr val="535D69"/>
                </a:solidFill>
                <a:latin typeface="맑은 고딕"/>
                <a:ea typeface="맑은 고딕"/>
                <a:cs typeface="맑은 고딕"/>
              </a:defRPr>
            </a:pPr>
            <a:r>
              <a:rPr sz="1125" b="0">
                <a:solidFill>
                  <a:srgbClr val="535D69"/>
                </a:solidFill>
                <a:latin typeface="맑은 고딕"/>
                <a:ea typeface="맑은 고딕"/>
                <a:cs typeface="맑은 고딕"/>
              </a:rPr>
              <a:t>주력 구조 수는 대학 전체의 공식 정시 전형 총개수가 아님. 숙명여대는 동일 전형 안에서 모집군별 방법이 다름.</a:t>
            </a:r>
          </a:p>
        </p:txBody>
      </p:sp>
      <p:sp>
        <p:nvSpPr>
          <p:cNvPr id="8" name="직사각형 7">
            <a:extLst>
              <a:ext uri="{FF2B5EF4-FFF2-40B4-BE49-F238E27FC236}">
                <a16:creationId xmlns:a16="http://schemas.microsoft.com/office/drawing/2014/main" id="{C8C89542-9948-4BE7-A5FF-25255822B69A}"/>
              </a:ext>
            </a:extLst>
          </p:cNvPr>
          <p:cNvSpPr>
            <a:spLocks noGrp="1"/>
          </p:cNvSpPr>
          <p:nvPr/>
        </p:nvSpPr>
        <p:spPr>
          <a:xfrm>
            <a:off x="381000" y="9572625"/>
            <a:ext cx="10096500" cy="361950"/>
          </a:xfrm>
          <a:prstGeom prst="rect">
            <a:avLst/>
          </a:prstGeom>
          <a:noFill/>
          <a:ln w="0">
            <a:noFill/>
          </a:ln>
        </p:spPr>
        <p:txBody>
          <a:bodyPr lIns="0" tIns="0" rIns="0" bIns="0" anchor="t"/>
          <a:lstStyle>
            <a:defPPr>
              <a:defRPr sz="900" b="0">
                <a:solidFill>
                  <a:srgbClr val="666666"/>
                </a:solidFill>
                <a:latin typeface="맑은 고딕"/>
                <a:ea typeface="맑은 고딕"/>
                <a:cs typeface="맑은 고딕"/>
              </a:defRPr>
            </a:defPPr>
            <a:lvl1pPr>
              <a:defRPr sz="900" b="0">
                <a:solidFill>
                  <a:srgbClr val="666666"/>
                </a:solidFill>
                <a:latin typeface="맑은 고딕"/>
                <a:ea typeface="맑은 고딕"/>
                <a:cs typeface="맑은 고딕"/>
              </a:defRPr>
            </a:lvl1pPr>
            <a:lvl2pPr>
              <a:defRPr sz="900" b="0">
                <a:solidFill>
                  <a:srgbClr val="666666"/>
                </a:solidFill>
                <a:latin typeface="맑은 고딕"/>
                <a:ea typeface="맑은 고딕"/>
                <a:cs typeface="맑은 고딕"/>
              </a:defRPr>
            </a:lvl2pPr>
            <a:lvl3pPr>
              <a:defRPr sz="900" b="0">
                <a:solidFill>
                  <a:srgbClr val="666666"/>
                </a:solidFill>
                <a:latin typeface="맑은 고딕"/>
                <a:ea typeface="맑은 고딕"/>
                <a:cs typeface="맑은 고딕"/>
              </a:defRPr>
            </a:lvl3pPr>
            <a:lvl4pPr>
              <a:defRPr sz="900" b="0">
                <a:solidFill>
                  <a:srgbClr val="666666"/>
                </a:solidFill>
                <a:latin typeface="맑은 고딕"/>
                <a:ea typeface="맑은 고딕"/>
                <a:cs typeface="맑은 고딕"/>
              </a:defRPr>
            </a:lvl4pPr>
            <a:lvl5pPr>
              <a:defRPr sz="900" b="0">
                <a:solidFill>
                  <a:srgbClr val="666666"/>
                </a:solidFill>
                <a:latin typeface="맑은 고딕"/>
                <a:ea typeface="맑은 고딕"/>
                <a:cs typeface="맑은 고딕"/>
              </a:defRPr>
            </a:lvl5pPr>
            <a:lvl6pPr>
              <a:defRPr sz="900" b="0">
                <a:solidFill>
                  <a:srgbClr val="666666"/>
                </a:solidFill>
                <a:latin typeface="맑은 고딕"/>
                <a:ea typeface="맑은 고딕"/>
                <a:cs typeface="맑은 고딕"/>
              </a:defRPr>
            </a:lvl6pPr>
            <a:lvl7pPr>
              <a:defRPr sz="900" b="0">
                <a:solidFill>
                  <a:srgbClr val="666666"/>
                </a:solidFill>
                <a:latin typeface="맑은 고딕"/>
                <a:ea typeface="맑은 고딕"/>
                <a:cs typeface="맑은 고딕"/>
              </a:defRPr>
            </a:lvl7pPr>
            <a:lvl8pPr>
              <a:defRPr sz="900" b="0">
                <a:solidFill>
                  <a:srgbClr val="666666"/>
                </a:solidFill>
                <a:latin typeface="맑은 고딕"/>
                <a:ea typeface="맑은 고딕"/>
                <a:cs typeface="맑은 고딕"/>
              </a:defRPr>
            </a:lvl8pPr>
            <a:lvl9pPr>
              <a:defRPr sz="900" b="0">
                <a:solidFill>
                  <a:srgbClr val="666666"/>
                </a:solidFill>
                <a:latin typeface="맑은 고딕"/>
                <a:ea typeface="맑은 고딕"/>
                <a:cs typeface="맑은 고딕"/>
              </a:defRPr>
            </a:lvl9pPr>
          </a:lstStyle>
          <a:p>
            <a:pPr>
              <a:defRPr sz="900" b="0">
                <a:solidFill>
                  <a:srgbClr val="666666"/>
                </a:solidFill>
                <a:latin typeface="맑은 고딕"/>
                <a:ea typeface="맑은 고딕"/>
                <a:cs typeface="맑은 고딕"/>
              </a:defRPr>
            </a:pPr>
            <a:r>
              <a:rPr sz="900" b="0">
                <a:solidFill>
                  <a:srgbClr val="666666"/>
                </a:solidFill>
                <a:latin typeface="맑은 고딕"/>
                <a:ea typeface="맑은 고딕"/>
                <a:cs typeface="맑은 고딕"/>
              </a:rPr>
              <a:t>근거  SEN 183·204·211·257쪽 / 인천 18~20쪽 / 첨부 엑셀 00_기준·01_군별합계·02_전형상세 / 각 대학 2028 시행계획</a:t>
            </a:r>
          </a:p>
        </p:txBody>
      </p:sp>
      <p:sp>
        <p:nvSpPr>
          <p:cNvPr id="9" name="직사각형 8">
            <a:extLst>
              <a:ext uri="{FF2B5EF4-FFF2-40B4-BE49-F238E27FC236}">
                <a16:creationId xmlns:a16="http://schemas.microsoft.com/office/drawing/2014/main" id="{6C1C7364-62A7-4881-BD08-8FF28A820E4C}"/>
              </a:ext>
            </a:extLst>
          </p:cNvPr>
          <p:cNvSpPr>
            <a:spLocks noGrp="1"/>
          </p:cNvSpPr>
          <p:nvPr/>
        </p:nvSpPr>
        <p:spPr>
          <a:xfrm>
            <a:off x="10715625" y="9572625"/>
            <a:ext cx="333375" cy="228600"/>
          </a:xfrm>
          <a:prstGeom prst="rect">
            <a:avLst/>
          </a:prstGeom>
          <a:noFill/>
          <a:ln w="0">
            <a:noFill/>
          </a:ln>
        </p:spPr>
        <p:txBody>
          <a:bodyPr lIns="0" tIns="0" rIns="0" bIns="0" anchor="t"/>
          <a:lstStyle>
            <a:defPPr>
              <a:defRPr sz="1050" b="0">
                <a:solidFill>
                  <a:srgbClr val="002060"/>
                </a:solidFill>
                <a:latin typeface="맑은 고딕"/>
                <a:ea typeface="맑은 고딕"/>
                <a:cs typeface="맑은 고딕"/>
              </a:defRPr>
            </a:defPPr>
            <a:lvl1pPr>
              <a:defRPr sz="1050" b="0">
                <a:solidFill>
                  <a:srgbClr val="002060"/>
                </a:solidFill>
                <a:latin typeface="맑은 고딕"/>
                <a:ea typeface="맑은 고딕"/>
                <a:cs typeface="맑은 고딕"/>
              </a:defRPr>
            </a:lvl1pPr>
            <a:lvl2pPr>
              <a:defRPr sz="1050" b="0">
                <a:solidFill>
                  <a:srgbClr val="002060"/>
                </a:solidFill>
                <a:latin typeface="맑은 고딕"/>
                <a:ea typeface="맑은 고딕"/>
                <a:cs typeface="맑은 고딕"/>
              </a:defRPr>
            </a:lvl2pPr>
            <a:lvl3pPr>
              <a:defRPr sz="1050" b="0">
                <a:solidFill>
                  <a:srgbClr val="002060"/>
                </a:solidFill>
                <a:latin typeface="맑은 고딕"/>
                <a:ea typeface="맑은 고딕"/>
                <a:cs typeface="맑은 고딕"/>
              </a:defRPr>
            </a:lvl3pPr>
            <a:lvl4pPr>
              <a:defRPr sz="1050" b="0">
                <a:solidFill>
                  <a:srgbClr val="002060"/>
                </a:solidFill>
                <a:latin typeface="맑은 고딕"/>
                <a:ea typeface="맑은 고딕"/>
                <a:cs typeface="맑은 고딕"/>
              </a:defRPr>
            </a:lvl4pPr>
            <a:lvl5pPr>
              <a:defRPr sz="1050" b="0">
                <a:solidFill>
                  <a:srgbClr val="002060"/>
                </a:solidFill>
                <a:latin typeface="맑은 고딕"/>
                <a:ea typeface="맑은 고딕"/>
                <a:cs typeface="맑은 고딕"/>
              </a:defRPr>
            </a:lvl5pPr>
            <a:lvl6pPr>
              <a:defRPr sz="1050" b="0">
                <a:solidFill>
                  <a:srgbClr val="002060"/>
                </a:solidFill>
                <a:latin typeface="맑은 고딕"/>
                <a:ea typeface="맑은 고딕"/>
                <a:cs typeface="맑은 고딕"/>
              </a:defRPr>
            </a:lvl6pPr>
            <a:lvl7pPr>
              <a:defRPr sz="1050" b="0">
                <a:solidFill>
                  <a:srgbClr val="002060"/>
                </a:solidFill>
                <a:latin typeface="맑은 고딕"/>
                <a:ea typeface="맑은 고딕"/>
                <a:cs typeface="맑은 고딕"/>
              </a:defRPr>
            </a:lvl7pPr>
            <a:lvl8pPr>
              <a:defRPr sz="1050" b="0">
                <a:solidFill>
                  <a:srgbClr val="002060"/>
                </a:solidFill>
                <a:latin typeface="맑은 고딕"/>
                <a:ea typeface="맑은 고딕"/>
                <a:cs typeface="맑은 고딕"/>
              </a:defRPr>
            </a:lvl8pPr>
            <a:lvl9pPr>
              <a:defRPr sz="1050" b="0">
                <a:solidFill>
                  <a:srgbClr val="002060"/>
                </a:solidFill>
                <a:latin typeface="맑은 고딕"/>
                <a:ea typeface="맑은 고딕"/>
                <a:cs typeface="맑은 고딕"/>
              </a:defRPr>
            </a:lvl9pPr>
          </a:lstStyle>
          <a:p>
            <a:pPr>
              <a:defRPr sz="1050" b="0">
                <a:solidFill>
                  <a:srgbClr val="002060"/>
                </a:solidFill>
                <a:latin typeface="맑은 고딕"/>
                <a:ea typeface="맑은 고딕"/>
                <a:cs typeface="맑은 고딕"/>
              </a:defRPr>
            </a:pPr>
            <a:r>
              <a:rPr sz="1050" b="0">
                <a:solidFill>
                  <a:srgbClr val="002060"/>
                </a:solidFill>
                <a:latin typeface="맑은 고딕"/>
                <a:ea typeface="맑은 고딕"/>
                <a:cs typeface="맑은 고딕"/>
              </a:rPr>
              <a:t>01</a:t>
            </a:r>
          </a:p>
        </p:txBody>
      </p:sp>
    </p:spTree>
    <p:extLst>
      <p:ext uri="{BB962C8B-B14F-4D97-AF65-F5344CB8AC3E}">
        <p14:creationId xmlns:p14="http://schemas.microsoft.com/office/powerpoint/2010/main" val="6756105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44A60B4D-8F78-463C-97C6-ED0A86232B45}"/>
              </a:ext>
            </a:extLst>
          </p:cNvPr>
          <p:cNvSpPr>
            <a:spLocks noGrp="1"/>
          </p:cNvSpPr>
          <p:nvPr/>
        </p:nvSpPr>
        <p:spPr>
          <a:xfrm>
            <a:off x="381000" y="228600"/>
            <a:ext cx="9525000" cy="238125"/>
          </a:xfrm>
          <a:prstGeom prst="rect">
            <a:avLst/>
          </a:prstGeom>
          <a:noFill/>
          <a:ln w="0">
            <a:noFill/>
          </a:ln>
        </p:spPr>
        <p:txBody>
          <a:bodyPr lIns="0" tIns="0" rIns="0" bIns="0" anchor="t"/>
          <a:lstStyle>
            <a:defPPr>
              <a:defRPr sz="1200" b="1">
                <a:solidFill>
                  <a:srgbClr val="002060"/>
                </a:solidFill>
                <a:latin typeface="맑은 고딕"/>
                <a:ea typeface="맑은 고딕"/>
                <a:cs typeface="맑은 고딕"/>
              </a:defRPr>
            </a:defPPr>
            <a:lvl1pPr>
              <a:defRPr sz="1200" b="1">
                <a:solidFill>
                  <a:srgbClr val="002060"/>
                </a:solidFill>
                <a:latin typeface="맑은 고딕"/>
                <a:ea typeface="맑은 고딕"/>
                <a:cs typeface="맑은 고딕"/>
              </a:defRPr>
            </a:lvl1pPr>
            <a:lvl2pPr>
              <a:defRPr sz="1200" b="1">
                <a:solidFill>
                  <a:srgbClr val="002060"/>
                </a:solidFill>
                <a:latin typeface="맑은 고딕"/>
                <a:ea typeface="맑은 고딕"/>
                <a:cs typeface="맑은 고딕"/>
              </a:defRPr>
            </a:lvl2pPr>
            <a:lvl3pPr>
              <a:defRPr sz="1200" b="1">
                <a:solidFill>
                  <a:srgbClr val="002060"/>
                </a:solidFill>
                <a:latin typeface="맑은 고딕"/>
                <a:ea typeface="맑은 고딕"/>
                <a:cs typeface="맑은 고딕"/>
              </a:defRPr>
            </a:lvl3pPr>
            <a:lvl4pPr>
              <a:defRPr sz="1200" b="1">
                <a:solidFill>
                  <a:srgbClr val="002060"/>
                </a:solidFill>
                <a:latin typeface="맑은 고딕"/>
                <a:ea typeface="맑은 고딕"/>
                <a:cs typeface="맑은 고딕"/>
              </a:defRPr>
            </a:lvl4pPr>
            <a:lvl5pPr>
              <a:defRPr sz="1200" b="1">
                <a:solidFill>
                  <a:srgbClr val="002060"/>
                </a:solidFill>
                <a:latin typeface="맑은 고딕"/>
                <a:ea typeface="맑은 고딕"/>
                <a:cs typeface="맑은 고딕"/>
              </a:defRPr>
            </a:lvl5pPr>
            <a:lvl6pPr>
              <a:defRPr sz="1200" b="1">
                <a:solidFill>
                  <a:srgbClr val="002060"/>
                </a:solidFill>
                <a:latin typeface="맑은 고딕"/>
                <a:ea typeface="맑은 고딕"/>
                <a:cs typeface="맑은 고딕"/>
              </a:defRPr>
            </a:lvl6pPr>
            <a:lvl7pPr>
              <a:defRPr sz="1200" b="1">
                <a:solidFill>
                  <a:srgbClr val="002060"/>
                </a:solidFill>
                <a:latin typeface="맑은 고딕"/>
                <a:ea typeface="맑은 고딕"/>
                <a:cs typeface="맑은 고딕"/>
              </a:defRPr>
            </a:lvl7pPr>
            <a:lvl8pPr>
              <a:defRPr sz="1200" b="1">
                <a:solidFill>
                  <a:srgbClr val="002060"/>
                </a:solidFill>
                <a:latin typeface="맑은 고딕"/>
                <a:ea typeface="맑은 고딕"/>
                <a:cs typeface="맑은 고딕"/>
              </a:defRPr>
            </a:lvl8pPr>
            <a:lvl9pPr>
              <a:defRPr sz="1200" b="1">
                <a:solidFill>
                  <a:srgbClr val="002060"/>
                </a:solidFill>
                <a:latin typeface="맑은 고딕"/>
                <a:ea typeface="맑은 고딕"/>
                <a:cs typeface="맑은 고딕"/>
              </a:defRPr>
            </a:lvl9pPr>
          </a:lstStyle>
          <a:p>
            <a:pPr>
              <a:defRPr sz="1200" b="1">
                <a:solidFill>
                  <a:srgbClr val="002060"/>
                </a:solidFill>
                <a:latin typeface="맑은 고딕"/>
                <a:ea typeface="맑은 고딕"/>
                <a:cs typeface="맑은 고딕"/>
              </a:defRPr>
            </a:pPr>
            <a:r>
              <a:rPr sz="1200" b="1">
                <a:solidFill>
                  <a:srgbClr val="002060"/>
                </a:solidFill>
                <a:latin typeface="맑은 고딕"/>
                <a:ea typeface="맑은 고딕"/>
                <a:cs typeface="맑은 고딕"/>
              </a:rPr>
              <a:t>2028 정시  대학별 전형 비교</a:t>
            </a:r>
          </a:p>
        </p:txBody>
      </p:sp>
      <p:sp>
        <p:nvSpPr>
          <p:cNvPr id="2" name="직사각형 1">
            <a:extLst>
              <a:ext uri="{FF2B5EF4-FFF2-40B4-BE49-F238E27FC236}">
                <a16:creationId xmlns:a16="http://schemas.microsoft.com/office/drawing/2014/main" id="{FF5EA614-CEEB-403B-92B9-6B318A6CE166}"/>
              </a:ext>
            </a:extLst>
          </p:cNvPr>
          <p:cNvSpPr>
            <a:spLocks noGrp="1"/>
          </p:cNvSpPr>
          <p:nvPr/>
        </p:nvSpPr>
        <p:spPr>
          <a:xfrm>
            <a:off x="381000" y="619125"/>
            <a:ext cx="10668000" cy="533400"/>
          </a:xfrm>
          <a:prstGeom prst="rect">
            <a:avLst/>
          </a:prstGeom>
          <a:noFill/>
          <a:ln w="0">
            <a:noFill/>
          </a:ln>
        </p:spPr>
        <p:txBody>
          <a:bodyPr lIns="0" tIns="0" rIns="0" bIns="0" anchor="t"/>
          <a:lstStyle>
            <a:defPPr>
              <a:defRPr sz="2400" b="1">
                <a:solidFill>
                  <a:srgbClr val="002060"/>
                </a:solidFill>
                <a:latin typeface="맑은 고딕"/>
                <a:ea typeface="맑은 고딕"/>
                <a:cs typeface="맑은 고딕"/>
              </a:defRPr>
            </a:defPPr>
            <a:lvl1pPr>
              <a:defRPr sz="2400" b="1">
                <a:solidFill>
                  <a:srgbClr val="002060"/>
                </a:solidFill>
                <a:latin typeface="맑은 고딕"/>
                <a:ea typeface="맑은 고딕"/>
                <a:cs typeface="맑은 고딕"/>
              </a:defRPr>
            </a:lvl1pPr>
            <a:lvl2pPr>
              <a:defRPr sz="2400" b="1">
                <a:solidFill>
                  <a:srgbClr val="002060"/>
                </a:solidFill>
                <a:latin typeface="맑은 고딕"/>
                <a:ea typeface="맑은 고딕"/>
                <a:cs typeface="맑은 고딕"/>
              </a:defRPr>
            </a:lvl2pPr>
            <a:lvl3pPr>
              <a:defRPr sz="2400" b="1">
                <a:solidFill>
                  <a:srgbClr val="002060"/>
                </a:solidFill>
                <a:latin typeface="맑은 고딕"/>
                <a:ea typeface="맑은 고딕"/>
                <a:cs typeface="맑은 고딕"/>
              </a:defRPr>
            </a:lvl3pPr>
            <a:lvl4pPr>
              <a:defRPr sz="2400" b="1">
                <a:solidFill>
                  <a:srgbClr val="002060"/>
                </a:solidFill>
                <a:latin typeface="맑은 고딕"/>
                <a:ea typeface="맑은 고딕"/>
                <a:cs typeface="맑은 고딕"/>
              </a:defRPr>
            </a:lvl4pPr>
            <a:lvl5pPr>
              <a:defRPr sz="2400" b="1">
                <a:solidFill>
                  <a:srgbClr val="002060"/>
                </a:solidFill>
                <a:latin typeface="맑은 고딕"/>
                <a:ea typeface="맑은 고딕"/>
                <a:cs typeface="맑은 고딕"/>
              </a:defRPr>
            </a:lvl5pPr>
            <a:lvl6pPr>
              <a:defRPr sz="2400" b="1">
                <a:solidFill>
                  <a:srgbClr val="002060"/>
                </a:solidFill>
                <a:latin typeface="맑은 고딕"/>
                <a:ea typeface="맑은 고딕"/>
                <a:cs typeface="맑은 고딕"/>
              </a:defRPr>
            </a:lvl6pPr>
            <a:lvl7pPr>
              <a:defRPr sz="2400" b="1">
                <a:solidFill>
                  <a:srgbClr val="002060"/>
                </a:solidFill>
                <a:latin typeface="맑은 고딕"/>
                <a:ea typeface="맑은 고딕"/>
                <a:cs typeface="맑은 고딕"/>
              </a:defRPr>
            </a:lvl7pPr>
            <a:lvl8pPr>
              <a:defRPr sz="2400" b="1">
                <a:solidFill>
                  <a:srgbClr val="002060"/>
                </a:solidFill>
                <a:latin typeface="맑은 고딕"/>
                <a:ea typeface="맑은 고딕"/>
                <a:cs typeface="맑은 고딕"/>
              </a:defRPr>
            </a:lvl8pPr>
            <a:lvl9pPr>
              <a:defRPr sz="2400" b="1">
                <a:solidFill>
                  <a:srgbClr val="002060"/>
                </a:solidFill>
                <a:latin typeface="맑은 고딕"/>
                <a:ea typeface="맑은 고딕"/>
                <a:cs typeface="맑은 고딕"/>
              </a:defRPr>
            </a:lvl9pPr>
          </a:lstStyle>
          <a:p>
            <a:pPr>
              <a:defRPr sz="2400" b="1">
                <a:solidFill>
                  <a:srgbClr val="002060"/>
                </a:solidFill>
                <a:latin typeface="맑은 고딕"/>
                <a:ea typeface="맑은 고딕"/>
                <a:cs typeface="맑은 고딕"/>
              </a:defRPr>
            </a:pPr>
            <a:r>
              <a:rPr sz="2400" b="1">
                <a:solidFill>
                  <a:srgbClr val="002060"/>
                </a:solidFill>
                <a:latin typeface="맑은 고딕"/>
                <a:ea typeface="맑은 고딕"/>
                <a:cs typeface="맑은 고딕"/>
              </a:rPr>
              <a:t>수도권 주요 대학 전형·지원자격  서울 ①</a:t>
            </a:r>
          </a:p>
        </p:txBody>
      </p:sp>
      <p:graphicFrame>
        <p:nvGraphicFramePr>
          <p:cNvPr id="3" name="표 2">
            <a:extLst>
              <a:ext uri="{FF2B5EF4-FFF2-40B4-BE49-F238E27FC236}">
                <a16:creationId xmlns:a16="http://schemas.microsoft.com/office/drawing/2014/main" id="{591B941B-28CC-40B6-B6CD-F9E615628500}"/>
              </a:ext>
            </a:extLst>
          </p:cNvPr>
          <p:cNvGraphicFramePr/>
          <p:nvPr/>
        </p:nvGraphicFramePr>
        <p:xfrm>
          <a:off x="381000" y="1381125"/>
          <a:ext cx="10668000" cy="7304151"/>
        </p:xfrm>
        <a:graphic>
          <a:graphicData uri="http://schemas.openxmlformats.org/drawingml/2006/table">
            <a:tbl>
              <a:tblPr/>
              <a:tblGrid>
                <a:gridCol w="1762125">
                  <a:extLst>
                    <a:ext uri="{9D8B030D-6E8A-4147-A177-3AD203B41FA5}">
                      <a16:colId xmlns:a16="http://schemas.microsoft.com/office/drawing/2014/main" val="20000"/>
                    </a:ext>
                  </a:extLst>
                </a:gridCol>
                <a:gridCol w="809625">
                  <a:extLst>
                    <a:ext uri="{9D8B030D-6E8A-4147-A177-3AD203B41FA5}">
                      <a16:colId xmlns:a16="http://schemas.microsoft.com/office/drawing/2014/main" val="20001"/>
                    </a:ext>
                  </a:extLst>
                </a:gridCol>
                <a:gridCol w="2143125">
                  <a:extLst>
                    <a:ext uri="{9D8B030D-6E8A-4147-A177-3AD203B41FA5}">
                      <a16:colId xmlns:a16="http://schemas.microsoft.com/office/drawing/2014/main" val="20002"/>
                    </a:ext>
                  </a:extLst>
                </a:gridCol>
                <a:gridCol w="4048125">
                  <a:extLst>
                    <a:ext uri="{9D8B030D-6E8A-4147-A177-3AD203B41FA5}">
                      <a16:colId xmlns:a16="http://schemas.microsoft.com/office/drawing/2014/main" val="20003"/>
                    </a:ext>
                  </a:extLst>
                </a:gridCol>
                <a:gridCol w="1905000">
                  <a:extLst>
                    <a:ext uri="{9D8B030D-6E8A-4147-A177-3AD203B41FA5}">
                      <a16:colId xmlns:a16="http://schemas.microsoft.com/office/drawing/2014/main" val="20004"/>
                    </a:ext>
                  </a:extLst>
                </a:gridCol>
              </a:tblGrid>
              <a:tr h="400050">
                <a:tc>
                  <a:txBody>
                    <a:bodyPr/>
                    <a:lstStyle/>
                    <a:p>
                      <a:r>
                        <a:rPr sz="1500" b="1">
                          <a:solidFill>
                            <a:srgbClr val="FFFFFF"/>
                          </a:solidFill>
                          <a:latin typeface="맑은 고딕"/>
                          <a:ea typeface="맑은 고딕"/>
                          <a:cs typeface="맑은 고딕"/>
                        </a:rPr>
                        <a:t>대학명</a:t>
                      </a:r>
                    </a:p>
                  </a:txBody>
                  <a:tcPr marL="95250" marR="95250" marT="47625" marB="47625" anchor="ctr">
                    <a:lnL w="5715">
                      <a:solidFill>
                        <a:srgbClr val="C5CFDA"/>
                      </a:solidFill>
                      <a:prstDash val="soli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전형수</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주력 전형유형</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핵심 선발구조조건</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비고</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extLst>
                  <a:ext uri="{0D108BD9-81ED-4DB2-BD59-A6C34878D82A}">
                    <a16:rowId xmlns:a16="http://schemas.microsoft.com/office/drawing/2014/main" val="10000"/>
                  </a:ext>
                </a:extLst>
              </a:tr>
              <a:tr h="749808">
                <a:tc>
                  <a:txBody>
                    <a:bodyPr/>
                    <a:lstStyle/>
                    <a:p>
                      <a:r>
                        <a:rPr sz="1350" b="1">
                          <a:solidFill>
                            <a:srgbClr val="17212D"/>
                          </a:solidFill>
                          <a:latin typeface="맑은 고딕"/>
                          <a:ea typeface="맑은 고딕"/>
                          <a:cs typeface="맑은 고딕"/>
                        </a:rPr>
                        <a:t>건국대(서울)</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1</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KU일반</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일반 인문·자연 수능 100</a:t>
                      </a:r>
                    </a:p>
                    <a:p>
                      <a:r>
                        <a:rPr sz="1350" b="0">
                          <a:solidFill>
                            <a:srgbClr val="17212D"/>
                          </a:solidFill>
                          <a:latin typeface="맑은 고딕"/>
                          <a:ea typeface="맑은 고딕"/>
                          <a:cs typeface="맑은 고딕"/>
                        </a:rPr>
                        <a:t>다군 단과대학 자유전공만 수능 90+교과정성 10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1"/>
                  </a:ext>
                </a:extLst>
              </a:tr>
              <a:tr h="749808">
                <a:tc>
                  <a:txBody>
                    <a:bodyPr/>
                    <a:lstStyle/>
                    <a:p>
                      <a:r>
                        <a:rPr sz="1350" b="1">
                          <a:solidFill>
                            <a:srgbClr val="17212D"/>
                          </a:solidFill>
                          <a:latin typeface="맑은 고딕"/>
                          <a:ea typeface="맑은 고딕"/>
                          <a:cs typeface="맑은 고딕"/>
                        </a:rPr>
                        <a:t>경희대(서울)</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2</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수능·학생부형 / 수능형</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수능·학생부형: 수능 90+교과 5+출결 2.5+봉사 2.5</a:t>
                      </a:r>
                    </a:p>
                    <a:p>
                      <a:r>
                        <a:rPr sz="1350" b="0">
                          <a:solidFill>
                            <a:srgbClr val="17212D"/>
                          </a:solidFill>
                          <a:latin typeface="맑은 고딕"/>
                          <a:ea typeface="맑은 고딕"/>
                          <a:cs typeface="맑은 고딕"/>
                        </a:rPr>
                        <a:t>수능형: 수능 100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1">
                          <a:solidFill>
                            <a:srgbClr val="006B65"/>
                          </a:solidFill>
                          <a:latin typeface="맑은 고딕"/>
                          <a:ea typeface="맑은 고딕"/>
                          <a:cs typeface="맑은 고딕"/>
                        </a:rPr>
                        <a:t>일반: 이원화</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2"/>
                  </a:ext>
                </a:extLst>
              </a:tr>
              <a:tr h="547497">
                <a:tc>
                  <a:txBody>
                    <a:bodyPr/>
                    <a:lstStyle/>
                    <a:p>
                      <a:r>
                        <a:rPr sz="1350" b="1">
                          <a:solidFill>
                            <a:srgbClr val="17212D"/>
                          </a:solidFill>
                          <a:latin typeface="맑은 고딕"/>
                          <a:ea typeface="맑은 고딕"/>
                          <a:cs typeface="맑은 고딕"/>
                        </a:rPr>
                        <a:t>고려대(안암)</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2</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일반 / 교과우수</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일반 수능 100</a:t>
                      </a:r>
                    </a:p>
                    <a:p>
                      <a:r>
                        <a:rPr sz="1350" b="0">
                          <a:solidFill>
                            <a:srgbClr val="17212D"/>
                          </a:solidFill>
                          <a:latin typeface="맑은 고딕"/>
                          <a:ea typeface="맑은 고딕"/>
                          <a:cs typeface="맑은 고딕"/>
                        </a:rPr>
                        <a:t>교과우수 수능 80+교과 20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1">
                          <a:solidFill>
                            <a:srgbClr val="B00000"/>
                          </a:solidFill>
                          <a:latin typeface="맑은 고딕"/>
                          <a:ea typeface="맑은 고딕"/>
                          <a:cs typeface="맑은 고딕"/>
                        </a:rPr>
                        <a:t>교과우수: 현역</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3"/>
                  </a:ext>
                </a:extLst>
              </a:tr>
              <a:tr h="381000">
                <a:tc>
                  <a:txBody>
                    <a:bodyPr/>
                    <a:lstStyle/>
                    <a:p>
                      <a:r>
                        <a:rPr sz="1350" b="1">
                          <a:solidFill>
                            <a:srgbClr val="17212D"/>
                          </a:solidFill>
                          <a:latin typeface="맑은 고딕"/>
                          <a:ea typeface="맑은 고딕"/>
                          <a:cs typeface="맑은 고딕"/>
                        </a:rPr>
                        <a:t>광운대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1</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일반학생</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일반 인문·자연 수능 100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4"/>
                  </a:ext>
                </a:extLst>
              </a:tr>
              <a:tr h="381000">
                <a:tc>
                  <a:txBody>
                    <a:bodyPr/>
                    <a:lstStyle/>
                    <a:p>
                      <a:r>
                        <a:rPr sz="1350" b="1">
                          <a:solidFill>
                            <a:srgbClr val="17212D"/>
                          </a:solidFill>
                          <a:latin typeface="맑은 고딕"/>
                          <a:ea typeface="맑은 고딕"/>
                          <a:cs typeface="맑은 고딕"/>
                        </a:rPr>
                        <a:t>국민대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1</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일반</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일반 인문·자연 수능 100, 탐구 1</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5"/>
                  </a:ext>
                </a:extLst>
              </a:tr>
              <a:tr h="547497">
                <a:tc>
                  <a:txBody>
                    <a:bodyPr/>
                    <a:lstStyle/>
                    <a:p>
                      <a:r>
                        <a:rPr sz="1350" b="1">
                          <a:solidFill>
                            <a:srgbClr val="17212D"/>
                          </a:solidFill>
                          <a:latin typeface="맑은 고딕"/>
                          <a:ea typeface="맑은 고딕"/>
                          <a:cs typeface="맑은 고딕"/>
                        </a:rPr>
                        <a:t>덕성여대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2</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수능우수Ⅰ / 수능우수Ⅱ</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Ⅰ 수능 100 / Ⅱ 수능 90+교과 10</a:t>
                      </a:r>
                    </a:p>
                    <a:p>
                      <a:r>
                        <a:rPr sz="1350" b="0">
                          <a:solidFill>
                            <a:srgbClr val="17212D"/>
                          </a:solidFill>
                          <a:latin typeface="맑은 고딕"/>
                          <a:ea typeface="맑은 고딕"/>
                          <a:cs typeface="맑은 고딕"/>
                        </a:rPr>
                        <a:t>진로선택 이수학점 가산 별도</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6"/>
                  </a:ext>
                </a:extLst>
              </a:tr>
              <a:tr h="381000">
                <a:tc>
                  <a:txBody>
                    <a:bodyPr/>
                    <a:lstStyle/>
                    <a:p>
                      <a:r>
                        <a:rPr sz="1350" b="1">
                          <a:solidFill>
                            <a:srgbClr val="17212D"/>
                          </a:solidFill>
                          <a:latin typeface="맑은 고딕"/>
                          <a:ea typeface="맑은 고딕"/>
                          <a:cs typeface="맑은 고딕"/>
                        </a:rPr>
                        <a:t>동국대(서울)</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1</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일반</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일반 인문·자연 수능 80+학생부평가 20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7"/>
                  </a:ext>
                </a:extLst>
              </a:tr>
              <a:tr h="381000">
                <a:tc>
                  <a:txBody>
                    <a:bodyPr/>
                    <a:lstStyle/>
                    <a:p>
                      <a:r>
                        <a:rPr sz="1350" b="1">
                          <a:solidFill>
                            <a:srgbClr val="17212D"/>
                          </a:solidFill>
                          <a:latin typeface="맑은 고딕"/>
                          <a:ea typeface="맑은 고딕"/>
                          <a:cs typeface="맑은 고딕"/>
                        </a:rPr>
                        <a:t>동덕여대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1</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수능우수자</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인문·자연 수능 100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8"/>
                  </a:ext>
                </a:extLst>
              </a:tr>
              <a:tr h="381000">
                <a:tc>
                  <a:txBody>
                    <a:bodyPr/>
                    <a:lstStyle/>
                    <a:p>
                      <a:r>
                        <a:rPr sz="1350" b="1">
                          <a:solidFill>
                            <a:srgbClr val="17212D"/>
                          </a:solidFill>
                          <a:latin typeface="맑은 고딕"/>
                          <a:ea typeface="맑은 고딕"/>
                          <a:cs typeface="맑은 고딕"/>
                        </a:rPr>
                        <a:t>명지대(인문)</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1</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일반</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수능 90+출결 10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9"/>
                  </a:ext>
                </a:extLst>
              </a:tr>
              <a:tr h="381000">
                <a:tc>
                  <a:txBody>
                    <a:bodyPr/>
                    <a:lstStyle/>
                    <a:p>
                      <a:r>
                        <a:rPr sz="1350" b="1">
                          <a:solidFill>
                            <a:srgbClr val="17212D"/>
                          </a:solidFill>
                          <a:latin typeface="맑은 고딕"/>
                          <a:ea typeface="맑은 고딕"/>
                          <a:cs typeface="맑은 고딕"/>
                        </a:rPr>
                        <a:t>상명대(서울)</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1</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수능</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일반 인문·자연 수능 100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10"/>
                  </a:ext>
                </a:extLst>
              </a:tr>
              <a:tr h="547497">
                <a:tc>
                  <a:txBody>
                    <a:bodyPr/>
                    <a:lstStyle/>
                    <a:p>
                      <a:r>
                        <a:rPr sz="1350" b="1">
                          <a:solidFill>
                            <a:srgbClr val="17212D"/>
                          </a:solidFill>
                          <a:latin typeface="맑은 고딕"/>
                          <a:ea typeface="맑은 고딕"/>
                          <a:cs typeface="맑은 고딕"/>
                        </a:rPr>
                        <a:t>서강대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2</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일반 / 지역균형</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일반 수능 100</a:t>
                      </a:r>
                    </a:p>
                    <a:p>
                      <a:r>
                        <a:rPr sz="1350" b="0">
                          <a:solidFill>
                            <a:srgbClr val="17212D"/>
                          </a:solidFill>
                          <a:latin typeface="맑은 고딕"/>
                          <a:ea typeface="맑은 고딕"/>
                          <a:cs typeface="맑은 고딕"/>
                        </a:rPr>
                        <a:t>지역균형 수능 80+교과 10+출결 10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1">
                          <a:solidFill>
                            <a:srgbClr val="B00000"/>
                          </a:solidFill>
                          <a:latin typeface="맑은 고딕"/>
                          <a:ea typeface="맑은 고딕"/>
                          <a:cs typeface="맑은 고딕"/>
                        </a:rPr>
                        <a:t>지역균형:</a:t>
                      </a:r>
                    </a:p>
                    <a:p>
                      <a:r>
                        <a:rPr sz="1350" b="1">
                          <a:solidFill>
                            <a:srgbClr val="B00000"/>
                          </a:solidFill>
                          <a:latin typeface="맑은 고딕"/>
                          <a:ea typeface="맑은 고딕"/>
                          <a:cs typeface="맑은 고딕"/>
                        </a:rPr>
                        <a:t>현역·추천·신설</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11"/>
                  </a:ext>
                </a:extLst>
              </a:tr>
              <a:tr h="547497">
                <a:tc>
                  <a:txBody>
                    <a:bodyPr/>
                    <a:lstStyle/>
                    <a:p>
                      <a:r>
                        <a:rPr sz="1350" b="1">
                          <a:solidFill>
                            <a:srgbClr val="17212D"/>
                          </a:solidFill>
                          <a:latin typeface="맑은 고딕"/>
                          <a:ea typeface="맑은 고딕"/>
                          <a:cs typeface="맑은 고딕"/>
                        </a:rPr>
                        <a:t>서경대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1</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수능우수자</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수능우수자 모집단위 수능 100</a:t>
                      </a:r>
                    </a:p>
                    <a:p>
                      <a:r>
                        <a:rPr sz="1350" b="0">
                          <a:solidFill>
                            <a:srgbClr val="17212D"/>
                          </a:solidFill>
                          <a:latin typeface="맑은 고딕"/>
                          <a:ea typeface="맑은 고딕"/>
                          <a:cs typeface="맑은 고딕"/>
                        </a:rPr>
                        <a:t>실기·군사 별도</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12"/>
                  </a:ext>
                </a:extLst>
              </a:tr>
              <a:tr h="381000">
                <a:tc>
                  <a:txBody>
                    <a:bodyPr/>
                    <a:lstStyle/>
                    <a:p>
                      <a:r>
                        <a:rPr sz="1350" b="1">
                          <a:solidFill>
                            <a:srgbClr val="17212D"/>
                          </a:solidFill>
                          <a:latin typeface="맑은 고딕"/>
                          <a:ea typeface="맑은 고딕"/>
                          <a:cs typeface="맑은 고딕"/>
                        </a:rPr>
                        <a:t>서울과학기술대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1</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일반</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일반 인문·자연 수능 100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13"/>
                  </a:ext>
                </a:extLst>
              </a:tr>
              <a:tr h="547497">
                <a:tc>
                  <a:txBody>
                    <a:bodyPr/>
                    <a:lstStyle/>
                    <a:p>
                      <a:r>
                        <a:rPr sz="1350" b="1">
                          <a:solidFill>
                            <a:srgbClr val="17212D"/>
                          </a:solidFill>
                          <a:latin typeface="맑은 고딕"/>
                          <a:ea typeface="맑은 고딕"/>
                          <a:cs typeface="맑은 고딕"/>
                        </a:rPr>
                        <a:t>서울대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1</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일반</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일반 대부분: 1단계 수능 100(3배수)</a:t>
                      </a:r>
                    </a:p>
                    <a:p>
                      <a:r>
                        <a:rPr sz="1350" b="0">
                          <a:solidFill>
                            <a:srgbClr val="17212D"/>
                          </a:solidFill>
                          <a:latin typeface="맑은 고딕"/>
                          <a:ea typeface="맑은 고딕"/>
                          <a:cs typeface="맑은 고딕"/>
                        </a:rPr>
                        <a:t>2단계 수능 60+교과역량 40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14"/>
                  </a:ext>
                </a:extLst>
              </a:tr>
            </a:tbl>
          </a:graphicData>
        </a:graphic>
      </p:graphicFrame>
      <p:sp>
        <p:nvSpPr>
          <p:cNvPr id="4" name="직사각형 3">
            <a:extLst>
              <a:ext uri="{FF2B5EF4-FFF2-40B4-BE49-F238E27FC236}">
                <a16:creationId xmlns:a16="http://schemas.microsoft.com/office/drawing/2014/main" id="{577658A2-AD06-4E6A-B5D7-DB2E4AFB164F}"/>
              </a:ext>
            </a:extLst>
          </p:cNvPr>
          <p:cNvSpPr>
            <a:spLocks noGrp="1"/>
          </p:cNvSpPr>
          <p:nvPr/>
        </p:nvSpPr>
        <p:spPr>
          <a:xfrm>
            <a:off x="381000" y="8809101"/>
            <a:ext cx="10668000" cy="438150"/>
          </a:xfrm>
          <a:prstGeom prst="rect">
            <a:avLst/>
          </a:prstGeom>
          <a:noFill/>
          <a:ln w="0">
            <a:noFill/>
          </a:ln>
        </p:spPr>
        <p:txBody>
          <a:bodyPr lIns="0" tIns="0" rIns="0" bIns="0" anchor="t"/>
          <a:lstStyle>
            <a:defPPr>
              <a:defRPr sz="1050" b="0">
                <a:solidFill>
                  <a:srgbClr val="535D69"/>
                </a:solidFill>
                <a:latin typeface="맑은 고딕"/>
                <a:ea typeface="맑은 고딕"/>
                <a:cs typeface="맑은 고딕"/>
              </a:defRPr>
            </a:defPPr>
            <a:lvl1pPr>
              <a:defRPr sz="1050" b="0">
                <a:solidFill>
                  <a:srgbClr val="535D69"/>
                </a:solidFill>
                <a:latin typeface="맑은 고딕"/>
                <a:ea typeface="맑은 고딕"/>
                <a:cs typeface="맑은 고딕"/>
              </a:defRPr>
            </a:lvl1pPr>
            <a:lvl2pPr>
              <a:defRPr sz="1050" b="0">
                <a:solidFill>
                  <a:srgbClr val="535D69"/>
                </a:solidFill>
                <a:latin typeface="맑은 고딕"/>
                <a:ea typeface="맑은 고딕"/>
                <a:cs typeface="맑은 고딕"/>
              </a:defRPr>
            </a:lvl2pPr>
            <a:lvl3pPr>
              <a:defRPr sz="1050" b="0">
                <a:solidFill>
                  <a:srgbClr val="535D69"/>
                </a:solidFill>
                <a:latin typeface="맑은 고딕"/>
                <a:ea typeface="맑은 고딕"/>
                <a:cs typeface="맑은 고딕"/>
              </a:defRPr>
            </a:lvl3pPr>
            <a:lvl4pPr>
              <a:defRPr sz="1050" b="0">
                <a:solidFill>
                  <a:srgbClr val="535D69"/>
                </a:solidFill>
                <a:latin typeface="맑은 고딕"/>
                <a:ea typeface="맑은 고딕"/>
                <a:cs typeface="맑은 고딕"/>
              </a:defRPr>
            </a:lvl4pPr>
            <a:lvl5pPr>
              <a:defRPr sz="1050" b="0">
                <a:solidFill>
                  <a:srgbClr val="535D69"/>
                </a:solidFill>
                <a:latin typeface="맑은 고딕"/>
                <a:ea typeface="맑은 고딕"/>
                <a:cs typeface="맑은 고딕"/>
              </a:defRPr>
            </a:lvl5pPr>
            <a:lvl6pPr>
              <a:defRPr sz="1050" b="0">
                <a:solidFill>
                  <a:srgbClr val="535D69"/>
                </a:solidFill>
                <a:latin typeface="맑은 고딕"/>
                <a:ea typeface="맑은 고딕"/>
                <a:cs typeface="맑은 고딕"/>
              </a:defRPr>
            </a:lvl6pPr>
            <a:lvl7pPr>
              <a:defRPr sz="1050" b="0">
                <a:solidFill>
                  <a:srgbClr val="535D69"/>
                </a:solidFill>
                <a:latin typeface="맑은 고딕"/>
                <a:ea typeface="맑은 고딕"/>
                <a:cs typeface="맑은 고딕"/>
              </a:defRPr>
            </a:lvl7pPr>
            <a:lvl8pPr>
              <a:defRPr sz="1050" b="0">
                <a:solidFill>
                  <a:srgbClr val="535D69"/>
                </a:solidFill>
                <a:latin typeface="맑은 고딕"/>
                <a:ea typeface="맑은 고딕"/>
                <a:cs typeface="맑은 고딕"/>
              </a:defRPr>
            </a:lvl8pPr>
            <a:lvl9pPr>
              <a:defRPr sz="1050" b="0">
                <a:solidFill>
                  <a:srgbClr val="535D69"/>
                </a:solidFill>
                <a:latin typeface="맑은 고딕"/>
                <a:ea typeface="맑은 고딕"/>
                <a:cs typeface="맑은 고딕"/>
              </a:defRPr>
            </a:lvl9pPr>
          </a:lstStyle>
          <a:p>
            <a:pPr>
              <a:defRPr sz="1050" b="0">
                <a:solidFill>
                  <a:srgbClr val="535D69"/>
                </a:solidFill>
                <a:latin typeface="맑은 고딕"/>
                <a:ea typeface="맑은 고딕"/>
                <a:cs typeface="맑은 고딕"/>
              </a:defRPr>
            </a:pPr>
            <a:r>
              <a:rPr sz="1050" b="0">
                <a:solidFill>
                  <a:srgbClr val="535D69"/>
                </a:solidFill>
                <a:latin typeface="맑은 고딕"/>
                <a:ea typeface="맑은 고딕"/>
                <a:cs typeface="맑은 고딕"/>
              </a:rPr>
              <a:t>전형수=표의 주력 유형 수(군 중복 통합, 특별·예체능·군사·계약·이월 제외). 현역=졸업예정자 한정, 추천=학교장 추천.  신설·분리·이원화는 명시된 전형에 적용. —=키워드 표시 없음. 지역은 캠퍼스·본부 기준(성균관대·경기대는 서울·경기 통합). 성별·고교유형 등 세부조건 별도.</a:t>
            </a:r>
          </a:p>
        </p:txBody>
      </p:sp>
      <p:sp>
        <p:nvSpPr>
          <p:cNvPr id="5" name="직사각형 4">
            <a:extLst>
              <a:ext uri="{FF2B5EF4-FFF2-40B4-BE49-F238E27FC236}">
                <a16:creationId xmlns:a16="http://schemas.microsoft.com/office/drawing/2014/main" id="{D464BA6F-EC55-4061-8835-7B67A6ABDA02}"/>
              </a:ext>
            </a:extLst>
          </p:cNvPr>
          <p:cNvSpPr>
            <a:spLocks noGrp="1"/>
          </p:cNvSpPr>
          <p:nvPr/>
        </p:nvSpPr>
        <p:spPr>
          <a:xfrm>
            <a:off x="381000" y="9572625"/>
            <a:ext cx="10096500" cy="361950"/>
          </a:xfrm>
          <a:prstGeom prst="rect">
            <a:avLst/>
          </a:prstGeom>
          <a:noFill/>
          <a:ln w="0">
            <a:noFill/>
          </a:ln>
        </p:spPr>
        <p:txBody>
          <a:bodyPr lIns="0" tIns="0" rIns="0" bIns="0" anchor="t"/>
          <a:lstStyle>
            <a:defPPr>
              <a:defRPr sz="900" b="0">
                <a:solidFill>
                  <a:srgbClr val="666666"/>
                </a:solidFill>
                <a:latin typeface="맑은 고딕"/>
                <a:ea typeface="맑은 고딕"/>
                <a:cs typeface="맑은 고딕"/>
              </a:defRPr>
            </a:defPPr>
            <a:lvl1pPr>
              <a:defRPr sz="900" b="0">
                <a:solidFill>
                  <a:srgbClr val="666666"/>
                </a:solidFill>
                <a:latin typeface="맑은 고딕"/>
                <a:ea typeface="맑은 고딕"/>
                <a:cs typeface="맑은 고딕"/>
              </a:defRPr>
            </a:lvl1pPr>
            <a:lvl2pPr>
              <a:defRPr sz="900" b="0">
                <a:solidFill>
                  <a:srgbClr val="666666"/>
                </a:solidFill>
                <a:latin typeface="맑은 고딕"/>
                <a:ea typeface="맑은 고딕"/>
                <a:cs typeface="맑은 고딕"/>
              </a:defRPr>
            </a:lvl2pPr>
            <a:lvl3pPr>
              <a:defRPr sz="900" b="0">
                <a:solidFill>
                  <a:srgbClr val="666666"/>
                </a:solidFill>
                <a:latin typeface="맑은 고딕"/>
                <a:ea typeface="맑은 고딕"/>
                <a:cs typeface="맑은 고딕"/>
              </a:defRPr>
            </a:lvl3pPr>
            <a:lvl4pPr>
              <a:defRPr sz="900" b="0">
                <a:solidFill>
                  <a:srgbClr val="666666"/>
                </a:solidFill>
                <a:latin typeface="맑은 고딕"/>
                <a:ea typeface="맑은 고딕"/>
                <a:cs typeface="맑은 고딕"/>
              </a:defRPr>
            </a:lvl4pPr>
            <a:lvl5pPr>
              <a:defRPr sz="900" b="0">
                <a:solidFill>
                  <a:srgbClr val="666666"/>
                </a:solidFill>
                <a:latin typeface="맑은 고딕"/>
                <a:ea typeface="맑은 고딕"/>
                <a:cs typeface="맑은 고딕"/>
              </a:defRPr>
            </a:lvl5pPr>
            <a:lvl6pPr>
              <a:defRPr sz="900" b="0">
                <a:solidFill>
                  <a:srgbClr val="666666"/>
                </a:solidFill>
                <a:latin typeface="맑은 고딕"/>
                <a:ea typeface="맑은 고딕"/>
                <a:cs typeface="맑은 고딕"/>
              </a:defRPr>
            </a:lvl6pPr>
            <a:lvl7pPr>
              <a:defRPr sz="900" b="0">
                <a:solidFill>
                  <a:srgbClr val="666666"/>
                </a:solidFill>
                <a:latin typeface="맑은 고딕"/>
                <a:ea typeface="맑은 고딕"/>
                <a:cs typeface="맑은 고딕"/>
              </a:defRPr>
            </a:lvl7pPr>
            <a:lvl8pPr>
              <a:defRPr sz="900" b="0">
                <a:solidFill>
                  <a:srgbClr val="666666"/>
                </a:solidFill>
                <a:latin typeface="맑은 고딕"/>
                <a:ea typeface="맑은 고딕"/>
                <a:cs typeface="맑은 고딕"/>
              </a:defRPr>
            </a:lvl8pPr>
            <a:lvl9pPr>
              <a:defRPr sz="900" b="0">
                <a:solidFill>
                  <a:srgbClr val="666666"/>
                </a:solidFill>
                <a:latin typeface="맑은 고딕"/>
                <a:ea typeface="맑은 고딕"/>
                <a:cs typeface="맑은 고딕"/>
              </a:defRPr>
            </a:lvl9pPr>
          </a:lstStyle>
          <a:p>
            <a:pPr>
              <a:defRPr sz="900" b="0">
                <a:solidFill>
                  <a:srgbClr val="666666"/>
                </a:solidFill>
                <a:latin typeface="맑은 고딕"/>
                <a:ea typeface="맑은 고딕"/>
                <a:cs typeface="맑은 고딕"/>
              </a:defRPr>
            </a:pPr>
            <a:r>
              <a:rPr sz="900" b="0">
                <a:solidFill>
                  <a:srgbClr val="666666"/>
                </a:solidFill>
                <a:latin typeface="맑은 고딕"/>
                <a:ea typeface="맑은 고딕"/>
                <a:cs typeface="맑은 고딕"/>
              </a:rPr>
              <a:t>근거  각 대학 2028 시행계획; SEN 대학별 전형방법·전년 대비 변경사항(세부 쪽수는 별도 근거표)</a:t>
            </a:r>
          </a:p>
        </p:txBody>
      </p:sp>
      <p:sp>
        <p:nvSpPr>
          <p:cNvPr id="6" name="직사각형 5">
            <a:extLst>
              <a:ext uri="{FF2B5EF4-FFF2-40B4-BE49-F238E27FC236}">
                <a16:creationId xmlns:a16="http://schemas.microsoft.com/office/drawing/2014/main" id="{E16CA925-56CC-4430-A1D2-A753A72E57C5}"/>
              </a:ext>
            </a:extLst>
          </p:cNvPr>
          <p:cNvSpPr>
            <a:spLocks noGrp="1"/>
          </p:cNvSpPr>
          <p:nvPr/>
        </p:nvSpPr>
        <p:spPr>
          <a:xfrm>
            <a:off x="10715625" y="9572625"/>
            <a:ext cx="333375" cy="228600"/>
          </a:xfrm>
          <a:prstGeom prst="rect">
            <a:avLst/>
          </a:prstGeom>
          <a:noFill/>
          <a:ln w="0">
            <a:noFill/>
          </a:ln>
        </p:spPr>
        <p:txBody>
          <a:bodyPr lIns="0" tIns="0" rIns="0" bIns="0" anchor="t"/>
          <a:lstStyle>
            <a:defPPr>
              <a:defRPr sz="1050" b="0">
                <a:solidFill>
                  <a:srgbClr val="002060"/>
                </a:solidFill>
                <a:latin typeface="맑은 고딕"/>
                <a:ea typeface="맑은 고딕"/>
                <a:cs typeface="맑은 고딕"/>
              </a:defRPr>
            </a:defPPr>
            <a:lvl1pPr>
              <a:defRPr sz="1050" b="0">
                <a:solidFill>
                  <a:srgbClr val="002060"/>
                </a:solidFill>
                <a:latin typeface="맑은 고딕"/>
                <a:ea typeface="맑은 고딕"/>
                <a:cs typeface="맑은 고딕"/>
              </a:defRPr>
            </a:lvl1pPr>
            <a:lvl2pPr>
              <a:defRPr sz="1050" b="0">
                <a:solidFill>
                  <a:srgbClr val="002060"/>
                </a:solidFill>
                <a:latin typeface="맑은 고딕"/>
                <a:ea typeface="맑은 고딕"/>
                <a:cs typeface="맑은 고딕"/>
              </a:defRPr>
            </a:lvl2pPr>
            <a:lvl3pPr>
              <a:defRPr sz="1050" b="0">
                <a:solidFill>
                  <a:srgbClr val="002060"/>
                </a:solidFill>
                <a:latin typeface="맑은 고딕"/>
                <a:ea typeface="맑은 고딕"/>
                <a:cs typeface="맑은 고딕"/>
              </a:defRPr>
            </a:lvl3pPr>
            <a:lvl4pPr>
              <a:defRPr sz="1050" b="0">
                <a:solidFill>
                  <a:srgbClr val="002060"/>
                </a:solidFill>
                <a:latin typeface="맑은 고딕"/>
                <a:ea typeface="맑은 고딕"/>
                <a:cs typeface="맑은 고딕"/>
              </a:defRPr>
            </a:lvl4pPr>
            <a:lvl5pPr>
              <a:defRPr sz="1050" b="0">
                <a:solidFill>
                  <a:srgbClr val="002060"/>
                </a:solidFill>
                <a:latin typeface="맑은 고딕"/>
                <a:ea typeface="맑은 고딕"/>
                <a:cs typeface="맑은 고딕"/>
              </a:defRPr>
            </a:lvl5pPr>
            <a:lvl6pPr>
              <a:defRPr sz="1050" b="0">
                <a:solidFill>
                  <a:srgbClr val="002060"/>
                </a:solidFill>
                <a:latin typeface="맑은 고딕"/>
                <a:ea typeface="맑은 고딕"/>
                <a:cs typeface="맑은 고딕"/>
              </a:defRPr>
            </a:lvl6pPr>
            <a:lvl7pPr>
              <a:defRPr sz="1050" b="0">
                <a:solidFill>
                  <a:srgbClr val="002060"/>
                </a:solidFill>
                <a:latin typeface="맑은 고딕"/>
                <a:ea typeface="맑은 고딕"/>
                <a:cs typeface="맑은 고딕"/>
              </a:defRPr>
            </a:lvl7pPr>
            <a:lvl8pPr>
              <a:defRPr sz="1050" b="0">
                <a:solidFill>
                  <a:srgbClr val="002060"/>
                </a:solidFill>
                <a:latin typeface="맑은 고딕"/>
                <a:ea typeface="맑은 고딕"/>
                <a:cs typeface="맑은 고딕"/>
              </a:defRPr>
            </a:lvl8pPr>
            <a:lvl9pPr>
              <a:defRPr sz="1050" b="0">
                <a:solidFill>
                  <a:srgbClr val="002060"/>
                </a:solidFill>
                <a:latin typeface="맑은 고딕"/>
                <a:ea typeface="맑은 고딕"/>
                <a:cs typeface="맑은 고딕"/>
              </a:defRPr>
            </a:lvl9pPr>
          </a:lstStyle>
          <a:p>
            <a:pPr>
              <a:defRPr sz="1050" b="0">
                <a:solidFill>
                  <a:srgbClr val="002060"/>
                </a:solidFill>
                <a:latin typeface="맑은 고딕"/>
                <a:ea typeface="맑은 고딕"/>
                <a:cs typeface="맑은 고딕"/>
              </a:defRPr>
            </a:pPr>
            <a:r>
              <a:rPr sz="1050" b="0">
                <a:solidFill>
                  <a:srgbClr val="002060"/>
                </a:solidFill>
                <a:latin typeface="맑은 고딕"/>
                <a:ea typeface="맑은 고딕"/>
                <a:cs typeface="맑은 고딕"/>
              </a:rPr>
              <a:t>02</a:t>
            </a:r>
          </a:p>
        </p:txBody>
      </p:sp>
    </p:spTree>
    <p:extLst>
      <p:ext uri="{BB962C8B-B14F-4D97-AF65-F5344CB8AC3E}">
        <p14:creationId xmlns:p14="http://schemas.microsoft.com/office/powerpoint/2010/main" val="3946515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2D91FAAA-A67A-4D3A-99E5-FD3F6E045FA7}"/>
              </a:ext>
            </a:extLst>
          </p:cNvPr>
          <p:cNvSpPr>
            <a:spLocks noGrp="1"/>
          </p:cNvSpPr>
          <p:nvPr/>
        </p:nvSpPr>
        <p:spPr>
          <a:xfrm>
            <a:off x="381000" y="228600"/>
            <a:ext cx="9525000" cy="238125"/>
          </a:xfrm>
          <a:prstGeom prst="rect">
            <a:avLst/>
          </a:prstGeom>
          <a:noFill/>
          <a:ln w="0">
            <a:noFill/>
          </a:ln>
        </p:spPr>
        <p:txBody>
          <a:bodyPr lIns="0" tIns="0" rIns="0" bIns="0" anchor="t"/>
          <a:lstStyle>
            <a:defPPr>
              <a:defRPr sz="1200" b="1">
                <a:solidFill>
                  <a:srgbClr val="002060"/>
                </a:solidFill>
                <a:latin typeface="맑은 고딕"/>
                <a:ea typeface="맑은 고딕"/>
                <a:cs typeface="맑은 고딕"/>
              </a:defRPr>
            </a:defPPr>
            <a:lvl1pPr>
              <a:defRPr sz="1200" b="1">
                <a:solidFill>
                  <a:srgbClr val="002060"/>
                </a:solidFill>
                <a:latin typeface="맑은 고딕"/>
                <a:ea typeface="맑은 고딕"/>
                <a:cs typeface="맑은 고딕"/>
              </a:defRPr>
            </a:lvl1pPr>
            <a:lvl2pPr>
              <a:defRPr sz="1200" b="1">
                <a:solidFill>
                  <a:srgbClr val="002060"/>
                </a:solidFill>
                <a:latin typeface="맑은 고딕"/>
                <a:ea typeface="맑은 고딕"/>
                <a:cs typeface="맑은 고딕"/>
              </a:defRPr>
            </a:lvl2pPr>
            <a:lvl3pPr>
              <a:defRPr sz="1200" b="1">
                <a:solidFill>
                  <a:srgbClr val="002060"/>
                </a:solidFill>
                <a:latin typeface="맑은 고딕"/>
                <a:ea typeface="맑은 고딕"/>
                <a:cs typeface="맑은 고딕"/>
              </a:defRPr>
            </a:lvl3pPr>
            <a:lvl4pPr>
              <a:defRPr sz="1200" b="1">
                <a:solidFill>
                  <a:srgbClr val="002060"/>
                </a:solidFill>
                <a:latin typeface="맑은 고딕"/>
                <a:ea typeface="맑은 고딕"/>
                <a:cs typeface="맑은 고딕"/>
              </a:defRPr>
            </a:lvl4pPr>
            <a:lvl5pPr>
              <a:defRPr sz="1200" b="1">
                <a:solidFill>
                  <a:srgbClr val="002060"/>
                </a:solidFill>
                <a:latin typeface="맑은 고딕"/>
                <a:ea typeface="맑은 고딕"/>
                <a:cs typeface="맑은 고딕"/>
              </a:defRPr>
            </a:lvl5pPr>
            <a:lvl6pPr>
              <a:defRPr sz="1200" b="1">
                <a:solidFill>
                  <a:srgbClr val="002060"/>
                </a:solidFill>
                <a:latin typeface="맑은 고딕"/>
                <a:ea typeface="맑은 고딕"/>
                <a:cs typeface="맑은 고딕"/>
              </a:defRPr>
            </a:lvl6pPr>
            <a:lvl7pPr>
              <a:defRPr sz="1200" b="1">
                <a:solidFill>
                  <a:srgbClr val="002060"/>
                </a:solidFill>
                <a:latin typeface="맑은 고딕"/>
                <a:ea typeface="맑은 고딕"/>
                <a:cs typeface="맑은 고딕"/>
              </a:defRPr>
            </a:lvl7pPr>
            <a:lvl8pPr>
              <a:defRPr sz="1200" b="1">
                <a:solidFill>
                  <a:srgbClr val="002060"/>
                </a:solidFill>
                <a:latin typeface="맑은 고딕"/>
                <a:ea typeface="맑은 고딕"/>
                <a:cs typeface="맑은 고딕"/>
              </a:defRPr>
            </a:lvl8pPr>
            <a:lvl9pPr>
              <a:defRPr sz="1200" b="1">
                <a:solidFill>
                  <a:srgbClr val="002060"/>
                </a:solidFill>
                <a:latin typeface="맑은 고딕"/>
                <a:ea typeface="맑은 고딕"/>
                <a:cs typeface="맑은 고딕"/>
              </a:defRPr>
            </a:lvl9pPr>
          </a:lstStyle>
          <a:p>
            <a:pPr>
              <a:defRPr sz="1200" b="1">
                <a:solidFill>
                  <a:srgbClr val="002060"/>
                </a:solidFill>
                <a:latin typeface="맑은 고딕"/>
                <a:ea typeface="맑은 고딕"/>
                <a:cs typeface="맑은 고딕"/>
              </a:defRPr>
            </a:pPr>
            <a:r>
              <a:rPr sz="1200" b="1">
                <a:solidFill>
                  <a:srgbClr val="002060"/>
                </a:solidFill>
                <a:latin typeface="맑은 고딕"/>
                <a:ea typeface="맑은 고딕"/>
                <a:cs typeface="맑은 고딕"/>
              </a:rPr>
              <a:t>2028 정시  대학별 전형 비교</a:t>
            </a:r>
          </a:p>
        </p:txBody>
      </p:sp>
      <p:sp>
        <p:nvSpPr>
          <p:cNvPr id="2" name="직사각형 1">
            <a:extLst>
              <a:ext uri="{FF2B5EF4-FFF2-40B4-BE49-F238E27FC236}">
                <a16:creationId xmlns:a16="http://schemas.microsoft.com/office/drawing/2014/main" id="{349A469D-B720-417F-8A2C-93B941C9708E}"/>
              </a:ext>
            </a:extLst>
          </p:cNvPr>
          <p:cNvSpPr>
            <a:spLocks noGrp="1"/>
          </p:cNvSpPr>
          <p:nvPr/>
        </p:nvSpPr>
        <p:spPr>
          <a:xfrm>
            <a:off x="381000" y="619125"/>
            <a:ext cx="10668000" cy="533400"/>
          </a:xfrm>
          <a:prstGeom prst="rect">
            <a:avLst/>
          </a:prstGeom>
          <a:noFill/>
          <a:ln w="0">
            <a:noFill/>
          </a:ln>
        </p:spPr>
        <p:txBody>
          <a:bodyPr lIns="0" tIns="0" rIns="0" bIns="0" anchor="t"/>
          <a:lstStyle>
            <a:defPPr>
              <a:defRPr sz="2400" b="1">
                <a:solidFill>
                  <a:srgbClr val="002060"/>
                </a:solidFill>
                <a:latin typeface="맑은 고딕"/>
                <a:ea typeface="맑은 고딕"/>
                <a:cs typeface="맑은 고딕"/>
              </a:defRPr>
            </a:defPPr>
            <a:lvl1pPr>
              <a:defRPr sz="2400" b="1">
                <a:solidFill>
                  <a:srgbClr val="002060"/>
                </a:solidFill>
                <a:latin typeface="맑은 고딕"/>
                <a:ea typeface="맑은 고딕"/>
                <a:cs typeface="맑은 고딕"/>
              </a:defRPr>
            </a:lvl1pPr>
            <a:lvl2pPr>
              <a:defRPr sz="2400" b="1">
                <a:solidFill>
                  <a:srgbClr val="002060"/>
                </a:solidFill>
                <a:latin typeface="맑은 고딕"/>
                <a:ea typeface="맑은 고딕"/>
                <a:cs typeface="맑은 고딕"/>
              </a:defRPr>
            </a:lvl2pPr>
            <a:lvl3pPr>
              <a:defRPr sz="2400" b="1">
                <a:solidFill>
                  <a:srgbClr val="002060"/>
                </a:solidFill>
                <a:latin typeface="맑은 고딕"/>
                <a:ea typeface="맑은 고딕"/>
                <a:cs typeface="맑은 고딕"/>
              </a:defRPr>
            </a:lvl3pPr>
            <a:lvl4pPr>
              <a:defRPr sz="2400" b="1">
                <a:solidFill>
                  <a:srgbClr val="002060"/>
                </a:solidFill>
                <a:latin typeface="맑은 고딕"/>
                <a:ea typeface="맑은 고딕"/>
                <a:cs typeface="맑은 고딕"/>
              </a:defRPr>
            </a:lvl4pPr>
            <a:lvl5pPr>
              <a:defRPr sz="2400" b="1">
                <a:solidFill>
                  <a:srgbClr val="002060"/>
                </a:solidFill>
                <a:latin typeface="맑은 고딕"/>
                <a:ea typeface="맑은 고딕"/>
                <a:cs typeface="맑은 고딕"/>
              </a:defRPr>
            </a:lvl5pPr>
            <a:lvl6pPr>
              <a:defRPr sz="2400" b="1">
                <a:solidFill>
                  <a:srgbClr val="002060"/>
                </a:solidFill>
                <a:latin typeface="맑은 고딕"/>
                <a:ea typeface="맑은 고딕"/>
                <a:cs typeface="맑은 고딕"/>
              </a:defRPr>
            </a:lvl6pPr>
            <a:lvl7pPr>
              <a:defRPr sz="2400" b="1">
                <a:solidFill>
                  <a:srgbClr val="002060"/>
                </a:solidFill>
                <a:latin typeface="맑은 고딕"/>
                <a:ea typeface="맑은 고딕"/>
                <a:cs typeface="맑은 고딕"/>
              </a:defRPr>
            </a:lvl7pPr>
            <a:lvl8pPr>
              <a:defRPr sz="2400" b="1">
                <a:solidFill>
                  <a:srgbClr val="002060"/>
                </a:solidFill>
                <a:latin typeface="맑은 고딕"/>
                <a:ea typeface="맑은 고딕"/>
                <a:cs typeface="맑은 고딕"/>
              </a:defRPr>
            </a:lvl8pPr>
            <a:lvl9pPr>
              <a:defRPr sz="2400" b="1">
                <a:solidFill>
                  <a:srgbClr val="002060"/>
                </a:solidFill>
                <a:latin typeface="맑은 고딕"/>
                <a:ea typeface="맑은 고딕"/>
                <a:cs typeface="맑은 고딕"/>
              </a:defRPr>
            </a:lvl9pPr>
          </a:lstStyle>
          <a:p>
            <a:pPr>
              <a:defRPr sz="2400" b="1">
                <a:solidFill>
                  <a:srgbClr val="002060"/>
                </a:solidFill>
                <a:latin typeface="맑은 고딕"/>
                <a:ea typeface="맑은 고딕"/>
                <a:cs typeface="맑은 고딕"/>
              </a:defRPr>
            </a:pPr>
            <a:r>
              <a:rPr sz="2400" b="1">
                <a:solidFill>
                  <a:srgbClr val="002060"/>
                </a:solidFill>
                <a:latin typeface="맑은 고딕"/>
                <a:ea typeface="맑은 고딕"/>
                <a:cs typeface="맑은 고딕"/>
              </a:rPr>
              <a:t>수도권 주요 대학 전형·지원자격  서울 ②</a:t>
            </a:r>
          </a:p>
        </p:txBody>
      </p:sp>
      <p:graphicFrame>
        <p:nvGraphicFramePr>
          <p:cNvPr id="3" name="표 2">
            <a:extLst>
              <a:ext uri="{FF2B5EF4-FFF2-40B4-BE49-F238E27FC236}">
                <a16:creationId xmlns:a16="http://schemas.microsoft.com/office/drawing/2014/main" id="{24BA04DC-5EB0-4AD6-92E6-2B1CCAFF8397}"/>
              </a:ext>
            </a:extLst>
          </p:cNvPr>
          <p:cNvGraphicFramePr/>
          <p:nvPr/>
        </p:nvGraphicFramePr>
        <p:xfrm>
          <a:off x="381000" y="1381125"/>
          <a:ext cx="10668000" cy="6733032"/>
        </p:xfrm>
        <a:graphic>
          <a:graphicData uri="http://schemas.openxmlformats.org/drawingml/2006/table">
            <a:tbl>
              <a:tblPr/>
              <a:tblGrid>
                <a:gridCol w="1762125">
                  <a:extLst>
                    <a:ext uri="{9D8B030D-6E8A-4147-A177-3AD203B41FA5}">
                      <a16:colId xmlns:a16="http://schemas.microsoft.com/office/drawing/2014/main" val="20000"/>
                    </a:ext>
                  </a:extLst>
                </a:gridCol>
                <a:gridCol w="809625">
                  <a:extLst>
                    <a:ext uri="{9D8B030D-6E8A-4147-A177-3AD203B41FA5}">
                      <a16:colId xmlns:a16="http://schemas.microsoft.com/office/drawing/2014/main" val="20001"/>
                    </a:ext>
                  </a:extLst>
                </a:gridCol>
                <a:gridCol w="2143125">
                  <a:extLst>
                    <a:ext uri="{9D8B030D-6E8A-4147-A177-3AD203B41FA5}">
                      <a16:colId xmlns:a16="http://schemas.microsoft.com/office/drawing/2014/main" val="20002"/>
                    </a:ext>
                  </a:extLst>
                </a:gridCol>
                <a:gridCol w="4048125">
                  <a:extLst>
                    <a:ext uri="{9D8B030D-6E8A-4147-A177-3AD203B41FA5}">
                      <a16:colId xmlns:a16="http://schemas.microsoft.com/office/drawing/2014/main" val="20003"/>
                    </a:ext>
                  </a:extLst>
                </a:gridCol>
                <a:gridCol w="1905000">
                  <a:extLst>
                    <a:ext uri="{9D8B030D-6E8A-4147-A177-3AD203B41FA5}">
                      <a16:colId xmlns:a16="http://schemas.microsoft.com/office/drawing/2014/main" val="20004"/>
                    </a:ext>
                  </a:extLst>
                </a:gridCol>
              </a:tblGrid>
              <a:tr h="400050">
                <a:tc>
                  <a:txBody>
                    <a:bodyPr/>
                    <a:lstStyle/>
                    <a:p>
                      <a:r>
                        <a:rPr sz="1500" b="1">
                          <a:solidFill>
                            <a:srgbClr val="FFFFFF"/>
                          </a:solidFill>
                          <a:latin typeface="맑은 고딕"/>
                          <a:ea typeface="맑은 고딕"/>
                          <a:cs typeface="맑은 고딕"/>
                        </a:rPr>
                        <a:t>대학명</a:t>
                      </a:r>
                    </a:p>
                  </a:txBody>
                  <a:tcPr marL="95250" marR="95250" marT="47625" marB="47625" anchor="ctr">
                    <a:lnL w="5715">
                      <a:solidFill>
                        <a:srgbClr val="C5CFDA"/>
                      </a:solidFill>
                      <a:prstDash val="soli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전형수</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주력 전형유형</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핵심 선발구조조건</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비고</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extLst>
                  <a:ext uri="{0D108BD9-81ED-4DB2-BD59-A6C34878D82A}">
                    <a16:rowId xmlns:a16="http://schemas.microsoft.com/office/drawing/2014/main" val="10000"/>
                  </a:ext>
                </a:extLst>
              </a:tr>
              <a:tr h="381000">
                <a:tc>
                  <a:txBody>
                    <a:bodyPr/>
                    <a:lstStyle/>
                    <a:p>
                      <a:r>
                        <a:rPr sz="1350" b="1">
                          <a:solidFill>
                            <a:srgbClr val="17212D"/>
                          </a:solidFill>
                          <a:latin typeface="맑은 고딕"/>
                          <a:ea typeface="맑은 고딕"/>
                          <a:cs typeface="맑은 고딕"/>
                        </a:rPr>
                        <a:t>서울시립대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1</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일반</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인문·자연 수능 80+교과 18+출결 2</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1"/>
                  </a:ext>
                </a:extLst>
              </a:tr>
              <a:tr h="381000">
                <a:tc>
                  <a:txBody>
                    <a:bodyPr/>
                    <a:lstStyle/>
                    <a:p>
                      <a:r>
                        <a:rPr sz="1350" b="1">
                          <a:solidFill>
                            <a:srgbClr val="17212D"/>
                          </a:solidFill>
                          <a:latin typeface="맑은 고딕"/>
                          <a:ea typeface="맑은 고딕"/>
                          <a:cs typeface="맑은 고딕"/>
                        </a:rPr>
                        <a:t>서울여대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1</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수능</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우수 영역 순 반영, 수학과 수학 필수</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2"/>
                  </a:ext>
                </a:extLst>
              </a:tr>
              <a:tr h="547497">
                <a:tc>
                  <a:txBody>
                    <a:bodyPr/>
                    <a:lstStyle/>
                    <a:p>
                      <a:r>
                        <a:rPr sz="1350" b="1">
                          <a:solidFill>
                            <a:srgbClr val="17212D"/>
                          </a:solidFill>
                          <a:latin typeface="맑은 고딕"/>
                          <a:ea typeface="맑은 고딕"/>
                          <a:cs typeface="맑은 고딕"/>
                        </a:rPr>
                        <a:t>성균관대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3</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일반형 / 특화형 / 융합인재</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일반형·특화형 수능 100</a:t>
                      </a:r>
                    </a:p>
                    <a:p>
                      <a:r>
                        <a:rPr sz="1350" b="0">
                          <a:solidFill>
                            <a:srgbClr val="17212D"/>
                          </a:solidFill>
                          <a:latin typeface="맑은 고딕"/>
                          <a:ea typeface="맑은 고딕"/>
                          <a:cs typeface="맑은 고딕"/>
                        </a:rPr>
                        <a:t>융합인재 학생부 100+수능최저</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1">
                          <a:solidFill>
                            <a:srgbClr val="006B65"/>
                          </a:solidFill>
                          <a:latin typeface="맑은 고딕"/>
                          <a:ea typeface="맑은 고딕"/>
                          <a:cs typeface="맑은 고딕"/>
                        </a:rPr>
                        <a:t>일반형·특화형:</a:t>
                      </a:r>
                    </a:p>
                    <a:p>
                      <a:r>
                        <a:rPr sz="1350" b="1">
                          <a:solidFill>
                            <a:srgbClr val="006B65"/>
                          </a:solidFill>
                          <a:latin typeface="맑은 고딕"/>
                          <a:ea typeface="맑은 고딕"/>
                          <a:cs typeface="맑은 고딕"/>
                        </a:rPr>
                        <a:t>분리</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3"/>
                  </a:ext>
                </a:extLst>
              </a:tr>
              <a:tr h="381000">
                <a:tc>
                  <a:txBody>
                    <a:bodyPr/>
                    <a:lstStyle/>
                    <a:p>
                      <a:r>
                        <a:rPr sz="1350" b="1">
                          <a:solidFill>
                            <a:srgbClr val="17212D"/>
                          </a:solidFill>
                          <a:latin typeface="맑은 고딕"/>
                          <a:ea typeface="맑은 고딕"/>
                          <a:cs typeface="맑은 고딕"/>
                        </a:rPr>
                        <a:t>성신여대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1</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일반학생</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일반 인문·자연 수능 100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4"/>
                  </a:ext>
                </a:extLst>
              </a:tr>
              <a:tr h="547497">
                <a:tc>
                  <a:txBody>
                    <a:bodyPr/>
                    <a:lstStyle/>
                    <a:p>
                      <a:r>
                        <a:rPr sz="1350" b="1">
                          <a:solidFill>
                            <a:srgbClr val="17212D"/>
                          </a:solidFill>
                          <a:latin typeface="맑은 고딕"/>
                          <a:ea typeface="맑은 고딕"/>
                          <a:cs typeface="맑은 고딕"/>
                        </a:rPr>
                        <a:t>세종대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2</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수능형 / 융합형</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수능형 100, 융합형 90+교과정성 10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1">
                          <a:solidFill>
                            <a:srgbClr val="006B65"/>
                          </a:solidFill>
                          <a:latin typeface="맑은 고딕"/>
                          <a:ea typeface="맑은 고딕"/>
                          <a:cs typeface="맑은 고딕"/>
                        </a:rPr>
                        <a:t>일반학생: 분리</a:t>
                      </a:r>
                    </a:p>
                    <a:p>
                      <a:r>
                        <a:rPr sz="1350" b="1">
                          <a:solidFill>
                            <a:srgbClr val="006B65"/>
                          </a:solidFill>
                          <a:latin typeface="맑은 고딕"/>
                          <a:ea typeface="맑은 고딕"/>
                          <a:cs typeface="맑은 고딕"/>
                        </a:rPr>
                        <a:t>융합형: 신설</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5"/>
                  </a:ext>
                </a:extLst>
              </a:tr>
              <a:tr h="547497">
                <a:tc>
                  <a:txBody>
                    <a:bodyPr/>
                    <a:lstStyle/>
                    <a:p>
                      <a:r>
                        <a:rPr sz="1350" b="1">
                          <a:solidFill>
                            <a:srgbClr val="17212D"/>
                          </a:solidFill>
                          <a:latin typeface="맑은 고딕"/>
                          <a:ea typeface="맑은 고딕"/>
                          <a:cs typeface="맑은 고딕"/>
                        </a:rPr>
                        <a:t>숙명여대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1</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일반학생</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가군 인문·자연 수능 80+서류 20</a:t>
                      </a:r>
                    </a:p>
                    <a:p>
                      <a:r>
                        <a:rPr sz="1350" b="0">
                          <a:solidFill>
                            <a:srgbClr val="17212D"/>
                          </a:solidFill>
                          <a:latin typeface="맑은 고딕"/>
                          <a:ea typeface="맑은 고딕"/>
                          <a:cs typeface="맑은 고딕"/>
                        </a:rPr>
                        <a:t>나·다군 수능 100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6"/>
                  </a:ext>
                </a:extLst>
              </a:tr>
              <a:tr h="381000">
                <a:tc>
                  <a:txBody>
                    <a:bodyPr/>
                    <a:lstStyle/>
                    <a:p>
                      <a:r>
                        <a:rPr sz="1350" b="1">
                          <a:solidFill>
                            <a:srgbClr val="17212D"/>
                          </a:solidFill>
                          <a:latin typeface="맑은 고딕"/>
                          <a:ea typeface="맑은 고딕"/>
                          <a:cs typeface="맑은 고딕"/>
                        </a:rPr>
                        <a:t>숭실대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1</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일반</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일반 인문·자연 수능 100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7"/>
                  </a:ext>
                </a:extLst>
              </a:tr>
              <a:tr h="381000">
                <a:tc>
                  <a:txBody>
                    <a:bodyPr/>
                    <a:lstStyle/>
                    <a:p>
                      <a:r>
                        <a:rPr sz="1350" b="1">
                          <a:solidFill>
                            <a:srgbClr val="17212D"/>
                          </a:solidFill>
                          <a:latin typeface="맑은 고딕"/>
                          <a:ea typeface="맑은 고딕"/>
                          <a:cs typeface="맑은 고딕"/>
                        </a:rPr>
                        <a:t>연세대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1</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일반</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일반계열 수능 90+서류 10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8"/>
                  </a:ext>
                </a:extLst>
              </a:tr>
              <a:tr h="547497">
                <a:tc>
                  <a:txBody>
                    <a:bodyPr/>
                    <a:lstStyle/>
                    <a:p>
                      <a:r>
                        <a:rPr sz="1350" b="1">
                          <a:solidFill>
                            <a:srgbClr val="17212D"/>
                          </a:solidFill>
                          <a:latin typeface="맑은 고딕"/>
                          <a:ea typeface="맑은 고딕"/>
                          <a:cs typeface="맑은 고딕"/>
                        </a:rPr>
                        <a:t>이화여대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2</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수능 / 수능-학생부</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수능전형 수능 100</a:t>
                      </a:r>
                    </a:p>
                    <a:p>
                      <a:r>
                        <a:rPr sz="1350" b="0">
                          <a:solidFill>
                            <a:srgbClr val="17212D"/>
                          </a:solidFill>
                          <a:latin typeface="맑은 고딕"/>
                          <a:ea typeface="맑은 고딕"/>
                          <a:cs typeface="맑은 고딕"/>
                        </a:rPr>
                        <a:t>수능-학생부전형 수능 85+서류 15</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1">
                          <a:solidFill>
                            <a:srgbClr val="006B65"/>
                          </a:solidFill>
                          <a:latin typeface="맑은 고딕"/>
                          <a:ea typeface="맑은 고딕"/>
                          <a:cs typeface="맑은 고딕"/>
                        </a:rPr>
                        <a:t>수능-학생부: 신설</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9"/>
                  </a:ext>
                </a:extLst>
              </a:tr>
              <a:tr h="547497">
                <a:tc>
                  <a:txBody>
                    <a:bodyPr/>
                    <a:lstStyle/>
                    <a:p>
                      <a:r>
                        <a:rPr sz="1350" b="1">
                          <a:solidFill>
                            <a:srgbClr val="17212D"/>
                          </a:solidFill>
                          <a:latin typeface="맑은 고딕"/>
                          <a:ea typeface="맑은 고딕"/>
                          <a:cs typeface="맑은 고딕"/>
                        </a:rPr>
                        <a:t>중앙대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2</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수능89 / 수능67</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수능89: 수능 89+출결 11</a:t>
                      </a:r>
                    </a:p>
                    <a:p>
                      <a:r>
                        <a:rPr sz="1350" b="0">
                          <a:solidFill>
                            <a:srgbClr val="17212D"/>
                          </a:solidFill>
                          <a:latin typeface="맑은 고딕"/>
                          <a:ea typeface="맑은 고딕"/>
                          <a:cs typeface="맑은 고딕"/>
                        </a:rPr>
                        <a:t>수능67: 수능 67+서류 33+수능최저</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1">
                          <a:solidFill>
                            <a:srgbClr val="006B65"/>
                          </a:solidFill>
                          <a:latin typeface="맑은 고딕"/>
                          <a:ea typeface="맑은 고딕"/>
                          <a:cs typeface="맑은 고딕"/>
                        </a:rPr>
                        <a:t>수능67: 신설</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10"/>
                  </a:ext>
                </a:extLst>
              </a:tr>
              <a:tr h="547497">
                <a:tc>
                  <a:txBody>
                    <a:bodyPr/>
                    <a:lstStyle/>
                    <a:p>
                      <a:r>
                        <a:rPr sz="1350" b="1">
                          <a:solidFill>
                            <a:srgbClr val="17212D"/>
                          </a:solidFill>
                          <a:latin typeface="맑은 고딕"/>
                          <a:ea typeface="맑은 고딕"/>
                          <a:cs typeface="맑은 고딕"/>
                        </a:rPr>
                        <a:t>한국외대(서울)</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1</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일반</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수능 100, A·B 중 유리한 환산점수</a:t>
                      </a:r>
                    </a:p>
                    <a:p>
                      <a:r>
                        <a:rPr sz="1350" b="0">
                          <a:solidFill>
                            <a:srgbClr val="17212D"/>
                          </a:solidFill>
                          <a:latin typeface="맑은 고딕"/>
                          <a:ea typeface="맑은 고딕"/>
                          <a:cs typeface="맑은 고딕"/>
                        </a:rPr>
                        <a:t>탐구 상위 1과목</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11"/>
                  </a:ext>
                </a:extLst>
              </a:tr>
              <a:tr h="381000">
                <a:tc>
                  <a:txBody>
                    <a:bodyPr/>
                    <a:lstStyle/>
                    <a:p>
                      <a:r>
                        <a:rPr sz="1350" b="1">
                          <a:solidFill>
                            <a:srgbClr val="17212D"/>
                          </a:solidFill>
                          <a:latin typeface="맑은 고딕"/>
                          <a:ea typeface="맑은 고딕"/>
                          <a:cs typeface="맑은 고딕"/>
                        </a:rPr>
                        <a:t>한성대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1</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수능위주</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일반 인문·자연 수능 100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12"/>
                  </a:ext>
                </a:extLst>
              </a:tr>
              <a:tr h="381000">
                <a:tc>
                  <a:txBody>
                    <a:bodyPr/>
                    <a:lstStyle/>
                    <a:p>
                      <a:r>
                        <a:rPr sz="1350" b="1">
                          <a:solidFill>
                            <a:srgbClr val="17212D"/>
                          </a:solidFill>
                          <a:latin typeface="맑은 고딕"/>
                          <a:ea typeface="맑은 고딕"/>
                          <a:cs typeface="맑은 고딕"/>
                        </a:rPr>
                        <a:t>한양대(서울)</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1</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수능 일반</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수능 90+학생부종합평가 10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13"/>
                  </a:ext>
                </a:extLst>
              </a:tr>
              <a:tr h="381000">
                <a:tc>
                  <a:txBody>
                    <a:bodyPr/>
                    <a:lstStyle/>
                    <a:p>
                      <a:r>
                        <a:rPr sz="1350" b="1">
                          <a:solidFill>
                            <a:srgbClr val="17212D"/>
                          </a:solidFill>
                          <a:latin typeface="맑은 고딕"/>
                          <a:ea typeface="맑은 고딕"/>
                          <a:cs typeface="맑은 고딕"/>
                        </a:rPr>
                        <a:t>홍익대(서울)</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1</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수능우수자</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다군 인문·자연 수능 90+교과 10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14"/>
                  </a:ext>
                </a:extLst>
              </a:tr>
            </a:tbl>
          </a:graphicData>
        </a:graphic>
      </p:graphicFrame>
      <p:sp>
        <p:nvSpPr>
          <p:cNvPr id="4" name="직사각형 3">
            <a:extLst>
              <a:ext uri="{FF2B5EF4-FFF2-40B4-BE49-F238E27FC236}">
                <a16:creationId xmlns:a16="http://schemas.microsoft.com/office/drawing/2014/main" id="{35EDE33B-4825-48F2-BB02-010198CF77C4}"/>
              </a:ext>
            </a:extLst>
          </p:cNvPr>
          <p:cNvSpPr>
            <a:spLocks noGrp="1"/>
          </p:cNvSpPr>
          <p:nvPr/>
        </p:nvSpPr>
        <p:spPr>
          <a:xfrm>
            <a:off x="381000" y="8237982"/>
            <a:ext cx="10668000" cy="438150"/>
          </a:xfrm>
          <a:prstGeom prst="rect">
            <a:avLst/>
          </a:prstGeom>
          <a:noFill/>
          <a:ln w="0">
            <a:noFill/>
          </a:ln>
        </p:spPr>
        <p:txBody>
          <a:bodyPr lIns="0" tIns="0" rIns="0" bIns="0" anchor="t"/>
          <a:lstStyle>
            <a:defPPr>
              <a:defRPr sz="1050" b="0">
                <a:solidFill>
                  <a:srgbClr val="535D69"/>
                </a:solidFill>
                <a:latin typeface="맑은 고딕"/>
                <a:ea typeface="맑은 고딕"/>
                <a:cs typeface="맑은 고딕"/>
              </a:defRPr>
            </a:defPPr>
            <a:lvl1pPr>
              <a:defRPr sz="1050" b="0">
                <a:solidFill>
                  <a:srgbClr val="535D69"/>
                </a:solidFill>
                <a:latin typeface="맑은 고딕"/>
                <a:ea typeface="맑은 고딕"/>
                <a:cs typeface="맑은 고딕"/>
              </a:defRPr>
            </a:lvl1pPr>
            <a:lvl2pPr>
              <a:defRPr sz="1050" b="0">
                <a:solidFill>
                  <a:srgbClr val="535D69"/>
                </a:solidFill>
                <a:latin typeface="맑은 고딕"/>
                <a:ea typeface="맑은 고딕"/>
                <a:cs typeface="맑은 고딕"/>
              </a:defRPr>
            </a:lvl2pPr>
            <a:lvl3pPr>
              <a:defRPr sz="1050" b="0">
                <a:solidFill>
                  <a:srgbClr val="535D69"/>
                </a:solidFill>
                <a:latin typeface="맑은 고딕"/>
                <a:ea typeface="맑은 고딕"/>
                <a:cs typeface="맑은 고딕"/>
              </a:defRPr>
            </a:lvl3pPr>
            <a:lvl4pPr>
              <a:defRPr sz="1050" b="0">
                <a:solidFill>
                  <a:srgbClr val="535D69"/>
                </a:solidFill>
                <a:latin typeface="맑은 고딕"/>
                <a:ea typeface="맑은 고딕"/>
                <a:cs typeface="맑은 고딕"/>
              </a:defRPr>
            </a:lvl4pPr>
            <a:lvl5pPr>
              <a:defRPr sz="1050" b="0">
                <a:solidFill>
                  <a:srgbClr val="535D69"/>
                </a:solidFill>
                <a:latin typeface="맑은 고딕"/>
                <a:ea typeface="맑은 고딕"/>
                <a:cs typeface="맑은 고딕"/>
              </a:defRPr>
            </a:lvl5pPr>
            <a:lvl6pPr>
              <a:defRPr sz="1050" b="0">
                <a:solidFill>
                  <a:srgbClr val="535D69"/>
                </a:solidFill>
                <a:latin typeface="맑은 고딕"/>
                <a:ea typeface="맑은 고딕"/>
                <a:cs typeface="맑은 고딕"/>
              </a:defRPr>
            </a:lvl6pPr>
            <a:lvl7pPr>
              <a:defRPr sz="1050" b="0">
                <a:solidFill>
                  <a:srgbClr val="535D69"/>
                </a:solidFill>
                <a:latin typeface="맑은 고딕"/>
                <a:ea typeface="맑은 고딕"/>
                <a:cs typeface="맑은 고딕"/>
              </a:defRPr>
            </a:lvl7pPr>
            <a:lvl8pPr>
              <a:defRPr sz="1050" b="0">
                <a:solidFill>
                  <a:srgbClr val="535D69"/>
                </a:solidFill>
                <a:latin typeface="맑은 고딕"/>
                <a:ea typeface="맑은 고딕"/>
                <a:cs typeface="맑은 고딕"/>
              </a:defRPr>
            </a:lvl8pPr>
            <a:lvl9pPr>
              <a:defRPr sz="1050" b="0">
                <a:solidFill>
                  <a:srgbClr val="535D69"/>
                </a:solidFill>
                <a:latin typeface="맑은 고딕"/>
                <a:ea typeface="맑은 고딕"/>
                <a:cs typeface="맑은 고딕"/>
              </a:defRPr>
            </a:lvl9pPr>
          </a:lstStyle>
          <a:p>
            <a:pPr>
              <a:defRPr sz="1050" b="0">
                <a:solidFill>
                  <a:srgbClr val="535D69"/>
                </a:solidFill>
                <a:latin typeface="맑은 고딕"/>
                <a:ea typeface="맑은 고딕"/>
                <a:cs typeface="맑은 고딕"/>
              </a:defRPr>
            </a:pPr>
            <a:r>
              <a:rPr sz="1050" b="0">
                <a:solidFill>
                  <a:srgbClr val="535D69"/>
                </a:solidFill>
                <a:latin typeface="맑은 고딕"/>
                <a:ea typeface="맑은 고딕"/>
                <a:cs typeface="맑은 고딕"/>
              </a:rPr>
              <a:t>전형수=표의 주력 유형 수(군 중복 통합, 특별·예체능·군사·계약·이월 제외). 현역=졸업예정자 한정, 추천=학교장 추천.  신설·분리·이원화는 명시된 전형에 적용. —=키워드 표시 없음. 지역은 캠퍼스·본부 기준(성균관대·경기대는 서울·경기 통합). 성별·고교유형 등 세부조건 별도.</a:t>
            </a:r>
          </a:p>
        </p:txBody>
      </p:sp>
      <p:sp>
        <p:nvSpPr>
          <p:cNvPr id="5" name="직사각형 4">
            <a:extLst>
              <a:ext uri="{FF2B5EF4-FFF2-40B4-BE49-F238E27FC236}">
                <a16:creationId xmlns:a16="http://schemas.microsoft.com/office/drawing/2014/main" id="{A94B6C0E-D8F9-4582-9304-804A1204D0A2}"/>
              </a:ext>
            </a:extLst>
          </p:cNvPr>
          <p:cNvSpPr>
            <a:spLocks noGrp="1"/>
          </p:cNvSpPr>
          <p:nvPr/>
        </p:nvSpPr>
        <p:spPr>
          <a:xfrm>
            <a:off x="381000" y="9572625"/>
            <a:ext cx="10096500" cy="361950"/>
          </a:xfrm>
          <a:prstGeom prst="rect">
            <a:avLst/>
          </a:prstGeom>
          <a:noFill/>
          <a:ln w="0">
            <a:noFill/>
          </a:ln>
        </p:spPr>
        <p:txBody>
          <a:bodyPr lIns="0" tIns="0" rIns="0" bIns="0" anchor="t"/>
          <a:lstStyle>
            <a:defPPr>
              <a:defRPr sz="900" b="0">
                <a:solidFill>
                  <a:srgbClr val="666666"/>
                </a:solidFill>
                <a:latin typeface="맑은 고딕"/>
                <a:ea typeface="맑은 고딕"/>
                <a:cs typeface="맑은 고딕"/>
              </a:defRPr>
            </a:defPPr>
            <a:lvl1pPr>
              <a:defRPr sz="900" b="0">
                <a:solidFill>
                  <a:srgbClr val="666666"/>
                </a:solidFill>
                <a:latin typeface="맑은 고딕"/>
                <a:ea typeface="맑은 고딕"/>
                <a:cs typeface="맑은 고딕"/>
              </a:defRPr>
            </a:lvl1pPr>
            <a:lvl2pPr>
              <a:defRPr sz="900" b="0">
                <a:solidFill>
                  <a:srgbClr val="666666"/>
                </a:solidFill>
                <a:latin typeface="맑은 고딕"/>
                <a:ea typeface="맑은 고딕"/>
                <a:cs typeface="맑은 고딕"/>
              </a:defRPr>
            </a:lvl2pPr>
            <a:lvl3pPr>
              <a:defRPr sz="900" b="0">
                <a:solidFill>
                  <a:srgbClr val="666666"/>
                </a:solidFill>
                <a:latin typeface="맑은 고딕"/>
                <a:ea typeface="맑은 고딕"/>
                <a:cs typeface="맑은 고딕"/>
              </a:defRPr>
            </a:lvl3pPr>
            <a:lvl4pPr>
              <a:defRPr sz="900" b="0">
                <a:solidFill>
                  <a:srgbClr val="666666"/>
                </a:solidFill>
                <a:latin typeface="맑은 고딕"/>
                <a:ea typeface="맑은 고딕"/>
                <a:cs typeface="맑은 고딕"/>
              </a:defRPr>
            </a:lvl4pPr>
            <a:lvl5pPr>
              <a:defRPr sz="900" b="0">
                <a:solidFill>
                  <a:srgbClr val="666666"/>
                </a:solidFill>
                <a:latin typeface="맑은 고딕"/>
                <a:ea typeface="맑은 고딕"/>
                <a:cs typeface="맑은 고딕"/>
              </a:defRPr>
            </a:lvl5pPr>
            <a:lvl6pPr>
              <a:defRPr sz="900" b="0">
                <a:solidFill>
                  <a:srgbClr val="666666"/>
                </a:solidFill>
                <a:latin typeface="맑은 고딕"/>
                <a:ea typeface="맑은 고딕"/>
                <a:cs typeface="맑은 고딕"/>
              </a:defRPr>
            </a:lvl6pPr>
            <a:lvl7pPr>
              <a:defRPr sz="900" b="0">
                <a:solidFill>
                  <a:srgbClr val="666666"/>
                </a:solidFill>
                <a:latin typeface="맑은 고딕"/>
                <a:ea typeface="맑은 고딕"/>
                <a:cs typeface="맑은 고딕"/>
              </a:defRPr>
            </a:lvl7pPr>
            <a:lvl8pPr>
              <a:defRPr sz="900" b="0">
                <a:solidFill>
                  <a:srgbClr val="666666"/>
                </a:solidFill>
                <a:latin typeface="맑은 고딕"/>
                <a:ea typeface="맑은 고딕"/>
                <a:cs typeface="맑은 고딕"/>
              </a:defRPr>
            </a:lvl8pPr>
            <a:lvl9pPr>
              <a:defRPr sz="900" b="0">
                <a:solidFill>
                  <a:srgbClr val="666666"/>
                </a:solidFill>
                <a:latin typeface="맑은 고딕"/>
                <a:ea typeface="맑은 고딕"/>
                <a:cs typeface="맑은 고딕"/>
              </a:defRPr>
            </a:lvl9pPr>
          </a:lstStyle>
          <a:p>
            <a:pPr>
              <a:defRPr sz="900" b="0">
                <a:solidFill>
                  <a:srgbClr val="666666"/>
                </a:solidFill>
                <a:latin typeface="맑은 고딕"/>
                <a:ea typeface="맑은 고딕"/>
                <a:cs typeface="맑은 고딕"/>
              </a:defRPr>
            </a:pPr>
            <a:r>
              <a:rPr sz="900" b="0">
                <a:solidFill>
                  <a:srgbClr val="666666"/>
                </a:solidFill>
                <a:latin typeface="맑은 고딕"/>
                <a:ea typeface="맑은 고딕"/>
                <a:cs typeface="맑은 고딕"/>
              </a:rPr>
              <a:t>근거  각 대학 2028 시행계획; SEN 대학별 전형방법·전년 대비 변경사항(세부 쪽수는 별도 근거표)</a:t>
            </a:r>
          </a:p>
        </p:txBody>
      </p:sp>
      <p:sp>
        <p:nvSpPr>
          <p:cNvPr id="6" name="직사각형 5">
            <a:extLst>
              <a:ext uri="{FF2B5EF4-FFF2-40B4-BE49-F238E27FC236}">
                <a16:creationId xmlns:a16="http://schemas.microsoft.com/office/drawing/2014/main" id="{3005FD3B-84AC-4DD5-88BE-858B06EB99BE}"/>
              </a:ext>
            </a:extLst>
          </p:cNvPr>
          <p:cNvSpPr>
            <a:spLocks noGrp="1"/>
          </p:cNvSpPr>
          <p:nvPr/>
        </p:nvSpPr>
        <p:spPr>
          <a:xfrm>
            <a:off x="10715625" y="9572625"/>
            <a:ext cx="333375" cy="228600"/>
          </a:xfrm>
          <a:prstGeom prst="rect">
            <a:avLst/>
          </a:prstGeom>
          <a:noFill/>
          <a:ln w="0">
            <a:noFill/>
          </a:ln>
        </p:spPr>
        <p:txBody>
          <a:bodyPr lIns="0" tIns="0" rIns="0" bIns="0" anchor="t"/>
          <a:lstStyle>
            <a:defPPr>
              <a:defRPr sz="1050" b="0">
                <a:solidFill>
                  <a:srgbClr val="002060"/>
                </a:solidFill>
                <a:latin typeface="맑은 고딕"/>
                <a:ea typeface="맑은 고딕"/>
                <a:cs typeface="맑은 고딕"/>
              </a:defRPr>
            </a:defPPr>
            <a:lvl1pPr>
              <a:defRPr sz="1050" b="0">
                <a:solidFill>
                  <a:srgbClr val="002060"/>
                </a:solidFill>
                <a:latin typeface="맑은 고딕"/>
                <a:ea typeface="맑은 고딕"/>
                <a:cs typeface="맑은 고딕"/>
              </a:defRPr>
            </a:lvl1pPr>
            <a:lvl2pPr>
              <a:defRPr sz="1050" b="0">
                <a:solidFill>
                  <a:srgbClr val="002060"/>
                </a:solidFill>
                <a:latin typeface="맑은 고딕"/>
                <a:ea typeface="맑은 고딕"/>
                <a:cs typeface="맑은 고딕"/>
              </a:defRPr>
            </a:lvl2pPr>
            <a:lvl3pPr>
              <a:defRPr sz="1050" b="0">
                <a:solidFill>
                  <a:srgbClr val="002060"/>
                </a:solidFill>
                <a:latin typeface="맑은 고딕"/>
                <a:ea typeface="맑은 고딕"/>
                <a:cs typeface="맑은 고딕"/>
              </a:defRPr>
            </a:lvl3pPr>
            <a:lvl4pPr>
              <a:defRPr sz="1050" b="0">
                <a:solidFill>
                  <a:srgbClr val="002060"/>
                </a:solidFill>
                <a:latin typeface="맑은 고딕"/>
                <a:ea typeface="맑은 고딕"/>
                <a:cs typeface="맑은 고딕"/>
              </a:defRPr>
            </a:lvl4pPr>
            <a:lvl5pPr>
              <a:defRPr sz="1050" b="0">
                <a:solidFill>
                  <a:srgbClr val="002060"/>
                </a:solidFill>
                <a:latin typeface="맑은 고딕"/>
                <a:ea typeface="맑은 고딕"/>
                <a:cs typeface="맑은 고딕"/>
              </a:defRPr>
            </a:lvl5pPr>
            <a:lvl6pPr>
              <a:defRPr sz="1050" b="0">
                <a:solidFill>
                  <a:srgbClr val="002060"/>
                </a:solidFill>
                <a:latin typeface="맑은 고딕"/>
                <a:ea typeface="맑은 고딕"/>
                <a:cs typeface="맑은 고딕"/>
              </a:defRPr>
            </a:lvl6pPr>
            <a:lvl7pPr>
              <a:defRPr sz="1050" b="0">
                <a:solidFill>
                  <a:srgbClr val="002060"/>
                </a:solidFill>
                <a:latin typeface="맑은 고딕"/>
                <a:ea typeface="맑은 고딕"/>
                <a:cs typeface="맑은 고딕"/>
              </a:defRPr>
            </a:lvl7pPr>
            <a:lvl8pPr>
              <a:defRPr sz="1050" b="0">
                <a:solidFill>
                  <a:srgbClr val="002060"/>
                </a:solidFill>
                <a:latin typeface="맑은 고딕"/>
                <a:ea typeface="맑은 고딕"/>
                <a:cs typeface="맑은 고딕"/>
              </a:defRPr>
            </a:lvl8pPr>
            <a:lvl9pPr>
              <a:defRPr sz="1050" b="0">
                <a:solidFill>
                  <a:srgbClr val="002060"/>
                </a:solidFill>
                <a:latin typeface="맑은 고딕"/>
                <a:ea typeface="맑은 고딕"/>
                <a:cs typeface="맑은 고딕"/>
              </a:defRPr>
            </a:lvl9pPr>
          </a:lstStyle>
          <a:p>
            <a:pPr>
              <a:defRPr sz="1050" b="0">
                <a:solidFill>
                  <a:srgbClr val="002060"/>
                </a:solidFill>
                <a:latin typeface="맑은 고딕"/>
                <a:ea typeface="맑은 고딕"/>
                <a:cs typeface="맑은 고딕"/>
              </a:defRPr>
            </a:pPr>
            <a:r>
              <a:rPr sz="1050" b="0">
                <a:solidFill>
                  <a:srgbClr val="002060"/>
                </a:solidFill>
                <a:latin typeface="맑은 고딕"/>
                <a:ea typeface="맑은 고딕"/>
                <a:cs typeface="맑은 고딕"/>
              </a:rPr>
              <a:t>03</a:t>
            </a:r>
          </a:p>
        </p:txBody>
      </p:sp>
    </p:spTree>
    <p:extLst>
      <p:ext uri="{BB962C8B-B14F-4D97-AF65-F5344CB8AC3E}">
        <p14:creationId xmlns:p14="http://schemas.microsoft.com/office/powerpoint/2010/main" val="2486984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9535348D-AEA7-42C1-A4BC-4EE3B23F1C1E}"/>
              </a:ext>
            </a:extLst>
          </p:cNvPr>
          <p:cNvSpPr>
            <a:spLocks noGrp="1"/>
          </p:cNvSpPr>
          <p:nvPr/>
        </p:nvSpPr>
        <p:spPr>
          <a:xfrm>
            <a:off x="381000" y="228600"/>
            <a:ext cx="9525000" cy="238125"/>
          </a:xfrm>
          <a:prstGeom prst="rect">
            <a:avLst/>
          </a:prstGeom>
          <a:noFill/>
          <a:ln w="0">
            <a:noFill/>
          </a:ln>
        </p:spPr>
        <p:txBody>
          <a:bodyPr lIns="0" tIns="0" rIns="0" bIns="0" anchor="t"/>
          <a:lstStyle>
            <a:defPPr>
              <a:defRPr sz="1200" b="1">
                <a:solidFill>
                  <a:srgbClr val="002060"/>
                </a:solidFill>
                <a:latin typeface="맑은 고딕"/>
                <a:ea typeface="맑은 고딕"/>
                <a:cs typeface="맑은 고딕"/>
              </a:defRPr>
            </a:defPPr>
            <a:lvl1pPr>
              <a:defRPr sz="1200" b="1">
                <a:solidFill>
                  <a:srgbClr val="002060"/>
                </a:solidFill>
                <a:latin typeface="맑은 고딕"/>
                <a:ea typeface="맑은 고딕"/>
                <a:cs typeface="맑은 고딕"/>
              </a:defRPr>
            </a:lvl1pPr>
            <a:lvl2pPr>
              <a:defRPr sz="1200" b="1">
                <a:solidFill>
                  <a:srgbClr val="002060"/>
                </a:solidFill>
                <a:latin typeface="맑은 고딕"/>
                <a:ea typeface="맑은 고딕"/>
                <a:cs typeface="맑은 고딕"/>
              </a:defRPr>
            </a:lvl2pPr>
            <a:lvl3pPr>
              <a:defRPr sz="1200" b="1">
                <a:solidFill>
                  <a:srgbClr val="002060"/>
                </a:solidFill>
                <a:latin typeface="맑은 고딕"/>
                <a:ea typeface="맑은 고딕"/>
                <a:cs typeface="맑은 고딕"/>
              </a:defRPr>
            </a:lvl3pPr>
            <a:lvl4pPr>
              <a:defRPr sz="1200" b="1">
                <a:solidFill>
                  <a:srgbClr val="002060"/>
                </a:solidFill>
                <a:latin typeface="맑은 고딕"/>
                <a:ea typeface="맑은 고딕"/>
                <a:cs typeface="맑은 고딕"/>
              </a:defRPr>
            </a:lvl4pPr>
            <a:lvl5pPr>
              <a:defRPr sz="1200" b="1">
                <a:solidFill>
                  <a:srgbClr val="002060"/>
                </a:solidFill>
                <a:latin typeface="맑은 고딕"/>
                <a:ea typeface="맑은 고딕"/>
                <a:cs typeface="맑은 고딕"/>
              </a:defRPr>
            </a:lvl5pPr>
            <a:lvl6pPr>
              <a:defRPr sz="1200" b="1">
                <a:solidFill>
                  <a:srgbClr val="002060"/>
                </a:solidFill>
                <a:latin typeface="맑은 고딕"/>
                <a:ea typeface="맑은 고딕"/>
                <a:cs typeface="맑은 고딕"/>
              </a:defRPr>
            </a:lvl6pPr>
            <a:lvl7pPr>
              <a:defRPr sz="1200" b="1">
                <a:solidFill>
                  <a:srgbClr val="002060"/>
                </a:solidFill>
                <a:latin typeface="맑은 고딕"/>
                <a:ea typeface="맑은 고딕"/>
                <a:cs typeface="맑은 고딕"/>
              </a:defRPr>
            </a:lvl7pPr>
            <a:lvl8pPr>
              <a:defRPr sz="1200" b="1">
                <a:solidFill>
                  <a:srgbClr val="002060"/>
                </a:solidFill>
                <a:latin typeface="맑은 고딕"/>
                <a:ea typeface="맑은 고딕"/>
                <a:cs typeface="맑은 고딕"/>
              </a:defRPr>
            </a:lvl8pPr>
            <a:lvl9pPr>
              <a:defRPr sz="1200" b="1">
                <a:solidFill>
                  <a:srgbClr val="002060"/>
                </a:solidFill>
                <a:latin typeface="맑은 고딕"/>
                <a:ea typeface="맑은 고딕"/>
                <a:cs typeface="맑은 고딕"/>
              </a:defRPr>
            </a:lvl9pPr>
          </a:lstStyle>
          <a:p>
            <a:pPr>
              <a:defRPr sz="1200" b="1">
                <a:solidFill>
                  <a:srgbClr val="002060"/>
                </a:solidFill>
                <a:latin typeface="맑은 고딕"/>
                <a:ea typeface="맑은 고딕"/>
                <a:cs typeface="맑은 고딕"/>
              </a:defRPr>
            </a:pPr>
            <a:r>
              <a:rPr sz="1200" b="1">
                <a:solidFill>
                  <a:srgbClr val="002060"/>
                </a:solidFill>
                <a:latin typeface="맑은 고딕"/>
                <a:ea typeface="맑은 고딕"/>
                <a:cs typeface="맑은 고딕"/>
              </a:rPr>
              <a:t>2028 정시  대학별 전형 비교</a:t>
            </a:r>
          </a:p>
        </p:txBody>
      </p:sp>
      <p:sp>
        <p:nvSpPr>
          <p:cNvPr id="2" name="직사각형 1">
            <a:extLst>
              <a:ext uri="{FF2B5EF4-FFF2-40B4-BE49-F238E27FC236}">
                <a16:creationId xmlns:a16="http://schemas.microsoft.com/office/drawing/2014/main" id="{22D6854B-DE95-404B-A3A9-9DE98E5CD417}"/>
              </a:ext>
            </a:extLst>
          </p:cNvPr>
          <p:cNvSpPr>
            <a:spLocks noGrp="1"/>
          </p:cNvSpPr>
          <p:nvPr/>
        </p:nvSpPr>
        <p:spPr>
          <a:xfrm>
            <a:off x="381000" y="619125"/>
            <a:ext cx="10668000" cy="533400"/>
          </a:xfrm>
          <a:prstGeom prst="rect">
            <a:avLst/>
          </a:prstGeom>
          <a:noFill/>
          <a:ln w="0">
            <a:noFill/>
          </a:ln>
        </p:spPr>
        <p:txBody>
          <a:bodyPr lIns="0" tIns="0" rIns="0" bIns="0" anchor="t"/>
          <a:lstStyle>
            <a:defPPr>
              <a:defRPr sz="2400" b="1">
                <a:solidFill>
                  <a:srgbClr val="002060"/>
                </a:solidFill>
                <a:latin typeface="맑은 고딕"/>
                <a:ea typeface="맑은 고딕"/>
                <a:cs typeface="맑은 고딕"/>
              </a:defRPr>
            </a:defPPr>
            <a:lvl1pPr>
              <a:defRPr sz="2400" b="1">
                <a:solidFill>
                  <a:srgbClr val="002060"/>
                </a:solidFill>
                <a:latin typeface="맑은 고딕"/>
                <a:ea typeface="맑은 고딕"/>
                <a:cs typeface="맑은 고딕"/>
              </a:defRPr>
            </a:lvl1pPr>
            <a:lvl2pPr>
              <a:defRPr sz="2400" b="1">
                <a:solidFill>
                  <a:srgbClr val="002060"/>
                </a:solidFill>
                <a:latin typeface="맑은 고딕"/>
                <a:ea typeface="맑은 고딕"/>
                <a:cs typeface="맑은 고딕"/>
              </a:defRPr>
            </a:lvl2pPr>
            <a:lvl3pPr>
              <a:defRPr sz="2400" b="1">
                <a:solidFill>
                  <a:srgbClr val="002060"/>
                </a:solidFill>
                <a:latin typeface="맑은 고딕"/>
                <a:ea typeface="맑은 고딕"/>
                <a:cs typeface="맑은 고딕"/>
              </a:defRPr>
            </a:lvl3pPr>
            <a:lvl4pPr>
              <a:defRPr sz="2400" b="1">
                <a:solidFill>
                  <a:srgbClr val="002060"/>
                </a:solidFill>
                <a:latin typeface="맑은 고딕"/>
                <a:ea typeface="맑은 고딕"/>
                <a:cs typeface="맑은 고딕"/>
              </a:defRPr>
            </a:lvl4pPr>
            <a:lvl5pPr>
              <a:defRPr sz="2400" b="1">
                <a:solidFill>
                  <a:srgbClr val="002060"/>
                </a:solidFill>
                <a:latin typeface="맑은 고딕"/>
                <a:ea typeface="맑은 고딕"/>
                <a:cs typeface="맑은 고딕"/>
              </a:defRPr>
            </a:lvl5pPr>
            <a:lvl6pPr>
              <a:defRPr sz="2400" b="1">
                <a:solidFill>
                  <a:srgbClr val="002060"/>
                </a:solidFill>
                <a:latin typeface="맑은 고딕"/>
                <a:ea typeface="맑은 고딕"/>
                <a:cs typeface="맑은 고딕"/>
              </a:defRPr>
            </a:lvl6pPr>
            <a:lvl7pPr>
              <a:defRPr sz="2400" b="1">
                <a:solidFill>
                  <a:srgbClr val="002060"/>
                </a:solidFill>
                <a:latin typeface="맑은 고딕"/>
                <a:ea typeface="맑은 고딕"/>
                <a:cs typeface="맑은 고딕"/>
              </a:defRPr>
            </a:lvl7pPr>
            <a:lvl8pPr>
              <a:defRPr sz="2400" b="1">
                <a:solidFill>
                  <a:srgbClr val="002060"/>
                </a:solidFill>
                <a:latin typeface="맑은 고딕"/>
                <a:ea typeface="맑은 고딕"/>
                <a:cs typeface="맑은 고딕"/>
              </a:defRPr>
            </a:lvl8pPr>
            <a:lvl9pPr>
              <a:defRPr sz="2400" b="1">
                <a:solidFill>
                  <a:srgbClr val="002060"/>
                </a:solidFill>
                <a:latin typeface="맑은 고딕"/>
                <a:ea typeface="맑은 고딕"/>
                <a:cs typeface="맑은 고딕"/>
              </a:defRPr>
            </a:lvl9pPr>
          </a:lstStyle>
          <a:p>
            <a:pPr>
              <a:defRPr sz="2400" b="1">
                <a:solidFill>
                  <a:srgbClr val="002060"/>
                </a:solidFill>
                <a:latin typeface="맑은 고딕"/>
                <a:ea typeface="맑은 고딕"/>
                <a:cs typeface="맑은 고딕"/>
              </a:defRPr>
            </a:pPr>
            <a:r>
              <a:rPr sz="2400" b="1">
                <a:solidFill>
                  <a:srgbClr val="002060"/>
                </a:solidFill>
                <a:latin typeface="맑은 고딕"/>
                <a:ea typeface="맑은 고딕"/>
                <a:cs typeface="맑은 고딕"/>
              </a:rPr>
              <a:t>수도권 주요 대학 전형·지원자격  경기 ①</a:t>
            </a:r>
          </a:p>
        </p:txBody>
      </p:sp>
      <p:graphicFrame>
        <p:nvGraphicFramePr>
          <p:cNvPr id="3" name="표 2">
            <a:extLst>
              <a:ext uri="{FF2B5EF4-FFF2-40B4-BE49-F238E27FC236}">
                <a16:creationId xmlns:a16="http://schemas.microsoft.com/office/drawing/2014/main" id="{C4B74119-6392-4C78-B2F0-3B16A9BC1178}"/>
              </a:ext>
            </a:extLst>
          </p:cNvPr>
          <p:cNvGraphicFramePr/>
          <p:nvPr/>
        </p:nvGraphicFramePr>
        <p:xfrm>
          <a:off x="381000" y="1381125"/>
          <a:ext cx="10668000" cy="4649343"/>
        </p:xfrm>
        <a:graphic>
          <a:graphicData uri="http://schemas.openxmlformats.org/drawingml/2006/table">
            <a:tbl>
              <a:tblPr/>
              <a:tblGrid>
                <a:gridCol w="1762125">
                  <a:extLst>
                    <a:ext uri="{9D8B030D-6E8A-4147-A177-3AD203B41FA5}">
                      <a16:colId xmlns:a16="http://schemas.microsoft.com/office/drawing/2014/main" val="20000"/>
                    </a:ext>
                  </a:extLst>
                </a:gridCol>
                <a:gridCol w="809625">
                  <a:extLst>
                    <a:ext uri="{9D8B030D-6E8A-4147-A177-3AD203B41FA5}">
                      <a16:colId xmlns:a16="http://schemas.microsoft.com/office/drawing/2014/main" val="20001"/>
                    </a:ext>
                  </a:extLst>
                </a:gridCol>
                <a:gridCol w="2143125">
                  <a:extLst>
                    <a:ext uri="{9D8B030D-6E8A-4147-A177-3AD203B41FA5}">
                      <a16:colId xmlns:a16="http://schemas.microsoft.com/office/drawing/2014/main" val="20002"/>
                    </a:ext>
                  </a:extLst>
                </a:gridCol>
                <a:gridCol w="4048125">
                  <a:extLst>
                    <a:ext uri="{9D8B030D-6E8A-4147-A177-3AD203B41FA5}">
                      <a16:colId xmlns:a16="http://schemas.microsoft.com/office/drawing/2014/main" val="20003"/>
                    </a:ext>
                  </a:extLst>
                </a:gridCol>
                <a:gridCol w="1905000">
                  <a:extLst>
                    <a:ext uri="{9D8B030D-6E8A-4147-A177-3AD203B41FA5}">
                      <a16:colId xmlns:a16="http://schemas.microsoft.com/office/drawing/2014/main" val="20004"/>
                    </a:ext>
                  </a:extLst>
                </a:gridCol>
              </a:tblGrid>
              <a:tr h="400050">
                <a:tc>
                  <a:txBody>
                    <a:bodyPr/>
                    <a:lstStyle/>
                    <a:p>
                      <a:r>
                        <a:rPr sz="1500" b="1">
                          <a:solidFill>
                            <a:srgbClr val="FFFFFF"/>
                          </a:solidFill>
                          <a:latin typeface="맑은 고딕"/>
                          <a:ea typeface="맑은 고딕"/>
                          <a:cs typeface="맑은 고딕"/>
                        </a:rPr>
                        <a:t>대학명</a:t>
                      </a:r>
                    </a:p>
                  </a:txBody>
                  <a:tcPr marL="95250" marR="95250" marT="47625" marB="47625" anchor="ctr">
                    <a:lnL w="5715">
                      <a:solidFill>
                        <a:srgbClr val="C5CFDA"/>
                      </a:solidFill>
                      <a:prstDash val="soli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전형수</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주력 전형유형</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핵심 선발구조조건</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비고</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extLst>
                  <a:ext uri="{0D108BD9-81ED-4DB2-BD59-A6C34878D82A}">
                    <a16:rowId xmlns:a16="http://schemas.microsoft.com/office/drawing/2014/main" val="10000"/>
                  </a:ext>
                </a:extLst>
              </a:tr>
              <a:tr h="547497">
                <a:tc>
                  <a:txBody>
                    <a:bodyPr/>
                    <a:lstStyle/>
                    <a:p>
                      <a:r>
                        <a:rPr sz="1350" b="1">
                          <a:solidFill>
                            <a:srgbClr val="17212D"/>
                          </a:solidFill>
                          <a:latin typeface="맑은 고딕"/>
                          <a:ea typeface="맑은 고딕"/>
                          <a:cs typeface="맑은 고딕"/>
                        </a:rPr>
                        <a:t>가천대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2</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일반1 / 일반2</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일반1·일반2 수능 100</a:t>
                      </a:r>
                    </a:p>
                    <a:p>
                      <a:r>
                        <a:rPr sz="1350" b="0">
                          <a:solidFill>
                            <a:srgbClr val="17212D"/>
                          </a:solidFill>
                          <a:latin typeface="맑은 고딕"/>
                          <a:ea typeface="맑은 고딕"/>
                          <a:cs typeface="맑은 고딕"/>
                        </a:rPr>
                        <a:t>일반1 백분위 / 일반2 표준점수</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1"/>
                  </a:ext>
                </a:extLst>
              </a:tr>
              <a:tr h="547497">
                <a:tc>
                  <a:txBody>
                    <a:bodyPr/>
                    <a:lstStyle/>
                    <a:p>
                      <a:r>
                        <a:rPr sz="1350" b="1">
                          <a:solidFill>
                            <a:srgbClr val="17212D"/>
                          </a:solidFill>
                          <a:latin typeface="맑은 고딕"/>
                          <a:ea typeface="맑은 고딕"/>
                          <a:cs typeface="맑은 고딕"/>
                        </a:rPr>
                        <a:t>가톨릭대(성심)</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2</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일반Ⅰ / 일반Ⅱ</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성심 모집단위 Ⅰ·Ⅱ 수능 100</a:t>
                      </a:r>
                    </a:p>
                    <a:p>
                      <a:r>
                        <a:rPr sz="1350" b="0">
                          <a:solidFill>
                            <a:srgbClr val="17212D"/>
                          </a:solidFill>
                          <a:latin typeface="맑은 고딕"/>
                          <a:ea typeface="맑은 고딕"/>
                          <a:cs typeface="맑은 고딕"/>
                        </a:rPr>
                        <a:t>성의 의예 일반Ⅲ는 이 표에서 제외</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2"/>
                  </a:ext>
                </a:extLst>
              </a:tr>
              <a:tr h="547497">
                <a:tc>
                  <a:txBody>
                    <a:bodyPr/>
                    <a:lstStyle/>
                    <a:p>
                      <a:r>
                        <a:rPr sz="1350" b="1">
                          <a:solidFill>
                            <a:srgbClr val="17212D"/>
                          </a:solidFill>
                          <a:latin typeface="맑은 고딕"/>
                          <a:ea typeface="맑은 고딕"/>
                          <a:cs typeface="맑은 고딕"/>
                        </a:rPr>
                        <a:t>경기대(서울·수원)</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2</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일반학생Ⅰ / 일반학생Ⅱ</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Ⅰ 비실기 수능 100</a:t>
                      </a:r>
                    </a:p>
                    <a:p>
                      <a:r>
                        <a:rPr sz="1350" b="0">
                          <a:solidFill>
                            <a:srgbClr val="17212D"/>
                          </a:solidFill>
                          <a:latin typeface="맑은 고딕"/>
                          <a:ea typeface="맑은 고딕"/>
                          <a:cs typeface="맑은 고딕"/>
                        </a:rPr>
                        <a:t>Ⅱ 자유전공 수능 95+교과 5(출결 감점 별도)</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3"/>
                  </a:ext>
                </a:extLst>
              </a:tr>
              <a:tr h="749808">
                <a:tc>
                  <a:txBody>
                    <a:bodyPr/>
                    <a:lstStyle/>
                    <a:p>
                      <a:r>
                        <a:rPr sz="1350" b="1">
                          <a:solidFill>
                            <a:srgbClr val="17212D"/>
                          </a:solidFill>
                          <a:latin typeface="맑은 고딕"/>
                          <a:ea typeface="맑은 고딕"/>
                          <a:cs typeface="맑은 고딕"/>
                        </a:rPr>
                        <a:t>경희대(국제)</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2</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수능·학생부형 / 수능형</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수능·학생부형: 수능 90+교과 5+출결 2.5+봉사 2.5</a:t>
                      </a:r>
                    </a:p>
                    <a:p>
                      <a:r>
                        <a:rPr sz="1350" b="0">
                          <a:solidFill>
                            <a:srgbClr val="17212D"/>
                          </a:solidFill>
                          <a:latin typeface="맑은 고딕"/>
                          <a:ea typeface="맑은 고딕"/>
                          <a:cs typeface="맑은 고딕"/>
                        </a:rPr>
                        <a:t>수능형: 수능 100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1">
                          <a:solidFill>
                            <a:srgbClr val="006B65"/>
                          </a:solidFill>
                          <a:latin typeface="맑은 고딕"/>
                          <a:ea typeface="맑은 고딕"/>
                          <a:cs typeface="맑은 고딕"/>
                        </a:rPr>
                        <a:t>일반: 이원화</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4"/>
                  </a:ext>
                </a:extLst>
              </a:tr>
              <a:tr h="381000">
                <a:tc>
                  <a:txBody>
                    <a:bodyPr/>
                    <a:lstStyle/>
                    <a:p>
                      <a:r>
                        <a:rPr sz="1350" b="1">
                          <a:solidFill>
                            <a:srgbClr val="17212D"/>
                          </a:solidFill>
                          <a:latin typeface="맑은 고딕"/>
                          <a:ea typeface="맑은 고딕"/>
                          <a:cs typeface="맑은 고딕"/>
                        </a:rPr>
                        <a:t>단국대(죽전)</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1</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일반학생</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일반 인문·자연 수능 90+학생부정성 10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5"/>
                  </a:ext>
                </a:extLst>
              </a:tr>
              <a:tr h="547497">
                <a:tc>
                  <a:txBody>
                    <a:bodyPr/>
                    <a:lstStyle/>
                    <a:p>
                      <a:r>
                        <a:rPr sz="1350" b="1">
                          <a:solidFill>
                            <a:srgbClr val="17212D"/>
                          </a:solidFill>
                          <a:latin typeface="맑은 고딕"/>
                          <a:ea typeface="맑은 고딕"/>
                          <a:cs typeface="맑은 고딕"/>
                        </a:rPr>
                        <a:t>수원대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2</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수능일반1 / 수능일반2</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두 전형 수능 100</a:t>
                      </a:r>
                    </a:p>
                    <a:p>
                      <a:r>
                        <a:rPr sz="1350" b="0">
                          <a:solidFill>
                            <a:srgbClr val="17212D"/>
                          </a:solidFill>
                          <a:latin typeface="맑은 고딕"/>
                          <a:ea typeface="맑은 고딕"/>
                          <a:cs typeface="맑은 고딕"/>
                        </a:rPr>
                        <a:t>1: 국어/수학 필수 반영 / 2: 우수 3영역</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6"/>
                  </a:ext>
                </a:extLst>
              </a:tr>
              <a:tr h="547497">
                <a:tc>
                  <a:txBody>
                    <a:bodyPr/>
                    <a:lstStyle/>
                    <a:p>
                      <a:r>
                        <a:rPr sz="1350" b="1">
                          <a:solidFill>
                            <a:srgbClr val="17212D"/>
                          </a:solidFill>
                          <a:latin typeface="맑은 고딕"/>
                          <a:ea typeface="맑은 고딕"/>
                          <a:cs typeface="맑은 고딕"/>
                        </a:rPr>
                        <a:t>아주대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4</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일반1 / 2 / 3 / 4</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일반1 의학: 수능 95+면접 5</a:t>
                      </a:r>
                    </a:p>
                    <a:p>
                      <a:r>
                        <a:rPr sz="1350" b="0">
                          <a:solidFill>
                            <a:srgbClr val="17212D"/>
                          </a:solidFill>
                          <a:latin typeface="맑은 고딕"/>
                          <a:ea typeface="맑은 고딕"/>
                          <a:cs typeface="맑은 고딕"/>
                        </a:rPr>
                        <a:t>일반2 자유전공·3 일반·4 간호교차: 수능 100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7"/>
                  </a:ext>
                </a:extLst>
              </a:tr>
              <a:tr h="381000">
                <a:tc>
                  <a:txBody>
                    <a:bodyPr/>
                    <a:lstStyle/>
                    <a:p>
                      <a:r>
                        <a:rPr sz="1350" b="1">
                          <a:solidFill>
                            <a:srgbClr val="17212D"/>
                          </a:solidFill>
                          <a:latin typeface="맑은 고딕"/>
                          <a:ea typeface="맑은 고딕"/>
                          <a:cs typeface="맑은 고딕"/>
                        </a:rPr>
                        <a:t>한경국립대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1</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일반</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수능 90+출결 10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8"/>
                  </a:ext>
                </a:extLst>
              </a:tr>
            </a:tbl>
          </a:graphicData>
        </a:graphic>
      </p:graphicFrame>
      <p:sp>
        <p:nvSpPr>
          <p:cNvPr id="4" name="직사각형 3">
            <a:extLst>
              <a:ext uri="{FF2B5EF4-FFF2-40B4-BE49-F238E27FC236}">
                <a16:creationId xmlns:a16="http://schemas.microsoft.com/office/drawing/2014/main" id="{CFD6D2A6-2C1F-4C3D-BD4A-624277AC4C43}"/>
              </a:ext>
            </a:extLst>
          </p:cNvPr>
          <p:cNvSpPr>
            <a:spLocks noGrp="1"/>
          </p:cNvSpPr>
          <p:nvPr/>
        </p:nvSpPr>
        <p:spPr>
          <a:xfrm>
            <a:off x="381000" y="6154293"/>
            <a:ext cx="10668000" cy="438150"/>
          </a:xfrm>
          <a:prstGeom prst="rect">
            <a:avLst/>
          </a:prstGeom>
          <a:noFill/>
          <a:ln w="0">
            <a:noFill/>
          </a:ln>
        </p:spPr>
        <p:txBody>
          <a:bodyPr lIns="0" tIns="0" rIns="0" bIns="0" anchor="t"/>
          <a:lstStyle>
            <a:defPPr>
              <a:defRPr sz="1050" b="0">
                <a:solidFill>
                  <a:srgbClr val="535D69"/>
                </a:solidFill>
                <a:latin typeface="맑은 고딕"/>
                <a:ea typeface="맑은 고딕"/>
                <a:cs typeface="맑은 고딕"/>
              </a:defRPr>
            </a:defPPr>
            <a:lvl1pPr>
              <a:defRPr sz="1050" b="0">
                <a:solidFill>
                  <a:srgbClr val="535D69"/>
                </a:solidFill>
                <a:latin typeface="맑은 고딕"/>
                <a:ea typeface="맑은 고딕"/>
                <a:cs typeface="맑은 고딕"/>
              </a:defRPr>
            </a:lvl1pPr>
            <a:lvl2pPr>
              <a:defRPr sz="1050" b="0">
                <a:solidFill>
                  <a:srgbClr val="535D69"/>
                </a:solidFill>
                <a:latin typeface="맑은 고딕"/>
                <a:ea typeface="맑은 고딕"/>
                <a:cs typeface="맑은 고딕"/>
              </a:defRPr>
            </a:lvl2pPr>
            <a:lvl3pPr>
              <a:defRPr sz="1050" b="0">
                <a:solidFill>
                  <a:srgbClr val="535D69"/>
                </a:solidFill>
                <a:latin typeface="맑은 고딕"/>
                <a:ea typeface="맑은 고딕"/>
                <a:cs typeface="맑은 고딕"/>
              </a:defRPr>
            </a:lvl3pPr>
            <a:lvl4pPr>
              <a:defRPr sz="1050" b="0">
                <a:solidFill>
                  <a:srgbClr val="535D69"/>
                </a:solidFill>
                <a:latin typeface="맑은 고딕"/>
                <a:ea typeface="맑은 고딕"/>
                <a:cs typeface="맑은 고딕"/>
              </a:defRPr>
            </a:lvl4pPr>
            <a:lvl5pPr>
              <a:defRPr sz="1050" b="0">
                <a:solidFill>
                  <a:srgbClr val="535D69"/>
                </a:solidFill>
                <a:latin typeface="맑은 고딕"/>
                <a:ea typeface="맑은 고딕"/>
                <a:cs typeface="맑은 고딕"/>
              </a:defRPr>
            </a:lvl5pPr>
            <a:lvl6pPr>
              <a:defRPr sz="1050" b="0">
                <a:solidFill>
                  <a:srgbClr val="535D69"/>
                </a:solidFill>
                <a:latin typeface="맑은 고딕"/>
                <a:ea typeface="맑은 고딕"/>
                <a:cs typeface="맑은 고딕"/>
              </a:defRPr>
            </a:lvl6pPr>
            <a:lvl7pPr>
              <a:defRPr sz="1050" b="0">
                <a:solidFill>
                  <a:srgbClr val="535D69"/>
                </a:solidFill>
                <a:latin typeface="맑은 고딕"/>
                <a:ea typeface="맑은 고딕"/>
                <a:cs typeface="맑은 고딕"/>
              </a:defRPr>
            </a:lvl7pPr>
            <a:lvl8pPr>
              <a:defRPr sz="1050" b="0">
                <a:solidFill>
                  <a:srgbClr val="535D69"/>
                </a:solidFill>
                <a:latin typeface="맑은 고딕"/>
                <a:ea typeface="맑은 고딕"/>
                <a:cs typeface="맑은 고딕"/>
              </a:defRPr>
            </a:lvl8pPr>
            <a:lvl9pPr>
              <a:defRPr sz="1050" b="0">
                <a:solidFill>
                  <a:srgbClr val="535D69"/>
                </a:solidFill>
                <a:latin typeface="맑은 고딕"/>
                <a:ea typeface="맑은 고딕"/>
                <a:cs typeface="맑은 고딕"/>
              </a:defRPr>
            </a:lvl9pPr>
          </a:lstStyle>
          <a:p>
            <a:pPr>
              <a:defRPr sz="1050" b="0">
                <a:solidFill>
                  <a:srgbClr val="535D69"/>
                </a:solidFill>
                <a:latin typeface="맑은 고딕"/>
                <a:ea typeface="맑은 고딕"/>
                <a:cs typeface="맑은 고딕"/>
              </a:defRPr>
            </a:pPr>
            <a:r>
              <a:rPr sz="1050" b="0">
                <a:solidFill>
                  <a:srgbClr val="535D69"/>
                </a:solidFill>
                <a:latin typeface="맑은 고딕"/>
                <a:ea typeface="맑은 고딕"/>
                <a:cs typeface="맑은 고딕"/>
              </a:rPr>
              <a:t>전형수=표의 주력 유형 수(군 중복 통합, 특별·예체능·군사·계약·이월 제외). 현역=졸업예정자 한정, 추천=학교장 추천.  신설·분리·이원화는 명시된 전형에 적용. —=키워드 표시 없음. 지역은 캠퍼스·본부 기준(성균관대·경기대는 서울·경기 통합). 성별·고교유형 등 세부조건 별도.</a:t>
            </a:r>
          </a:p>
        </p:txBody>
      </p:sp>
      <p:sp>
        <p:nvSpPr>
          <p:cNvPr id="5" name="직사각형 4">
            <a:extLst>
              <a:ext uri="{FF2B5EF4-FFF2-40B4-BE49-F238E27FC236}">
                <a16:creationId xmlns:a16="http://schemas.microsoft.com/office/drawing/2014/main" id="{42633714-03DA-4030-BF6D-CB308DD9287C}"/>
              </a:ext>
            </a:extLst>
          </p:cNvPr>
          <p:cNvSpPr>
            <a:spLocks noGrp="1"/>
          </p:cNvSpPr>
          <p:nvPr/>
        </p:nvSpPr>
        <p:spPr>
          <a:xfrm>
            <a:off x="381000" y="9572625"/>
            <a:ext cx="10096500" cy="361950"/>
          </a:xfrm>
          <a:prstGeom prst="rect">
            <a:avLst/>
          </a:prstGeom>
          <a:noFill/>
          <a:ln w="0">
            <a:noFill/>
          </a:ln>
        </p:spPr>
        <p:txBody>
          <a:bodyPr lIns="0" tIns="0" rIns="0" bIns="0" anchor="t"/>
          <a:lstStyle>
            <a:defPPr>
              <a:defRPr sz="900" b="0">
                <a:solidFill>
                  <a:srgbClr val="666666"/>
                </a:solidFill>
                <a:latin typeface="맑은 고딕"/>
                <a:ea typeface="맑은 고딕"/>
                <a:cs typeface="맑은 고딕"/>
              </a:defRPr>
            </a:defPPr>
            <a:lvl1pPr>
              <a:defRPr sz="900" b="0">
                <a:solidFill>
                  <a:srgbClr val="666666"/>
                </a:solidFill>
                <a:latin typeface="맑은 고딕"/>
                <a:ea typeface="맑은 고딕"/>
                <a:cs typeface="맑은 고딕"/>
              </a:defRPr>
            </a:lvl1pPr>
            <a:lvl2pPr>
              <a:defRPr sz="900" b="0">
                <a:solidFill>
                  <a:srgbClr val="666666"/>
                </a:solidFill>
                <a:latin typeface="맑은 고딕"/>
                <a:ea typeface="맑은 고딕"/>
                <a:cs typeface="맑은 고딕"/>
              </a:defRPr>
            </a:lvl2pPr>
            <a:lvl3pPr>
              <a:defRPr sz="900" b="0">
                <a:solidFill>
                  <a:srgbClr val="666666"/>
                </a:solidFill>
                <a:latin typeface="맑은 고딕"/>
                <a:ea typeface="맑은 고딕"/>
                <a:cs typeface="맑은 고딕"/>
              </a:defRPr>
            </a:lvl3pPr>
            <a:lvl4pPr>
              <a:defRPr sz="900" b="0">
                <a:solidFill>
                  <a:srgbClr val="666666"/>
                </a:solidFill>
                <a:latin typeface="맑은 고딕"/>
                <a:ea typeface="맑은 고딕"/>
                <a:cs typeface="맑은 고딕"/>
              </a:defRPr>
            </a:lvl4pPr>
            <a:lvl5pPr>
              <a:defRPr sz="900" b="0">
                <a:solidFill>
                  <a:srgbClr val="666666"/>
                </a:solidFill>
                <a:latin typeface="맑은 고딕"/>
                <a:ea typeface="맑은 고딕"/>
                <a:cs typeface="맑은 고딕"/>
              </a:defRPr>
            </a:lvl5pPr>
            <a:lvl6pPr>
              <a:defRPr sz="900" b="0">
                <a:solidFill>
                  <a:srgbClr val="666666"/>
                </a:solidFill>
                <a:latin typeface="맑은 고딕"/>
                <a:ea typeface="맑은 고딕"/>
                <a:cs typeface="맑은 고딕"/>
              </a:defRPr>
            </a:lvl6pPr>
            <a:lvl7pPr>
              <a:defRPr sz="900" b="0">
                <a:solidFill>
                  <a:srgbClr val="666666"/>
                </a:solidFill>
                <a:latin typeface="맑은 고딕"/>
                <a:ea typeface="맑은 고딕"/>
                <a:cs typeface="맑은 고딕"/>
              </a:defRPr>
            </a:lvl7pPr>
            <a:lvl8pPr>
              <a:defRPr sz="900" b="0">
                <a:solidFill>
                  <a:srgbClr val="666666"/>
                </a:solidFill>
                <a:latin typeface="맑은 고딕"/>
                <a:ea typeface="맑은 고딕"/>
                <a:cs typeface="맑은 고딕"/>
              </a:defRPr>
            </a:lvl8pPr>
            <a:lvl9pPr>
              <a:defRPr sz="900" b="0">
                <a:solidFill>
                  <a:srgbClr val="666666"/>
                </a:solidFill>
                <a:latin typeface="맑은 고딕"/>
                <a:ea typeface="맑은 고딕"/>
                <a:cs typeface="맑은 고딕"/>
              </a:defRPr>
            </a:lvl9pPr>
          </a:lstStyle>
          <a:p>
            <a:pPr>
              <a:defRPr sz="900" b="0">
                <a:solidFill>
                  <a:srgbClr val="666666"/>
                </a:solidFill>
                <a:latin typeface="맑은 고딕"/>
                <a:ea typeface="맑은 고딕"/>
                <a:cs typeface="맑은 고딕"/>
              </a:defRPr>
            </a:pPr>
            <a:r>
              <a:rPr sz="900" b="0">
                <a:solidFill>
                  <a:srgbClr val="666666"/>
                </a:solidFill>
                <a:latin typeface="맑은 고딕"/>
                <a:ea typeface="맑은 고딕"/>
                <a:cs typeface="맑은 고딕"/>
              </a:rPr>
              <a:t>근거  각 대학 2028 시행계획; SEN 대학별 전형방법·전년 대비 변경사항(세부 쪽수는 별도 근거표)</a:t>
            </a:r>
          </a:p>
        </p:txBody>
      </p:sp>
      <p:sp>
        <p:nvSpPr>
          <p:cNvPr id="6" name="직사각형 5">
            <a:extLst>
              <a:ext uri="{FF2B5EF4-FFF2-40B4-BE49-F238E27FC236}">
                <a16:creationId xmlns:a16="http://schemas.microsoft.com/office/drawing/2014/main" id="{6D4ECC65-4832-4B08-9020-D2DC97F58F68}"/>
              </a:ext>
            </a:extLst>
          </p:cNvPr>
          <p:cNvSpPr>
            <a:spLocks noGrp="1"/>
          </p:cNvSpPr>
          <p:nvPr/>
        </p:nvSpPr>
        <p:spPr>
          <a:xfrm>
            <a:off x="10715625" y="9572625"/>
            <a:ext cx="333375" cy="228600"/>
          </a:xfrm>
          <a:prstGeom prst="rect">
            <a:avLst/>
          </a:prstGeom>
          <a:noFill/>
          <a:ln w="0">
            <a:noFill/>
          </a:ln>
        </p:spPr>
        <p:txBody>
          <a:bodyPr lIns="0" tIns="0" rIns="0" bIns="0" anchor="t"/>
          <a:lstStyle>
            <a:defPPr>
              <a:defRPr sz="1050" b="0">
                <a:solidFill>
                  <a:srgbClr val="002060"/>
                </a:solidFill>
                <a:latin typeface="맑은 고딕"/>
                <a:ea typeface="맑은 고딕"/>
                <a:cs typeface="맑은 고딕"/>
              </a:defRPr>
            </a:defPPr>
            <a:lvl1pPr>
              <a:defRPr sz="1050" b="0">
                <a:solidFill>
                  <a:srgbClr val="002060"/>
                </a:solidFill>
                <a:latin typeface="맑은 고딕"/>
                <a:ea typeface="맑은 고딕"/>
                <a:cs typeface="맑은 고딕"/>
              </a:defRPr>
            </a:lvl1pPr>
            <a:lvl2pPr>
              <a:defRPr sz="1050" b="0">
                <a:solidFill>
                  <a:srgbClr val="002060"/>
                </a:solidFill>
                <a:latin typeface="맑은 고딕"/>
                <a:ea typeface="맑은 고딕"/>
                <a:cs typeface="맑은 고딕"/>
              </a:defRPr>
            </a:lvl2pPr>
            <a:lvl3pPr>
              <a:defRPr sz="1050" b="0">
                <a:solidFill>
                  <a:srgbClr val="002060"/>
                </a:solidFill>
                <a:latin typeface="맑은 고딕"/>
                <a:ea typeface="맑은 고딕"/>
                <a:cs typeface="맑은 고딕"/>
              </a:defRPr>
            </a:lvl3pPr>
            <a:lvl4pPr>
              <a:defRPr sz="1050" b="0">
                <a:solidFill>
                  <a:srgbClr val="002060"/>
                </a:solidFill>
                <a:latin typeface="맑은 고딕"/>
                <a:ea typeface="맑은 고딕"/>
                <a:cs typeface="맑은 고딕"/>
              </a:defRPr>
            </a:lvl4pPr>
            <a:lvl5pPr>
              <a:defRPr sz="1050" b="0">
                <a:solidFill>
                  <a:srgbClr val="002060"/>
                </a:solidFill>
                <a:latin typeface="맑은 고딕"/>
                <a:ea typeface="맑은 고딕"/>
                <a:cs typeface="맑은 고딕"/>
              </a:defRPr>
            </a:lvl5pPr>
            <a:lvl6pPr>
              <a:defRPr sz="1050" b="0">
                <a:solidFill>
                  <a:srgbClr val="002060"/>
                </a:solidFill>
                <a:latin typeface="맑은 고딕"/>
                <a:ea typeface="맑은 고딕"/>
                <a:cs typeface="맑은 고딕"/>
              </a:defRPr>
            </a:lvl6pPr>
            <a:lvl7pPr>
              <a:defRPr sz="1050" b="0">
                <a:solidFill>
                  <a:srgbClr val="002060"/>
                </a:solidFill>
                <a:latin typeface="맑은 고딕"/>
                <a:ea typeface="맑은 고딕"/>
                <a:cs typeface="맑은 고딕"/>
              </a:defRPr>
            </a:lvl7pPr>
            <a:lvl8pPr>
              <a:defRPr sz="1050" b="0">
                <a:solidFill>
                  <a:srgbClr val="002060"/>
                </a:solidFill>
                <a:latin typeface="맑은 고딕"/>
                <a:ea typeface="맑은 고딕"/>
                <a:cs typeface="맑은 고딕"/>
              </a:defRPr>
            </a:lvl8pPr>
            <a:lvl9pPr>
              <a:defRPr sz="1050" b="0">
                <a:solidFill>
                  <a:srgbClr val="002060"/>
                </a:solidFill>
                <a:latin typeface="맑은 고딕"/>
                <a:ea typeface="맑은 고딕"/>
                <a:cs typeface="맑은 고딕"/>
              </a:defRPr>
            </a:lvl9pPr>
          </a:lstStyle>
          <a:p>
            <a:pPr>
              <a:defRPr sz="1050" b="0">
                <a:solidFill>
                  <a:srgbClr val="002060"/>
                </a:solidFill>
                <a:latin typeface="맑은 고딕"/>
                <a:ea typeface="맑은 고딕"/>
                <a:cs typeface="맑은 고딕"/>
              </a:defRPr>
            </a:pPr>
            <a:r>
              <a:rPr sz="1050" b="0">
                <a:solidFill>
                  <a:srgbClr val="002060"/>
                </a:solidFill>
                <a:latin typeface="맑은 고딕"/>
                <a:ea typeface="맑은 고딕"/>
                <a:cs typeface="맑은 고딕"/>
              </a:rPr>
              <a:t>04</a:t>
            </a:r>
          </a:p>
        </p:txBody>
      </p:sp>
    </p:spTree>
    <p:extLst>
      <p:ext uri="{BB962C8B-B14F-4D97-AF65-F5344CB8AC3E}">
        <p14:creationId xmlns:p14="http://schemas.microsoft.com/office/powerpoint/2010/main" val="18207372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직사각형 9">
            <a:extLst>
              <a:ext uri="{FF2B5EF4-FFF2-40B4-BE49-F238E27FC236}">
                <a16:creationId xmlns:a16="http://schemas.microsoft.com/office/drawing/2014/main" id="{746C0936-072B-48E8-A193-00D9B11FE2DF}"/>
              </a:ext>
            </a:extLst>
          </p:cNvPr>
          <p:cNvSpPr>
            <a:spLocks noGrp="1"/>
          </p:cNvSpPr>
          <p:nvPr/>
        </p:nvSpPr>
        <p:spPr>
          <a:xfrm>
            <a:off x="381000" y="228600"/>
            <a:ext cx="9525000" cy="238125"/>
          </a:xfrm>
          <a:prstGeom prst="rect">
            <a:avLst/>
          </a:prstGeom>
          <a:noFill/>
          <a:ln w="0">
            <a:noFill/>
          </a:ln>
        </p:spPr>
        <p:txBody>
          <a:bodyPr lIns="0" tIns="0" rIns="0" bIns="0" anchor="t"/>
          <a:lstStyle>
            <a:defPPr>
              <a:defRPr sz="1200" b="1">
                <a:solidFill>
                  <a:srgbClr val="002060"/>
                </a:solidFill>
                <a:latin typeface="맑은 고딕"/>
                <a:ea typeface="맑은 고딕"/>
                <a:cs typeface="맑은 고딕"/>
              </a:defRPr>
            </a:defPPr>
            <a:lvl1pPr>
              <a:defRPr sz="1200" b="1">
                <a:solidFill>
                  <a:srgbClr val="002060"/>
                </a:solidFill>
                <a:latin typeface="맑은 고딕"/>
                <a:ea typeface="맑은 고딕"/>
                <a:cs typeface="맑은 고딕"/>
              </a:defRPr>
            </a:lvl1pPr>
            <a:lvl2pPr>
              <a:defRPr sz="1200" b="1">
                <a:solidFill>
                  <a:srgbClr val="002060"/>
                </a:solidFill>
                <a:latin typeface="맑은 고딕"/>
                <a:ea typeface="맑은 고딕"/>
                <a:cs typeface="맑은 고딕"/>
              </a:defRPr>
            </a:lvl2pPr>
            <a:lvl3pPr>
              <a:defRPr sz="1200" b="1">
                <a:solidFill>
                  <a:srgbClr val="002060"/>
                </a:solidFill>
                <a:latin typeface="맑은 고딕"/>
                <a:ea typeface="맑은 고딕"/>
                <a:cs typeface="맑은 고딕"/>
              </a:defRPr>
            </a:lvl3pPr>
            <a:lvl4pPr>
              <a:defRPr sz="1200" b="1">
                <a:solidFill>
                  <a:srgbClr val="002060"/>
                </a:solidFill>
                <a:latin typeface="맑은 고딕"/>
                <a:ea typeface="맑은 고딕"/>
                <a:cs typeface="맑은 고딕"/>
              </a:defRPr>
            </a:lvl4pPr>
            <a:lvl5pPr>
              <a:defRPr sz="1200" b="1">
                <a:solidFill>
                  <a:srgbClr val="002060"/>
                </a:solidFill>
                <a:latin typeface="맑은 고딕"/>
                <a:ea typeface="맑은 고딕"/>
                <a:cs typeface="맑은 고딕"/>
              </a:defRPr>
            </a:lvl5pPr>
            <a:lvl6pPr>
              <a:defRPr sz="1200" b="1">
                <a:solidFill>
                  <a:srgbClr val="002060"/>
                </a:solidFill>
                <a:latin typeface="맑은 고딕"/>
                <a:ea typeface="맑은 고딕"/>
                <a:cs typeface="맑은 고딕"/>
              </a:defRPr>
            </a:lvl6pPr>
            <a:lvl7pPr>
              <a:defRPr sz="1200" b="1">
                <a:solidFill>
                  <a:srgbClr val="002060"/>
                </a:solidFill>
                <a:latin typeface="맑은 고딕"/>
                <a:ea typeface="맑은 고딕"/>
                <a:cs typeface="맑은 고딕"/>
              </a:defRPr>
            </a:lvl7pPr>
            <a:lvl8pPr>
              <a:defRPr sz="1200" b="1">
                <a:solidFill>
                  <a:srgbClr val="002060"/>
                </a:solidFill>
                <a:latin typeface="맑은 고딕"/>
                <a:ea typeface="맑은 고딕"/>
                <a:cs typeface="맑은 고딕"/>
              </a:defRPr>
            </a:lvl8pPr>
            <a:lvl9pPr>
              <a:defRPr sz="1200" b="1">
                <a:solidFill>
                  <a:srgbClr val="002060"/>
                </a:solidFill>
                <a:latin typeface="맑은 고딕"/>
                <a:ea typeface="맑은 고딕"/>
                <a:cs typeface="맑은 고딕"/>
              </a:defRPr>
            </a:lvl9pPr>
          </a:lstStyle>
          <a:p>
            <a:pPr>
              <a:defRPr sz="1200" b="1">
                <a:solidFill>
                  <a:srgbClr val="002060"/>
                </a:solidFill>
                <a:latin typeface="맑은 고딕"/>
                <a:ea typeface="맑은 고딕"/>
                <a:cs typeface="맑은 고딕"/>
              </a:defRPr>
            </a:pPr>
            <a:r>
              <a:rPr sz="1200" b="1">
                <a:solidFill>
                  <a:srgbClr val="002060"/>
                </a:solidFill>
                <a:latin typeface="맑은 고딕"/>
                <a:ea typeface="맑은 고딕"/>
                <a:cs typeface="맑은 고딕"/>
              </a:rPr>
              <a:t>2028 정시  대학별 전형 비교</a:t>
            </a:r>
          </a:p>
        </p:txBody>
      </p:sp>
      <p:sp>
        <p:nvSpPr>
          <p:cNvPr id="2" name="직사각형 1">
            <a:extLst>
              <a:ext uri="{FF2B5EF4-FFF2-40B4-BE49-F238E27FC236}">
                <a16:creationId xmlns:a16="http://schemas.microsoft.com/office/drawing/2014/main" id="{EC8BECE9-8B7E-473F-AEAB-C37DBEB9951C}"/>
              </a:ext>
            </a:extLst>
          </p:cNvPr>
          <p:cNvSpPr>
            <a:spLocks noGrp="1"/>
          </p:cNvSpPr>
          <p:nvPr/>
        </p:nvSpPr>
        <p:spPr>
          <a:xfrm>
            <a:off x="381000" y="619125"/>
            <a:ext cx="10668000" cy="533400"/>
          </a:xfrm>
          <a:prstGeom prst="rect">
            <a:avLst/>
          </a:prstGeom>
          <a:noFill/>
          <a:ln w="0">
            <a:noFill/>
          </a:ln>
        </p:spPr>
        <p:txBody>
          <a:bodyPr lIns="0" tIns="0" rIns="0" bIns="0" anchor="t"/>
          <a:lstStyle>
            <a:defPPr>
              <a:defRPr sz="2400" b="1">
                <a:solidFill>
                  <a:srgbClr val="002060"/>
                </a:solidFill>
                <a:latin typeface="맑은 고딕"/>
                <a:ea typeface="맑은 고딕"/>
                <a:cs typeface="맑은 고딕"/>
              </a:defRPr>
            </a:defPPr>
            <a:lvl1pPr>
              <a:defRPr sz="2400" b="1">
                <a:solidFill>
                  <a:srgbClr val="002060"/>
                </a:solidFill>
                <a:latin typeface="맑은 고딕"/>
                <a:ea typeface="맑은 고딕"/>
                <a:cs typeface="맑은 고딕"/>
              </a:defRPr>
            </a:lvl1pPr>
            <a:lvl2pPr>
              <a:defRPr sz="2400" b="1">
                <a:solidFill>
                  <a:srgbClr val="002060"/>
                </a:solidFill>
                <a:latin typeface="맑은 고딕"/>
                <a:ea typeface="맑은 고딕"/>
                <a:cs typeface="맑은 고딕"/>
              </a:defRPr>
            </a:lvl2pPr>
            <a:lvl3pPr>
              <a:defRPr sz="2400" b="1">
                <a:solidFill>
                  <a:srgbClr val="002060"/>
                </a:solidFill>
                <a:latin typeface="맑은 고딕"/>
                <a:ea typeface="맑은 고딕"/>
                <a:cs typeface="맑은 고딕"/>
              </a:defRPr>
            </a:lvl3pPr>
            <a:lvl4pPr>
              <a:defRPr sz="2400" b="1">
                <a:solidFill>
                  <a:srgbClr val="002060"/>
                </a:solidFill>
                <a:latin typeface="맑은 고딕"/>
                <a:ea typeface="맑은 고딕"/>
                <a:cs typeface="맑은 고딕"/>
              </a:defRPr>
            </a:lvl4pPr>
            <a:lvl5pPr>
              <a:defRPr sz="2400" b="1">
                <a:solidFill>
                  <a:srgbClr val="002060"/>
                </a:solidFill>
                <a:latin typeface="맑은 고딕"/>
                <a:ea typeface="맑은 고딕"/>
                <a:cs typeface="맑은 고딕"/>
              </a:defRPr>
            </a:lvl5pPr>
            <a:lvl6pPr>
              <a:defRPr sz="2400" b="1">
                <a:solidFill>
                  <a:srgbClr val="002060"/>
                </a:solidFill>
                <a:latin typeface="맑은 고딕"/>
                <a:ea typeface="맑은 고딕"/>
                <a:cs typeface="맑은 고딕"/>
              </a:defRPr>
            </a:lvl6pPr>
            <a:lvl7pPr>
              <a:defRPr sz="2400" b="1">
                <a:solidFill>
                  <a:srgbClr val="002060"/>
                </a:solidFill>
                <a:latin typeface="맑은 고딕"/>
                <a:ea typeface="맑은 고딕"/>
                <a:cs typeface="맑은 고딕"/>
              </a:defRPr>
            </a:lvl7pPr>
            <a:lvl8pPr>
              <a:defRPr sz="2400" b="1">
                <a:solidFill>
                  <a:srgbClr val="002060"/>
                </a:solidFill>
                <a:latin typeface="맑은 고딕"/>
                <a:ea typeface="맑은 고딕"/>
                <a:cs typeface="맑은 고딕"/>
              </a:defRPr>
            </a:lvl8pPr>
            <a:lvl9pPr>
              <a:defRPr sz="2400" b="1">
                <a:solidFill>
                  <a:srgbClr val="002060"/>
                </a:solidFill>
                <a:latin typeface="맑은 고딕"/>
                <a:ea typeface="맑은 고딕"/>
                <a:cs typeface="맑은 고딕"/>
              </a:defRPr>
            </a:lvl9pPr>
          </a:lstStyle>
          <a:p>
            <a:pPr>
              <a:defRPr sz="2400" b="1">
                <a:solidFill>
                  <a:srgbClr val="002060"/>
                </a:solidFill>
                <a:latin typeface="맑은 고딕"/>
                <a:ea typeface="맑은 고딕"/>
                <a:cs typeface="맑은 고딕"/>
              </a:defRPr>
            </a:pPr>
            <a:r>
              <a:rPr sz="2400" b="1">
                <a:solidFill>
                  <a:srgbClr val="002060"/>
                </a:solidFill>
                <a:latin typeface="맑은 고딕"/>
                <a:ea typeface="맑은 고딕"/>
                <a:cs typeface="맑은 고딕"/>
              </a:rPr>
              <a:t>수도권 주요 대학 전형·지원자격  경기 ②·인천</a:t>
            </a:r>
          </a:p>
        </p:txBody>
      </p:sp>
      <p:sp>
        <p:nvSpPr>
          <p:cNvPr id="3" name="직사각형 2">
            <a:extLst>
              <a:ext uri="{FF2B5EF4-FFF2-40B4-BE49-F238E27FC236}">
                <a16:creationId xmlns:a16="http://schemas.microsoft.com/office/drawing/2014/main" id="{314CE2B8-59AB-4321-ADDF-B571C24DFB81}"/>
              </a:ext>
            </a:extLst>
          </p:cNvPr>
          <p:cNvSpPr>
            <a:spLocks noGrp="1"/>
          </p:cNvSpPr>
          <p:nvPr/>
        </p:nvSpPr>
        <p:spPr>
          <a:xfrm>
            <a:off x="381000" y="1381125"/>
            <a:ext cx="10668000" cy="257175"/>
          </a:xfrm>
          <a:prstGeom prst="rect">
            <a:avLst/>
          </a:prstGeom>
          <a:noFill/>
          <a:ln w="0">
            <a:noFill/>
          </a:ln>
        </p:spPr>
        <p:txBody>
          <a:bodyPr lIns="0" tIns="0" rIns="0" bIns="0" anchor="t"/>
          <a:lstStyle>
            <a:defPPr>
              <a:defRPr sz="1425" b="1">
                <a:solidFill>
                  <a:srgbClr val="002060"/>
                </a:solidFill>
                <a:latin typeface="맑은 고딕"/>
                <a:ea typeface="맑은 고딕"/>
                <a:cs typeface="맑은 고딕"/>
              </a:defRPr>
            </a:defPPr>
            <a:lvl1pPr>
              <a:defRPr sz="1425" b="1">
                <a:solidFill>
                  <a:srgbClr val="002060"/>
                </a:solidFill>
                <a:latin typeface="맑은 고딕"/>
                <a:ea typeface="맑은 고딕"/>
                <a:cs typeface="맑은 고딕"/>
              </a:defRPr>
            </a:lvl1pPr>
            <a:lvl2pPr>
              <a:defRPr sz="1425" b="1">
                <a:solidFill>
                  <a:srgbClr val="002060"/>
                </a:solidFill>
                <a:latin typeface="맑은 고딕"/>
                <a:ea typeface="맑은 고딕"/>
                <a:cs typeface="맑은 고딕"/>
              </a:defRPr>
            </a:lvl2pPr>
            <a:lvl3pPr>
              <a:defRPr sz="1425" b="1">
                <a:solidFill>
                  <a:srgbClr val="002060"/>
                </a:solidFill>
                <a:latin typeface="맑은 고딕"/>
                <a:ea typeface="맑은 고딕"/>
                <a:cs typeface="맑은 고딕"/>
              </a:defRPr>
            </a:lvl3pPr>
            <a:lvl4pPr>
              <a:defRPr sz="1425" b="1">
                <a:solidFill>
                  <a:srgbClr val="002060"/>
                </a:solidFill>
                <a:latin typeface="맑은 고딕"/>
                <a:ea typeface="맑은 고딕"/>
                <a:cs typeface="맑은 고딕"/>
              </a:defRPr>
            </a:lvl4pPr>
            <a:lvl5pPr>
              <a:defRPr sz="1425" b="1">
                <a:solidFill>
                  <a:srgbClr val="002060"/>
                </a:solidFill>
                <a:latin typeface="맑은 고딕"/>
                <a:ea typeface="맑은 고딕"/>
                <a:cs typeface="맑은 고딕"/>
              </a:defRPr>
            </a:lvl5pPr>
            <a:lvl6pPr>
              <a:defRPr sz="1425" b="1">
                <a:solidFill>
                  <a:srgbClr val="002060"/>
                </a:solidFill>
                <a:latin typeface="맑은 고딕"/>
                <a:ea typeface="맑은 고딕"/>
                <a:cs typeface="맑은 고딕"/>
              </a:defRPr>
            </a:lvl6pPr>
            <a:lvl7pPr>
              <a:defRPr sz="1425" b="1">
                <a:solidFill>
                  <a:srgbClr val="002060"/>
                </a:solidFill>
                <a:latin typeface="맑은 고딕"/>
                <a:ea typeface="맑은 고딕"/>
                <a:cs typeface="맑은 고딕"/>
              </a:defRPr>
            </a:lvl7pPr>
            <a:lvl8pPr>
              <a:defRPr sz="1425" b="1">
                <a:solidFill>
                  <a:srgbClr val="002060"/>
                </a:solidFill>
                <a:latin typeface="맑은 고딕"/>
                <a:ea typeface="맑은 고딕"/>
                <a:cs typeface="맑은 고딕"/>
              </a:defRPr>
            </a:lvl8pPr>
            <a:lvl9pPr>
              <a:defRPr sz="1425" b="1">
                <a:solidFill>
                  <a:srgbClr val="002060"/>
                </a:solidFill>
                <a:latin typeface="맑은 고딕"/>
                <a:ea typeface="맑은 고딕"/>
                <a:cs typeface="맑은 고딕"/>
              </a:defRPr>
            </a:lvl9pPr>
          </a:lstStyle>
          <a:p>
            <a:pPr>
              <a:defRPr sz="1425" b="1">
                <a:solidFill>
                  <a:srgbClr val="002060"/>
                </a:solidFill>
                <a:latin typeface="맑은 고딕"/>
                <a:ea typeface="맑은 고딕"/>
                <a:cs typeface="맑은 고딕"/>
              </a:defRPr>
            </a:pPr>
            <a:r>
              <a:rPr sz="1425" b="1">
                <a:solidFill>
                  <a:srgbClr val="002060"/>
                </a:solidFill>
                <a:latin typeface="맑은 고딕"/>
                <a:ea typeface="맑은 고딕"/>
                <a:cs typeface="맑은 고딕"/>
              </a:rPr>
              <a:t>경기</a:t>
            </a:r>
          </a:p>
        </p:txBody>
      </p:sp>
      <p:graphicFrame>
        <p:nvGraphicFramePr>
          <p:cNvPr id="4" name="표 3">
            <a:extLst>
              <a:ext uri="{FF2B5EF4-FFF2-40B4-BE49-F238E27FC236}">
                <a16:creationId xmlns:a16="http://schemas.microsoft.com/office/drawing/2014/main" id="{A63CEFF9-65A6-4BEF-9A0A-3CD37199D8F6}"/>
              </a:ext>
            </a:extLst>
          </p:cNvPr>
          <p:cNvGraphicFramePr/>
          <p:nvPr/>
        </p:nvGraphicFramePr>
        <p:xfrm>
          <a:off x="381000" y="1704975"/>
          <a:ext cx="10668000" cy="2257044"/>
        </p:xfrm>
        <a:graphic>
          <a:graphicData uri="http://schemas.openxmlformats.org/drawingml/2006/table">
            <a:tbl>
              <a:tblPr/>
              <a:tblGrid>
                <a:gridCol w="1762125">
                  <a:extLst>
                    <a:ext uri="{9D8B030D-6E8A-4147-A177-3AD203B41FA5}">
                      <a16:colId xmlns:a16="http://schemas.microsoft.com/office/drawing/2014/main" val="20000"/>
                    </a:ext>
                  </a:extLst>
                </a:gridCol>
                <a:gridCol w="809625">
                  <a:extLst>
                    <a:ext uri="{9D8B030D-6E8A-4147-A177-3AD203B41FA5}">
                      <a16:colId xmlns:a16="http://schemas.microsoft.com/office/drawing/2014/main" val="20001"/>
                    </a:ext>
                  </a:extLst>
                </a:gridCol>
                <a:gridCol w="2143125">
                  <a:extLst>
                    <a:ext uri="{9D8B030D-6E8A-4147-A177-3AD203B41FA5}">
                      <a16:colId xmlns:a16="http://schemas.microsoft.com/office/drawing/2014/main" val="20002"/>
                    </a:ext>
                  </a:extLst>
                </a:gridCol>
                <a:gridCol w="4048125">
                  <a:extLst>
                    <a:ext uri="{9D8B030D-6E8A-4147-A177-3AD203B41FA5}">
                      <a16:colId xmlns:a16="http://schemas.microsoft.com/office/drawing/2014/main" val="20003"/>
                    </a:ext>
                  </a:extLst>
                </a:gridCol>
                <a:gridCol w="1905000">
                  <a:extLst>
                    <a:ext uri="{9D8B030D-6E8A-4147-A177-3AD203B41FA5}">
                      <a16:colId xmlns:a16="http://schemas.microsoft.com/office/drawing/2014/main" val="20004"/>
                    </a:ext>
                  </a:extLst>
                </a:gridCol>
              </a:tblGrid>
              <a:tr h="400050">
                <a:tc>
                  <a:txBody>
                    <a:bodyPr/>
                    <a:lstStyle/>
                    <a:p>
                      <a:r>
                        <a:rPr sz="1500" b="1">
                          <a:solidFill>
                            <a:srgbClr val="FFFFFF"/>
                          </a:solidFill>
                          <a:latin typeface="맑은 고딕"/>
                          <a:ea typeface="맑은 고딕"/>
                          <a:cs typeface="맑은 고딕"/>
                        </a:rPr>
                        <a:t>대학명</a:t>
                      </a:r>
                    </a:p>
                  </a:txBody>
                  <a:tcPr marL="95250" marR="95250" marT="47625" marB="47625" anchor="ctr">
                    <a:lnL w="5715">
                      <a:solidFill>
                        <a:srgbClr val="C5CFDA"/>
                      </a:solidFill>
                      <a:prstDash val="soli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전형수</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주력 전형유형</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핵심 선발구조조건</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비고</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extLst>
                  <a:ext uri="{0D108BD9-81ED-4DB2-BD59-A6C34878D82A}">
                    <a16:rowId xmlns:a16="http://schemas.microsoft.com/office/drawing/2014/main" val="10000"/>
                  </a:ext>
                </a:extLst>
              </a:tr>
              <a:tr h="547497">
                <a:tc>
                  <a:txBody>
                    <a:bodyPr/>
                    <a:lstStyle/>
                    <a:p>
                      <a:r>
                        <a:rPr sz="1350" b="1">
                          <a:solidFill>
                            <a:srgbClr val="17212D"/>
                          </a:solidFill>
                          <a:latin typeface="맑은 고딕"/>
                          <a:ea typeface="맑은 고딕"/>
                          <a:cs typeface="맑은 고딕"/>
                        </a:rPr>
                        <a:t>한국공학대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2</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일반학생1 / 일반학생2</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두 전형 수능 100</a:t>
                      </a:r>
                    </a:p>
                    <a:p>
                      <a:r>
                        <a:rPr sz="1350" b="0">
                          <a:solidFill>
                            <a:srgbClr val="17212D"/>
                          </a:solidFill>
                          <a:latin typeface="맑은 고딕"/>
                          <a:ea typeface="맑은 고딕"/>
                          <a:cs typeface="맑은 고딕"/>
                        </a:rPr>
                        <a:t>2: 수학 포함 우수 3영역 45·35·20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1"/>
                  </a:ext>
                </a:extLst>
              </a:tr>
              <a:tr h="547497">
                <a:tc>
                  <a:txBody>
                    <a:bodyPr/>
                    <a:lstStyle/>
                    <a:p>
                      <a:r>
                        <a:rPr sz="1350" b="1">
                          <a:solidFill>
                            <a:srgbClr val="17212D"/>
                          </a:solidFill>
                          <a:latin typeface="맑은 고딕"/>
                          <a:ea typeface="맑은 고딕"/>
                          <a:cs typeface="맑은 고딕"/>
                        </a:rPr>
                        <a:t>한국외대(글로벌)</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1</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일반</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수능 100, A·B 중 유리한 환산점수</a:t>
                      </a:r>
                    </a:p>
                    <a:p>
                      <a:r>
                        <a:rPr sz="1350" b="0">
                          <a:solidFill>
                            <a:srgbClr val="17212D"/>
                          </a:solidFill>
                          <a:latin typeface="맑은 고딕"/>
                          <a:ea typeface="맑은 고딕"/>
                          <a:cs typeface="맑은 고딕"/>
                        </a:rPr>
                        <a:t>탐구 상위 1과목</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2"/>
                  </a:ext>
                </a:extLst>
              </a:tr>
              <a:tr h="381000">
                <a:tc>
                  <a:txBody>
                    <a:bodyPr/>
                    <a:lstStyle/>
                    <a:p>
                      <a:r>
                        <a:rPr sz="1350" b="1">
                          <a:solidFill>
                            <a:srgbClr val="17212D"/>
                          </a:solidFill>
                          <a:latin typeface="맑은 고딕"/>
                          <a:ea typeface="맑은 고딕"/>
                          <a:cs typeface="맑은 고딕"/>
                        </a:rPr>
                        <a:t>한국항공대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1</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일반</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수능 100, 항공운항 신체검사 별도</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3"/>
                  </a:ext>
                </a:extLst>
              </a:tr>
              <a:tr h="381000">
                <a:tc>
                  <a:txBody>
                    <a:bodyPr/>
                    <a:lstStyle/>
                    <a:p>
                      <a:r>
                        <a:rPr sz="1350" b="1">
                          <a:solidFill>
                            <a:srgbClr val="17212D"/>
                          </a:solidFill>
                          <a:latin typeface="맑은 고딕"/>
                          <a:ea typeface="맑은 고딕"/>
                          <a:cs typeface="맑은 고딕"/>
                        </a:rPr>
                        <a:t>한양대(ERICA)</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1</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일반</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일반 인문·자연 수능 100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4"/>
                  </a:ext>
                </a:extLst>
              </a:tr>
            </a:tbl>
          </a:graphicData>
        </a:graphic>
      </p:graphicFrame>
      <p:sp>
        <p:nvSpPr>
          <p:cNvPr id="5" name="직사각형 4">
            <a:extLst>
              <a:ext uri="{FF2B5EF4-FFF2-40B4-BE49-F238E27FC236}">
                <a16:creationId xmlns:a16="http://schemas.microsoft.com/office/drawing/2014/main" id="{B520693E-1F2F-438E-AC7D-FFC177B38B35}"/>
              </a:ext>
            </a:extLst>
          </p:cNvPr>
          <p:cNvSpPr>
            <a:spLocks noGrp="1"/>
          </p:cNvSpPr>
          <p:nvPr/>
        </p:nvSpPr>
        <p:spPr>
          <a:xfrm>
            <a:off x="381000" y="4152519"/>
            <a:ext cx="10668000" cy="257175"/>
          </a:xfrm>
          <a:prstGeom prst="rect">
            <a:avLst/>
          </a:prstGeom>
          <a:noFill/>
          <a:ln w="0">
            <a:noFill/>
          </a:ln>
        </p:spPr>
        <p:txBody>
          <a:bodyPr lIns="0" tIns="0" rIns="0" bIns="0" anchor="t"/>
          <a:lstStyle>
            <a:defPPr>
              <a:defRPr sz="1425" b="1">
                <a:solidFill>
                  <a:srgbClr val="002060"/>
                </a:solidFill>
                <a:latin typeface="맑은 고딕"/>
                <a:ea typeface="맑은 고딕"/>
                <a:cs typeface="맑은 고딕"/>
              </a:defRPr>
            </a:defPPr>
            <a:lvl1pPr>
              <a:defRPr sz="1425" b="1">
                <a:solidFill>
                  <a:srgbClr val="002060"/>
                </a:solidFill>
                <a:latin typeface="맑은 고딕"/>
                <a:ea typeface="맑은 고딕"/>
                <a:cs typeface="맑은 고딕"/>
              </a:defRPr>
            </a:lvl1pPr>
            <a:lvl2pPr>
              <a:defRPr sz="1425" b="1">
                <a:solidFill>
                  <a:srgbClr val="002060"/>
                </a:solidFill>
                <a:latin typeface="맑은 고딕"/>
                <a:ea typeface="맑은 고딕"/>
                <a:cs typeface="맑은 고딕"/>
              </a:defRPr>
            </a:lvl2pPr>
            <a:lvl3pPr>
              <a:defRPr sz="1425" b="1">
                <a:solidFill>
                  <a:srgbClr val="002060"/>
                </a:solidFill>
                <a:latin typeface="맑은 고딕"/>
                <a:ea typeface="맑은 고딕"/>
                <a:cs typeface="맑은 고딕"/>
              </a:defRPr>
            </a:lvl3pPr>
            <a:lvl4pPr>
              <a:defRPr sz="1425" b="1">
                <a:solidFill>
                  <a:srgbClr val="002060"/>
                </a:solidFill>
                <a:latin typeface="맑은 고딕"/>
                <a:ea typeface="맑은 고딕"/>
                <a:cs typeface="맑은 고딕"/>
              </a:defRPr>
            </a:lvl4pPr>
            <a:lvl5pPr>
              <a:defRPr sz="1425" b="1">
                <a:solidFill>
                  <a:srgbClr val="002060"/>
                </a:solidFill>
                <a:latin typeface="맑은 고딕"/>
                <a:ea typeface="맑은 고딕"/>
                <a:cs typeface="맑은 고딕"/>
              </a:defRPr>
            </a:lvl5pPr>
            <a:lvl6pPr>
              <a:defRPr sz="1425" b="1">
                <a:solidFill>
                  <a:srgbClr val="002060"/>
                </a:solidFill>
                <a:latin typeface="맑은 고딕"/>
                <a:ea typeface="맑은 고딕"/>
                <a:cs typeface="맑은 고딕"/>
              </a:defRPr>
            </a:lvl6pPr>
            <a:lvl7pPr>
              <a:defRPr sz="1425" b="1">
                <a:solidFill>
                  <a:srgbClr val="002060"/>
                </a:solidFill>
                <a:latin typeface="맑은 고딕"/>
                <a:ea typeface="맑은 고딕"/>
                <a:cs typeface="맑은 고딕"/>
              </a:defRPr>
            </a:lvl7pPr>
            <a:lvl8pPr>
              <a:defRPr sz="1425" b="1">
                <a:solidFill>
                  <a:srgbClr val="002060"/>
                </a:solidFill>
                <a:latin typeface="맑은 고딕"/>
                <a:ea typeface="맑은 고딕"/>
                <a:cs typeface="맑은 고딕"/>
              </a:defRPr>
            </a:lvl8pPr>
            <a:lvl9pPr>
              <a:defRPr sz="1425" b="1">
                <a:solidFill>
                  <a:srgbClr val="002060"/>
                </a:solidFill>
                <a:latin typeface="맑은 고딕"/>
                <a:ea typeface="맑은 고딕"/>
                <a:cs typeface="맑은 고딕"/>
              </a:defRPr>
            </a:lvl9pPr>
          </a:lstStyle>
          <a:p>
            <a:pPr>
              <a:defRPr sz="1425" b="1">
                <a:solidFill>
                  <a:srgbClr val="002060"/>
                </a:solidFill>
                <a:latin typeface="맑은 고딕"/>
                <a:ea typeface="맑은 고딕"/>
                <a:cs typeface="맑은 고딕"/>
              </a:defRPr>
            </a:pPr>
            <a:r>
              <a:rPr sz="1425" b="1">
                <a:solidFill>
                  <a:srgbClr val="002060"/>
                </a:solidFill>
                <a:latin typeface="맑은 고딕"/>
                <a:ea typeface="맑은 고딕"/>
                <a:cs typeface="맑은 고딕"/>
              </a:rPr>
              <a:t>인천</a:t>
            </a:r>
          </a:p>
        </p:txBody>
      </p:sp>
      <p:graphicFrame>
        <p:nvGraphicFramePr>
          <p:cNvPr id="6" name="표 5">
            <a:extLst>
              <a:ext uri="{FF2B5EF4-FFF2-40B4-BE49-F238E27FC236}">
                <a16:creationId xmlns:a16="http://schemas.microsoft.com/office/drawing/2014/main" id="{CC1DD1A8-C67B-4758-AE68-0EC7C145B404}"/>
              </a:ext>
            </a:extLst>
          </p:cNvPr>
          <p:cNvGraphicFramePr/>
          <p:nvPr/>
        </p:nvGraphicFramePr>
        <p:xfrm>
          <a:off x="381000" y="4476369"/>
          <a:ext cx="10668000" cy="1328547"/>
        </p:xfrm>
        <a:graphic>
          <a:graphicData uri="http://schemas.openxmlformats.org/drawingml/2006/table">
            <a:tbl>
              <a:tblPr/>
              <a:tblGrid>
                <a:gridCol w="1762125">
                  <a:extLst>
                    <a:ext uri="{9D8B030D-6E8A-4147-A177-3AD203B41FA5}">
                      <a16:colId xmlns:a16="http://schemas.microsoft.com/office/drawing/2014/main" val="20000"/>
                    </a:ext>
                  </a:extLst>
                </a:gridCol>
                <a:gridCol w="809625">
                  <a:extLst>
                    <a:ext uri="{9D8B030D-6E8A-4147-A177-3AD203B41FA5}">
                      <a16:colId xmlns:a16="http://schemas.microsoft.com/office/drawing/2014/main" val="20001"/>
                    </a:ext>
                  </a:extLst>
                </a:gridCol>
                <a:gridCol w="2143125">
                  <a:extLst>
                    <a:ext uri="{9D8B030D-6E8A-4147-A177-3AD203B41FA5}">
                      <a16:colId xmlns:a16="http://schemas.microsoft.com/office/drawing/2014/main" val="20002"/>
                    </a:ext>
                  </a:extLst>
                </a:gridCol>
                <a:gridCol w="4048125">
                  <a:extLst>
                    <a:ext uri="{9D8B030D-6E8A-4147-A177-3AD203B41FA5}">
                      <a16:colId xmlns:a16="http://schemas.microsoft.com/office/drawing/2014/main" val="20003"/>
                    </a:ext>
                  </a:extLst>
                </a:gridCol>
                <a:gridCol w="1905000">
                  <a:extLst>
                    <a:ext uri="{9D8B030D-6E8A-4147-A177-3AD203B41FA5}">
                      <a16:colId xmlns:a16="http://schemas.microsoft.com/office/drawing/2014/main" val="20004"/>
                    </a:ext>
                  </a:extLst>
                </a:gridCol>
              </a:tblGrid>
              <a:tr h="400050">
                <a:tc>
                  <a:txBody>
                    <a:bodyPr/>
                    <a:lstStyle/>
                    <a:p>
                      <a:r>
                        <a:rPr sz="1500" b="1">
                          <a:solidFill>
                            <a:srgbClr val="FFFFFF"/>
                          </a:solidFill>
                          <a:latin typeface="맑은 고딕"/>
                          <a:ea typeface="맑은 고딕"/>
                          <a:cs typeface="맑은 고딕"/>
                        </a:rPr>
                        <a:t>대학명</a:t>
                      </a:r>
                    </a:p>
                  </a:txBody>
                  <a:tcPr marL="95250" marR="95250" marT="47625" marB="47625" anchor="ctr">
                    <a:lnL w="5715">
                      <a:solidFill>
                        <a:srgbClr val="C5CFDA"/>
                      </a:solidFill>
                      <a:prstDash val="soli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전형수</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주력 전형유형</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핵심 선발구조조건</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비고</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extLst>
                  <a:ext uri="{0D108BD9-81ED-4DB2-BD59-A6C34878D82A}">
                    <a16:rowId xmlns:a16="http://schemas.microsoft.com/office/drawing/2014/main" val="10000"/>
                  </a:ext>
                </a:extLst>
              </a:tr>
              <a:tr h="547497">
                <a:tc>
                  <a:txBody>
                    <a:bodyPr/>
                    <a:lstStyle/>
                    <a:p>
                      <a:r>
                        <a:rPr sz="1350" b="1">
                          <a:solidFill>
                            <a:srgbClr val="17212D"/>
                          </a:solidFill>
                          <a:latin typeface="맑은 고딕"/>
                          <a:ea typeface="맑은 고딕"/>
                          <a:cs typeface="맑은 고딕"/>
                        </a:rPr>
                        <a:t>인천대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1</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일반학생</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일반 인문·자연 수능 100</a:t>
                      </a:r>
                    </a:p>
                    <a:p>
                      <a:r>
                        <a:rPr sz="1350" b="0">
                          <a:solidFill>
                            <a:srgbClr val="17212D"/>
                          </a:solidFill>
                          <a:latin typeface="맑은 고딕"/>
                          <a:ea typeface="맑은 고딕"/>
                          <a:cs typeface="맑은 고딕"/>
                        </a:rPr>
                        <a:t>체육·공연예술 별도</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50" b="0">
                          <a:solidFill>
                            <a:srgbClr val="17212D"/>
                          </a:solidFill>
                          <a:latin typeface="맑은 고딕"/>
                          <a:ea typeface="맑은 고딕"/>
                          <a:cs typeface="맑은 고딕"/>
                        </a:rPr>
                        <a:t>—</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1"/>
                  </a:ext>
                </a:extLst>
              </a:tr>
              <a:tr h="381000">
                <a:tc>
                  <a:txBody>
                    <a:bodyPr/>
                    <a:lstStyle/>
                    <a:p>
                      <a:r>
                        <a:rPr sz="1350" b="1">
                          <a:solidFill>
                            <a:srgbClr val="17212D"/>
                          </a:solidFill>
                          <a:latin typeface="맑은 고딕"/>
                          <a:ea typeface="맑은 고딕"/>
                          <a:cs typeface="맑은 고딕"/>
                        </a:rPr>
                        <a:t>인하대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1</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일반</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일반 인문·자연 수능 100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50" b="0">
                          <a:solidFill>
                            <a:srgbClr val="17212D"/>
                          </a:solidFill>
                          <a:latin typeface="맑은 고딕"/>
                          <a:ea typeface="맑은 고딕"/>
                          <a:cs typeface="맑은 고딕"/>
                        </a:rPr>
                        <a:t>—</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2"/>
                  </a:ext>
                </a:extLst>
              </a:tr>
            </a:tbl>
          </a:graphicData>
        </a:graphic>
      </p:graphicFrame>
      <p:sp>
        <p:nvSpPr>
          <p:cNvPr id="7" name="직사각형 6">
            <a:extLst>
              <a:ext uri="{FF2B5EF4-FFF2-40B4-BE49-F238E27FC236}">
                <a16:creationId xmlns:a16="http://schemas.microsoft.com/office/drawing/2014/main" id="{BFD4DFAF-177B-48E4-9EA7-409F7AD6F555}"/>
              </a:ext>
            </a:extLst>
          </p:cNvPr>
          <p:cNvSpPr>
            <a:spLocks noGrp="1"/>
          </p:cNvSpPr>
          <p:nvPr/>
        </p:nvSpPr>
        <p:spPr>
          <a:xfrm>
            <a:off x="381000" y="5928741"/>
            <a:ext cx="10668000" cy="438150"/>
          </a:xfrm>
          <a:prstGeom prst="rect">
            <a:avLst/>
          </a:prstGeom>
          <a:noFill/>
          <a:ln w="0">
            <a:noFill/>
          </a:ln>
        </p:spPr>
        <p:txBody>
          <a:bodyPr lIns="0" tIns="0" rIns="0" bIns="0" anchor="t"/>
          <a:lstStyle>
            <a:defPPr>
              <a:defRPr sz="1050" b="0">
                <a:solidFill>
                  <a:srgbClr val="535D69"/>
                </a:solidFill>
                <a:latin typeface="맑은 고딕"/>
                <a:ea typeface="맑은 고딕"/>
                <a:cs typeface="맑은 고딕"/>
              </a:defRPr>
            </a:defPPr>
            <a:lvl1pPr>
              <a:defRPr sz="1050" b="0">
                <a:solidFill>
                  <a:srgbClr val="535D69"/>
                </a:solidFill>
                <a:latin typeface="맑은 고딕"/>
                <a:ea typeface="맑은 고딕"/>
                <a:cs typeface="맑은 고딕"/>
              </a:defRPr>
            </a:lvl1pPr>
            <a:lvl2pPr>
              <a:defRPr sz="1050" b="0">
                <a:solidFill>
                  <a:srgbClr val="535D69"/>
                </a:solidFill>
                <a:latin typeface="맑은 고딕"/>
                <a:ea typeface="맑은 고딕"/>
                <a:cs typeface="맑은 고딕"/>
              </a:defRPr>
            </a:lvl2pPr>
            <a:lvl3pPr>
              <a:defRPr sz="1050" b="0">
                <a:solidFill>
                  <a:srgbClr val="535D69"/>
                </a:solidFill>
                <a:latin typeface="맑은 고딕"/>
                <a:ea typeface="맑은 고딕"/>
                <a:cs typeface="맑은 고딕"/>
              </a:defRPr>
            </a:lvl3pPr>
            <a:lvl4pPr>
              <a:defRPr sz="1050" b="0">
                <a:solidFill>
                  <a:srgbClr val="535D69"/>
                </a:solidFill>
                <a:latin typeface="맑은 고딕"/>
                <a:ea typeface="맑은 고딕"/>
                <a:cs typeface="맑은 고딕"/>
              </a:defRPr>
            </a:lvl4pPr>
            <a:lvl5pPr>
              <a:defRPr sz="1050" b="0">
                <a:solidFill>
                  <a:srgbClr val="535D69"/>
                </a:solidFill>
                <a:latin typeface="맑은 고딕"/>
                <a:ea typeface="맑은 고딕"/>
                <a:cs typeface="맑은 고딕"/>
              </a:defRPr>
            </a:lvl5pPr>
            <a:lvl6pPr>
              <a:defRPr sz="1050" b="0">
                <a:solidFill>
                  <a:srgbClr val="535D69"/>
                </a:solidFill>
                <a:latin typeface="맑은 고딕"/>
                <a:ea typeface="맑은 고딕"/>
                <a:cs typeface="맑은 고딕"/>
              </a:defRPr>
            </a:lvl6pPr>
            <a:lvl7pPr>
              <a:defRPr sz="1050" b="0">
                <a:solidFill>
                  <a:srgbClr val="535D69"/>
                </a:solidFill>
                <a:latin typeface="맑은 고딕"/>
                <a:ea typeface="맑은 고딕"/>
                <a:cs typeface="맑은 고딕"/>
              </a:defRPr>
            </a:lvl7pPr>
            <a:lvl8pPr>
              <a:defRPr sz="1050" b="0">
                <a:solidFill>
                  <a:srgbClr val="535D69"/>
                </a:solidFill>
                <a:latin typeface="맑은 고딕"/>
                <a:ea typeface="맑은 고딕"/>
                <a:cs typeface="맑은 고딕"/>
              </a:defRPr>
            </a:lvl8pPr>
            <a:lvl9pPr>
              <a:defRPr sz="1050" b="0">
                <a:solidFill>
                  <a:srgbClr val="535D69"/>
                </a:solidFill>
                <a:latin typeface="맑은 고딕"/>
                <a:ea typeface="맑은 고딕"/>
                <a:cs typeface="맑은 고딕"/>
              </a:defRPr>
            </a:lvl9pPr>
          </a:lstStyle>
          <a:p>
            <a:pPr>
              <a:defRPr sz="1050" b="0">
                <a:solidFill>
                  <a:srgbClr val="535D69"/>
                </a:solidFill>
                <a:latin typeface="맑은 고딕"/>
                <a:ea typeface="맑은 고딕"/>
                <a:cs typeface="맑은 고딕"/>
              </a:defRPr>
            </a:pPr>
            <a:r>
              <a:rPr sz="1050" b="0">
                <a:solidFill>
                  <a:srgbClr val="535D69"/>
                </a:solidFill>
                <a:latin typeface="맑은 고딕"/>
                <a:ea typeface="맑은 고딕"/>
                <a:cs typeface="맑은 고딕"/>
              </a:rPr>
              <a:t>전형수=표의 주력 유형 수(군 중복 통합, 특별·예체능·군사·계약·이월 제외). 현역=졸업예정자 한정, 추천=학교장 추천.  신설·분리·이원화는 명시된 전형에 적용. —=키워드 표시 없음. 지역은 캠퍼스·본부 기준(성균관대·경기대는 서울·경기 통합). 성별·고교유형 등 세부조건 별도.</a:t>
            </a:r>
          </a:p>
        </p:txBody>
      </p:sp>
      <p:sp>
        <p:nvSpPr>
          <p:cNvPr id="8" name="직사각형 7">
            <a:extLst>
              <a:ext uri="{FF2B5EF4-FFF2-40B4-BE49-F238E27FC236}">
                <a16:creationId xmlns:a16="http://schemas.microsoft.com/office/drawing/2014/main" id="{B941DE58-7DD4-4137-89AF-402D642CB55F}"/>
              </a:ext>
            </a:extLst>
          </p:cNvPr>
          <p:cNvSpPr>
            <a:spLocks noGrp="1"/>
          </p:cNvSpPr>
          <p:nvPr/>
        </p:nvSpPr>
        <p:spPr>
          <a:xfrm>
            <a:off x="381000" y="9572625"/>
            <a:ext cx="10096500" cy="361950"/>
          </a:xfrm>
          <a:prstGeom prst="rect">
            <a:avLst/>
          </a:prstGeom>
          <a:noFill/>
          <a:ln w="0">
            <a:noFill/>
          </a:ln>
        </p:spPr>
        <p:txBody>
          <a:bodyPr lIns="0" tIns="0" rIns="0" bIns="0" anchor="t"/>
          <a:lstStyle>
            <a:defPPr>
              <a:defRPr sz="900" b="0">
                <a:solidFill>
                  <a:srgbClr val="666666"/>
                </a:solidFill>
                <a:latin typeface="맑은 고딕"/>
                <a:ea typeface="맑은 고딕"/>
                <a:cs typeface="맑은 고딕"/>
              </a:defRPr>
            </a:defPPr>
            <a:lvl1pPr>
              <a:defRPr sz="900" b="0">
                <a:solidFill>
                  <a:srgbClr val="666666"/>
                </a:solidFill>
                <a:latin typeface="맑은 고딕"/>
                <a:ea typeface="맑은 고딕"/>
                <a:cs typeface="맑은 고딕"/>
              </a:defRPr>
            </a:lvl1pPr>
            <a:lvl2pPr>
              <a:defRPr sz="900" b="0">
                <a:solidFill>
                  <a:srgbClr val="666666"/>
                </a:solidFill>
                <a:latin typeface="맑은 고딕"/>
                <a:ea typeface="맑은 고딕"/>
                <a:cs typeface="맑은 고딕"/>
              </a:defRPr>
            </a:lvl2pPr>
            <a:lvl3pPr>
              <a:defRPr sz="900" b="0">
                <a:solidFill>
                  <a:srgbClr val="666666"/>
                </a:solidFill>
                <a:latin typeface="맑은 고딕"/>
                <a:ea typeface="맑은 고딕"/>
                <a:cs typeface="맑은 고딕"/>
              </a:defRPr>
            </a:lvl3pPr>
            <a:lvl4pPr>
              <a:defRPr sz="900" b="0">
                <a:solidFill>
                  <a:srgbClr val="666666"/>
                </a:solidFill>
                <a:latin typeface="맑은 고딕"/>
                <a:ea typeface="맑은 고딕"/>
                <a:cs typeface="맑은 고딕"/>
              </a:defRPr>
            </a:lvl4pPr>
            <a:lvl5pPr>
              <a:defRPr sz="900" b="0">
                <a:solidFill>
                  <a:srgbClr val="666666"/>
                </a:solidFill>
                <a:latin typeface="맑은 고딕"/>
                <a:ea typeface="맑은 고딕"/>
                <a:cs typeface="맑은 고딕"/>
              </a:defRPr>
            </a:lvl5pPr>
            <a:lvl6pPr>
              <a:defRPr sz="900" b="0">
                <a:solidFill>
                  <a:srgbClr val="666666"/>
                </a:solidFill>
                <a:latin typeface="맑은 고딕"/>
                <a:ea typeface="맑은 고딕"/>
                <a:cs typeface="맑은 고딕"/>
              </a:defRPr>
            </a:lvl6pPr>
            <a:lvl7pPr>
              <a:defRPr sz="900" b="0">
                <a:solidFill>
                  <a:srgbClr val="666666"/>
                </a:solidFill>
                <a:latin typeface="맑은 고딕"/>
                <a:ea typeface="맑은 고딕"/>
                <a:cs typeface="맑은 고딕"/>
              </a:defRPr>
            </a:lvl7pPr>
            <a:lvl8pPr>
              <a:defRPr sz="900" b="0">
                <a:solidFill>
                  <a:srgbClr val="666666"/>
                </a:solidFill>
                <a:latin typeface="맑은 고딕"/>
                <a:ea typeface="맑은 고딕"/>
                <a:cs typeface="맑은 고딕"/>
              </a:defRPr>
            </a:lvl8pPr>
            <a:lvl9pPr>
              <a:defRPr sz="900" b="0">
                <a:solidFill>
                  <a:srgbClr val="666666"/>
                </a:solidFill>
                <a:latin typeface="맑은 고딕"/>
                <a:ea typeface="맑은 고딕"/>
                <a:cs typeface="맑은 고딕"/>
              </a:defRPr>
            </a:lvl9pPr>
          </a:lstStyle>
          <a:p>
            <a:pPr>
              <a:defRPr sz="900" b="0">
                <a:solidFill>
                  <a:srgbClr val="666666"/>
                </a:solidFill>
                <a:latin typeface="맑은 고딕"/>
                <a:ea typeface="맑은 고딕"/>
                <a:cs typeface="맑은 고딕"/>
              </a:defRPr>
            </a:pPr>
            <a:r>
              <a:rPr sz="900" b="0">
                <a:solidFill>
                  <a:srgbClr val="666666"/>
                </a:solidFill>
                <a:latin typeface="맑은 고딕"/>
                <a:ea typeface="맑은 고딕"/>
                <a:cs typeface="맑은 고딕"/>
              </a:rPr>
              <a:t>근거  각 대학 2028 시행계획; SEN 대학별 전형방법·전년 대비 변경사항(세부 쪽수는 별도 근거표)</a:t>
            </a:r>
          </a:p>
        </p:txBody>
      </p:sp>
      <p:sp>
        <p:nvSpPr>
          <p:cNvPr id="9" name="직사각형 8">
            <a:extLst>
              <a:ext uri="{FF2B5EF4-FFF2-40B4-BE49-F238E27FC236}">
                <a16:creationId xmlns:a16="http://schemas.microsoft.com/office/drawing/2014/main" id="{9693546F-D1B0-4891-9E83-31E5C39BDD14}"/>
              </a:ext>
            </a:extLst>
          </p:cNvPr>
          <p:cNvSpPr>
            <a:spLocks noGrp="1"/>
          </p:cNvSpPr>
          <p:nvPr/>
        </p:nvSpPr>
        <p:spPr>
          <a:xfrm>
            <a:off x="10715625" y="9572625"/>
            <a:ext cx="333375" cy="228600"/>
          </a:xfrm>
          <a:prstGeom prst="rect">
            <a:avLst/>
          </a:prstGeom>
          <a:noFill/>
          <a:ln w="0">
            <a:noFill/>
          </a:ln>
        </p:spPr>
        <p:txBody>
          <a:bodyPr lIns="0" tIns="0" rIns="0" bIns="0" anchor="t"/>
          <a:lstStyle>
            <a:defPPr>
              <a:defRPr sz="1050" b="0">
                <a:solidFill>
                  <a:srgbClr val="002060"/>
                </a:solidFill>
                <a:latin typeface="맑은 고딕"/>
                <a:ea typeface="맑은 고딕"/>
                <a:cs typeface="맑은 고딕"/>
              </a:defRPr>
            </a:defPPr>
            <a:lvl1pPr>
              <a:defRPr sz="1050" b="0">
                <a:solidFill>
                  <a:srgbClr val="002060"/>
                </a:solidFill>
                <a:latin typeface="맑은 고딕"/>
                <a:ea typeface="맑은 고딕"/>
                <a:cs typeface="맑은 고딕"/>
              </a:defRPr>
            </a:lvl1pPr>
            <a:lvl2pPr>
              <a:defRPr sz="1050" b="0">
                <a:solidFill>
                  <a:srgbClr val="002060"/>
                </a:solidFill>
                <a:latin typeface="맑은 고딕"/>
                <a:ea typeface="맑은 고딕"/>
                <a:cs typeface="맑은 고딕"/>
              </a:defRPr>
            </a:lvl2pPr>
            <a:lvl3pPr>
              <a:defRPr sz="1050" b="0">
                <a:solidFill>
                  <a:srgbClr val="002060"/>
                </a:solidFill>
                <a:latin typeface="맑은 고딕"/>
                <a:ea typeface="맑은 고딕"/>
                <a:cs typeface="맑은 고딕"/>
              </a:defRPr>
            </a:lvl3pPr>
            <a:lvl4pPr>
              <a:defRPr sz="1050" b="0">
                <a:solidFill>
                  <a:srgbClr val="002060"/>
                </a:solidFill>
                <a:latin typeface="맑은 고딕"/>
                <a:ea typeface="맑은 고딕"/>
                <a:cs typeface="맑은 고딕"/>
              </a:defRPr>
            </a:lvl4pPr>
            <a:lvl5pPr>
              <a:defRPr sz="1050" b="0">
                <a:solidFill>
                  <a:srgbClr val="002060"/>
                </a:solidFill>
                <a:latin typeface="맑은 고딕"/>
                <a:ea typeface="맑은 고딕"/>
                <a:cs typeface="맑은 고딕"/>
              </a:defRPr>
            </a:lvl5pPr>
            <a:lvl6pPr>
              <a:defRPr sz="1050" b="0">
                <a:solidFill>
                  <a:srgbClr val="002060"/>
                </a:solidFill>
                <a:latin typeface="맑은 고딕"/>
                <a:ea typeface="맑은 고딕"/>
                <a:cs typeface="맑은 고딕"/>
              </a:defRPr>
            </a:lvl6pPr>
            <a:lvl7pPr>
              <a:defRPr sz="1050" b="0">
                <a:solidFill>
                  <a:srgbClr val="002060"/>
                </a:solidFill>
                <a:latin typeface="맑은 고딕"/>
                <a:ea typeface="맑은 고딕"/>
                <a:cs typeface="맑은 고딕"/>
              </a:defRPr>
            </a:lvl7pPr>
            <a:lvl8pPr>
              <a:defRPr sz="1050" b="0">
                <a:solidFill>
                  <a:srgbClr val="002060"/>
                </a:solidFill>
                <a:latin typeface="맑은 고딕"/>
                <a:ea typeface="맑은 고딕"/>
                <a:cs typeface="맑은 고딕"/>
              </a:defRPr>
            </a:lvl8pPr>
            <a:lvl9pPr>
              <a:defRPr sz="1050" b="0">
                <a:solidFill>
                  <a:srgbClr val="002060"/>
                </a:solidFill>
                <a:latin typeface="맑은 고딕"/>
                <a:ea typeface="맑은 고딕"/>
                <a:cs typeface="맑은 고딕"/>
              </a:defRPr>
            </a:lvl9pPr>
          </a:lstStyle>
          <a:p>
            <a:pPr>
              <a:defRPr sz="1050" b="0">
                <a:solidFill>
                  <a:srgbClr val="002060"/>
                </a:solidFill>
                <a:latin typeface="맑은 고딕"/>
                <a:ea typeface="맑은 고딕"/>
                <a:cs typeface="맑은 고딕"/>
              </a:defRPr>
            </a:pPr>
            <a:r>
              <a:rPr sz="1050" b="0">
                <a:solidFill>
                  <a:srgbClr val="002060"/>
                </a:solidFill>
                <a:latin typeface="맑은 고딕"/>
                <a:ea typeface="맑은 고딕"/>
                <a:cs typeface="맑은 고딕"/>
              </a:rPr>
              <a:t>05</a:t>
            </a:r>
          </a:p>
        </p:txBody>
      </p:sp>
    </p:spTree>
    <p:extLst>
      <p:ext uri="{BB962C8B-B14F-4D97-AF65-F5344CB8AC3E}">
        <p14:creationId xmlns:p14="http://schemas.microsoft.com/office/powerpoint/2010/main" val="20304123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직사각형 9">
            <a:extLst>
              <a:ext uri="{FF2B5EF4-FFF2-40B4-BE49-F238E27FC236}">
                <a16:creationId xmlns:a16="http://schemas.microsoft.com/office/drawing/2014/main" id="{591F5D0E-8676-423F-B3F9-262E94310AC6}"/>
              </a:ext>
            </a:extLst>
          </p:cNvPr>
          <p:cNvSpPr>
            <a:spLocks noGrp="1"/>
          </p:cNvSpPr>
          <p:nvPr/>
        </p:nvSpPr>
        <p:spPr>
          <a:xfrm>
            <a:off x="381000" y="228600"/>
            <a:ext cx="9525000" cy="238125"/>
          </a:xfrm>
          <a:prstGeom prst="rect">
            <a:avLst/>
          </a:prstGeom>
          <a:noFill/>
          <a:ln w="0">
            <a:noFill/>
          </a:ln>
        </p:spPr>
        <p:txBody>
          <a:bodyPr lIns="0" tIns="0" rIns="0" bIns="0" anchor="t"/>
          <a:lstStyle>
            <a:defPPr>
              <a:defRPr sz="1200" b="1">
                <a:solidFill>
                  <a:srgbClr val="002060"/>
                </a:solidFill>
                <a:latin typeface="맑은 고딕"/>
                <a:ea typeface="맑은 고딕"/>
                <a:cs typeface="맑은 고딕"/>
              </a:defRPr>
            </a:defPPr>
            <a:lvl1pPr>
              <a:defRPr sz="1200" b="1">
                <a:solidFill>
                  <a:srgbClr val="002060"/>
                </a:solidFill>
                <a:latin typeface="맑은 고딕"/>
                <a:ea typeface="맑은 고딕"/>
                <a:cs typeface="맑은 고딕"/>
              </a:defRPr>
            </a:lvl1pPr>
            <a:lvl2pPr>
              <a:defRPr sz="1200" b="1">
                <a:solidFill>
                  <a:srgbClr val="002060"/>
                </a:solidFill>
                <a:latin typeface="맑은 고딕"/>
                <a:ea typeface="맑은 고딕"/>
                <a:cs typeface="맑은 고딕"/>
              </a:defRPr>
            </a:lvl2pPr>
            <a:lvl3pPr>
              <a:defRPr sz="1200" b="1">
                <a:solidFill>
                  <a:srgbClr val="002060"/>
                </a:solidFill>
                <a:latin typeface="맑은 고딕"/>
                <a:ea typeface="맑은 고딕"/>
                <a:cs typeface="맑은 고딕"/>
              </a:defRPr>
            </a:lvl3pPr>
            <a:lvl4pPr>
              <a:defRPr sz="1200" b="1">
                <a:solidFill>
                  <a:srgbClr val="002060"/>
                </a:solidFill>
                <a:latin typeface="맑은 고딕"/>
                <a:ea typeface="맑은 고딕"/>
                <a:cs typeface="맑은 고딕"/>
              </a:defRPr>
            </a:lvl4pPr>
            <a:lvl5pPr>
              <a:defRPr sz="1200" b="1">
                <a:solidFill>
                  <a:srgbClr val="002060"/>
                </a:solidFill>
                <a:latin typeface="맑은 고딕"/>
                <a:ea typeface="맑은 고딕"/>
                <a:cs typeface="맑은 고딕"/>
              </a:defRPr>
            </a:lvl5pPr>
            <a:lvl6pPr>
              <a:defRPr sz="1200" b="1">
                <a:solidFill>
                  <a:srgbClr val="002060"/>
                </a:solidFill>
                <a:latin typeface="맑은 고딕"/>
                <a:ea typeface="맑은 고딕"/>
                <a:cs typeface="맑은 고딕"/>
              </a:defRPr>
            </a:lvl6pPr>
            <a:lvl7pPr>
              <a:defRPr sz="1200" b="1">
                <a:solidFill>
                  <a:srgbClr val="002060"/>
                </a:solidFill>
                <a:latin typeface="맑은 고딕"/>
                <a:ea typeface="맑은 고딕"/>
                <a:cs typeface="맑은 고딕"/>
              </a:defRPr>
            </a:lvl7pPr>
            <a:lvl8pPr>
              <a:defRPr sz="1200" b="1">
                <a:solidFill>
                  <a:srgbClr val="002060"/>
                </a:solidFill>
                <a:latin typeface="맑은 고딕"/>
                <a:ea typeface="맑은 고딕"/>
                <a:cs typeface="맑은 고딕"/>
              </a:defRPr>
            </a:lvl8pPr>
            <a:lvl9pPr>
              <a:defRPr sz="1200" b="1">
                <a:solidFill>
                  <a:srgbClr val="002060"/>
                </a:solidFill>
                <a:latin typeface="맑은 고딕"/>
                <a:ea typeface="맑은 고딕"/>
                <a:cs typeface="맑은 고딕"/>
              </a:defRPr>
            </a:lvl9pPr>
          </a:lstStyle>
          <a:p>
            <a:pPr>
              <a:defRPr sz="1200" b="1">
                <a:solidFill>
                  <a:srgbClr val="002060"/>
                </a:solidFill>
                <a:latin typeface="맑은 고딕"/>
                <a:ea typeface="맑은 고딕"/>
                <a:cs typeface="맑은 고딕"/>
              </a:defRPr>
            </a:pPr>
            <a:r>
              <a:rPr sz="1200" b="1">
                <a:solidFill>
                  <a:srgbClr val="002060"/>
                </a:solidFill>
                <a:latin typeface="맑은 고딕"/>
                <a:ea typeface="맑은 고딕"/>
                <a:cs typeface="맑은 고딕"/>
              </a:rPr>
              <a:t>2028 정시  대학별 전형 비교</a:t>
            </a:r>
          </a:p>
        </p:txBody>
      </p:sp>
      <p:sp>
        <p:nvSpPr>
          <p:cNvPr id="2" name="직사각형 1">
            <a:extLst>
              <a:ext uri="{FF2B5EF4-FFF2-40B4-BE49-F238E27FC236}">
                <a16:creationId xmlns:a16="http://schemas.microsoft.com/office/drawing/2014/main" id="{4BC213B9-C638-4E44-AF4A-4E3CABFD9BB6}"/>
              </a:ext>
            </a:extLst>
          </p:cNvPr>
          <p:cNvSpPr>
            <a:spLocks noGrp="1"/>
          </p:cNvSpPr>
          <p:nvPr/>
        </p:nvSpPr>
        <p:spPr>
          <a:xfrm>
            <a:off x="381000" y="619125"/>
            <a:ext cx="10668000" cy="533400"/>
          </a:xfrm>
          <a:prstGeom prst="rect">
            <a:avLst/>
          </a:prstGeom>
          <a:noFill/>
          <a:ln w="0">
            <a:noFill/>
          </a:ln>
        </p:spPr>
        <p:txBody>
          <a:bodyPr lIns="0" tIns="0" rIns="0" bIns="0" anchor="t"/>
          <a:lstStyle>
            <a:defPPr>
              <a:defRPr sz="2400" b="1">
                <a:solidFill>
                  <a:srgbClr val="002060"/>
                </a:solidFill>
                <a:latin typeface="맑은 고딕"/>
                <a:ea typeface="맑은 고딕"/>
                <a:cs typeface="맑은 고딕"/>
              </a:defRPr>
            </a:defPPr>
            <a:lvl1pPr>
              <a:defRPr sz="2400" b="1">
                <a:solidFill>
                  <a:srgbClr val="002060"/>
                </a:solidFill>
                <a:latin typeface="맑은 고딕"/>
                <a:ea typeface="맑은 고딕"/>
                <a:cs typeface="맑은 고딕"/>
              </a:defRPr>
            </a:lvl1pPr>
            <a:lvl2pPr>
              <a:defRPr sz="2400" b="1">
                <a:solidFill>
                  <a:srgbClr val="002060"/>
                </a:solidFill>
                <a:latin typeface="맑은 고딕"/>
                <a:ea typeface="맑은 고딕"/>
                <a:cs typeface="맑은 고딕"/>
              </a:defRPr>
            </a:lvl2pPr>
            <a:lvl3pPr>
              <a:defRPr sz="2400" b="1">
                <a:solidFill>
                  <a:srgbClr val="002060"/>
                </a:solidFill>
                <a:latin typeface="맑은 고딕"/>
                <a:ea typeface="맑은 고딕"/>
                <a:cs typeface="맑은 고딕"/>
              </a:defRPr>
            </a:lvl3pPr>
            <a:lvl4pPr>
              <a:defRPr sz="2400" b="1">
                <a:solidFill>
                  <a:srgbClr val="002060"/>
                </a:solidFill>
                <a:latin typeface="맑은 고딕"/>
                <a:ea typeface="맑은 고딕"/>
                <a:cs typeface="맑은 고딕"/>
              </a:defRPr>
            </a:lvl4pPr>
            <a:lvl5pPr>
              <a:defRPr sz="2400" b="1">
                <a:solidFill>
                  <a:srgbClr val="002060"/>
                </a:solidFill>
                <a:latin typeface="맑은 고딕"/>
                <a:ea typeface="맑은 고딕"/>
                <a:cs typeface="맑은 고딕"/>
              </a:defRPr>
            </a:lvl5pPr>
            <a:lvl6pPr>
              <a:defRPr sz="2400" b="1">
                <a:solidFill>
                  <a:srgbClr val="002060"/>
                </a:solidFill>
                <a:latin typeface="맑은 고딕"/>
                <a:ea typeface="맑은 고딕"/>
                <a:cs typeface="맑은 고딕"/>
              </a:defRPr>
            </a:lvl6pPr>
            <a:lvl7pPr>
              <a:defRPr sz="2400" b="1">
                <a:solidFill>
                  <a:srgbClr val="002060"/>
                </a:solidFill>
                <a:latin typeface="맑은 고딕"/>
                <a:ea typeface="맑은 고딕"/>
                <a:cs typeface="맑은 고딕"/>
              </a:defRPr>
            </a:lvl7pPr>
            <a:lvl8pPr>
              <a:defRPr sz="2400" b="1">
                <a:solidFill>
                  <a:srgbClr val="002060"/>
                </a:solidFill>
                <a:latin typeface="맑은 고딕"/>
                <a:ea typeface="맑은 고딕"/>
                <a:cs typeface="맑은 고딕"/>
              </a:defRPr>
            </a:lvl8pPr>
            <a:lvl9pPr>
              <a:defRPr sz="2400" b="1">
                <a:solidFill>
                  <a:srgbClr val="002060"/>
                </a:solidFill>
                <a:latin typeface="맑은 고딕"/>
                <a:ea typeface="맑은 고딕"/>
                <a:cs typeface="맑은 고딕"/>
              </a:defRPr>
            </a:lvl9pPr>
          </a:lstStyle>
          <a:p>
            <a:pPr>
              <a:defRPr sz="2400" b="1">
                <a:solidFill>
                  <a:srgbClr val="002060"/>
                </a:solidFill>
                <a:latin typeface="맑은 고딕"/>
                <a:ea typeface="맑은 고딕"/>
                <a:cs typeface="맑은 고딕"/>
              </a:defRPr>
            </a:pPr>
            <a:r>
              <a:rPr sz="2400" b="1">
                <a:solidFill>
                  <a:srgbClr val="002060"/>
                </a:solidFill>
                <a:latin typeface="맑은 고딕"/>
                <a:ea typeface="맑은 고딕"/>
                <a:cs typeface="맑은 고딕"/>
              </a:rPr>
              <a:t>지방거점국립대 일반전형과 지역인재</a:t>
            </a:r>
          </a:p>
        </p:txBody>
      </p:sp>
      <p:sp>
        <p:nvSpPr>
          <p:cNvPr id="3" name="직사각형 2">
            <a:extLst>
              <a:ext uri="{FF2B5EF4-FFF2-40B4-BE49-F238E27FC236}">
                <a16:creationId xmlns:a16="http://schemas.microsoft.com/office/drawing/2014/main" id="{D854FC97-53E7-456A-A8F1-5FD594B3DB63}"/>
              </a:ext>
            </a:extLst>
          </p:cNvPr>
          <p:cNvSpPr>
            <a:spLocks noGrp="1"/>
          </p:cNvSpPr>
          <p:nvPr/>
        </p:nvSpPr>
        <p:spPr>
          <a:xfrm>
            <a:off x="381000" y="1381125"/>
            <a:ext cx="10668000" cy="257175"/>
          </a:xfrm>
          <a:prstGeom prst="rect">
            <a:avLst/>
          </a:prstGeom>
          <a:noFill/>
          <a:ln w="0">
            <a:noFill/>
          </a:ln>
        </p:spPr>
        <p:txBody>
          <a:bodyPr lIns="0" tIns="0" rIns="0" bIns="0" anchor="t"/>
          <a:lstStyle>
            <a:defPPr>
              <a:defRPr sz="1425" b="1">
                <a:solidFill>
                  <a:srgbClr val="002060"/>
                </a:solidFill>
                <a:latin typeface="맑은 고딕"/>
                <a:ea typeface="맑은 고딕"/>
                <a:cs typeface="맑은 고딕"/>
              </a:defRPr>
            </a:defPPr>
            <a:lvl1pPr>
              <a:defRPr sz="1425" b="1">
                <a:solidFill>
                  <a:srgbClr val="002060"/>
                </a:solidFill>
                <a:latin typeface="맑은 고딕"/>
                <a:ea typeface="맑은 고딕"/>
                <a:cs typeface="맑은 고딕"/>
              </a:defRPr>
            </a:lvl1pPr>
            <a:lvl2pPr>
              <a:defRPr sz="1425" b="1">
                <a:solidFill>
                  <a:srgbClr val="002060"/>
                </a:solidFill>
                <a:latin typeface="맑은 고딕"/>
                <a:ea typeface="맑은 고딕"/>
                <a:cs typeface="맑은 고딕"/>
              </a:defRPr>
            </a:lvl2pPr>
            <a:lvl3pPr>
              <a:defRPr sz="1425" b="1">
                <a:solidFill>
                  <a:srgbClr val="002060"/>
                </a:solidFill>
                <a:latin typeface="맑은 고딕"/>
                <a:ea typeface="맑은 고딕"/>
                <a:cs typeface="맑은 고딕"/>
              </a:defRPr>
            </a:lvl3pPr>
            <a:lvl4pPr>
              <a:defRPr sz="1425" b="1">
                <a:solidFill>
                  <a:srgbClr val="002060"/>
                </a:solidFill>
                <a:latin typeface="맑은 고딕"/>
                <a:ea typeface="맑은 고딕"/>
                <a:cs typeface="맑은 고딕"/>
              </a:defRPr>
            </a:lvl4pPr>
            <a:lvl5pPr>
              <a:defRPr sz="1425" b="1">
                <a:solidFill>
                  <a:srgbClr val="002060"/>
                </a:solidFill>
                <a:latin typeface="맑은 고딕"/>
                <a:ea typeface="맑은 고딕"/>
                <a:cs typeface="맑은 고딕"/>
              </a:defRPr>
            </a:lvl5pPr>
            <a:lvl6pPr>
              <a:defRPr sz="1425" b="1">
                <a:solidFill>
                  <a:srgbClr val="002060"/>
                </a:solidFill>
                <a:latin typeface="맑은 고딕"/>
                <a:ea typeface="맑은 고딕"/>
                <a:cs typeface="맑은 고딕"/>
              </a:defRPr>
            </a:lvl6pPr>
            <a:lvl7pPr>
              <a:defRPr sz="1425" b="1">
                <a:solidFill>
                  <a:srgbClr val="002060"/>
                </a:solidFill>
                <a:latin typeface="맑은 고딕"/>
                <a:ea typeface="맑은 고딕"/>
                <a:cs typeface="맑은 고딕"/>
              </a:defRPr>
            </a:lvl7pPr>
            <a:lvl8pPr>
              <a:defRPr sz="1425" b="1">
                <a:solidFill>
                  <a:srgbClr val="002060"/>
                </a:solidFill>
                <a:latin typeface="맑은 고딕"/>
                <a:ea typeface="맑은 고딕"/>
                <a:cs typeface="맑은 고딕"/>
              </a:defRPr>
            </a:lvl8pPr>
            <a:lvl9pPr>
              <a:defRPr sz="1425" b="1">
                <a:solidFill>
                  <a:srgbClr val="002060"/>
                </a:solidFill>
                <a:latin typeface="맑은 고딕"/>
                <a:ea typeface="맑은 고딕"/>
                <a:cs typeface="맑은 고딕"/>
              </a:defRPr>
            </a:lvl9pPr>
          </a:lstStyle>
          <a:p>
            <a:pPr>
              <a:defRPr sz="1425" b="1">
                <a:solidFill>
                  <a:srgbClr val="002060"/>
                </a:solidFill>
                <a:latin typeface="맑은 고딕"/>
                <a:ea typeface="맑은 고딕"/>
                <a:cs typeface="맑은 고딕"/>
              </a:defRPr>
            </a:pPr>
            <a:r>
              <a:rPr sz="1425" b="1">
                <a:solidFill>
                  <a:srgbClr val="002060"/>
                </a:solidFill>
                <a:latin typeface="맑은 고딕"/>
                <a:ea typeface="맑은 고딕"/>
                <a:cs typeface="맑은 고딕"/>
              </a:rPr>
              <a:t>일반전형 9개교  ·  예체능 실기 모집단위 제외</a:t>
            </a:r>
          </a:p>
        </p:txBody>
      </p:sp>
      <p:graphicFrame>
        <p:nvGraphicFramePr>
          <p:cNvPr id="4" name="표 3">
            <a:extLst>
              <a:ext uri="{FF2B5EF4-FFF2-40B4-BE49-F238E27FC236}">
                <a16:creationId xmlns:a16="http://schemas.microsoft.com/office/drawing/2014/main" id="{BFF39EB9-07F6-47F6-AA5B-E7860860A9F1}"/>
              </a:ext>
            </a:extLst>
          </p:cNvPr>
          <p:cNvGraphicFramePr/>
          <p:nvPr/>
        </p:nvGraphicFramePr>
        <p:xfrm>
          <a:off x="381000" y="1704975"/>
          <a:ext cx="10668000" cy="4021455"/>
        </p:xfrm>
        <a:graphic>
          <a:graphicData uri="http://schemas.openxmlformats.org/drawingml/2006/table">
            <a:tbl>
              <a:tblPr/>
              <a:tblGrid>
                <a:gridCol w="17145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gridCol w="2857500">
                  <a:extLst>
                    <a:ext uri="{9D8B030D-6E8A-4147-A177-3AD203B41FA5}">
                      <a16:colId xmlns:a16="http://schemas.microsoft.com/office/drawing/2014/main" val="20003"/>
                    </a:ext>
                  </a:extLst>
                </a:gridCol>
              </a:tblGrid>
              <a:tr h="592455">
                <a:tc>
                  <a:txBody>
                    <a:bodyPr/>
                    <a:lstStyle/>
                    <a:p>
                      <a:r>
                        <a:rPr sz="1500" b="1">
                          <a:solidFill>
                            <a:srgbClr val="FFFFFF"/>
                          </a:solidFill>
                          <a:latin typeface="맑은 고딕"/>
                          <a:ea typeface="맑은 고딕"/>
                          <a:cs typeface="맑은 고딕"/>
                        </a:rPr>
                        <a:t>대학</a:t>
                      </a:r>
                    </a:p>
                  </a:txBody>
                  <a:tcPr marL="95250" marR="95250" marT="47625" marB="47625" anchor="ctr">
                    <a:lnL w="5715">
                      <a:solidFill>
                        <a:srgbClr val="C5CFDA"/>
                      </a:solidFill>
                      <a:prstDash val="soli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일반 주력 구조</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전형방법의 핵심</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일반 지원자격</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extLst>
                  <a:ext uri="{0D108BD9-81ED-4DB2-BD59-A6C34878D82A}">
                    <a16:rowId xmlns:a16="http://schemas.microsoft.com/office/drawing/2014/main" val="10000"/>
                  </a:ext>
                </a:extLst>
              </a:tr>
              <a:tr h="381000">
                <a:tc>
                  <a:txBody>
                    <a:bodyPr/>
                    <a:lstStyle/>
                    <a:p>
                      <a:r>
                        <a:rPr sz="1425" b="1">
                          <a:solidFill>
                            <a:srgbClr val="17212D"/>
                          </a:solidFill>
                          <a:latin typeface="맑은 고딕"/>
                          <a:ea typeface="맑은 고딕"/>
                          <a:cs typeface="맑은 고딕"/>
                        </a:rPr>
                        <a:t>강원대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425" b="0">
                          <a:solidFill>
                            <a:srgbClr val="17212D"/>
                          </a:solidFill>
                          <a:latin typeface="맑은 고딕"/>
                          <a:ea typeface="맑은 고딕"/>
                          <a:cs typeface="맑은 고딕"/>
                        </a:rPr>
                        <a:t>일반 1</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425" b="0">
                          <a:solidFill>
                            <a:srgbClr val="17212D"/>
                          </a:solidFill>
                          <a:latin typeface="맑은 고딕"/>
                          <a:ea typeface="맑은 고딕"/>
                          <a:cs typeface="맑은 고딕"/>
                        </a:rPr>
                        <a:t>일반 모집단위 수능 100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425" b="0">
                          <a:solidFill>
                            <a:srgbClr val="17212D"/>
                          </a:solidFill>
                          <a:latin typeface="맑은 고딕"/>
                          <a:ea typeface="맑은 고딕"/>
                          <a:cs typeface="맑은 고딕"/>
                        </a:rPr>
                        <a:t>현역·졸업생 가능</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1"/>
                  </a:ext>
                </a:extLst>
              </a:tr>
              <a:tr h="381000">
                <a:tc>
                  <a:txBody>
                    <a:bodyPr/>
                    <a:lstStyle/>
                    <a:p>
                      <a:r>
                        <a:rPr sz="1425" b="1">
                          <a:solidFill>
                            <a:srgbClr val="17212D"/>
                          </a:solidFill>
                          <a:latin typeface="맑은 고딕"/>
                          <a:ea typeface="맑은 고딕"/>
                          <a:cs typeface="맑은 고딕"/>
                        </a:rPr>
                        <a:t>경북대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425" b="0">
                          <a:solidFill>
                            <a:srgbClr val="17212D"/>
                          </a:solidFill>
                          <a:latin typeface="맑은 고딕"/>
                          <a:ea typeface="맑은 고딕"/>
                          <a:cs typeface="맑은 고딕"/>
                        </a:rPr>
                        <a:t>일반 1</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425" b="0">
                          <a:solidFill>
                            <a:srgbClr val="17212D"/>
                          </a:solidFill>
                          <a:latin typeface="맑은 고딕"/>
                          <a:ea typeface="맑은 고딕"/>
                          <a:cs typeface="맑은 고딕"/>
                        </a:rPr>
                        <a:t>수능 90+학생부교과 10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425" b="0">
                          <a:solidFill>
                            <a:srgbClr val="17212D"/>
                          </a:solidFill>
                          <a:latin typeface="맑은 고딕"/>
                          <a:ea typeface="맑은 고딕"/>
                          <a:cs typeface="맑은 고딕"/>
                        </a:rPr>
                        <a:t>현역·졸업생 가능</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2"/>
                  </a:ext>
                </a:extLst>
              </a:tr>
              <a:tr h="381000">
                <a:tc>
                  <a:txBody>
                    <a:bodyPr/>
                    <a:lstStyle/>
                    <a:p>
                      <a:r>
                        <a:rPr sz="1425" b="1">
                          <a:solidFill>
                            <a:srgbClr val="17212D"/>
                          </a:solidFill>
                          <a:latin typeface="맑은 고딕"/>
                          <a:ea typeface="맑은 고딕"/>
                          <a:cs typeface="맑은 고딕"/>
                        </a:rPr>
                        <a:t>경상국립대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425" b="0">
                          <a:solidFill>
                            <a:srgbClr val="17212D"/>
                          </a:solidFill>
                          <a:latin typeface="맑은 고딕"/>
                          <a:ea typeface="맑은 고딕"/>
                          <a:cs typeface="맑은 고딕"/>
                        </a:rPr>
                        <a:t>일반 1</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425" b="0">
                          <a:solidFill>
                            <a:srgbClr val="17212D"/>
                          </a:solidFill>
                          <a:latin typeface="맑은 고딕"/>
                          <a:ea typeface="맑은 고딕"/>
                          <a:cs typeface="맑은 고딕"/>
                        </a:rPr>
                        <a:t>일반 모집단위 수능 100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425" b="0">
                          <a:solidFill>
                            <a:srgbClr val="17212D"/>
                          </a:solidFill>
                          <a:latin typeface="맑은 고딕"/>
                          <a:ea typeface="맑은 고딕"/>
                          <a:cs typeface="맑은 고딕"/>
                        </a:rPr>
                        <a:t>현역·졸업생 가능</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3"/>
                  </a:ext>
                </a:extLst>
              </a:tr>
              <a:tr h="381000">
                <a:tc>
                  <a:txBody>
                    <a:bodyPr/>
                    <a:lstStyle/>
                    <a:p>
                      <a:r>
                        <a:rPr sz="1425" b="1">
                          <a:solidFill>
                            <a:srgbClr val="17212D"/>
                          </a:solidFill>
                          <a:latin typeface="맑은 고딕"/>
                          <a:ea typeface="맑은 고딕"/>
                          <a:cs typeface="맑은 고딕"/>
                        </a:rPr>
                        <a:t>부산대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425" b="0">
                          <a:solidFill>
                            <a:srgbClr val="17212D"/>
                          </a:solidFill>
                          <a:latin typeface="맑은 고딕"/>
                          <a:ea typeface="맑은 고딕"/>
                          <a:cs typeface="맑은 고딕"/>
                        </a:rPr>
                        <a:t>수능우수 1</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425" b="0">
                          <a:solidFill>
                            <a:srgbClr val="17212D"/>
                          </a:solidFill>
                          <a:latin typeface="맑은 고딕"/>
                          <a:ea typeface="맑은 고딕"/>
                          <a:cs typeface="맑은 고딕"/>
                        </a:rPr>
                        <a:t>수능 80+학업충실도 20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425" b="0">
                          <a:solidFill>
                            <a:srgbClr val="17212D"/>
                          </a:solidFill>
                          <a:latin typeface="맑은 고딕"/>
                          <a:ea typeface="맑은 고딕"/>
                          <a:cs typeface="맑은 고딕"/>
                        </a:rPr>
                        <a:t>현역·졸업생 가능</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4"/>
                  </a:ext>
                </a:extLst>
              </a:tr>
              <a:tr h="381000">
                <a:tc>
                  <a:txBody>
                    <a:bodyPr/>
                    <a:lstStyle/>
                    <a:p>
                      <a:r>
                        <a:rPr sz="1425" b="1">
                          <a:solidFill>
                            <a:srgbClr val="17212D"/>
                          </a:solidFill>
                          <a:latin typeface="맑은 고딕"/>
                          <a:ea typeface="맑은 고딕"/>
                          <a:cs typeface="맑은 고딕"/>
                        </a:rPr>
                        <a:t>전남대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425" b="0">
                          <a:solidFill>
                            <a:srgbClr val="17212D"/>
                          </a:solidFill>
                          <a:latin typeface="맑은 고딕"/>
                          <a:ea typeface="맑은 고딕"/>
                          <a:cs typeface="맑은 고딕"/>
                        </a:rPr>
                        <a:t>일반 1</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425" b="0">
                          <a:solidFill>
                            <a:srgbClr val="17212D"/>
                          </a:solidFill>
                          <a:latin typeface="맑은 고딕"/>
                          <a:ea typeface="맑은 고딕"/>
                          <a:cs typeface="맑은 고딕"/>
                        </a:rPr>
                        <a:t>일반 모집단위 수능 100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425" b="0">
                          <a:solidFill>
                            <a:srgbClr val="17212D"/>
                          </a:solidFill>
                          <a:latin typeface="맑은 고딕"/>
                          <a:ea typeface="맑은 고딕"/>
                          <a:cs typeface="맑은 고딕"/>
                        </a:rPr>
                        <a:t>현역·졸업생 가능</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5"/>
                  </a:ext>
                </a:extLst>
              </a:tr>
              <a:tr h="381000">
                <a:tc>
                  <a:txBody>
                    <a:bodyPr/>
                    <a:lstStyle/>
                    <a:p>
                      <a:r>
                        <a:rPr sz="1425" b="1">
                          <a:solidFill>
                            <a:srgbClr val="17212D"/>
                          </a:solidFill>
                          <a:latin typeface="맑은 고딕"/>
                          <a:ea typeface="맑은 고딕"/>
                          <a:cs typeface="맑은 고딕"/>
                        </a:rPr>
                        <a:t>전북대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425" b="0">
                          <a:solidFill>
                            <a:srgbClr val="17212D"/>
                          </a:solidFill>
                          <a:latin typeface="맑은 고딕"/>
                          <a:ea typeface="맑은 고딕"/>
                          <a:cs typeface="맑은 고딕"/>
                        </a:rPr>
                        <a:t>일반학생 1</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425" b="0">
                          <a:solidFill>
                            <a:srgbClr val="17212D"/>
                          </a:solidFill>
                          <a:latin typeface="맑은 고딕"/>
                          <a:ea typeface="맑은 고딕"/>
                          <a:cs typeface="맑은 고딕"/>
                        </a:rPr>
                        <a:t>일반 모집단위 수능 100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425" b="0">
                          <a:solidFill>
                            <a:srgbClr val="17212D"/>
                          </a:solidFill>
                          <a:latin typeface="맑은 고딕"/>
                          <a:ea typeface="맑은 고딕"/>
                          <a:cs typeface="맑은 고딕"/>
                        </a:rPr>
                        <a:t>현역·졸업생 가능</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6"/>
                  </a:ext>
                </a:extLst>
              </a:tr>
              <a:tr h="381000">
                <a:tc>
                  <a:txBody>
                    <a:bodyPr/>
                    <a:lstStyle/>
                    <a:p>
                      <a:r>
                        <a:rPr sz="1425" b="1">
                          <a:solidFill>
                            <a:srgbClr val="17212D"/>
                          </a:solidFill>
                          <a:latin typeface="맑은 고딕"/>
                          <a:ea typeface="맑은 고딕"/>
                          <a:cs typeface="맑은 고딕"/>
                        </a:rPr>
                        <a:t>제주대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425" b="0">
                          <a:solidFill>
                            <a:srgbClr val="17212D"/>
                          </a:solidFill>
                          <a:latin typeface="맑은 고딕"/>
                          <a:ea typeface="맑은 고딕"/>
                          <a:cs typeface="맑은 고딕"/>
                        </a:rPr>
                        <a:t>일반학생 1</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425" b="0">
                          <a:solidFill>
                            <a:srgbClr val="17212D"/>
                          </a:solidFill>
                          <a:latin typeface="맑은 고딕"/>
                          <a:ea typeface="맑은 고딕"/>
                          <a:cs typeface="맑은 고딕"/>
                        </a:rPr>
                        <a:t>일반 모집단위 수능 100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425" b="0">
                          <a:solidFill>
                            <a:srgbClr val="17212D"/>
                          </a:solidFill>
                          <a:latin typeface="맑은 고딕"/>
                          <a:ea typeface="맑은 고딕"/>
                          <a:cs typeface="맑은 고딕"/>
                        </a:rPr>
                        <a:t>현역·졸업생 가능</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7"/>
                  </a:ext>
                </a:extLst>
              </a:tr>
              <a:tr h="381000">
                <a:tc>
                  <a:txBody>
                    <a:bodyPr/>
                    <a:lstStyle/>
                    <a:p>
                      <a:r>
                        <a:rPr sz="1425" b="1">
                          <a:solidFill>
                            <a:srgbClr val="17212D"/>
                          </a:solidFill>
                          <a:latin typeface="맑은 고딕"/>
                          <a:ea typeface="맑은 고딕"/>
                          <a:cs typeface="맑은 고딕"/>
                        </a:rPr>
                        <a:t>충남대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425" b="0">
                          <a:solidFill>
                            <a:srgbClr val="17212D"/>
                          </a:solidFill>
                          <a:latin typeface="맑은 고딕"/>
                          <a:ea typeface="맑은 고딕"/>
                          <a:cs typeface="맑은 고딕"/>
                        </a:rPr>
                        <a:t>일반 1</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425" b="0">
                          <a:solidFill>
                            <a:srgbClr val="17212D"/>
                          </a:solidFill>
                          <a:latin typeface="맑은 고딕"/>
                          <a:ea typeface="맑은 고딕"/>
                          <a:cs typeface="맑은 고딕"/>
                        </a:rPr>
                        <a:t>실질비율 수능 80+교과 15+출결 5</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425" b="0">
                          <a:solidFill>
                            <a:srgbClr val="17212D"/>
                          </a:solidFill>
                          <a:latin typeface="맑은 고딕"/>
                          <a:ea typeface="맑은 고딕"/>
                          <a:cs typeface="맑은 고딕"/>
                        </a:rPr>
                        <a:t>현역·졸업생 가능</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8"/>
                  </a:ext>
                </a:extLst>
              </a:tr>
              <a:tr h="381000">
                <a:tc>
                  <a:txBody>
                    <a:bodyPr/>
                    <a:lstStyle/>
                    <a:p>
                      <a:r>
                        <a:rPr sz="1425" b="1">
                          <a:solidFill>
                            <a:srgbClr val="17212D"/>
                          </a:solidFill>
                          <a:latin typeface="맑은 고딕"/>
                          <a:ea typeface="맑은 고딕"/>
                          <a:cs typeface="맑은 고딕"/>
                        </a:rPr>
                        <a:t>충북대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425" b="0">
                          <a:solidFill>
                            <a:srgbClr val="17212D"/>
                          </a:solidFill>
                          <a:latin typeface="맑은 고딕"/>
                          <a:ea typeface="맑은 고딕"/>
                          <a:cs typeface="맑은 고딕"/>
                        </a:rPr>
                        <a:t>일반 1</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425" b="0">
                          <a:solidFill>
                            <a:srgbClr val="17212D"/>
                          </a:solidFill>
                          <a:latin typeface="맑은 고딕"/>
                          <a:ea typeface="맑은 고딕"/>
                          <a:cs typeface="맑은 고딕"/>
                        </a:rPr>
                        <a:t>일반 모집단위 수능 100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425" b="0">
                          <a:solidFill>
                            <a:srgbClr val="17212D"/>
                          </a:solidFill>
                          <a:latin typeface="맑은 고딕"/>
                          <a:ea typeface="맑은 고딕"/>
                          <a:cs typeface="맑은 고딕"/>
                        </a:rPr>
                        <a:t>현역·졸업생 가능</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9"/>
                  </a:ext>
                </a:extLst>
              </a:tr>
            </a:tbl>
          </a:graphicData>
        </a:graphic>
      </p:graphicFrame>
      <p:sp>
        <p:nvSpPr>
          <p:cNvPr id="5" name="직사각형 4">
            <a:extLst>
              <a:ext uri="{FF2B5EF4-FFF2-40B4-BE49-F238E27FC236}">
                <a16:creationId xmlns:a16="http://schemas.microsoft.com/office/drawing/2014/main" id="{E457CF3D-FD54-4892-9DD8-D33C16C0400D}"/>
              </a:ext>
            </a:extLst>
          </p:cNvPr>
          <p:cNvSpPr>
            <a:spLocks noGrp="1"/>
          </p:cNvSpPr>
          <p:nvPr/>
        </p:nvSpPr>
        <p:spPr>
          <a:xfrm>
            <a:off x="381000" y="5955030"/>
            <a:ext cx="10668000" cy="257175"/>
          </a:xfrm>
          <a:prstGeom prst="rect">
            <a:avLst/>
          </a:prstGeom>
          <a:noFill/>
          <a:ln w="0">
            <a:noFill/>
          </a:ln>
        </p:spPr>
        <p:txBody>
          <a:bodyPr lIns="0" tIns="0" rIns="0" bIns="0" anchor="t"/>
          <a:lstStyle>
            <a:defPPr>
              <a:defRPr sz="1425" b="1">
                <a:solidFill>
                  <a:srgbClr val="002060"/>
                </a:solidFill>
                <a:latin typeface="맑은 고딕"/>
                <a:ea typeface="맑은 고딕"/>
                <a:cs typeface="맑은 고딕"/>
              </a:defRPr>
            </a:defPPr>
            <a:lvl1pPr>
              <a:defRPr sz="1425" b="1">
                <a:solidFill>
                  <a:srgbClr val="002060"/>
                </a:solidFill>
                <a:latin typeface="맑은 고딕"/>
                <a:ea typeface="맑은 고딕"/>
                <a:cs typeface="맑은 고딕"/>
              </a:defRPr>
            </a:lvl1pPr>
            <a:lvl2pPr>
              <a:defRPr sz="1425" b="1">
                <a:solidFill>
                  <a:srgbClr val="002060"/>
                </a:solidFill>
                <a:latin typeface="맑은 고딕"/>
                <a:ea typeface="맑은 고딕"/>
                <a:cs typeface="맑은 고딕"/>
              </a:defRPr>
            </a:lvl2pPr>
            <a:lvl3pPr>
              <a:defRPr sz="1425" b="1">
                <a:solidFill>
                  <a:srgbClr val="002060"/>
                </a:solidFill>
                <a:latin typeface="맑은 고딕"/>
                <a:ea typeface="맑은 고딕"/>
                <a:cs typeface="맑은 고딕"/>
              </a:defRPr>
            </a:lvl3pPr>
            <a:lvl4pPr>
              <a:defRPr sz="1425" b="1">
                <a:solidFill>
                  <a:srgbClr val="002060"/>
                </a:solidFill>
                <a:latin typeface="맑은 고딕"/>
                <a:ea typeface="맑은 고딕"/>
                <a:cs typeface="맑은 고딕"/>
              </a:defRPr>
            </a:lvl4pPr>
            <a:lvl5pPr>
              <a:defRPr sz="1425" b="1">
                <a:solidFill>
                  <a:srgbClr val="002060"/>
                </a:solidFill>
                <a:latin typeface="맑은 고딕"/>
                <a:ea typeface="맑은 고딕"/>
                <a:cs typeface="맑은 고딕"/>
              </a:defRPr>
            </a:lvl5pPr>
            <a:lvl6pPr>
              <a:defRPr sz="1425" b="1">
                <a:solidFill>
                  <a:srgbClr val="002060"/>
                </a:solidFill>
                <a:latin typeface="맑은 고딕"/>
                <a:ea typeface="맑은 고딕"/>
                <a:cs typeface="맑은 고딕"/>
              </a:defRPr>
            </a:lvl6pPr>
            <a:lvl7pPr>
              <a:defRPr sz="1425" b="1">
                <a:solidFill>
                  <a:srgbClr val="002060"/>
                </a:solidFill>
                <a:latin typeface="맑은 고딕"/>
                <a:ea typeface="맑은 고딕"/>
                <a:cs typeface="맑은 고딕"/>
              </a:defRPr>
            </a:lvl7pPr>
            <a:lvl8pPr>
              <a:defRPr sz="1425" b="1">
                <a:solidFill>
                  <a:srgbClr val="002060"/>
                </a:solidFill>
                <a:latin typeface="맑은 고딕"/>
                <a:ea typeface="맑은 고딕"/>
                <a:cs typeface="맑은 고딕"/>
              </a:defRPr>
            </a:lvl8pPr>
            <a:lvl9pPr>
              <a:defRPr sz="1425" b="1">
                <a:solidFill>
                  <a:srgbClr val="002060"/>
                </a:solidFill>
                <a:latin typeface="맑은 고딕"/>
                <a:ea typeface="맑은 고딕"/>
                <a:cs typeface="맑은 고딕"/>
              </a:defRPr>
            </a:lvl9pPr>
          </a:lstStyle>
          <a:p>
            <a:pPr>
              <a:defRPr sz="1425" b="1">
                <a:solidFill>
                  <a:srgbClr val="002060"/>
                </a:solidFill>
                <a:latin typeface="맑은 고딕"/>
                <a:ea typeface="맑은 고딕"/>
                <a:cs typeface="맑은 고딕"/>
              </a:defRPr>
            </a:pPr>
            <a:r>
              <a:rPr sz="1425" b="1">
                <a:solidFill>
                  <a:srgbClr val="002060"/>
                </a:solidFill>
                <a:latin typeface="맑은 고딕"/>
                <a:ea typeface="맑은 고딕"/>
                <a:cs typeface="맑은 고딕"/>
              </a:rPr>
              <a:t>지역인재 지원자격 사례  ·  중학교·거주 추가 요건은 모집단위별 확인</a:t>
            </a:r>
          </a:p>
        </p:txBody>
      </p:sp>
      <p:graphicFrame>
        <p:nvGraphicFramePr>
          <p:cNvPr id="6" name="표 5">
            <a:extLst>
              <a:ext uri="{FF2B5EF4-FFF2-40B4-BE49-F238E27FC236}">
                <a16:creationId xmlns:a16="http://schemas.microsoft.com/office/drawing/2014/main" id="{10A3BFFA-6226-4C9C-85F7-C8D7F0CEF901}"/>
              </a:ext>
            </a:extLst>
          </p:cNvPr>
          <p:cNvGraphicFramePr/>
          <p:nvPr/>
        </p:nvGraphicFramePr>
        <p:xfrm>
          <a:off x="381000" y="6278880"/>
          <a:ext cx="10668000" cy="2305050"/>
        </p:xfrm>
        <a:graphic>
          <a:graphicData uri="http://schemas.openxmlformats.org/drawingml/2006/table">
            <a:tbl>
              <a:tblPr/>
              <a:tblGrid>
                <a:gridCol w="276225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3905250">
                  <a:extLst>
                    <a:ext uri="{9D8B030D-6E8A-4147-A177-3AD203B41FA5}">
                      <a16:colId xmlns:a16="http://schemas.microsoft.com/office/drawing/2014/main" val="20002"/>
                    </a:ext>
                  </a:extLst>
                </a:gridCol>
              </a:tblGrid>
              <a:tr h="400050">
                <a:tc>
                  <a:txBody>
                    <a:bodyPr/>
                    <a:lstStyle/>
                    <a:p>
                      <a:r>
                        <a:rPr sz="1500" b="1">
                          <a:solidFill>
                            <a:srgbClr val="FFFFFF"/>
                          </a:solidFill>
                          <a:latin typeface="맑은 고딕"/>
                          <a:ea typeface="맑은 고딕"/>
                          <a:cs typeface="맑은 고딕"/>
                        </a:rPr>
                        <a:t>대학·전형</a:t>
                      </a:r>
                    </a:p>
                  </a:txBody>
                  <a:tcPr marL="95250" marR="95250" marT="47625" marB="47625" anchor="ctr">
                    <a:lnL w="5715">
                      <a:solidFill>
                        <a:srgbClr val="C5CFDA"/>
                      </a:solidFill>
                      <a:prstDash val="soli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기본 지역 요건</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현역·졸업생 판단</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extLst>
                  <a:ext uri="{0D108BD9-81ED-4DB2-BD59-A6C34878D82A}">
                    <a16:rowId xmlns:a16="http://schemas.microsoft.com/office/drawing/2014/main" val="10000"/>
                  </a:ext>
                </a:extLst>
              </a:tr>
              <a:tr h="381000">
                <a:tc>
                  <a:txBody>
                    <a:bodyPr/>
                    <a:lstStyle/>
                    <a:p>
                      <a:r>
                        <a:rPr sz="1388" b="1">
                          <a:solidFill>
                            <a:srgbClr val="17212D"/>
                          </a:solidFill>
                          <a:latin typeface="맑은 고딕"/>
                          <a:ea typeface="맑은 고딕"/>
                          <a:cs typeface="맑은 고딕"/>
                        </a:rPr>
                        <a:t>경북대 지역인재</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88" b="0">
                          <a:solidFill>
                            <a:srgbClr val="17212D"/>
                          </a:solidFill>
                          <a:latin typeface="맑은 고딕"/>
                          <a:ea typeface="맑은 고딕"/>
                          <a:cs typeface="맑은 고딕"/>
                        </a:rPr>
                        <a:t>대구·경북 고교 전 과정</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88" b="0">
                          <a:solidFill>
                            <a:srgbClr val="17212D"/>
                          </a:solidFill>
                          <a:latin typeface="맑은 고딕"/>
                          <a:ea typeface="맑은 고딕"/>
                          <a:cs typeface="맑은 고딕"/>
                        </a:rPr>
                        <a:t>졸업(예정)자, 추가 요건 적용</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1"/>
                  </a:ext>
                </a:extLst>
              </a:tr>
              <a:tr h="381000">
                <a:tc>
                  <a:txBody>
                    <a:bodyPr/>
                    <a:lstStyle/>
                    <a:p>
                      <a:r>
                        <a:rPr sz="1388" b="1">
                          <a:solidFill>
                            <a:srgbClr val="17212D"/>
                          </a:solidFill>
                          <a:latin typeface="맑은 고딕"/>
                          <a:ea typeface="맑은 고딕"/>
                          <a:cs typeface="맑은 고딕"/>
                        </a:rPr>
                        <a:t>경상국립대 지역인재</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88" b="0">
                          <a:solidFill>
                            <a:srgbClr val="17212D"/>
                          </a:solidFill>
                          <a:latin typeface="맑은 고딕"/>
                          <a:ea typeface="맑은 고딕"/>
                          <a:cs typeface="맑은 고딕"/>
                        </a:rPr>
                        <a:t>경남·부산·울산 고교 전 과정</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88" b="0">
                          <a:solidFill>
                            <a:srgbClr val="17212D"/>
                          </a:solidFill>
                          <a:latin typeface="맑은 고딕"/>
                          <a:ea typeface="맑은 고딕"/>
                          <a:cs typeface="맑은 고딕"/>
                        </a:rPr>
                        <a:t>졸업(예정)자, 추가 요건 적용</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2"/>
                  </a:ext>
                </a:extLst>
              </a:tr>
              <a:tr h="381000">
                <a:tc>
                  <a:txBody>
                    <a:bodyPr/>
                    <a:lstStyle/>
                    <a:p>
                      <a:r>
                        <a:rPr sz="1388" b="1">
                          <a:solidFill>
                            <a:srgbClr val="17212D"/>
                          </a:solidFill>
                          <a:latin typeface="맑은 고딕"/>
                          <a:ea typeface="맑은 고딕"/>
                          <a:cs typeface="맑은 고딕"/>
                        </a:rPr>
                        <a:t>부산대 수능지역</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88" b="0">
                          <a:solidFill>
                            <a:srgbClr val="17212D"/>
                          </a:solidFill>
                          <a:latin typeface="맑은 고딕"/>
                          <a:ea typeface="맑은 고딕"/>
                          <a:cs typeface="맑은 고딕"/>
                        </a:rPr>
                        <a:t>부산·울산·경남 고교 전 과정</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88" b="0">
                          <a:solidFill>
                            <a:srgbClr val="17212D"/>
                          </a:solidFill>
                          <a:latin typeface="맑은 고딕"/>
                          <a:ea typeface="맑은 고딕"/>
                          <a:cs typeface="맑은 고딕"/>
                        </a:rPr>
                        <a:t>졸업(예정)자, 추가 요건 적용</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3"/>
                  </a:ext>
                </a:extLst>
              </a:tr>
              <a:tr h="381000">
                <a:tc>
                  <a:txBody>
                    <a:bodyPr/>
                    <a:lstStyle/>
                    <a:p>
                      <a:r>
                        <a:rPr sz="1388" b="1">
                          <a:solidFill>
                            <a:srgbClr val="17212D"/>
                          </a:solidFill>
                          <a:latin typeface="맑은 고딕"/>
                          <a:ea typeface="맑은 고딕"/>
                          <a:cs typeface="맑은 고딕"/>
                        </a:rPr>
                        <a:t>전남대 지역인재</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88" b="0">
                          <a:solidFill>
                            <a:srgbClr val="17212D"/>
                          </a:solidFill>
                          <a:latin typeface="맑은 고딕"/>
                          <a:ea typeface="맑은 고딕"/>
                          <a:cs typeface="맑은 고딕"/>
                        </a:rPr>
                        <a:t>광주·전남·전북 고교 전 과정</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388" b="0">
                          <a:solidFill>
                            <a:srgbClr val="17212D"/>
                          </a:solidFill>
                          <a:latin typeface="맑은 고딕"/>
                          <a:ea typeface="맑은 고딕"/>
                          <a:cs typeface="맑은 고딕"/>
                        </a:rPr>
                        <a:t>졸업(예정)자, 추가 요건 적용</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4"/>
                  </a:ext>
                </a:extLst>
              </a:tr>
              <a:tr h="381000">
                <a:tc>
                  <a:txBody>
                    <a:bodyPr/>
                    <a:lstStyle/>
                    <a:p>
                      <a:r>
                        <a:rPr sz="1388" b="1">
                          <a:solidFill>
                            <a:srgbClr val="17212D"/>
                          </a:solidFill>
                          <a:latin typeface="맑은 고딕"/>
                          <a:ea typeface="맑은 고딕"/>
                          <a:cs typeface="맑은 고딕"/>
                        </a:rPr>
                        <a:t>제주대 지역인재</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88" b="0">
                          <a:solidFill>
                            <a:srgbClr val="17212D"/>
                          </a:solidFill>
                          <a:latin typeface="맑은 고딕"/>
                          <a:ea typeface="맑은 고딕"/>
                          <a:cs typeface="맑은 고딕"/>
                        </a:rPr>
                        <a:t>제주 소재 고교 전 과정</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388" b="0">
                          <a:solidFill>
                            <a:srgbClr val="17212D"/>
                          </a:solidFill>
                          <a:latin typeface="맑은 고딕"/>
                          <a:ea typeface="맑은 고딕"/>
                          <a:cs typeface="맑은 고딕"/>
                        </a:rPr>
                        <a:t>졸업(예정)자, 추가 요건 적용</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7" name="직사각형 6">
            <a:extLst>
              <a:ext uri="{FF2B5EF4-FFF2-40B4-BE49-F238E27FC236}">
                <a16:creationId xmlns:a16="http://schemas.microsoft.com/office/drawing/2014/main" id="{F0C1D378-41EA-49A3-8079-3DEC5556136D}"/>
              </a:ext>
            </a:extLst>
          </p:cNvPr>
          <p:cNvSpPr>
            <a:spLocks noGrp="1"/>
          </p:cNvSpPr>
          <p:nvPr/>
        </p:nvSpPr>
        <p:spPr>
          <a:xfrm>
            <a:off x="381000" y="8707755"/>
            <a:ext cx="10668000" cy="438150"/>
          </a:xfrm>
          <a:prstGeom prst="rect">
            <a:avLst/>
          </a:prstGeom>
          <a:noFill/>
          <a:ln w="0">
            <a:noFill/>
          </a:ln>
        </p:spPr>
        <p:txBody>
          <a:bodyPr lIns="0" tIns="0" rIns="0" bIns="0" anchor="t"/>
          <a:lstStyle>
            <a:defPPr>
              <a:defRPr sz="1125" b="0">
                <a:solidFill>
                  <a:srgbClr val="535D69"/>
                </a:solidFill>
                <a:latin typeface="맑은 고딕"/>
                <a:ea typeface="맑은 고딕"/>
                <a:cs typeface="맑은 고딕"/>
              </a:defRPr>
            </a:defPPr>
            <a:lvl1pPr>
              <a:defRPr sz="1125" b="0">
                <a:solidFill>
                  <a:srgbClr val="535D69"/>
                </a:solidFill>
                <a:latin typeface="맑은 고딕"/>
                <a:ea typeface="맑은 고딕"/>
                <a:cs typeface="맑은 고딕"/>
              </a:defRPr>
            </a:lvl1pPr>
            <a:lvl2pPr>
              <a:defRPr sz="1125" b="0">
                <a:solidFill>
                  <a:srgbClr val="535D69"/>
                </a:solidFill>
                <a:latin typeface="맑은 고딕"/>
                <a:ea typeface="맑은 고딕"/>
                <a:cs typeface="맑은 고딕"/>
              </a:defRPr>
            </a:lvl2pPr>
            <a:lvl3pPr>
              <a:defRPr sz="1125" b="0">
                <a:solidFill>
                  <a:srgbClr val="535D69"/>
                </a:solidFill>
                <a:latin typeface="맑은 고딕"/>
                <a:ea typeface="맑은 고딕"/>
                <a:cs typeface="맑은 고딕"/>
              </a:defRPr>
            </a:lvl3pPr>
            <a:lvl4pPr>
              <a:defRPr sz="1125" b="0">
                <a:solidFill>
                  <a:srgbClr val="535D69"/>
                </a:solidFill>
                <a:latin typeface="맑은 고딕"/>
                <a:ea typeface="맑은 고딕"/>
                <a:cs typeface="맑은 고딕"/>
              </a:defRPr>
            </a:lvl4pPr>
            <a:lvl5pPr>
              <a:defRPr sz="1125" b="0">
                <a:solidFill>
                  <a:srgbClr val="535D69"/>
                </a:solidFill>
                <a:latin typeface="맑은 고딕"/>
                <a:ea typeface="맑은 고딕"/>
                <a:cs typeface="맑은 고딕"/>
              </a:defRPr>
            </a:lvl5pPr>
            <a:lvl6pPr>
              <a:defRPr sz="1125" b="0">
                <a:solidFill>
                  <a:srgbClr val="535D69"/>
                </a:solidFill>
                <a:latin typeface="맑은 고딕"/>
                <a:ea typeface="맑은 고딕"/>
                <a:cs typeface="맑은 고딕"/>
              </a:defRPr>
            </a:lvl6pPr>
            <a:lvl7pPr>
              <a:defRPr sz="1125" b="0">
                <a:solidFill>
                  <a:srgbClr val="535D69"/>
                </a:solidFill>
                <a:latin typeface="맑은 고딕"/>
                <a:ea typeface="맑은 고딕"/>
                <a:cs typeface="맑은 고딕"/>
              </a:defRPr>
            </a:lvl7pPr>
            <a:lvl8pPr>
              <a:defRPr sz="1125" b="0">
                <a:solidFill>
                  <a:srgbClr val="535D69"/>
                </a:solidFill>
                <a:latin typeface="맑은 고딕"/>
                <a:ea typeface="맑은 고딕"/>
                <a:cs typeface="맑은 고딕"/>
              </a:defRPr>
            </a:lvl8pPr>
            <a:lvl9pPr>
              <a:defRPr sz="1125" b="0">
                <a:solidFill>
                  <a:srgbClr val="535D69"/>
                </a:solidFill>
                <a:latin typeface="맑은 고딕"/>
                <a:ea typeface="맑은 고딕"/>
                <a:cs typeface="맑은 고딕"/>
              </a:defRPr>
            </a:lvl9pPr>
          </a:lstStyle>
          <a:p>
            <a:pPr>
              <a:defRPr sz="1125" b="0">
                <a:solidFill>
                  <a:srgbClr val="535D69"/>
                </a:solidFill>
                <a:latin typeface="맑은 고딕"/>
                <a:ea typeface="맑은 고딕"/>
                <a:cs typeface="맑은 고딕"/>
              </a:defRPr>
            </a:pPr>
            <a:r>
              <a:rPr sz="1125" b="0">
                <a:solidFill>
                  <a:srgbClr val="535D69"/>
                </a:solidFill>
                <a:latin typeface="맑은 고딕"/>
                <a:ea typeface="맑은 고딕"/>
                <a:cs typeface="맑은 고딕"/>
              </a:rPr>
              <a:t>예체능 실기 운영 모집단위 제외. 강원대는 캠퍼스별 세부 방식 구분.  지역인재·지역의사·경제배려·농어촌·이월 전형은 위 구조 수에서 제외.  수의예과를 의·치·약·간호의 강화 요건과 일괄적으로 묶지 않음.</a:t>
            </a:r>
          </a:p>
        </p:txBody>
      </p:sp>
      <p:sp>
        <p:nvSpPr>
          <p:cNvPr id="8" name="직사각형 7">
            <a:extLst>
              <a:ext uri="{FF2B5EF4-FFF2-40B4-BE49-F238E27FC236}">
                <a16:creationId xmlns:a16="http://schemas.microsoft.com/office/drawing/2014/main" id="{912C545F-91C1-46CF-8D86-D3E3598B7E1C}"/>
              </a:ext>
            </a:extLst>
          </p:cNvPr>
          <p:cNvSpPr>
            <a:spLocks noGrp="1"/>
          </p:cNvSpPr>
          <p:nvPr/>
        </p:nvSpPr>
        <p:spPr>
          <a:xfrm>
            <a:off x="381000" y="9572625"/>
            <a:ext cx="10096500" cy="361950"/>
          </a:xfrm>
          <a:prstGeom prst="rect">
            <a:avLst/>
          </a:prstGeom>
          <a:noFill/>
          <a:ln w="0">
            <a:noFill/>
          </a:ln>
        </p:spPr>
        <p:txBody>
          <a:bodyPr lIns="0" tIns="0" rIns="0" bIns="0" anchor="t"/>
          <a:lstStyle>
            <a:defPPr>
              <a:defRPr sz="900" b="0">
                <a:solidFill>
                  <a:srgbClr val="666666"/>
                </a:solidFill>
                <a:latin typeface="맑은 고딕"/>
                <a:ea typeface="맑은 고딕"/>
                <a:cs typeface="맑은 고딕"/>
              </a:defRPr>
            </a:defPPr>
            <a:lvl1pPr>
              <a:defRPr sz="900" b="0">
                <a:solidFill>
                  <a:srgbClr val="666666"/>
                </a:solidFill>
                <a:latin typeface="맑은 고딕"/>
                <a:ea typeface="맑은 고딕"/>
                <a:cs typeface="맑은 고딕"/>
              </a:defRPr>
            </a:lvl1pPr>
            <a:lvl2pPr>
              <a:defRPr sz="900" b="0">
                <a:solidFill>
                  <a:srgbClr val="666666"/>
                </a:solidFill>
                <a:latin typeface="맑은 고딕"/>
                <a:ea typeface="맑은 고딕"/>
                <a:cs typeface="맑은 고딕"/>
              </a:defRPr>
            </a:lvl2pPr>
            <a:lvl3pPr>
              <a:defRPr sz="900" b="0">
                <a:solidFill>
                  <a:srgbClr val="666666"/>
                </a:solidFill>
                <a:latin typeface="맑은 고딕"/>
                <a:ea typeface="맑은 고딕"/>
                <a:cs typeface="맑은 고딕"/>
              </a:defRPr>
            </a:lvl3pPr>
            <a:lvl4pPr>
              <a:defRPr sz="900" b="0">
                <a:solidFill>
                  <a:srgbClr val="666666"/>
                </a:solidFill>
                <a:latin typeface="맑은 고딕"/>
                <a:ea typeface="맑은 고딕"/>
                <a:cs typeface="맑은 고딕"/>
              </a:defRPr>
            </a:lvl4pPr>
            <a:lvl5pPr>
              <a:defRPr sz="900" b="0">
                <a:solidFill>
                  <a:srgbClr val="666666"/>
                </a:solidFill>
                <a:latin typeface="맑은 고딕"/>
                <a:ea typeface="맑은 고딕"/>
                <a:cs typeface="맑은 고딕"/>
              </a:defRPr>
            </a:lvl5pPr>
            <a:lvl6pPr>
              <a:defRPr sz="900" b="0">
                <a:solidFill>
                  <a:srgbClr val="666666"/>
                </a:solidFill>
                <a:latin typeface="맑은 고딕"/>
                <a:ea typeface="맑은 고딕"/>
                <a:cs typeface="맑은 고딕"/>
              </a:defRPr>
            </a:lvl6pPr>
            <a:lvl7pPr>
              <a:defRPr sz="900" b="0">
                <a:solidFill>
                  <a:srgbClr val="666666"/>
                </a:solidFill>
                <a:latin typeface="맑은 고딕"/>
                <a:ea typeface="맑은 고딕"/>
                <a:cs typeface="맑은 고딕"/>
              </a:defRPr>
            </a:lvl7pPr>
            <a:lvl8pPr>
              <a:defRPr sz="900" b="0">
                <a:solidFill>
                  <a:srgbClr val="666666"/>
                </a:solidFill>
                <a:latin typeface="맑은 고딕"/>
                <a:ea typeface="맑은 고딕"/>
                <a:cs typeface="맑은 고딕"/>
              </a:defRPr>
            </a:lvl8pPr>
            <a:lvl9pPr>
              <a:defRPr sz="900" b="0">
                <a:solidFill>
                  <a:srgbClr val="666666"/>
                </a:solidFill>
                <a:latin typeface="맑은 고딕"/>
                <a:ea typeface="맑은 고딕"/>
                <a:cs typeface="맑은 고딕"/>
              </a:defRPr>
            </a:lvl9pPr>
          </a:lstStyle>
          <a:p>
            <a:pPr>
              <a:defRPr sz="900" b="0">
                <a:solidFill>
                  <a:srgbClr val="666666"/>
                </a:solidFill>
                <a:latin typeface="맑은 고딕"/>
                <a:ea typeface="맑은 고딕"/>
                <a:cs typeface="맑은 고딕"/>
              </a:defRPr>
            </a:pPr>
            <a:r>
              <a:rPr sz="900" b="0">
                <a:solidFill>
                  <a:srgbClr val="666666"/>
                </a:solidFill>
                <a:latin typeface="맑은 고딕"/>
                <a:ea typeface="맑은 고딕"/>
                <a:cs typeface="맑은 고딕"/>
              </a:rPr>
              <a:t>근거  SEN 108·123·127·172·245쪽 / 강원(춘천) PDF 27쪽, 경북 43쪽, 경상 16쪽, 부산 29~30쪽, 전남 22쪽 / SEN 249·252·265·269쪽 / 전북 PDF 43쪽, 제주 38쪽, 충남 32쪽, 충북 17쪽 / 경북 PDF 43쪽, 경상 16쪽, 부산 30쪽, 전남 22쪽, 제주 38쪽</a:t>
            </a:r>
          </a:p>
        </p:txBody>
      </p:sp>
      <p:sp>
        <p:nvSpPr>
          <p:cNvPr id="9" name="직사각형 8">
            <a:extLst>
              <a:ext uri="{FF2B5EF4-FFF2-40B4-BE49-F238E27FC236}">
                <a16:creationId xmlns:a16="http://schemas.microsoft.com/office/drawing/2014/main" id="{29DED72B-9F7F-4A17-A502-CF1A04DA909E}"/>
              </a:ext>
            </a:extLst>
          </p:cNvPr>
          <p:cNvSpPr>
            <a:spLocks noGrp="1"/>
          </p:cNvSpPr>
          <p:nvPr/>
        </p:nvSpPr>
        <p:spPr>
          <a:xfrm>
            <a:off x="10715625" y="9572625"/>
            <a:ext cx="333375" cy="228600"/>
          </a:xfrm>
          <a:prstGeom prst="rect">
            <a:avLst/>
          </a:prstGeom>
          <a:noFill/>
          <a:ln w="0">
            <a:noFill/>
          </a:ln>
        </p:spPr>
        <p:txBody>
          <a:bodyPr lIns="0" tIns="0" rIns="0" bIns="0" anchor="t"/>
          <a:lstStyle>
            <a:defPPr>
              <a:defRPr sz="1050" b="0">
                <a:solidFill>
                  <a:srgbClr val="002060"/>
                </a:solidFill>
                <a:latin typeface="맑은 고딕"/>
                <a:ea typeface="맑은 고딕"/>
                <a:cs typeface="맑은 고딕"/>
              </a:defRPr>
            </a:defPPr>
            <a:lvl1pPr>
              <a:defRPr sz="1050" b="0">
                <a:solidFill>
                  <a:srgbClr val="002060"/>
                </a:solidFill>
                <a:latin typeface="맑은 고딕"/>
                <a:ea typeface="맑은 고딕"/>
                <a:cs typeface="맑은 고딕"/>
              </a:defRPr>
            </a:lvl1pPr>
            <a:lvl2pPr>
              <a:defRPr sz="1050" b="0">
                <a:solidFill>
                  <a:srgbClr val="002060"/>
                </a:solidFill>
                <a:latin typeface="맑은 고딕"/>
                <a:ea typeface="맑은 고딕"/>
                <a:cs typeface="맑은 고딕"/>
              </a:defRPr>
            </a:lvl2pPr>
            <a:lvl3pPr>
              <a:defRPr sz="1050" b="0">
                <a:solidFill>
                  <a:srgbClr val="002060"/>
                </a:solidFill>
                <a:latin typeface="맑은 고딕"/>
                <a:ea typeface="맑은 고딕"/>
                <a:cs typeface="맑은 고딕"/>
              </a:defRPr>
            </a:lvl3pPr>
            <a:lvl4pPr>
              <a:defRPr sz="1050" b="0">
                <a:solidFill>
                  <a:srgbClr val="002060"/>
                </a:solidFill>
                <a:latin typeface="맑은 고딕"/>
                <a:ea typeface="맑은 고딕"/>
                <a:cs typeface="맑은 고딕"/>
              </a:defRPr>
            </a:lvl4pPr>
            <a:lvl5pPr>
              <a:defRPr sz="1050" b="0">
                <a:solidFill>
                  <a:srgbClr val="002060"/>
                </a:solidFill>
                <a:latin typeface="맑은 고딕"/>
                <a:ea typeface="맑은 고딕"/>
                <a:cs typeface="맑은 고딕"/>
              </a:defRPr>
            </a:lvl5pPr>
            <a:lvl6pPr>
              <a:defRPr sz="1050" b="0">
                <a:solidFill>
                  <a:srgbClr val="002060"/>
                </a:solidFill>
                <a:latin typeface="맑은 고딕"/>
                <a:ea typeface="맑은 고딕"/>
                <a:cs typeface="맑은 고딕"/>
              </a:defRPr>
            </a:lvl6pPr>
            <a:lvl7pPr>
              <a:defRPr sz="1050" b="0">
                <a:solidFill>
                  <a:srgbClr val="002060"/>
                </a:solidFill>
                <a:latin typeface="맑은 고딕"/>
                <a:ea typeface="맑은 고딕"/>
                <a:cs typeface="맑은 고딕"/>
              </a:defRPr>
            </a:lvl7pPr>
            <a:lvl8pPr>
              <a:defRPr sz="1050" b="0">
                <a:solidFill>
                  <a:srgbClr val="002060"/>
                </a:solidFill>
                <a:latin typeface="맑은 고딕"/>
                <a:ea typeface="맑은 고딕"/>
                <a:cs typeface="맑은 고딕"/>
              </a:defRPr>
            </a:lvl8pPr>
            <a:lvl9pPr>
              <a:defRPr sz="1050" b="0">
                <a:solidFill>
                  <a:srgbClr val="002060"/>
                </a:solidFill>
                <a:latin typeface="맑은 고딕"/>
                <a:ea typeface="맑은 고딕"/>
                <a:cs typeface="맑은 고딕"/>
              </a:defRPr>
            </a:lvl9pPr>
          </a:lstStyle>
          <a:p>
            <a:pPr>
              <a:defRPr sz="1050" b="0">
                <a:solidFill>
                  <a:srgbClr val="002060"/>
                </a:solidFill>
                <a:latin typeface="맑은 고딕"/>
                <a:ea typeface="맑은 고딕"/>
                <a:cs typeface="맑은 고딕"/>
              </a:defRPr>
            </a:pPr>
            <a:r>
              <a:rPr sz="1050" b="0">
                <a:solidFill>
                  <a:srgbClr val="002060"/>
                </a:solidFill>
                <a:latin typeface="맑은 고딕"/>
                <a:ea typeface="맑은 고딕"/>
                <a:cs typeface="맑은 고딕"/>
              </a:rPr>
              <a:t>06</a:t>
            </a:r>
          </a:p>
        </p:txBody>
      </p:sp>
    </p:spTree>
    <p:extLst>
      <p:ext uri="{BB962C8B-B14F-4D97-AF65-F5344CB8AC3E}">
        <p14:creationId xmlns:p14="http://schemas.microsoft.com/office/powerpoint/2010/main" val="17910812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직사각형 9">
            <a:extLst>
              <a:ext uri="{FF2B5EF4-FFF2-40B4-BE49-F238E27FC236}">
                <a16:creationId xmlns:a16="http://schemas.microsoft.com/office/drawing/2014/main" id="{90A44EFB-24A8-45DF-A9E7-2CDBB841D67F}"/>
              </a:ext>
            </a:extLst>
          </p:cNvPr>
          <p:cNvSpPr>
            <a:spLocks noGrp="1"/>
          </p:cNvSpPr>
          <p:nvPr/>
        </p:nvSpPr>
        <p:spPr>
          <a:xfrm>
            <a:off x="381000" y="228600"/>
            <a:ext cx="9525000" cy="238125"/>
          </a:xfrm>
          <a:prstGeom prst="rect">
            <a:avLst/>
          </a:prstGeom>
          <a:noFill/>
          <a:ln w="0">
            <a:noFill/>
          </a:ln>
        </p:spPr>
        <p:txBody>
          <a:bodyPr lIns="0" tIns="0" rIns="0" bIns="0" anchor="t"/>
          <a:lstStyle>
            <a:defPPr>
              <a:defRPr sz="1200" b="1">
                <a:solidFill>
                  <a:srgbClr val="002060"/>
                </a:solidFill>
                <a:latin typeface="맑은 고딕"/>
                <a:ea typeface="맑은 고딕"/>
                <a:cs typeface="맑은 고딕"/>
              </a:defRPr>
            </a:defPPr>
            <a:lvl1pPr>
              <a:defRPr sz="1200" b="1">
                <a:solidFill>
                  <a:srgbClr val="002060"/>
                </a:solidFill>
                <a:latin typeface="맑은 고딕"/>
                <a:ea typeface="맑은 고딕"/>
                <a:cs typeface="맑은 고딕"/>
              </a:defRPr>
            </a:lvl1pPr>
            <a:lvl2pPr>
              <a:defRPr sz="1200" b="1">
                <a:solidFill>
                  <a:srgbClr val="002060"/>
                </a:solidFill>
                <a:latin typeface="맑은 고딕"/>
                <a:ea typeface="맑은 고딕"/>
                <a:cs typeface="맑은 고딕"/>
              </a:defRPr>
            </a:lvl2pPr>
            <a:lvl3pPr>
              <a:defRPr sz="1200" b="1">
                <a:solidFill>
                  <a:srgbClr val="002060"/>
                </a:solidFill>
                <a:latin typeface="맑은 고딕"/>
                <a:ea typeface="맑은 고딕"/>
                <a:cs typeface="맑은 고딕"/>
              </a:defRPr>
            </a:lvl3pPr>
            <a:lvl4pPr>
              <a:defRPr sz="1200" b="1">
                <a:solidFill>
                  <a:srgbClr val="002060"/>
                </a:solidFill>
                <a:latin typeface="맑은 고딕"/>
                <a:ea typeface="맑은 고딕"/>
                <a:cs typeface="맑은 고딕"/>
              </a:defRPr>
            </a:lvl4pPr>
            <a:lvl5pPr>
              <a:defRPr sz="1200" b="1">
                <a:solidFill>
                  <a:srgbClr val="002060"/>
                </a:solidFill>
                <a:latin typeface="맑은 고딕"/>
                <a:ea typeface="맑은 고딕"/>
                <a:cs typeface="맑은 고딕"/>
              </a:defRPr>
            </a:lvl5pPr>
            <a:lvl6pPr>
              <a:defRPr sz="1200" b="1">
                <a:solidFill>
                  <a:srgbClr val="002060"/>
                </a:solidFill>
                <a:latin typeface="맑은 고딕"/>
                <a:ea typeface="맑은 고딕"/>
                <a:cs typeface="맑은 고딕"/>
              </a:defRPr>
            </a:lvl6pPr>
            <a:lvl7pPr>
              <a:defRPr sz="1200" b="1">
                <a:solidFill>
                  <a:srgbClr val="002060"/>
                </a:solidFill>
                <a:latin typeface="맑은 고딕"/>
                <a:ea typeface="맑은 고딕"/>
                <a:cs typeface="맑은 고딕"/>
              </a:defRPr>
            </a:lvl7pPr>
            <a:lvl8pPr>
              <a:defRPr sz="1200" b="1">
                <a:solidFill>
                  <a:srgbClr val="002060"/>
                </a:solidFill>
                <a:latin typeface="맑은 고딕"/>
                <a:ea typeface="맑은 고딕"/>
                <a:cs typeface="맑은 고딕"/>
              </a:defRPr>
            </a:lvl8pPr>
            <a:lvl9pPr>
              <a:defRPr sz="1200" b="1">
                <a:solidFill>
                  <a:srgbClr val="002060"/>
                </a:solidFill>
                <a:latin typeface="맑은 고딕"/>
                <a:ea typeface="맑은 고딕"/>
                <a:cs typeface="맑은 고딕"/>
              </a:defRPr>
            </a:lvl9pPr>
          </a:lstStyle>
          <a:p>
            <a:pPr>
              <a:defRPr sz="1200" b="1">
                <a:solidFill>
                  <a:srgbClr val="002060"/>
                </a:solidFill>
                <a:latin typeface="맑은 고딕"/>
                <a:ea typeface="맑은 고딕"/>
                <a:cs typeface="맑은 고딕"/>
              </a:defRPr>
            </a:pPr>
            <a:r>
              <a:rPr sz="1200" b="1">
                <a:solidFill>
                  <a:srgbClr val="002060"/>
                </a:solidFill>
                <a:latin typeface="맑은 고딕"/>
                <a:ea typeface="맑은 고딕"/>
                <a:cs typeface="맑은 고딕"/>
              </a:rPr>
              <a:t>2028 정시  대학별 전형 비교</a:t>
            </a:r>
          </a:p>
        </p:txBody>
      </p:sp>
      <p:sp>
        <p:nvSpPr>
          <p:cNvPr id="2" name="직사각형 1">
            <a:extLst>
              <a:ext uri="{FF2B5EF4-FFF2-40B4-BE49-F238E27FC236}">
                <a16:creationId xmlns:a16="http://schemas.microsoft.com/office/drawing/2014/main" id="{01724B8A-12C7-4C4E-972A-9A665A21FE5C}"/>
              </a:ext>
            </a:extLst>
          </p:cNvPr>
          <p:cNvSpPr>
            <a:spLocks noGrp="1"/>
          </p:cNvSpPr>
          <p:nvPr/>
        </p:nvSpPr>
        <p:spPr>
          <a:xfrm>
            <a:off x="381000" y="619125"/>
            <a:ext cx="10668000" cy="533400"/>
          </a:xfrm>
          <a:prstGeom prst="rect">
            <a:avLst/>
          </a:prstGeom>
          <a:noFill/>
          <a:ln w="0">
            <a:noFill/>
          </a:ln>
        </p:spPr>
        <p:txBody>
          <a:bodyPr lIns="0" tIns="0" rIns="0" bIns="0" anchor="t"/>
          <a:lstStyle>
            <a:defPPr>
              <a:defRPr sz="2400" b="1">
                <a:solidFill>
                  <a:srgbClr val="002060"/>
                </a:solidFill>
                <a:latin typeface="맑은 고딕"/>
                <a:ea typeface="맑은 고딕"/>
                <a:cs typeface="맑은 고딕"/>
              </a:defRPr>
            </a:defPPr>
            <a:lvl1pPr>
              <a:defRPr sz="2400" b="1">
                <a:solidFill>
                  <a:srgbClr val="002060"/>
                </a:solidFill>
                <a:latin typeface="맑은 고딕"/>
                <a:ea typeface="맑은 고딕"/>
                <a:cs typeface="맑은 고딕"/>
              </a:defRPr>
            </a:lvl1pPr>
            <a:lvl2pPr>
              <a:defRPr sz="2400" b="1">
                <a:solidFill>
                  <a:srgbClr val="002060"/>
                </a:solidFill>
                <a:latin typeface="맑은 고딕"/>
                <a:ea typeface="맑은 고딕"/>
                <a:cs typeface="맑은 고딕"/>
              </a:defRPr>
            </a:lvl2pPr>
            <a:lvl3pPr>
              <a:defRPr sz="2400" b="1">
                <a:solidFill>
                  <a:srgbClr val="002060"/>
                </a:solidFill>
                <a:latin typeface="맑은 고딕"/>
                <a:ea typeface="맑은 고딕"/>
                <a:cs typeface="맑은 고딕"/>
              </a:defRPr>
            </a:lvl3pPr>
            <a:lvl4pPr>
              <a:defRPr sz="2400" b="1">
                <a:solidFill>
                  <a:srgbClr val="002060"/>
                </a:solidFill>
                <a:latin typeface="맑은 고딕"/>
                <a:ea typeface="맑은 고딕"/>
                <a:cs typeface="맑은 고딕"/>
              </a:defRPr>
            </a:lvl4pPr>
            <a:lvl5pPr>
              <a:defRPr sz="2400" b="1">
                <a:solidFill>
                  <a:srgbClr val="002060"/>
                </a:solidFill>
                <a:latin typeface="맑은 고딕"/>
                <a:ea typeface="맑은 고딕"/>
                <a:cs typeface="맑은 고딕"/>
              </a:defRPr>
            </a:lvl5pPr>
            <a:lvl6pPr>
              <a:defRPr sz="2400" b="1">
                <a:solidFill>
                  <a:srgbClr val="002060"/>
                </a:solidFill>
                <a:latin typeface="맑은 고딕"/>
                <a:ea typeface="맑은 고딕"/>
                <a:cs typeface="맑은 고딕"/>
              </a:defRPr>
            </a:lvl6pPr>
            <a:lvl7pPr>
              <a:defRPr sz="2400" b="1">
                <a:solidFill>
                  <a:srgbClr val="002060"/>
                </a:solidFill>
                <a:latin typeface="맑은 고딕"/>
                <a:ea typeface="맑은 고딕"/>
                <a:cs typeface="맑은 고딕"/>
              </a:defRPr>
            </a:lvl7pPr>
            <a:lvl8pPr>
              <a:defRPr sz="2400" b="1">
                <a:solidFill>
                  <a:srgbClr val="002060"/>
                </a:solidFill>
                <a:latin typeface="맑은 고딕"/>
                <a:ea typeface="맑은 고딕"/>
                <a:cs typeface="맑은 고딕"/>
              </a:defRPr>
            </a:lvl8pPr>
            <a:lvl9pPr>
              <a:defRPr sz="2400" b="1">
                <a:solidFill>
                  <a:srgbClr val="002060"/>
                </a:solidFill>
                <a:latin typeface="맑은 고딕"/>
                <a:ea typeface="맑은 고딕"/>
                <a:cs typeface="맑은 고딕"/>
              </a:defRPr>
            </a:lvl9pPr>
          </a:lstStyle>
          <a:p>
            <a:pPr>
              <a:defRPr sz="2400" b="1">
                <a:solidFill>
                  <a:srgbClr val="002060"/>
                </a:solidFill>
                <a:latin typeface="맑은 고딕"/>
                <a:ea typeface="맑은 고딕"/>
                <a:cs typeface="맑은 고딕"/>
              </a:defRPr>
            </a:pPr>
            <a:r>
              <a:rPr sz="2400" b="1">
                <a:solidFill>
                  <a:srgbClr val="002060"/>
                </a:solidFill>
                <a:latin typeface="맑은 고딕"/>
                <a:ea typeface="맑은 고딕"/>
                <a:cs typeface="맑은 고딕"/>
              </a:rPr>
              <a:t>신설·분리 전형과 졸업연도별 지원자격</a:t>
            </a:r>
          </a:p>
        </p:txBody>
      </p:sp>
      <p:sp>
        <p:nvSpPr>
          <p:cNvPr id="3" name="직사각형 2">
            <a:extLst>
              <a:ext uri="{FF2B5EF4-FFF2-40B4-BE49-F238E27FC236}">
                <a16:creationId xmlns:a16="http://schemas.microsoft.com/office/drawing/2014/main" id="{30445E83-C93B-4579-B03D-E64611C95DF8}"/>
              </a:ext>
            </a:extLst>
          </p:cNvPr>
          <p:cNvSpPr>
            <a:spLocks noGrp="1"/>
          </p:cNvSpPr>
          <p:nvPr/>
        </p:nvSpPr>
        <p:spPr>
          <a:xfrm>
            <a:off x="381000" y="1381125"/>
            <a:ext cx="10668000" cy="257175"/>
          </a:xfrm>
          <a:prstGeom prst="rect">
            <a:avLst/>
          </a:prstGeom>
          <a:noFill/>
          <a:ln w="0">
            <a:noFill/>
          </a:ln>
        </p:spPr>
        <p:txBody>
          <a:bodyPr lIns="0" tIns="0" rIns="0" bIns="0" anchor="t"/>
          <a:lstStyle>
            <a:defPPr>
              <a:defRPr sz="1425" b="1">
                <a:solidFill>
                  <a:srgbClr val="002060"/>
                </a:solidFill>
                <a:latin typeface="맑은 고딕"/>
                <a:ea typeface="맑은 고딕"/>
                <a:cs typeface="맑은 고딕"/>
              </a:defRPr>
            </a:defPPr>
            <a:lvl1pPr>
              <a:defRPr sz="1425" b="1">
                <a:solidFill>
                  <a:srgbClr val="002060"/>
                </a:solidFill>
                <a:latin typeface="맑은 고딕"/>
                <a:ea typeface="맑은 고딕"/>
                <a:cs typeface="맑은 고딕"/>
              </a:defRPr>
            </a:lvl1pPr>
            <a:lvl2pPr>
              <a:defRPr sz="1425" b="1">
                <a:solidFill>
                  <a:srgbClr val="002060"/>
                </a:solidFill>
                <a:latin typeface="맑은 고딕"/>
                <a:ea typeface="맑은 고딕"/>
                <a:cs typeface="맑은 고딕"/>
              </a:defRPr>
            </a:lvl2pPr>
            <a:lvl3pPr>
              <a:defRPr sz="1425" b="1">
                <a:solidFill>
                  <a:srgbClr val="002060"/>
                </a:solidFill>
                <a:latin typeface="맑은 고딕"/>
                <a:ea typeface="맑은 고딕"/>
                <a:cs typeface="맑은 고딕"/>
              </a:defRPr>
            </a:lvl3pPr>
            <a:lvl4pPr>
              <a:defRPr sz="1425" b="1">
                <a:solidFill>
                  <a:srgbClr val="002060"/>
                </a:solidFill>
                <a:latin typeface="맑은 고딕"/>
                <a:ea typeface="맑은 고딕"/>
                <a:cs typeface="맑은 고딕"/>
              </a:defRPr>
            </a:lvl4pPr>
            <a:lvl5pPr>
              <a:defRPr sz="1425" b="1">
                <a:solidFill>
                  <a:srgbClr val="002060"/>
                </a:solidFill>
                <a:latin typeface="맑은 고딕"/>
                <a:ea typeface="맑은 고딕"/>
                <a:cs typeface="맑은 고딕"/>
              </a:defRPr>
            </a:lvl5pPr>
            <a:lvl6pPr>
              <a:defRPr sz="1425" b="1">
                <a:solidFill>
                  <a:srgbClr val="002060"/>
                </a:solidFill>
                <a:latin typeface="맑은 고딕"/>
                <a:ea typeface="맑은 고딕"/>
                <a:cs typeface="맑은 고딕"/>
              </a:defRPr>
            </a:lvl6pPr>
            <a:lvl7pPr>
              <a:defRPr sz="1425" b="1">
                <a:solidFill>
                  <a:srgbClr val="002060"/>
                </a:solidFill>
                <a:latin typeface="맑은 고딕"/>
                <a:ea typeface="맑은 고딕"/>
                <a:cs typeface="맑은 고딕"/>
              </a:defRPr>
            </a:lvl7pPr>
            <a:lvl8pPr>
              <a:defRPr sz="1425" b="1">
                <a:solidFill>
                  <a:srgbClr val="002060"/>
                </a:solidFill>
                <a:latin typeface="맑은 고딕"/>
                <a:ea typeface="맑은 고딕"/>
                <a:cs typeface="맑은 고딕"/>
              </a:defRPr>
            </a:lvl8pPr>
            <a:lvl9pPr>
              <a:defRPr sz="1425" b="1">
                <a:solidFill>
                  <a:srgbClr val="002060"/>
                </a:solidFill>
                <a:latin typeface="맑은 고딕"/>
                <a:ea typeface="맑은 고딕"/>
                <a:cs typeface="맑은 고딕"/>
              </a:defRPr>
            </a:lvl9pPr>
          </a:lstStyle>
          <a:p>
            <a:pPr>
              <a:defRPr sz="1425" b="1">
                <a:solidFill>
                  <a:srgbClr val="002060"/>
                </a:solidFill>
                <a:latin typeface="맑은 고딕"/>
                <a:ea typeface="맑은 고딕"/>
                <a:cs typeface="맑은 고딕"/>
              </a:defRPr>
            </a:pPr>
            <a:r>
              <a:rPr sz="1425" b="1">
                <a:solidFill>
                  <a:srgbClr val="002060"/>
                </a:solidFill>
                <a:latin typeface="맑은 고딕"/>
                <a:ea typeface="맑은 고딕"/>
                <a:cs typeface="맑은 고딕"/>
              </a:rPr>
              <a:t>신설·이원화·방법 변경을 구분한다</a:t>
            </a:r>
          </a:p>
        </p:txBody>
      </p:sp>
      <p:graphicFrame>
        <p:nvGraphicFramePr>
          <p:cNvPr id="4" name="표 3">
            <a:extLst>
              <a:ext uri="{FF2B5EF4-FFF2-40B4-BE49-F238E27FC236}">
                <a16:creationId xmlns:a16="http://schemas.microsoft.com/office/drawing/2014/main" id="{EED38651-883E-43A4-AA21-54CFE2128BB3}"/>
              </a:ext>
            </a:extLst>
          </p:cNvPr>
          <p:cNvGraphicFramePr/>
          <p:nvPr/>
        </p:nvGraphicFramePr>
        <p:xfrm>
          <a:off x="381000" y="1704975"/>
          <a:ext cx="10668000" cy="2516505"/>
        </p:xfrm>
        <a:graphic>
          <a:graphicData uri="http://schemas.openxmlformats.org/drawingml/2006/table">
            <a:tbl>
              <a:tblPr/>
              <a:tblGrid>
                <a:gridCol w="266700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tblGrid>
              <a:tr h="400050">
                <a:tc>
                  <a:txBody>
                    <a:bodyPr/>
                    <a:lstStyle/>
                    <a:p>
                      <a:r>
                        <a:rPr sz="1500" b="1">
                          <a:solidFill>
                            <a:srgbClr val="FFFFFF"/>
                          </a:solidFill>
                          <a:latin typeface="맑은 고딕"/>
                          <a:ea typeface="맑은 고딕"/>
                          <a:cs typeface="맑은 고딕"/>
                        </a:rPr>
                        <a:t>대학</a:t>
                      </a:r>
                    </a:p>
                  </a:txBody>
                  <a:tcPr marL="95250" marR="95250" marT="47625" marB="47625" anchor="ctr">
                    <a:lnL w="5715">
                      <a:solidFill>
                        <a:srgbClr val="C5CFDA"/>
                      </a:solidFill>
                      <a:prstDash val="soli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변화의 성격</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2028학년도 핵심</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extLst>
                  <a:ext uri="{0D108BD9-81ED-4DB2-BD59-A6C34878D82A}">
                    <a16:rowId xmlns:a16="http://schemas.microsoft.com/office/drawing/2014/main" val="10000"/>
                  </a:ext>
                </a:extLst>
              </a:tr>
              <a:tr h="592455">
                <a:tc>
                  <a:txBody>
                    <a:bodyPr/>
                    <a:lstStyle/>
                    <a:p>
                      <a:r>
                        <a:rPr sz="1500" b="1">
                          <a:solidFill>
                            <a:srgbClr val="17212D"/>
                          </a:solidFill>
                          <a:latin typeface="맑은 고딕"/>
                          <a:ea typeface="맑은 고딕"/>
                          <a:cs typeface="맑은 고딕"/>
                        </a:rPr>
                        <a:t>서강대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전형 신설</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정시 지역균형 90명, 졸업예정자+학교장 추천</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1"/>
                  </a:ext>
                </a:extLst>
              </a:tr>
              <a:tr h="381000">
                <a:tc>
                  <a:txBody>
                    <a:bodyPr/>
                    <a:lstStyle/>
                    <a:p>
                      <a:r>
                        <a:rPr sz="1500" b="1">
                          <a:solidFill>
                            <a:srgbClr val="17212D"/>
                          </a:solidFill>
                          <a:latin typeface="맑은 고딕"/>
                          <a:ea typeface="맑은 고딕"/>
                          <a:cs typeface="맑은 고딕"/>
                        </a:rPr>
                        <a:t>경희대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일반전형 이원화</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수능·학생부형 / 수능형</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2"/>
                  </a:ext>
                </a:extLst>
              </a:tr>
              <a:tr h="381000">
                <a:tc>
                  <a:txBody>
                    <a:bodyPr/>
                    <a:lstStyle/>
                    <a:p>
                      <a:r>
                        <a:rPr sz="1500" b="1">
                          <a:solidFill>
                            <a:srgbClr val="17212D"/>
                          </a:solidFill>
                          <a:latin typeface="맑은 고딕"/>
                          <a:ea typeface="맑은 고딕"/>
                          <a:cs typeface="맑은 고딕"/>
                        </a:rPr>
                        <a:t>성균관대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수능위주 분리 선발</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일반형 / 특화형, 정시 융합인재 별도</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3"/>
                  </a:ext>
                </a:extLst>
              </a:tr>
              <a:tr h="381000">
                <a:tc>
                  <a:txBody>
                    <a:bodyPr/>
                    <a:lstStyle/>
                    <a:p>
                      <a:r>
                        <a:rPr sz="1500" b="1">
                          <a:solidFill>
                            <a:srgbClr val="17212D"/>
                          </a:solidFill>
                          <a:latin typeface="맑은 고딕"/>
                          <a:ea typeface="맑은 고딕"/>
                          <a:cs typeface="맑은 고딕"/>
                        </a:rPr>
                        <a:t>세종대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전형 분리·신설</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수능형 / 융합형(학생부교과 정성 10)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4"/>
                  </a:ext>
                </a:extLst>
              </a:tr>
              <a:tr h="381000">
                <a:tc>
                  <a:txBody>
                    <a:bodyPr/>
                    <a:lstStyle/>
                    <a:p>
                      <a:r>
                        <a:rPr sz="1500" b="1">
                          <a:solidFill>
                            <a:srgbClr val="17212D"/>
                          </a:solidFill>
                          <a:latin typeface="맑은 고딕"/>
                          <a:ea typeface="맑은 고딕"/>
                          <a:cs typeface="맑은 고딕"/>
                        </a:rPr>
                        <a:t>이화여대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전형 신설</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수능-학생부전형(수능 85+서류 15)</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5" name="직사각형 4">
            <a:extLst>
              <a:ext uri="{FF2B5EF4-FFF2-40B4-BE49-F238E27FC236}">
                <a16:creationId xmlns:a16="http://schemas.microsoft.com/office/drawing/2014/main" id="{A4E00D24-9DA7-4FDB-9286-8F591B4217F9}"/>
              </a:ext>
            </a:extLst>
          </p:cNvPr>
          <p:cNvSpPr>
            <a:spLocks noGrp="1"/>
          </p:cNvSpPr>
          <p:nvPr/>
        </p:nvSpPr>
        <p:spPr>
          <a:xfrm>
            <a:off x="381000" y="4450080"/>
            <a:ext cx="10668000" cy="257175"/>
          </a:xfrm>
          <a:prstGeom prst="rect">
            <a:avLst/>
          </a:prstGeom>
          <a:noFill/>
          <a:ln w="0">
            <a:noFill/>
          </a:ln>
        </p:spPr>
        <p:txBody>
          <a:bodyPr lIns="0" tIns="0" rIns="0" bIns="0" anchor="t"/>
          <a:lstStyle>
            <a:defPPr>
              <a:defRPr sz="1425" b="1">
                <a:solidFill>
                  <a:srgbClr val="002060"/>
                </a:solidFill>
                <a:latin typeface="맑은 고딕"/>
                <a:ea typeface="맑은 고딕"/>
                <a:cs typeface="맑은 고딕"/>
              </a:defRPr>
            </a:defPPr>
            <a:lvl1pPr>
              <a:defRPr sz="1425" b="1">
                <a:solidFill>
                  <a:srgbClr val="002060"/>
                </a:solidFill>
                <a:latin typeface="맑은 고딕"/>
                <a:ea typeface="맑은 고딕"/>
                <a:cs typeface="맑은 고딕"/>
              </a:defRPr>
            </a:lvl1pPr>
            <a:lvl2pPr>
              <a:defRPr sz="1425" b="1">
                <a:solidFill>
                  <a:srgbClr val="002060"/>
                </a:solidFill>
                <a:latin typeface="맑은 고딕"/>
                <a:ea typeface="맑은 고딕"/>
                <a:cs typeface="맑은 고딕"/>
              </a:defRPr>
            </a:lvl2pPr>
            <a:lvl3pPr>
              <a:defRPr sz="1425" b="1">
                <a:solidFill>
                  <a:srgbClr val="002060"/>
                </a:solidFill>
                <a:latin typeface="맑은 고딕"/>
                <a:ea typeface="맑은 고딕"/>
                <a:cs typeface="맑은 고딕"/>
              </a:defRPr>
            </a:lvl3pPr>
            <a:lvl4pPr>
              <a:defRPr sz="1425" b="1">
                <a:solidFill>
                  <a:srgbClr val="002060"/>
                </a:solidFill>
                <a:latin typeface="맑은 고딕"/>
                <a:ea typeface="맑은 고딕"/>
                <a:cs typeface="맑은 고딕"/>
              </a:defRPr>
            </a:lvl4pPr>
            <a:lvl5pPr>
              <a:defRPr sz="1425" b="1">
                <a:solidFill>
                  <a:srgbClr val="002060"/>
                </a:solidFill>
                <a:latin typeface="맑은 고딕"/>
                <a:ea typeface="맑은 고딕"/>
                <a:cs typeface="맑은 고딕"/>
              </a:defRPr>
            </a:lvl5pPr>
            <a:lvl6pPr>
              <a:defRPr sz="1425" b="1">
                <a:solidFill>
                  <a:srgbClr val="002060"/>
                </a:solidFill>
                <a:latin typeface="맑은 고딕"/>
                <a:ea typeface="맑은 고딕"/>
                <a:cs typeface="맑은 고딕"/>
              </a:defRPr>
            </a:lvl6pPr>
            <a:lvl7pPr>
              <a:defRPr sz="1425" b="1">
                <a:solidFill>
                  <a:srgbClr val="002060"/>
                </a:solidFill>
                <a:latin typeface="맑은 고딕"/>
                <a:ea typeface="맑은 고딕"/>
                <a:cs typeface="맑은 고딕"/>
              </a:defRPr>
            </a:lvl7pPr>
            <a:lvl8pPr>
              <a:defRPr sz="1425" b="1">
                <a:solidFill>
                  <a:srgbClr val="002060"/>
                </a:solidFill>
                <a:latin typeface="맑은 고딕"/>
                <a:ea typeface="맑은 고딕"/>
                <a:cs typeface="맑은 고딕"/>
              </a:defRPr>
            </a:lvl8pPr>
            <a:lvl9pPr>
              <a:defRPr sz="1425" b="1">
                <a:solidFill>
                  <a:srgbClr val="002060"/>
                </a:solidFill>
                <a:latin typeface="맑은 고딕"/>
                <a:ea typeface="맑은 고딕"/>
                <a:cs typeface="맑은 고딕"/>
              </a:defRPr>
            </a:lvl9pPr>
          </a:lstStyle>
          <a:p>
            <a:pPr>
              <a:defRPr sz="1425" b="1">
                <a:solidFill>
                  <a:srgbClr val="002060"/>
                </a:solidFill>
                <a:latin typeface="맑은 고딕"/>
                <a:ea typeface="맑은 고딕"/>
                <a:cs typeface="맑은 고딕"/>
              </a:defRPr>
            </a:pPr>
            <a:r>
              <a:rPr sz="1425" b="1">
                <a:solidFill>
                  <a:srgbClr val="002060"/>
                </a:solidFill>
                <a:latin typeface="맑은 고딕"/>
                <a:ea typeface="맑은 고딕"/>
                <a:cs typeface="맑은 고딕"/>
              </a:rPr>
              <a:t>학생부 반영 전형이라고 졸업생이 모두 배제되지는 않는다</a:t>
            </a:r>
          </a:p>
        </p:txBody>
      </p:sp>
      <p:graphicFrame>
        <p:nvGraphicFramePr>
          <p:cNvPr id="6" name="표 5">
            <a:extLst>
              <a:ext uri="{FF2B5EF4-FFF2-40B4-BE49-F238E27FC236}">
                <a16:creationId xmlns:a16="http://schemas.microsoft.com/office/drawing/2014/main" id="{53AB7EDB-F0F5-4EED-9FD8-AC0BC4935447}"/>
              </a:ext>
            </a:extLst>
          </p:cNvPr>
          <p:cNvGraphicFramePr/>
          <p:nvPr/>
        </p:nvGraphicFramePr>
        <p:xfrm>
          <a:off x="381000" y="4773930"/>
          <a:ext cx="10668000" cy="2305050"/>
        </p:xfrm>
        <a:graphic>
          <a:graphicData uri="http://schemas.openxmlformats.org/drawingml/2006/table">
            <a:tbl>
              <a:tblPr/>
              <a:tblGrid>
                <a:gridCol w="2571750">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1333500">
                  <a:extLst>
                    <a:ext uri="{9D8B030D-6E8A-4147-A177-3AD203B41FA5}">
                      <a16:colId xmlns:a16="http://schemas.microsoft.com/office/drawing/2014/main" val="20002"/>
                    </a:ext>
                  </a:extLst>
                </a:gridCol>
                <a:gridCol w="5429250">
                  <a:extLst>
                    <a:ext uri="{9D8B030D-6E8A-4147-A177-3AD203B41FA5}">
                      <a16:colId xmlns:a16="http://schemas.microsoft.com/office/drawing/2014/main" val="20003"/>
                    </a:ext>
                  </a:extLst>
                </a:gridCol>
              </a:tblGrid>
              <a:tr h="400050">
                <a:tc>
                  <a:txBody>
                    <a:bodyPr/>
                    <a:lstStyle/>
                    <a:p>
                      <a:r>
                        <a:rPr sz="1500" b="1">
                          <a:solidFill>
                            <a:srgbClr val="FFFFFF"/>
                          </a:solidFill>
                          <a:latin typeface="맑은 고딕"/>
                          <a:ea typeface="맑은 고딕"/>
                          <a:cs typeface="맑은 고딕"/>
                        </a:rPr>
                        <a:t>대학·전형</a:t>
                      </a:r>
                    </a:p>
                  </a:txBody>
                  <a:tcPr marL="95250" marR="95250" marT="47625" marB="47625" anchor="ctr">
                    <a:lnL w="5715">
                      <a:solidFill>
                        <a:srgbClr val="C5CFDA"/>
                      </a:solidFill>
                      <a:prstDash val="soli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현역</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졸업생</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추가 조건</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extLst>
                  <a:ext uri="{0D108BD9-81ED-4DB2-BD59-A6C34878D82A}">
                    <a16:rowId xmlns:a16="http://schemas.microsoft.com/office/drawing/2014/main" val="10000"/>
                  </a:ext>
                </a:extLst>
              </a:tr>
              <a:tr h="381000">
                <a:tc>
                  <a:txBody>
                    <a:bodyPr/>
                    <a:lstStyle/>
                    <a:p>
                      <a:r>
                        <a:rPr sz="1500" b="1">
                          <a:solidFill>
                            <a:srgbClr val="17212D"/>
                          </a:solidFill>
                          <a:latin typeface="맑은 고딕"/>
                          <a:ea typeface="맑은 고딕"/>
                          <a:cs typeface="맑은 고딕"/>
                        </a:rPr>
                        <a:t>고려대 일반</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가능</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가능</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수능 지정 응시영역 충족</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1"/>
                  </a:ext>
                </a:extLst>
              </a:tr>
              <a:tr h="381000">
                <a:tc>
                  <a:txBody>
                    <a:bodyPr/>
                    <a:lstStyle/>
                    <a:p>
                      <a:r>
                        <a:rPr sz="1500" b="1">
                          <a:solidFill>
                            <a:srgbClr val="17212D"/>
                          </a:solidFill>
                          <a:latin typeface="맑은 고딕"/>
                          <a:ea typeface="맑은 고딕"/>
                          <a:cs typeface="맑은 고딕"/>
                        </a:rPr>
                        <a:t>고려대 교과우수</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가능</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B00000"/>
                          </a:solidFill>
                          <a:latin typeface="맑은 고딕"/>
                          <a:ea typeface="맑은 고딕"/>
                          <a:cs typeface="맑은 고딕"/>
                        </a:rPr>
                        <a:t>불가</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국내고, 2028년 2월 졸업, 6학기 성적</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2"/>
                  </a:ext>
                </a:extLst>
              </a:tr>
              <a:tr h="381000">
                <a:tc>
                  <a:txBody>
                    <a:bodyPr/>
                    <a:lstStyle/>
                    <a:p>
                      <a:r>
                        <a:rPr sz="1500" b="1">
                          <a:solidFill>
                            <a:srgbClr val="17212D"/>
                          </a:solidFill>
                          <a:latin typeface="맑은 고딕"/>
                          <a:ea typeface="맑은 고딕"/>
                          <a:cs typeface="맑은 고딕"/>
                        </a:rPr>
                        <a:t>서강대 일반</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가능</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가능</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필수 응시영역 충족</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3"/>
                  </a:ext>
                </a:extLst>
              </a:tr>
              <a:tr h="381000">
                <a:tc>
                  <a:txBody>
                    <a:bodyPr/>
                    <a:lstStyle/>
                    <a:p>
                      <a:r>
                        <a:rPr sz="1500" b="1">
                          <a:solidFill>
                            <a:srgbClr val="17212D"/>
                          </a:solidFill>
                          <a:latin typeface="맑은 고딕"/>
                          <a:ea typeface="맑은 고딕"/>
                          <a:cs typeface="맑은 고딕"/>
                        </a:rPr>
                        <a:t>서강대 지역균형</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가능</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B00000"/>
                          </a:solidFill>
                          <a:latin typeface="맑은 고딕"/>
                          <a:ea typeface="맑은 고딕"/>
                          <a:cs typeface="맑은 고딕"/>
                        </a:rPr>
                        <a:t>불가</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국내고 당해 졸업예정+학교장 추천</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4"/>
                  </a:ext>
                </a:extLst>
              </a:tr>
              <a:tr h="381000">
                <a:tc>
                  <a:txBody>
                    <a:bodyPr/>
                    <a:lstStyle/>
                    <a:p>
                      <a:r>
                        <a:rPr sz="1500" b="1">
                          <a:solidFill>
                            <a:srgbClr val="17212D"/>
                          </a:solidFill>
                          <a:latin typeface="맑은 고딕"/>
                          <a:ea typeface="맑은 고딕"/>
                          <a:cs typeface="맑은 고딕"/>
                        </a:rPr>
                        <a:t>성균관대 정시 융합인재</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가능</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가능</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학생부 100, 수능최저 3개 합 6</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7" name="직사각형 6">
            <a:extLst>
              <a:ext uri="{FF2B5EF4-FFF2-40B4-BE49-F238E27FC236}">
                <a16:creationId xmlns:a16="http://schemas.microsoft.com/office/drawing/2014/main" id="{B04CD206-0944-49B2-AF2D-05FCE2C8F155}"/>
              </a:ext>
            </a:extLst>
          </p:cNvPr>
          <p:cNvSpPr>
            <a:spLocks noGrp="1"/>
          </p:cNvSpPr>
          <p:nvPr/>
        </p:nvSpPr>
        <p:spPr>
          <a:xfrm>
            <a:off x="381000" y="7202805"/>
            <a:ext cx="10668000" cy="438150"/>
          </a:xfrm>
          <a:prstGeom prst="rect">
            <a:avLst/>
          </a:prstGeom>
          <a:noFill/>
          <a:ln w="0">
            <a:noFill/>
          </a:ln>
        </p:spPr>
        <p:txBody>
          <a:bodyPr lIns="0" tIns="0" rIns="0" bIns="0" anchor="t"/>
          <a:lstStyle>
            <a:defPPr>
              <a:defRPr sz="1125" b="0">
                <a:solidFill>
                  <a:srgbClr val="535D69"/>
                </a:solidFill>
                <a:latin typeface="맑은 고딕"/>
                <a:ea typeface="맑은 고딕"/>
                <a:cs typeface="맑은 고딕"/>
              </a:defRPr>
            </a:defPPr>
            <a:lvl1pPr>
              <a:defRPr sz="1125" b="0">
                <a:solidFill>
                  <a:srgbClr val="535D69"/>
                </a:solidFill>
                <a:latin typeface="맑은 고딕"/>
                <a:ea typeface="맑은 고딕"/>
                <a:cs typeface="맑은 고딕"/>
              </a:defRPr>
            </a:lvl1pPr>
            <a:lvl2pPr>
              <a:defRPr sz="1125" b="0">
                <a:solidFill>
                  <a:srgbClr val="535D69"/>
                </a:solidFill>
                <a:latin typeface="맑은 고딕"/>
                <a:ea typeface="맑은 고딕"/>
                <a:cs typeface="맑은 고딕"/>
              </a:defRPr>
            </a:lvl2pPr>
            <a:lvl3pPr>
              <a:defRPr sz="1125" b="0">
                <a:solidFill>
                  <a:srgbClr val="535D69"/>
                </a:solidFill>
                <a:latin typeface="맑은 고딕"/>
                <a:ea typeface="맑은 고딕"/>
                <a:cs typeface="맑은 고딕"/>
              </a:defRPr>
            </a:lvl3pPr>
            <a:lvl4pPr>
              <a:defRPr sz="1125" b="0">
                <a:solidFill>
                  <a:srgbClr val="535D69"/>
                </a:solidFill>
                <a:latin typeface="맑은 고딕"/>
                <a:ea typeface="맑은 고딕"/>
                <a:cs typeface="맑은 고딕"/>
              </a:defRPr>
            </a:lvl4pPr>
            <a:lvl5pPr>
              <a:defRPr sz="1125" b="0">
                <a:solidFill>
                  <a:srgbClr val="535D69"/>
                </a:solidFill>
                <a:latin typeface="맑은 고딕"/>
                <a:ea typeface="맑은 고딕"/>
                <a:cs typeface="맑은 고딕"/>
              </a:defRPr>
            </a:lvl5pPr>
            <a:lvl6pPr>
              <a:defRPr sz="1125" b="0">
                <a:solidFill>
                  <a:srgbClr val="535D69"/>
                </a:solidFill>
                <a:latin typeface="맑은 고딕"/>
                <a:ea typeface="맑은 고딕"/>
                <a:cs typeface="맑은 고딕"/>
              </a:defRPr>
            </a:lvl6pPr>
            <a:lvl7pPr>
              <a:defRPr sz="1125" b="0">
                <a:solidFill>
                  <a:srgbClr val="535D69"/>
                </a:solidFill>
                <a:latin typeface="맑은 고딕"/>
                <a:ea typeface="맑은 고딕"/>
                <a:cs typeface="맑은 고딕"/>
              </a:defRPr>
            </a:lvl7pPr>
            <a:lvl8pPr>
              <a:defRPr sz="1125" b="0">
                <a:solidFill>
                  <a:srgbClr val="535D69"/>
                </a:solidFill>
                <a:latin typeface="맑은 고딕"/>
                <a:ea typeface="맑은 고딕"/>
                <a:cs typeface="맑은 고딕"/>
              </a:defRPr>
            </a:lvl8pPr>
            <a:lvl9pPr>
              <a:defRPr sz="1125" b="0">
                <a:solidFill>
                  <a:srgbClr val="535D69"/>
                </a:solidFill>
                <a:latin typeface="맑은 고딕"/>
                <a:ea typeface="맑은 고딕"/>
                <a:cs typeface="맑은 고딕"/>
              </a:defRPr>
            </a:lvl9pPr>
          </a:lstStyle>
          <a:p>
            <a:pPr>
              <a:defRPr sz="1125" b="0">
                <a:solidFill>
                  <a:srgbClr val="535D69"/>
                </a:solidFill>
                <a:latin typeface="맑은 고딕"/>
                <a:ea typeface="맑은 고딕"/>
                <a:cs typeface="맑은 고딕"/>
              </a:defRPr>
            </a:pPr>
            <a:r>
              <a:rPr sz="1125" b="0">
                <a:solidFill>
                  <a:srgbClr val="535D69"/>
                </a:solidFill>
                <a:latin typeface="맑은 고딕"/>
                <a:ea typeface="맑은 고딕"/>
                <a:cs typeface="맑은 고딕"/>
              </a:rPr>
              <a:t>성균관대 융합인재는 존재·방법을 확인했으며, 이 표에서 신설로 단정하지 않음.  고려 교과우수는 지원 불가 학교 유형이 별도로 규정됨. 서강은 졸업기준의 연말·1월 졸업 포함 규정 확인.</a:t>
            </a:r>
          </a:p>
        </p:txBody>
      </p:sp>
      <p:sp>
        <p:nvSpPr>
          <p:cNvPr id="8" name="직사각형 7">
            <a:extLst>
              <a:ext uri="{FF2B5EF4-FFF2-40B4-BE49-F238E27FC236}">
                <a16:creationId xmlns:a16="http://schemas.microsoft.com/office/drawing/2014/main" id="{C3C89F31-71E9-4817-9F39-9FD23796B26D}"/>
              </a:ext>
            </a:extLst>
          </p:cNvPr>
          <p:cNvSpPr>
            <a:spLocks noGrp="1"/>
          </p:cNvSpPr>
          <p:nvPr/>
        </p:nvSpPr>
        <p:spPr>
          <a:xfrm>
            <a:off x="381000" y="9572625"/>
            <a:ext cx="10096500" cy="361950"/>
          </a:xfrm>
          <a:prstGeom prst="rect">
            <a:avLst/>
          </a:prstGeom>
          <a:noFill/>
          <a:ln w="0">
            <a:noFill/>
          </a:ln>
        </p:spPr>
        <p:txBody>
          <a:bodyPr lIns="0" tIns="0" rIns="0" bIns="0" anchor="t"/>
          <a:lstStyle>
            <a:defPPr>
              <a:defRPr sz="900" b="0">
                <a:solidFill>
                  <a:srgbClr val="666666"/>
                </a:solidFill>
                <a:latin typeface="맑은 고딕"/>
                <a:ea typeface="맑은 고딕"/>
                <a:cs typeface="맑은 고딕"/>
              </a:defRPr>
            </a:defPPr>
            <a:lvl1pPr>
              <a:defRPr sz="900" b="0">
                <a:solidFill>
                  <a:srgbClr val="666666"/>
                </a:solidFill>
                <a:latin typeface="맑은 고딕"/>
                <a:ea typeface="맑은 고딕"/>
                <a:cs typeface="맑은 고딕"/>
              </a:defRPr>
            </a:lvl1pPr>
            <a:lvl2pPr>
              <a:defRPr sz="900" b="0">
                <a:solidFill>
                  <a:srgbClr val="666666"/>
                </a:solidFill>
                <a:latin typeface="맑은 고딕"/>
                <a:ea typeface="맑은 고딕"/>
                <a:cs typeface="맑은 고딕"/>
              </a:defRPr>
            </a:lvl2pPr>
            <a:lvl3pPr>
              <a:defRPr sz="900" b="0">
                <a:solidFill>
                  <a:srgbClr val="666666"/>
                </a:solidFill>
                <a:latin typeface="맑은 고딕"/>
                <a:ea typeface="맑은 고딕"/>
                <a:cs typeface="맑은 고딕"/>
              </a:defRPr>
            </a:lvl3pPr>
            <a:lvl4pPr>
              <a:defRPr sz="900" b="0">
                <a:solidFill>
                  <a:srgbClr val="666666"/>
                </a:solidFill>
                <a:latin typeface="맑은 고딕"/>
                <a:ea typeface="맑은 고딕"/>
                <a:cs typeface="맑은 고딕"/>
              </a:defRPr>
            </a:lvl4pPr>
            <a:lvl5pPr>
              <a:defRPr sz="900" b="0">
                <a:solidFill>
                  <a:srgbClr val="666666"/>
                </a:solidFill>
                <a:latin typeface="맑은 고딕"/>
                <a:ea typeface="맑은 고딕"/>
                <a:cs typeface="맑은 고딕"/>
              </a:defRPr>
            </a:lvl5pPr>
            <a:lvl6pPr>
              <a:defRPr sz="900" b="0">
                <a:solidFill>
                  <a:srgbClr val="666666"/>
                </a:solidFill>
                <a:latin typeface="맑은 고딕"/>
                <a:ea typeface="맑은 고딕"/>
                <a:cs typeface="맑은 고딕"/>
              </a:defRPr>
            </a:lvl6pPr>
            <a:lvl7pPr>
              <a:defRPr sz="900" b="0">
                <a:solidFill>
                  <a:srgbClr val="666666"/>
                </a:solidFill>
                <a:latin typeface="맑은 고딕"/>
                <a:ea typeface="맑은 고딕"/>
                <a:cs typeface="맑은 고딕"/>
              </a:defRPr>
            </a:lvl7pPr>
            <a:lvl8pPr>
              <a:defRPr sz="900" b="0">
                <a:solidFill>
                  <a:srgbClr val="666666"/>
                </a:solidFill>
                <a:latin typeface="맑은 고딕"/>
                <a:ea typeface="맑은 고딕"/>
                <a:cs typeface="맑은 고딕"/>
              </a:defRPr>
            </a:lvl8pPr>
            <a:lvl9pPr>
              <a:defRPr sz="900" b="0">
                <a:solidFill>
                  <a:srgbClr val="666666"/>
                </a:solidFill>
                <a:latin typeface="맑은 고딕"/>
                <a:ea typeface="맑은 고딕"/>
                <a:cs typeface="맑은 고딕"/>
              </a:defRPr>
            </a:lvl9pPr>
          </a:lstStyle>
          <a:p>
            <a:pPr>
              <a:defRPr sz="900" b="0">
                <a:solidFill>
                  <a:srgbClr val="666666"/>
                </a:solidFill>
                <a:latin typeface="맑은 고딕"/>
                <a:ea typeface="맑은 고딕"/>
                <a:cs typeface="맑은 고딕"/>
              </a:defRPr>
            </a:pPr>
            <a:r>
              <a:rPr sz="900" b="0">
                <a:solidFill>
                  <a:srgbClr val="666666"/>
                </a:solidFill>
                <a:latin typeface="맑은 고딕"/>
                <a:ea typeface="맑은 고딕"/>
                <a:cs typeface="맑은 고딕"/>
              </a:rPr>
              <a:t>근거  SEN 131·183·204·211쪽 / 이화 PDF 3·15~16쪽 / 서강 PDF 19쪽 / 고려 PDF 24·26쪽 / 서강 PDF 18~19쪽 / 성균관 PDF 42쪽</a:t>
            </a:r>
          </a:p>
        </p:txBody>
      </p:sp>
      <p:sp>
        <p:nvSpPr>
          <p:cNvPr id="9" name="직사각형 8">
            <a:extLst>
              <a:ext uri="{FF2B5EF4-FFF2-40B4-BE49-F238E27FC236}">
                <a16:creationId xmlns:a16="http://schemas.microsoft.com/office/drawing/2014/main" id="{8C5E1101-156C-44D8-9E14-D92576566941}"/>
              </a:ext>
            </a:extLst>
          </p:cNvPr>
          <p:cNvSpPr>
            <a:spLocks noGrp="1"/>
          </p:cNvSpPr>
          <p:nvPr/>
        </p:nvSpPr>
        <p:spPr>
          <a:xfrm>
            <a:off x="10715625" y="9572625"/>
            <a:ext cx="333375" cy="228600"/>
          </a:xfrm>
          <a:prstGeom prst="rect">
            <a:avLst/>
          </a:prstGeom>
          <a:noFill/>
          <a:ln w="0">
            <a:noFill/>
          </a:ln>
        </p:spPr>
        <p:txBody>
          <a:bodyPr lIns="0" tIns="0" rIns="0" bIns="0" anchor="t"/>
          <a:lstStyle>
            <a:defPPr>
              <a:defRPr sz="1050" b="0">
                <a:solidFill>
                  <a:srgbClr val="002060"/>
                </a:solidFill>
                <a:latin typeface="맑은 고딕"/>
                <a:ea typeface="맑은 고딕"/>
                <a:cs typeface="맑은 고딕"/>
              </a:defRPr>
            </a:defPPr>
            <a:lvl1pPr>
              <a:defRPr sz="1050" b="0">
                <a:solidFill>
                  <a:srgbClr val="002060"/>
                </a:solidFill>
                <a:latin typeface="맑은 고딕"/>
                <a:ea typeface="맑은 고딕"/>
                <a:cs typeface="맑은 고딕"/>
              </a:defRPr>
            </a:lvl1pPr>
            <a:lvl2pPr>
              <a:defRPr sz="1050" b="0">
                <a:solidFill>
                  <a:srgbClr val="002060"/>
                </a:solidFill>
                <a:latin typeface="맑은 고딕"/>
                <a:ea typeface="맑은 고딕"/>
                <a:cs typeface="맑은 고딕"/>
              </a:defRPr>
            </a:lvl2pPr>
            <a:lvl3pPr>
              <a:defRPr sz="1050" b="0">
                <a:solidFill>
                  <a:srgbClr val="002060"/>
                </a:solidFill>
                <a:latin typeface="맑은 고딕"/>
                <a:ea typeface="맑은 고딕"/>
                <a:cs typeface="맑은 고딕"/>
              </a:defRPr>
            </a:lvl3pPr>
            <a:lvl4pPr>
              <a:defRPr sz="1050" b="0">
                <a:solidFill>
                  <a:srgbClr val="002060"/>
                </a:solidFill>
                <a:latin typeface="맑은 고딕"/>
                <a:ea typeface="맑은 고딕"/>
                <a:cs typeface="맑은 고딕"/>
              </a:defRPr>
            </a:lvl4pPr>
            <a:lvl5pPr>
              <a:defRPr sz="1050" b="0">
                <a:solidFill>
                  <a:srgbClr val="002060"/>
                </a:solidFill>
                <a:latin typeface="맑은 고딕"/>
                <a:ea typeface="맑은 고딕"/>
                <a:cs typeface="맑은 고딕"/>
              </a:defRPr>
            </a:lvl5pPr>
            <a:lvl6pPr>
              <a:defRPr sz="1050" b="0">
                <a:solidFill>
                  <a:srgbClr val="002060"/>
                </a:solidFill>
                <a:latin typeface="맑은 고딕"/>
                <a:ea typeface="맑은 고딕"/>
                <a:cs typeface="맑은 고딕"/>
              </a:defRPr>
            </a:lvl6pPr>
            <a:lvl7pPr>
              <a:defRPr sz="1050" b="0">
                <a:solidFill>
                  <a:srgbClr val="002060"/>
                </a:solidFill>
                <a:latin typeface="맑은 고딕"/>
                <a:ea typeface="맑은 고딕"/>
                <a:cs typeface="맑은 고딕"/>
              </a:defRPr>
            </a:lvl7pPr>
            <a:lvl8pPr>
              <a:defRPr sz="1050" b="0">
                <a:solidFill>
                  <a:srgbClr val="002060"/>
                </a:solidFill>
                <a:latin typeface="맑은 고딕"/>
                <a:ea typeface="맑은 고딕"/>
                <a:cs typeface="맑은 고딕"/>
              </a:defRPr>
            </a:lvl8pPr>
            <a:lvl9pPr>
              <a:defRPr sz="1050" b="0">
                <a:solidFill>
                  <a:srgbClr val="002060"/>
                </a:solidFill>
                <a:latin typeface="맑은 고딕"/>
                <a:ea typeface="맑은 고딕"/>
                <a:cs typeface="맑은 고딕"/>
              </a:defRPr>
            </a:lvl9pPr>
          </a:lstStyle>
          <a:p>
            <a:pPr>
              <a:defRPr sz="1050" b="0">
                <a:solidFill>
                  <a:srgbClr val="002060"/>
                </a:solidFill>
                <a:latin typeface="맑은 고딕"/>
                <a:ea typeface="맑은 고딕"/>
                <a:cs typeface="맑은 고딕"/>
              </a:defRPr>
            </a:pPr>
            <a:r>
              <a:rPr sz="1050" b="0">
                <a:solidFill>
                  <a:srgbClr val="002060"/>
                </a:solidFill>
                <a:latin typeface="맑은 고딕"/>
                <a:ea typeface="맑은 고딕"/>
                <a:cs typeface="맑은 고딕"/>
              </a:rPr>
              <a:t>07</a:t>
            </a:r>
          </a:p>
        </p:txBody>
      </p:sp>
    </p:spTree>
    <p:extLst>
      <p:ext uri="{BB962C8B-B14F-4D97-AF65-F5344CB8AC3E}">
        <p14:creationId xmlns:p14="http://schemas.microsoft.com/office/powerpoint/2010/main" val="2449810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66D41CE8-B36F-4013-B9D9-CB1510A52250}"/>
              </a:ext>
            </a:extLst>
          </p:cNvPr>
          <p:cNvSpPr>
            <a:spLocks noGrp="1"/>
          </p:cNvSpPr>
          <p:nvPr/>
        </p:nvSpPr>
        <p:spPr>
          <a:xfrm>
            <a:off x="381000" y="228600"/>
            <a:ext cx="9525000" cy="238125"/>
          </a:xfrm>
          <a:prstGeom prst="rect">
            <a:avLst/>
          </a:prstGeom>
          <a:noFill/>
          <a:ln w="0">
            <a:noFill/>
          </a:ln>
        </p:spPr>
        <p:txBody>
          <a:bodyPr lIns="0" tIns="0" rIns="0" bIns="0" anchor="t"/>
          <a:lstStyle>
            <a:defPPr>
              <a:defRPr sz="1200" b="1">
                <a:solidFill>
                  <a:srgbClr val="002060"/>
                </a:solidFill>
                <a:latin typeface="맑은 고딕"/>
                <a:ea typeface="맑은 고딕"/>
                <a:cs typeface="맑은 고딕"/>
              </a:defRPr>
            </a:defPPr>
            <a:lvl1pPr>
              <a:defRPr sz="1200" b="1">
                <a:solidFill>
                  <a:srgbClr val="002060"/>
                </a:solidFill>
                <a:latin typeface="맑은 고딕"/>
                <a:ea typeface="맑은 고딕"/>
                <a:cs typeface="맑은 고딕"/>
              </a:defRPr>
            </a:lvl1pPr>
            <a:lvl2pPr>
              <a:defRPr sz="1200" b="1">
                <a:solidFill>
                  <a:srgbClr val="002060"/>
                </a:solidFill>
                <a:latin typeface="맑은 고딕"/>
                <a:ea typeface="맑은 고딕"/>
                <a:cs typeface="맑은 고딕"/>
              </a:defRPr>
            </a:lvl2pPr>
            <a:lvl3pPr>
              <a:defRPr sz="1200" b="1">
                <a:solidFill>
                  <a:srgbClr val="002060"/>
                </a:solidFill>
                <a:latin typeface="맑은 고딕"/>
                <a:ea typeface="맑은 고딕"/>
                <a:cs typeface="맑은 고딕"/>
              </a:defRPr>
            </a:lvl3pPr>
            <a:lvl4pPr>
              <a:defRPr sz="1200" b="1">
                <a:solidFill>
                  <a:srgbClr val="002060"/>
                </a:solidFill>
                <a:latin typeface="맑은 고딕"/>
                <a:ea typeface="맑은 고딕"/>
                <a:cs typeface="맑은 고딕"/>
              </a:defRPr>
            </a:lvl4pPr>
            <a:lvl5pPr>
              <a:defRPr sz="1200" b="1">
                <a:solidFill>
                  <a:srgbClr val="002060"/>
                </a:solidFill>
                <a:latin typeface="맑은 고딕"/>
                <a:ea typeface="맑은 고딕"/>
                <a:cs typeface="맑은 고딕"/>
              </a:defRPr>
            </a:lvl5pPr>
            <a:lvl6pPr>
              <a:defRPr sz="1200" b="1">
                <a:solidFill>
                  <a:srgbClr val="002060"/>
                </a:solidFill>
                <a:latin typeface="맑은 고딕"/>
                <a:ea typeface="맑은 고딕"/>
                <a:cs typeface="맑은 고딕"/>
              </a:defRPr>
            </a:lvl6pPr>
            <a:lvl7pPr>
              <a:defRPr sz="1200" b="1">
                <a:solidFill>
                  <a:srgbClr val="002060"/>
                </a:solidFill>
                <a:latin typeface="맑은 고딕"/>
                <a:ea typeface="맑은 고딕"/>
                <a:cs typeface="맑은 고딕"/>
              </a:defRPr>
            </a:lvl7pPr>
            <a:lvl8pPr>
              <a:defRPr sz="1200" b="1">
                <a:solidFill>
                  <a:srgbClr val="002060"/>
                </a:solidFill>
                <a:latin typeface="맑은 고딕"/>
                <a:ea typeface="맑은 고딕"/>
                <a:cs typeface="맑은 고딕"/>
              </a:defRPr>
            </a:lvl8pPr>
            <a:lvl9pPr>
              <a:defRPr sz="1200" b="1">
                <a:solidFill>
                  <a:srgbClr val="002060"/>
                </a:solidFill>
                <a:latin typeface="맑은 고딕"/>
                <a:ea typeface="맑은 고딕"/>
                <a:cs typeface="맑은 고딕"/>
              </a:defRPr>
            </a:lvl9pPr>
          </a:lstStyle>
          <a:p>
            <a:pPr>
              <a:defRPr sz="1200" b="1">
                <a:solidFill>
                  <a:srgbClr val="002060"/>
                </a:solidFill>
                <a:latin typeface="맑은 고딕"/>
                <a:ea typeface="맑은 고딕"/>
                <a:cs typeface="맑은 고딕"/>
              </a:defRPr>
            </a:pPr>
            <a:r>
              <a:rPr sz="1200" b="1">
                <a:solidFill>
                  <a:srgbClr val="002060"/>
                </a:solidFill>
                <a:latin typeface="맑은 고딕"/>
                <a:ea typeface="맑은 고딕"/>
                <a:cs typeface="맑은 고딕"/>
              </a:rPr>
              <a:t>2028 정시  대학별 전형 비교</a:t>
            </a:r>
          </a:p>
        </p:txBody>
      </p:sp>
      <p:sp>
        <p:nvSpPr>
          <p:cNvPr id="2" name="직사각형 1">
            <a:extLst>
              <a:ext uri="{FF2B5EF4-FFF2-40B4-BE49-F238E27FC236}">
                <a16:creationId xmlns:a16="http://schemas.microsoft.com/office/drawing/2014/main" id="{EC59ECF8-1EB7-4D48-9A97-3B4232C4F77F}"/>
              </a:ext>
            </a:extLst>
          </p:cNvPr>
          <p:cNvSpPr>
            <a:spLocks noGrp="1"/>
          </p:cNvSpPr>
          <p:nvPr/>
        </p:nvSpPr>
        <p:spPr>
          <a:xfrm>
            <a:off x="381000" y="619125"/>
            <a:ext cx="10668000" cy="533400"/>
          </a:xfrm>
          <a:prstGeom prst="rect">
            <a:avLst/>
          </a:prstGeom>
          <a:noFill/>
          <a:ln w="0">
            <a:noFill/>
          </a:ln>
        </p:spPr>
        <p:txBody>
          <a:bodyPr lIns="0" tIns="0" rIns="0" bIns="0" anchor="t"/>
          <a:lstStyle>
            <a:defPPr>
              <a:defRPr sz="2400" b="1">
                <a:solidFill>
                  <a:srgbClr val="002060"/>
                </a:solidFill>
                <a:latin typeface="맑은 고딕"/>
                <a:ea typeface="맑은 고딕"/>
                <a:cs typeface="맑은 고딕"/>
              </a:defRPr>
            </a:defPPr>
            <a:lvl1pPr>
              <a:defRPr sz="2400" b="1">
                <a:solidFill>
                  <a:srgbClr val="002060"/>
                </a:solidFill>
                <a:latin typeface="맑은 고딕"/>
                <a:ea typeface="맑은 고딕"/>
                <a:cs typeface="맑은 고딕"/>
              </a:defRPr>
            </a:lvl1pPr>
            <a:lvl2pPr>
              <a:defRPr sz="2400" b="1">
                <a:solidFill>
                  <a:srgbClr val="002060"/>
                </a:solidFill>
                <a:latin typeface="맑은 고딕"/>
                <a:ea typeface="맑은 고딕"/>
                <a:cs typeface="맑은 고딕"/>
              </a:defRPr>
            </a:lvl2pPr>
            <a:lvl3pPr>
              <a:defRPr sz="2400" b="1">
                <a:solidFill>
                  <a:srgbClr val="002060"/>
                </a:solidFill>
                <a:latin typeface="맑은 고딕"/>
                <a:ea typeface="맑은 고딕"/>
                <a:cs typeface="맑은 고딕"/>
              </a:defRPr>
            </a:lvl3pPr>
            <a:lvl4pPr>
              <a:defRPr sz="2400" b="1">
                <a:solidFill>
                  <a:srgbClr val="002060"/>
                </a:solidFill>
                <a:latin typeface="맑은 고딕"/>
                <a:ea typeface="맑은 고딕"/>
                <a:cs typeface="맑은 고딕"/>
              </a:defRPr>
            </a:lvl4pPr>
            <a:lvl5pPr>
              <a:defRPr sz="2400" b="1">
                <a:solidFill>
                  <a:srgbClr val="002060"/>
                </a:solidFill>
                <a:latin typeface="맑은 고딕"/>
                <a:ea typeface="맑은 고딕"/>
                <a:cs typeface="맑은 고딕"/>
              </a:defRPr>
            </a:lvl5pPr>
            <a:lvl6pPr>
              <a:defRPr sz="2400" b="1">
                <a:solidFill>
                  <a:srgbClr val="002060"/>
                </a:solidFill>
                <a:latin typeface="맑은 고딕"/>
                <a:ea typeface="맑은 고딕"/>
                <a:cs typeface="맑은 고딕"/>
              </a:defRPr>
            </a:lvl6pPr>
            <a:lvl7pPr>
              <a:defRPr sz="2400" b="1">
                <a:solidFill>
                  <a:srgbClr val="002060"/>
                </a:solidFill>
                <a:latin typeface="맑은 고딕"/>
                <a:ea typeface="맑은 고딕"/>
                <a:cs typeface="맑은 고딕"/>
              </a:defRPr>
            </a:lvl7pPr>
            <a:lvl8pPr>
              <a:defRPr sz="2400" b="1">
                <a:solidFill>
                  <a:srgbClr val="002060"/>
                </a:solidFill>
                <a:latin typeface="맑은 고딕"/>
                <a:ea typeface="맑은 고딕"/>
                <a:cs typeface="맑은 고딕"/>
              </a:defRPr>
            </a:lvl8pPr>
            <a:lvl9pPr>
              <a:defRPr sz="2400" b="1">
                <a:solidFill>
                  <a:srgbClr val="002060"/>
                </a:solidFill>
                <a:latin typeface="맑은 고딕"/>
                <a:ea typeface="맑은 고딕"/>
                <a:cs typeface="맑은 고딕"/>
              </a:defRPr>
            </a:lvl9pPr>
          </a:lstStyle>
          <a:p>
            <a:pPr>
              <a:defRPr sz="2400" b="1">
                <a:solidFill>
                  <a:srgbClr val="002060"/>
                </a:solidFill>
                <a:latin typeface="맑은 고딕"/>
                <a:ea typeface="맑은 고딕"/>
                <a:cs typeface="맑은 고딕"/>
              </a:defRPr>
            </a:pPr>
            <a:r>
              <a:rPr sz="2400" b="1">
                <a:solidFill>
                  <a:srgbClr val="002060"/>
                </a:solidFill>
                <a:latin typeface="맑은 고딕"/>
                <a:ea typeface="맑은 고딕"/>
                <a:cs typeface="맑은 고딕"/>
              </a:rPr>
              <a:t>전년 대비 학생부·지표·모집군 변경</a:t>
            </a:r>
          </a:p>
        </p:txBody>
      </p:sp>
      <p:graphicFrame>
        <p:nvGraphicFramePr>
          <p:cNvPr id="3" name="표 2">
            <a:extLst>
              <a:ext uri="{FF2B5EF4-FFF2-40B4-BE49-F238E27FC236}">
                <a16:creationId xmlns:a16="http://schemas.microsoft.com/office/drawing/2014/main" id="{51A12CF1-5117-4EAC-B79E-9268A6EBD29B}"/>
              </a:ext>
            </a:extLst>
          </p:cNvPr>
          <p:cNvGraphicFramePr/>
          <p:nvPr/>
        </p:nvGraphicFramePr>
        <p:xfrm>
          <a:off x="381000" y="1381125"/>
          <a:ext cx="10668000" cy="4210050"/>
        </p:xfrm>
        <a:graphic>
          <a:graphicData uri="http://schemas.openxmlformats.org/drawingml/2006/table">
            <a:tbl>
              <a:tblPr/>
              <a:tblGrid>
                <a:gridCol w="276225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tblGrid>
              <a:tr h="400050">
                <a:tc>
                  <a:txBody>
                    <a:bodyPr/>
                    <a:lstStyle/>
                    <a:p>
                      <a:r>
                        <a:rPr sz="1500" b="1">
                          <a:solidFill>
                            <a:srgbClr val="FFFFFF"/>
                          </a:solidFill>
                          <a:latin typeface="맑은 고딕"/>
                          <a:ea typeface="맑은 고딕"/>
                          <a:cs typeface="맑은 고딕"/>
                        </a:rPr>
                        <a:t>대학·적용 범위</a:t>
                      </a:r>
                    </a:p>
                  </a:txBody>
                  <a:tcPr marL="95250" marR="95250" marT="47625" marB="47625" anchor="ctr">
                    <a:lnL w="5715">
                      <a:solidFill>
                        <a:srgbClr val="C5CFDA"/>
                      </a:solidFill>
                      <a:prstDash val="soli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종전 방식·변경 지점</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2028학년도·해석</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extLst>
                  <a:ext uri="{0D108BD9-81ED-4DB2-BD59-A6C34878D82A}">
                    <a16:rowId xmlns:a16="http://schemas.microsoft.com/office/drawing/2014/main" val="10000"/>
                  </a:ext>
                </a:extLst>
              </a:tr>
              <a:tr h="381000">
                <a:tc>
                  <a:txBody>
                    <a:bodyPr/>
                    <a:lstStyle/>
                    <a:p>
                      <a:r>
                        <a:rPr sz="1500" b="1">
                          <a:solidFill>
                            <a:srgbClr val="17212D"/>
                          </a:solidFill>
                          <a:latin typeface="맑은 고딕"/>
                          <a:ea typeface="맑은 고딕"/>
                          <a:cs typeface="맑은 고딕"/>
                        </a:rPr>
                        <a:t>서울시립대 인문·자연</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수능 100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수능 80+교과 18+출결 2</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1"/>
                  </a:ext>
                </a:extLst>
              </a:tr>
              <a:tr h="381000">
                <a:tc>
                  <a:txBody>
                    <a:bodyPr/>
                    <a:lstStyle/>
                    <a:p>
                      <a:r>
                        <a:rPr sz="1500" b="1">
                          <a:solidFill>
                            <a:srgbClr val="17212D"/>
                          </a:solidFill>
                          <a:latin typeface="맑은 고딕"/>
                          <a:ea typeface="맑은 고딕"/>
                          <a:cs typeface="맑은 고딕"/>
                        </a:rPr>
                        <a:t>동국대 일반 인문·자연</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가·나 100 / 다 90+학생부 10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가·나·다 수능 80+학생부 20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2"/>
                  </a:ext>
                </a:extLst>
              </a:tr>
              <a:tr h="381000">
                <a:tc>
                  <a:txBody>
                    <a:bodyPr/>
                    <a:lstStyle/>
                    <a:p>
                      <a:r>
                        <a:rPr sz="1500" b="1">
                          <a:solidFill>
                            <a:srgbClr val="17212D"/>
                          </a:solidFill>
                          <a:latin typeface="맑은 고딕"/>
                          <a:ea typeface="맑은 고딕"/>
                          <a:cs typeface="맑은 고딕"/>
                        </a:rPr>
                        <a:t>단국대 일반 인문·자연</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수능 100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수능 90+학생부정성 10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3"/>
                  </a:ext>
                </a:extLst>
              </a:tr>
              <a:tr h="381000">
                <a:tc>
                  <a:txBody>
                    <a:bodyPr/>
                    <a:lstStyle/>
                    <a:p>
                      <a:r>
                        <a:rPr sz="1500" b="1">
                          <a:solidFill>
                            <a:srgbClr val="17212D"/>
                          </a:solidFill>
                          <a:latin typeface="맑은 고딕"/>
                          <a:ea typeface="맑은 고딕"/>
                          <a:cs typeface="맑은 고딕"/>
                        </a:rPr>
                        <a:t>홍익대 다군 인문·자연</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수능 100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수능 90+교과정량 10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4"/>
                  </a:ext>
                </a:extLst>
              </a:tr>
              <a:tr h="381000">
                <a:tc>
                  <a:txBody>
                    <a:bodyPr/>
                    <a:lstStyle/>
                    <a:p>
                      <a:r>
                        <a:rPr sz="1500" b="1">
                          <a:solidFill>
                            <a:srgbClr val="17212D"/>
                          </a:solidFill>
                          <a:latin typeface="맑은 고딕"/>
                          <a:ea typeface="맑은 고딕"/>
                          <a:cs typeface="맑은 고딕"/>
                        </a:rPr>
                        <a:t>부산대 일반 비실기</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수능 100 중심</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수능 80+학업충실도평가 20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5"/>
                  </a:ext>
                </a:extLst>
              </a:tr>
              <a:tr h="381000">
                <a:tc>
                  <a:txBody>
                    <a:bodyPr/>
                    <a:lstStyle/>
                    <a:p>
                      <a:r>
                        <a:rPr sz="1500" b="1">
                          <a:solidFill>
                            <a:srgbClr val="17212D"/>
                          </a:solidFill>
                          <a:latin typeface="맑은 고딕"/>
                          <a:ea typeface="맑은 고딕"/>
                          <a:cs typeface="맑은 고딕"/>
                        </a:rPr>
                        <a:t>고려대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교과우수 졸업연도 제한 강화</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졸업생은 일반전형과 구분</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6"/>
                  </a:ext>
                </a:extLst>
              </a:tr>
              <a:tr h="381000">
                <a:tc>
                  <a:txBody>
                    <a:bodyPr/>
                    <a:lstStyle/>
                    <a:p>
                      <a:r>
                        <a:rPr sz="1500" b="1">
                          <a:solidFill>
                            <a:srgbClr val="17212D"/>
                          </a:solidFill>
                          <a:latin typeface="맑은 고딕"/>
                          <a:ea typeface="맑은 고딕"/>
                          <a:cs typeface="맑은 고딕"/>
                        </a:rPr>
                        <a:t>연세대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정량 50점 폐지, 서류 100점 반영</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기존 교과·출결 환산과 구분</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7"/>
                  </a:ext>
                </a:extLst>
              </a:tr>
              <a:tr h="381000">
                <a:tc>
                  <a:txBody>
                    <a:bodyPr/>
                    <a:lstStyle/>
                    <a:p>
                      <a:r>
                        <a:rPr sz="1500" b="1">
                          <a:solidFill>
                            <a:srgbClr val="17212D"/>
                          </a:solidFill>
                          <a:latin typeface="맑은 고딕"/>
                          <a:ea typeface="맑은 고딕"/>
                          <a:cs typeface="맑은 고딕"/>
                        </a:rPr>
                        <a:t>한양대(서울)</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컴퓨터소프트웨어·파이낸스경영 다→나</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해당 모집단위의 군 이동</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8"/>
                  </a:ext>
                </a:extLst>
              </a:tr>
              <a:tr h="381000">
                <a:tc>
                  <a:txBody>
                    <a:bodyPr/>
                    <a:lstStyle/>
                    <a:p>
                      <a:r>
                        <a:rPr sz="1500" b="1">
                          <a:solidFill>
                            <a:srgbClr val="17212D"/>
                          </a:solidFill>
                          <a:latin typeface="맑은 고딕"/>
                          <a:ea typeface="맑은 고딕"/>
                          <a:cs typeface="맑은 고딕"/>
                        </a:rPr>
                        <a:t>세종대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탐구 변환표준점수→표준점수</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전형요소와 수능 지표 동시 확인</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9"/>
                  </a:ext>
                </a:extLst>
              </a:tr>
              <a:tr h="381000">
                <a:tc>
                  <a:txBody>
                    <a:bodyPr/>
                    <a:lstStyle/>
                    <a:p>
                      <a:r>
                        <a:rPr sz="1500" b="1">
                          <a:solidFill>
                            <a:srgbClr val="17212D"/>
                          </a:solidFill>
                          <a:latin typeface="맑은 고딕"/>
                          <a:ea typeface="맑은 고딕"/>
                          <a:cs typeface="맑은 고딕"/>
                        </a:rPr>
                        <a:t>인하대·제주대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수능 선택과목별 가산점 폐지</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영역별 반영비율과는 별개</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10"/>
                  </a:ext>
                </a:extLst>
              </a:tr>
            </a:tbl>
          </a:graphicData>
        </a:graphic>
      </p:graphicFrame>
      <p:sp>
        <p:nvSpPr>
          <p:cNvPr id="4" name="직사각형 3">
            <a:extLst>
              <a:ext uri="{FF2B5EF4-FFF2-40B4-BE49-F238E27FC236}">
                <a16:creationId xmlns:a16="http://schemas.microsoft.com/office/drawing/2014/main" id="{EE85A5ED-D81C-4E23-B893-BCFBF701D151}"/>
              </a:ext>
            </a:extLst>
          </p:cNvPr>
          <p:cNvSpPr>
            <a:spLocks noGrp="1"/>
          </p:cNvSpPr>
          <p:nvPr/>
        </p:nvSpPr>
        <p:spPr>
          <a:xfrm>
            <a:off x="381000" y="5715000"/>
            <a:ext cx="10668000" cy="257175"/>
          </a:xfrm>
          <a:prstGeom prst="rect">
            <a:avLst/>
          </a:prstGeom>
          <a:noFill/>
          <a:ln w="0">
            <a:noFill/>
          </a:ln>
        </p:spPr>
        <p:txBody>
          <a:bodyPr lIns="0" tIns="0" rIns="0" bIns="0" anchor="t"/>
          <a:lstStyle>
            <a:defPPr>
              <a:defRPr sz="1125" b="0">
                <a:solidFill>
                  <a:srgbClr val="535D69"/>
                </a:solidFill>
                <a:latin typeface="맑은 고딕"/>
                <a:ea typeface="맑은 고딕"/>
                <a:cs typeface="맑은 고딕"/>
              </a:defRPr>
            </a:defPPr>
            <a:lvl1pPr>
              <a:defRPr sz="1125" b="0">
                <a:solidFill>
                  <a:srgbClr val="535D69"/>
                </a:solidFill>
                <a:latin typeface="맑은 고딕"/>
                <a:ea typeface="맑은 고딕"/>
                <a:cs typeface="맑은 고딕"/>
              </a:defRPr>
            </a:lvl1pPr>
            <a:lvl2pPr>
              <a:defRPr sz="1125" b="0">
                <a:solidFill>
                  <a:srgbClr val="535D69"/>
                </a:solidFill>
                <a:latin typeface="맑은 고딕"/>
                <a:ea typeface="맑은 고딕"/>
                <a:cs typeface="맑은 고딕"/>
              </a:defRPr>
            </a:lvl2pPr>
            <a:lvl3pPr>
              <a:defRPr sz="1125" b="0">
                <a:solidFill>
                  <a:srgbClr val="535D69"/>
                </a:solidFill>
                <a:latin typeface="맑은 고딕"/>
                <a:ea typeface="맑은 고딕"/>
                <a:cs typeface="맑은 고딕"/>
              </a:defRPr>
            </a:lvl3pPr>
            <a:lvl4pPr>
              <a:defRPr sz="1125" b="0">
                <a:solidFill>
                  <a:srgbClr val="535D69"/>
                </a:solidFill>
                <a:latin typeface="맑은 고딕"/>
                <a:ea typeface="맑은 고딕"/>
                <a:cs typeface="맑은 고딕"/>
              </a:defRPr>
            </a:lvl4pPr>
            <a:lvl5pPr>
              <a:defRPr sz="1125" b="0">
                <a:solidFill>
                  <a:srgbClr val="535D69"/>
                </a:solidFill>
                <a:latin typeface="맑은 고딕"/>
                <a:ea typeface="맑은 고딕"/>
                <a:cs typeface="맑은 고딕"/>
              </a:defRPr>
            </a:lvl5pPr>
            <a:lvl6pPr>
              <a:defRPr sz="1125" b="0">
                <a:solidFill>
                  <a:srgbClr val="535D69"/>
                </a:solidFill>
                <a:latin typeface="맑은 고딕"/>
                <a:ea typeface="맑은 고딕"/>
                <a:cs typeface="맑은 고딕"/>
              </a:defRPr>
            </a:lvl6pPr>
            <a:lvl7pPr>
              <a:defRPr sz="1125" b="0">
                <a:solidFill>
                  <a:srgbClr val="535D69"/>
                </a:solidFill>
                <a:latin typeface="맑은 고딕"/>
                <a:ea typeface="맑은 고딕"/>
                <a:cs typeface="맑은 고딕"/>
              </a:defRPr>
            </a:lvl7pPr>
            <a:lvl8pPr>
              <a:defRPr sz="1125" b="0">
                <a:solidFill>
                  <a:srgbClr val="535D69"/>
                </a:solidFill>
                <a:latin typeface="맑은 고딕"/>
                <a:ea typeface="맑은 고딕"/>
                <a:cs typeface="맑은 고딕"/>
              </a:defRPr>
            </a:lvl8pPr>
            <a:lvl9pPr>
              <a:defRPr sz="1125" b="0">
                <a:solidFill>
                  <a:srgbClr val="535D69"/>
                </a:solidFill>
                <a:latin typeface="맑은 고딕"/>
                <a:ea typeface="맑은 고딕"/>
                <a:cs typeface="맑은 고딕"/>
              </a:defRPr>
            </a:lvl9pPr>
          </a:lstStyle>
          <a:p>
            <a:pPr>
              <a:defRPr sz="1125" b="0">
                <a:solidFill>
                  <a:srgbClr val="535D69"/>
                </a:solidFill>
                <a:latin typeface="맑은 고딕"/>
                <a:ea typeface="맑은 고딕"/>
                <a:cs typeface="맑은 고딕"/>
              </a:defRPr>
            </a:pPr>
            <a:r>
              <a:rPr sz="1125" b="0">
                <a:solidFill>
                  <a:srgbClr val="535D69"/>
                </a:solidFill>
                <a:latin typeface="맑은 고딕"/>
                <a:ea typeface="맑은 고딕"/>
                <a:cs typeface="맑은 고딕"/>
              </a:rPr>
              <a:t>반영비율은 별도 표시가 없는 한 시행계획의 명목비율. 충남대 실질비율과 혼용하지 않음.</a:t>
            </a:r>
          </a:p>
        </p:txBody>
      </p:sp>
      <p:sp>
        <p:nvSpPr>
          <p:cNvPr id="5" name="직사각형 4">
            <a:extLst>
              <a:ext uri="{FF2B5EF4-FFF2-40B4-BE49-F238E27FC236}">
                <a16:creationId xmlns:a16="http://schemas.microsoft.com/office/drawing/2014/main" id="{CDEA23C0-06DE-4EF2-9C1F-53F41E28F123}"/>
              </a:ext>
            </a:extLst>
          </p:cNvPr>
          <p:cNvSpPr>
            <a:spLocks noGrp="1"/>
          </p:cNvSpPr>
          <p:nvPr/>
        </p:nvSpPr>
        <p:spPr>
          <a:xfrm>
            <a:off x="381000" y="9572625"/>
            <a:ext cx="10096500" cy="361950"/>
          </a:xfrm>
          <a:prstGeom prst="rect">
            <a:avLst/>
          </a:prstGeom>
          <a:noFill/>
          <a:ln w="0">
            <a:noFill/>
          </a:ln>
        </p:spPr>
        <p:txBody>
          <a:bodyPr lIns="0" tIns="0" rIns="0" bIns="0" anchor="t"/>
          <a:lstStyle>
            <a:defPPr>
              <a:defRPr sz="900" b="0">
                <a:solidFill>
                  <a:srgbClr val="666666"/>
                </a:solidFill>
                <a:latin typeface="맑은 고딕"/>
                <a:ea typeface="맑은 고딕"/>
                <a:cs typeface="맑은 고딕"/>
              </a:defRPr>
            </a:defPPr>
            <a:lvl1pPr>
              <a:defRPr sz="900" b="0">
                <a:solidFill>
                  <a:srgbClr val="666666"/>
                </a:solidFill>
                <a:latin typeface="맑은 고딕"/>
                <a:ea typeface="맑은 고딕"/>
                <a:cs typeface="맑은 고딕"/>
              </a:defRPr>
            </a:lvl1pPr>
            <a:lvl2pPr>
              <a:defRPr sz="900" b="0">
                <a:solidFill>
                  <a:srgbClr val="666666"/>
                </a:solidFill>
                <a:latin typeface="맑은 고딕"/>
                <a:ea typeface="맑은 고딕"/>
                <a:cs typeface="맑은 고딕"/>
              </a:defRPr>
            </a:lvl2pPr>
            <a:lvl3pPr>
              <a:defRPr sz="900" b="0">
                <a:solidFill>
                  <a:srgbClr val="666666"/>
                </a:solidFill>
                <a:latin typeface="맑은 고딕"/>
                <a:ea typeface="맑은 고딕"/>
                <a:cs typeface="맑은 고딕"/>
              </a:defRPr>
            </a:lvl3pPr>
            <a:lvl4pPr>
              <a:defRPr sz="900" b="0">
                <a:solidFill>
                  <a:srgbClr val="666666"/>
                </a:solidFill>
                <a:latin typeface="맑은 고딕"/>
                <a:ea typeface="맑은 고딕"/>
                <a:cs typeface="맑은 고딕"/>
              </a:defRPr>
            </a:lvl4pPr>
            <a:lvl5pPr>
              <a:defRPr sz="900" b="0">
                <a:solidFill>
                  <a:srgbClr val="666666"/>
                </a:solidFill>
                <a:latin typeface="맑은 고딕"/>
                <a:ea typeface="맑은 고딕"/>
                <a:cs typeface="맑은 고딕"/>
              </a:defRPr>
            </a:lvl5pPr>
            <a:lvl6pPr>
              <a:defRPr sz="900" b="0">
                <a:solidFill>
                  <a:srgbClr val="666666"/>
                </a:solidFill>
                <a:latin typeface="맑은 고딕"/>
                <a:ea typeface="맑은 고딕"/>
                <a:cs typeface="맑은 고딕"/>
              </a:defRPr>
            </a:lvl6pPr>
            <a:lvl7pPr>
              <a:defRPr sz="900" b="0">
                <a:solidFill>
                  <a:srgbClr val="666666"/>
                </a:solidFill>
                <a:latin typeface="맑은 고딕"/>
                <a:ea typeface="맑은 고딕"/>
                <a:cs typeface="맑은 고딕"/>
              </a:defRPr>
            </a:lvl7pPr>
            <a:lvl8pPr>
              <a:defRPr sz="900" b="0">
                <a:solidFill>
                  <a:srgbClr val="666666"/>
                </a:solidFill>
                <a:latin typeface="맑은 고딕"/>
                <a:ea typeface="맑은 고딕"/>
                <a:cs typeface="맑은 고딕"/>
              </a:defRPr>
            </a:lvl8pPr>
            <a:lvl9pPr>
              <a:defRPr sz="900" b="0">
                <a:solidFill>
                  <a:srgbClr val="666666"/>
                </a:solidFill>
                <a:latin typeface="맑은 고딕"/>
                <a:ea typeface="맑은 고딕"/>
                <a:cs typeface="맑은 고딕"/>
              </a:defRPr>
            </a:lvl9pPr>
          </a:lstStyle>
          <a:p>
            <a:pPr>
              <a:defRPr sz="900" b="0">
                <a:solidFill>
                  <a:srgbClr val="666666"/>
                </a:solidFill>
                <a:latin typeface="맑은 고딕"/>
                <a:ea typeface="맑은 고딕"/>
                <a:cs typeface="맑은 고딕"/>
              </a:defRPr>
            </a:pPr>
            <a:r>
              <a:rPr sz="900" b="0">
                <a:solidFill>
                  <a:srgbClr val="666666"/>
                </a:solidFill>
                <a:latin typeface="맑은 고딕"/>
                <a:ea typeface="맑은 고딕"/>
                <a:cs typeface="맑은 고딕"/>
              </a:rPr>
              <a:t>근거  SEN 160·195·307쪽 / 단국 시행계획 주요 변경사항 / 부산 시행계획 4·29쪽 / 고려 PDF 4쪽, 연세 주요 변경사항 / SEN 211·242·252·298쪽</a:t>
            </a:r>
          </a:p>
        </p:txBody>
      </p:sp>
      <p:sp>
        <p:nvSpPr>
          <p:cNvPr id="6" name="직사각형 5">
            <a:extLst>
              <a:ext uri="{FF2B5EF4-FFF2-40B4-BE49-F238E27FC236}">
                <a16:creationId xmlns:a16="http://schemas.microsoft.com/office/drawing/2014/main" id="{0F6B77A8-FBE0-4D7E-AD19-1E2EF8776545}"/>
              </a:ext>
            </a:extLst>
          </p:cNvPr>
          <p:cNvSpPr>
            <a:spLocks noGrp="1"/>
          </p:cNvSpPr>
          <p:nvPr/>
        </p:nvSpPr>
        <p:spPr>
          <a:xfrm>
            <a:off x="10715625" y="9572625"/>
            <a:ext cx="333375" cy="228600"/>
          </a:xfrm>
          <a:prstGeom prst="rect">
            <a:avLst/>
          </a:prstGeom>
          <a:noFill/>
          <a:ln w="0">
            <a:noFill/>
          </a:ln>
        </p:spPr>
        <p:txBody>
          <a:bodyPr lIns="0" tIns="0" rIns="0" bIns="0" anchor="t"/>
          <a:lstStyle>
            <a:defPPr>
              <a:defRPr sz="1050" b="0">
                <a:solidFill>
                  <a:srgbClr val="002060"/>
                </a:solidFill>
                <a:latin typeface="맑은 고딕"/>
                <a:ea typeface="맑은 고딕"/>
                <a:cs typeface="맑은 고딕"/>
              </a:defRPr>
            </a:defPPr>
            <a:lvl1pPr>
              <a:defRPr sz="1050" b="0">
                <a:solidFill>
                  <a:srgbClr val="002060"/>
                </a:solidFill>
                <a:latin typeface="맑은 고딕"/>
                <a:ea typeface="맑은 고딕"/>
                <a:cs typeface="맑은 고딕"/>
              </a:defRPr>
            </a:lvl1pPr>
            <a:lvl2pPr>
              <a:defRPr sz="1050" b="0">
                <a:solidFill>
                  <a:srgbClr val="002060"/>
                </a:solidFill>
                <a:latin typeface="맑은 고딕"/>
                <a:ea typeface="맑은 고딕"/>
                <a:cs typeface="맑은 고딕"/>
              </a:defRPr>
            </a:lvl2pPr>
            <a:lvl3pPr>
              <a:defRPr sz="1050" b="0">
                <a:solidFill>
                  <a:srgbClr val="002060"/>
                </a:solidFill>
                <a:latin typeface="맑은 고딕"/>
                <a:ea typeface="맑은 고딕"/>
                <a:cs typeface="맑은 고딕"/>
              </a:defRPr>
            </a:lvl3pPr>
            <a:lvl4pPr>
              <a:defRPr sz="1050" b="0">
                <a:solidFill>
                  <a:srgbClr val="002060"/>
                </a:solidFill>
                <a:latin typeface="맑은 고딕"/>
                <a:ea typeface="맑은 고딕"/>
                <a:cs typeface="맑은 고딕"/>
              </a:defRPr>
            </a:lvl4pPr>
            <a:lvl5pPr>
              <a:defRPr sz="1050" b="0">
                <a:solidFill>
                  <a:srgbClr val="002060"/>
                </a:solidFill>
                <a:latin typeface="맑은 고딕"/>
                <a:ea typeface="맑은 고딕"/>
                <a:cs typeface="맑은 고딕"/>
              </a:defRPr>
            </a:lvl5pPr>
            <a:lvl6pPr>
              <a:defRPr sz="1050" b="0">
                <a:solidFill>
                  <a:srgbClr val="002060"/>
                </a:solidFill>
                <a:latin typeface="맑은 고딕"/>
                <a:ea typeface="맑은 고딕"/>
                <a:cs typeface="맑은 고딕"/>
              </a:defRPr>
            </a:lvl6pPr>
            <a:lvl7pPr>
              <a:defRPr sz="1050" b="0">
                <a:solidFill>
                  <a:srgbClr val="002060"/>
                </a:solidFill>
                <a:latin typeface="맑은 고딕"/>
                <a:ea typeface="맑은 고딕"/>
                <a:cs typeface="맑은 고딕"/>
              </a:defRPr>
            </a:lvl7pPr>
            <a:lvl8pPr>
              <a:defRPr sz="1050" b="0">
                <a:solidFill>
                  <a:srgbClr val="002060"/>
                </a:solidFill>
                <a:latin typeface="맑은 고딕"/>
                <a:ea typeface="맑은 고딕"/>
                <a:cs typeface="맑은 고딕"/>
              </a:defRPr>
            </a:lvl8pPr>
            <a:lvl9pPr>
              <a:defRPr sz="1050" b="0">
                <a:solidFill>
                  <a:srgbClr val="002060"/>
                </a:solidFill>
                <a:latin typeface="맑은 고딕"/>
                <a:ea typeface="맑은 고딕"/>
                <a:cs typeface="맑은 고딕"/>
              </a:defRPr>
            </a:lvl9pPr>
          </a:lstStyle>
          <a:p>
            <a:pPr>
              <a:defRPr sz="1050" b="0">
                <a:solidFill>
                  <a:srgbClr val="002060"/>
                </a:solidFill>
                <a:latin typeface="맑은 고딕"/>
                <a:ea typeface="맑은 고딕"/>
                <a:cs typeface="맑은 고딕"/>
              </a:defRPr>
            </a:pPr>
            <a:r>
              <a:rPr sz="1050" b="0">
                <a:solidFill>
                  <a:srgbClr val="002060"/>
                </a:solidFill>
                <a:latin typeface="맑은 고딕"/>
                <a:ea typeface="맑은 고딕"/>
                <a:cs typeface="맑은 고딕"/>
              </a:rPr>
              <a:t>08</a:t>
            </a:r>
          </a:p>
        </p:txBody>
      </p:sp>
    </p:spTree>
    <p:extLst>
      <p:ext uri="{BB962C8B-B14F-4D97-AF65-F5344CB8AC3E}">
        <p14:creationId xmlns:p14="http://schemas.microsoft.com/office/powerpoint/2010/main" val="19342571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37B00E1B-348C-4A0B-B519-9C0CA0B3610E}"/>
              </a:ext>
            </a:extLst>
          </p:cNvPr>
          <p:cNvSpPr>
            <a:spLocks noGrp="1"/>
          </p:cNvSpPr>
          <p:nvPr/>
        </p:nvSpPr>
        <p:spPr>
          <a:xfrm>
            <a:off x="381000" y="228600"/>
            <a:ext cx="9525000" cy="238125"/>
          </a:xfrm>
          <a:prstGeom prst="rect">
            <a:avLst/>
          </a:prstGeom>
          <a:noFill/>
          <a:ln w="0">
            <a:noFill/>
          </a:ln>
        </p:spPr>
        <p:txBody>
          <a:bodyPr lIns="0" tIns="0" rIns="0" bIns="0" anchor="t"/>
          <a:lstStyle>
            <a:defPPr>
              <a:defRPr sz="1200" b="1">
                <a:solidFill>
                  <a:srgbClr val="002060"/>
                </a:solidFill>
                <a:latin typeface="맑은 고딕"/>
                <a:ea typeface="맑은 고딕"/>
                <a:cs typeface="맑은 고딕"/>
              </a:defRPr>
            </a:defPPr>
            <a:lvl1pPr>
              <a:defRPr sz="1200" b="1">
                <a:solidFill>
                  <a:srgbClr val="002060"/>
                </a:solidFill>
                <a:latin typeface="맑은 고딕"/>
                <a:ea typeface="맑은 고딕"/>
                <a:cs typeface="맑은 고딕"/>
              </a:defRPr>
            </a:lvl1pPr>
            <a:lvl2pPr>
              <a:defRPr sz="1200" b="1">
                <a:solidFill>
                  <a:srgbClr val="002060"/>
                </a:solidFill>
                <a:latin typeface="맑은 고딕"/>
                <a:ea typeface="맑은 고딕"/>
                <a:cs typeface="맑은 고딕"/>
              </a:defRPr>
            </a:lvl2pPr>
            <a:lvl3pPr>
              <a:defRPr sz="1200" b="1">
                <a:solidFill>
                  <a:srgbClr val="002060"/>
                </a:solidFill>
                <a:latin typeface="맑은 고딕"/>
                <a:ea typeface="맑은 고딕"/>
                <a:cs typeface="맑은 고딕"/>
              </a:defRPr>
            </a:lvl3pPr>
            <a:lvl4pPr>
              <a:defRPr sz="1200" b="1">
                <a:solidFill>
                  <a:srgbClr val="002060"/>
                </a:solidFill>
                <a:latin typeface="맑은 고딕"/>
                <a:ea typeface="맑은 고딕"/>
                <a:cs typeface="맑은 고딕"/>
              </a:defRPr>
            </a:lvl4pPr>
            <a:lvl5pPr>
              <a:defRPr sz="1200" b="1">
                <a:solidFill>
                  <a:srgbClr val="002060"/>
                </a:solidFill>
                <a:latin typeface="맑은 고딕"/>
                <a:ea typeface="맑은 고딕"/>
                <a:cs typeface="맑은 고딕"/>
              </a:defRPr>
            </a:lvl5pPr>
            <a:lvl6pPr>
              <a:defRPr sz="1200" b="1">
                <a:solidFill>
                  <a:srgbClr val="002060"/>
                </a:solidFill>
                <a:latin typeface="맑은 고딕"/>
                <a:ea typeface="맑은 고딕"/>
                <a:cs typeface="맑은 고딕"/>
              </a:defRPr>
            </a:lvl6pPr>
            <a:lvl7pPr>
              <a:defRPr sz="1200" b="1">
                <a:solidFill>
                  <a:srgbClr val="002060"/>
                </a:solidFill>
                <a:latin typeface="맑은 고딕"/>
                <a:ea typeface="맑은 고딕"/>
                <a:cs typeface="맑은 고딕"/>
              </a:defRPr>
            </a:lvl7pPr>
            <a:lvl8pPr>
              <a:defRPr sz="1200" b="1">
                <a:solidFill>
                  <a:srgbClr val="002060"/>
                </a:solidFill>
                <a:latin typeface="맑은 고딕"/>
                <a:ea typeface="맑은 고딕"/>
                <a:cs typeface="맑은 고딕"/>
              </a:defRPr>
            </a:lvl8pPr>
            <a:lvl9pPr>
              <a:defRPr sz="1200" b="1">
                <a:solidFill>
                  <a:srgbClr val="002060"/>
                </a:solidFill>
                <a:latin typeface="맑은 고딕"/>
                <a:ea typeface="맑은 고딕"/>
                <a:cs typeface="맑은 고딕"/>
              </a:defRPr>
            </a:lvl9pPr>
          </a:lstStyle>
          <a:p>
            <a:pPr>
              <a:defRPr sz="1200" b="1">
                <a:solidFill>
                  <a:srgbClr val="002060"/>
                </a:solidFill>
                <a:latin typeface="맑은 고딕"/>
                <a:ea typeface="맑은 고딕"/>
                <a:cs typeface="맑은 고딕"/>
              </a:defRPr>
            </a:pPr>
            <a:r>
              <a:rPr sz="1200" b="1">
                <a:solidFill>
                  <a:srgbClr val="002060"/>
                </a:solidFill>
                <a:latin typeface="맑은 고딕"/>
                <a:ea typeface="맑은 고딕"/>
                <a:cs typeface="맑은 고딕"/>
              </a:rPr>
              <a:t>2028 정시  대학별 전형 비교</a:t>
            </a:r>
          </a:p>
        </p:txBody>
      </p:sp>
      <p:sp>
        <p:nvSpPr>
          <p:cNvPr id="2" name="직사각형 1">
            <a:extLst>
              <a:ext uri="{FF2B5EF4-FFF2-40B4-BE49-F238E27FC236}">
                <a16:creationId xmlns:a16="http://schemas.microsoft.com/office/drawing/2014/main" id="{319C9227-B94E-4C7B-A9CE-EF0B3D45FFB5}"/>
              </a:ext>
            </a:extLst>
          </p:cNvPr>
          <p:cNvSpPr>
            <a:spLocks noGrp="1"/>
          </p:cNvSpPr>
          <p:nvPr/>
        </p:nvSpPr>
        <p:spPr>
          <a:xfrm>
            <a:off x="381000" y="619125"/>
            <a:ext cx="10668000" cy="533400"/>
          </a:xfrm>
          <a:prstGeom prst="rect">
            <a:avLst/>
          </a:prstGeom>
          <a:noFill/>
          <a:ln w="0">
            <a:noFill/>
          </a:ln>
        </p:spPr>
        <p:txBody>
          <a:bodyPr lIns="0" tIns="0" rIns="0" bIns="0" anchor="t"/>
          <a:lstStyle>
            <a:defPPr>
              <a:defRPr sz="2400" b="1">
                <a:solidFill>
                  <a:srgbClr val="002060"/>
                </a:solidFill>
                <a:latin typeface="맑은 고딕"/>
                <a:ea typeface="맑은 고딕"/>
                <a:cs typeface="맑은 고딕"/>
              </a:defRPr>
            </a:defPPr>
            <a:lvl1pPr>
              <a:defRPr sz="2400" b="1">
                <a:solidFill>
                  <a:srgbClr val="002060"/>
                </a:solidFill>
                <a:latin typeface="맑은 고딕"/>
                <a:ea typeface="맑은 고딕"/>
                <a:cs typeface="맑은 고딕"/>
              </a:defRPr>
            </a:lvl1pPr>
            <a:lvl2pPr>
              <a:defRPr sz="2400" b="1">
                <a:solidFill>
                  <a:srgbClr val="002060"/>
                </a:solidFill>
                <a:latin typeface="맑은 고딕"/>
                <a:ea typeface="맑은 고딕"/>
                <a:cs typeface="맑은 고딕"/>
              </a:defRPr>
            </a:lvl2pPr>
            <a:lvl3pPr>
              <a:defRPr sz="2400" b="1">
                <a:solidFill>
                  <a:srgbClr val="002060"/>
                </a:solidFill>
                <a:latin typeface="맑은 고딕"/>
                <a:ea typeface="맑은 고딕"/>
                <a:cs typeface="맑은 고딕"/>
              </a:defRPr>
            </a:lvl3pPr>
            <a:lvl4pPr>
              <a:defRPr sz="2400" b="1">
                <a:solidFill>
                  <a:srgbClr val="002060"/>
                </a:solidFill>
                <a:latin typeface="맑은 고딕"/>
                <a:ea typeface="맑은 고딕"/>
                <a:cs typeface="맑은 고딕"/>
              </a:defRPr>
            </a:lvl4pPr>
            <a:lvl5pPr>
              <a:defRPr sz="2400" b="1">
                <a:solidFill>
                  <a:srgbClr val="002060"/>
                </a:solidFill>
                <a:latin typeface="맑은 고딕"/>
                <a:ea typeface="맑은 고딕"/>
                <a:cs typeface="맑은 고딕"/>
              </a:defRPr>
            </a:lvl5pPr>
            <a:lvl6pPr>
              <a:defRPr sz="2400" b="1">
                <a:solidFill>
                  <a:srgbClr val="002060"/>
                </a:solidFill>
                <a:latin typeface="맑은 고딕"/>
                <a:ea typeface="맑은 고딕"/>
                <a:cs typeface="맑은 고딕"/>
              </a:defRPr>
            </a:lvl6pPr>
            <a:lvl7pPr>
              <a:defRPr sz="2400" b="1">
                <a:solidFill>
                  <a:srgbClr val="002060"/>
                </a:solidFill>
                <a:latin typeface="맑은 고딕"/>
                <a:ea typeface="맑은 고딕"/>
                <a:cs typeface="맑은 고딕"/>
              </a:defRPr>
            </a:lvl7pPr>
            <a:lvl8pPr>
              <a:defRPr sz="2400" b="1">
                <a:solidFill>
                  <a:srgbClr val="002060"/>
                </a:solidFill>
                <a:latin typeface="맑은 고딕"/>
                <a:ea typeface="맑은 고딕"/>
                <a:cs typeface="맑은 고딕"/>
              </a:defRPr>
            </a:lvl8pPr>
            <a:lvl9pPr>
              <a:defRPr sz="2400" b="1">
                <a:solidFill>
                  <a:srgbClr val="002060"/>
                </a:solidFill>
                <a:latin typeface="맑은 고딕"/>
                <a:ea typeface="맑은 고딕"/>
                <a:cs typeface="맑은 고딕"/>
              </a:defRPr>
            </a:lvl9pPr>
          </a:lstStyle>
          <a:p>
            <a:pPr>
              <a:defRPr sz="2400" b="1">
                <a:solidFill>
                  <a:srgbClr val="002060"/>
                </a:solidFill>
                <a:latin typeface="맑은 고딕"/>
                <a:ea typeface="맑은 고딕"/>
                <a:cs typeface="맑은 고딕"/>
              </a:defRPr>
            </a:pPr>
            <a:r>
              <a:rPr sz="2400" b="1">
                <a:solidFill>
                  <a:srgbClr val="002060"/>
                </a:solidFill>
                <a:latin typeface="맑은 고딕"/>
                <a:ea typeface="맑은 고딕"/>
                <a:cs typeface="맑은 고딕"/>
              </a:rPr>
              <a:t>학생부 정성평가 대학 통합 비교</a:t>
            </a:r>
          </a:p>
        </p:txBody>
      </p:sp>
      <p:graphicFrame>
        <p:nvGraphicFramePr>
          <p:cNvPr id="3" name="표 2">
            <a:extLst>
              <a:ext uri="{FF2B5EF4-FFF2-40B4-BE49-F238E27FC236}">
                <a16:creationId xmlns:a16="http://schemas.microsoft.com/office/drawing/2014/main" id="{4593DBFA-C3CF-4046-A07C-899C91D6FCFF}"/>
              </a:ext>
            </a:extLst>
          </p:cNvPr>
          <p:cNvGraphicFramePr/>
          <p:nvPr/>
        </p:nvGraphicFramePr>
        <p:xfrm>
          <a:off x="381000" y="1381125"/>
          <a:ext cx="10668000" cy="4972050"/>
        </p:xfrm>
        <a:graphic>
          <a:graphicData uri="http://schemas.openxmlformats.org/drawingml/2006/table">
            <a:tbl>
              <a:tblPr/>
              <a:tblGrid>
                <a:gridCol w="276225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tblGrid>
              <a:tr h="400050">
                <a:tc>
                  <a:txBody>
                    <a:bodyPr/>
                    <a:lstStyle/>
                    <a:p>
                      <a:r>
                        <a:rPr sz="1500" b="1">
                          <a:solidFill>
                            <a:srgbClr val="FFFFFF"/>
                          </a:solidFill>
                          <a:latin typeface="맑은 고딕"/>
                          <a:ea typeface="맑은 고딕"/>
                          <a:cs typeface="맑은 고딕"/>
                        </a:rPr>
                        <a:t>대학·전형</a:t>
                      </a:r>
                    </a:p>
                  </a:txBody>
                  <a:tcPr marL="95250" marR="95250" marT="47625" marB="47625" anchor="ctr">
                    <a:lnL w="5715">
                      <a:solidFill>
                        <a:srgbClr val="C5CFDA"/>
                      </a:solidFill>
                      <a:prstDash val="soli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반영 구조</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평가 대상과 특징</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extLst>
                  <a:ext uri="{0D108BD9-81ED-4DB2-BD59-A6C34878D82A}">
                    <a16:rowId xmlns:a16="http://schemas.microsoft.com/office/drawing/2014/main" val="10000"/>
                  </a:ext>
                </a:extLst>
              </a:tr>
              <a:tr h="381000">
                <a:tc>
                  <a:txBody>
                    <a:bodyPr/>
                    <a:lstStyle/>
                    <a:p>
                      <a:r>
                        <a:rPr sz="1425" b="1">
                          <a:solidFill>
                            <a:srgbClr val="17212D"/>
                          </a:solidFill>
                          <a:latin typeface="맑은 고딕"/>
                          <a:ea typeface="맑은 고딕"/>
                          <a:cs typeface="맑은 고딕"/>
                        </a:rPr>
                        <a:t>서울대 일반(대부분)</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425" b="0">
                          <a:solidFill>
                            <a:srgbClr val="17212D"/>
                          </a:solidFill>
                          <a:latin typeface="맑은 고딕"/>
                          <a:ea typeface="맑은 고딕"/>
                          <a:cs typeface="맑은 고딕"/>
                        </a:rPr>
                        <a:t>2단계 수능 60+교과역량 40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425" b="0">
                          <a:solidFill>
                            <a:srgbClr val="17212D"/>
                          </a:solidFill>
                          <a:latin typeface="맑은 고딕"/>
                          <a:ea typeface="맑은 고딕"/>
                          <a:cs typeface="맑은 고딕"/>
                        </a:rPr>
                        <a:t>과목 이수·성취·수행·공동체역량</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1"/>
                  </a:ext>
                </a:extLst>
              </a:tr>
              <a:tr h="381000">
                <a:tc>
                  <a:txBody>
                    <a:bodyPr/>
                    <a:lstStyle/>
                    <a:p>
                      <a:r>
                        <a:rPr sz="1425" b="1">
                          <a:solidFill>
                            <a:srgbClr val="17212D"/>
                          </a:solidFill>
                          <a:latin typeface="맑은 고딕"/>
                          <a:ea typeface="맑은 고딕"/>
                          <a:cs typeface="맑은 고딕"/>
                        </a:rPr>
                        <a:t>연세대 일반계열</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425" b="0">
                          <a:solidFill>
                            <a:srgbClr val="17212D"/>
                          </a:solidFill>
                          <a:latin typeface="맑은 고딕"/>
                          <a:ea typeface="맑은 고딕"/>
                          <a:cs typeface="맑은 고딕"/>
                        </a:rPr>
                        <a:t>수능 90+서류 10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425" b="0">
                          <a:solidFill>
                            <a:srgbClr val="17212D"/>
                          </a:solidFill>
                          <a:latin typeface="맑은 고딕"/>
                          <a:ea typeface="맑은 고딕"/>
                          <a:cs typeface="맑은 고딕"/>
                        </a:rPr>
                        <a:t>교과학습발달상황·출결 등 정성평가</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2"/>
                  </a:ext>
                </a:extLst>
              </a:tr>
              <a:tr h="381000">
                <a:tc>
                  <a:txBody>
                    <a:bodyPr/>
                    <a:lstStyle/>
                    <a:p>
                      <a:r>
                        <a:rPr sz="1425" b="1">
                          <a:solidFill>
                            <a:srgbClr val="17212D"/>
                          </a:solidFill>
                          <a:latin typeface="맑은 고딕"/>
                          <a:ea typeface="맑은 고딕"/>
                          <a:cs typeface="맑은 고딕"/>
                        </a:rPr>
                        <a:t>동국대 일반(체육·조소 제외)</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425" b="0">
                          <a:solidFill>
                            <a:srgbClr val="17212D"/>
                          </a:solidFill>
                          <a:latin typeface="맑은 고딕"/>
                          <a:ea typeface="맑은 고딕"/>
                          <a:cs typeface="맑은 고딕"/>
                        </a:rPr>
                        <a:t>수능 80+학생부 20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425" b="0">
                          <a:solidFill>
                            <a:srgbClr val="17212D"/>
                          </a:solidFill>
                          <a:latin typeface="맑은 고딕"/>
                          <a:ea typeface="맑은 고딕"/>
                          <a:cs typeface="맑은 고딕"/>
                        </a:rPr>
                        <a:t>학업·진로탐구·성실성 종합평가</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3"/>
                  </a:ext>
                </a:extLst>
              </a:tr>
              <a:tr h="381000">
                <a:tc>
                  <a:txBody>
                    <a:bodyPr/>
                    <a:lstStyle/>
                    <a:p>
                      <a:r>
                        <a:rPr sz="1425" b="1">
                          <a:solidFill>
                            <a:srgbClr val="17212D"/>
                          </a:solidFill>
                          <a:latin typeface="맑은 고딕"/>
                          <a:ea typeface="맑은 고딕"/>
                          <a:cs typeface="맑은 고딕"/>
                        </a:rPr>
                        <a:t>한양대(서울) 일반</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425" b="0">
                          <a:solidFill>
                            <a:srgbClr val="17212D"/>
                          </a:solidFill>
                          <a:latin typeface="맑은 고딕"/>
                          <a:ea typeface="맑은 고딕"/>
                          <a:cs typeface="맑은 고딕"/>
                        </a:rPr>
                        <a:t>수능 90+학생부종합평가 10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425" b="0">
                          <a:solidFill>
                            <a:srgbClr val="17212D"/>
                          </a:solidFill>
                          <a:latin typeface="맑은 고딕"/>
                          <a:ea typeface="맑은 고딕"/>
                          <a:cs typeface="맑은 고딕"/>
                        </a:rPr>
                        <a:t>교육과정 이수·과목 선택·성취도 등</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4"/>
                  </a:ext>
                </a:extLst>
              </a:tr>
              <a:tr h="381000">
                <a:tc>
                  <a:txBody>
                    <a:bodyPr/>
                    <a:lstStyle/>
                    <a:p>
                      <a:r>
                        <a:rPr sz="1425" b="1">
                          <a:solidFill>
                            <a:srgbClr val="17212D"/>
                          </a:solidFill>
                          <a:latin typeface="맑은 고딕"/>
                          <a:ea typeface="맑은 고딕"/>
                          <a:cs typeface="맑은 고딕"/>
                        </a:rPr>
                        <a:t>중앙대 수능67</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425" b="0">
                          <a:solidFill>
                            <a:srgbClr val="17212D"/>
                          </a:solidFill>
                          <a:latin typeface="맑은 고딕"/>
                          <a:ea typeface="맑은 고딕"/>
                          <a:cs typeface="맑은 고딕"/>
                        </a:rPr>
                        <a:t>수능 67+서류 33</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425" b="0">
                          <a:solidFill>
                            <a:srgbClr val="17212D"/>
                          </a:solidFill>
                          <a:latin typeface="맑은 고딕"/>
                          <a:ea typeface="맑은 고딕"/>
                          <a:cs typeface="맑은 고딕"/>
                        </a:rPr>
                        <a:t>성장 가능성 종합평가+수능최저</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5"/>
                  </a:ext>
                </a:extLst>
              </a:tr>
              <a:tr h="381000">
                <a:tc>
                  <a:txBody>
                    <a:bodyPr/>
                    <a:lstStyle/>
                    <a:p>
                      <a:r>
                        <a:rPr sz="1425" b="1">
                          <a:solidFill>
                            <a:srgbClr val="17212D"/>
                          </a:solidFill>
                          <a:latin typeface="맑은 고딕"/>
                          <a:ea typeface="맑은 고딕"/>
                          <a:cs typeface="맑은 고딕"/>
                        </a:rPr>
                        <a:t>이화여대 수능-학생부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425" b="0">
                          <a:solidFill>
                            <a:srgbClr val="17212D"/>
                          </a:solidFill>
                          <a:latin typeface="맑은 고딕"/>
                          <a:ea typeface="맑은 고딕"/>
                          <a:cs typeface="맑은 고딕"/>
                        </a:rPr>
                        <a:t>수능 85+서류 15</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425" b="0">
                          <a:solidFill>
                            <a:srgbClr val="17212D"/>
                          </a:solidFill>
                          <a:latin typeface="맑은 고딕"/>
                          <a:ea typeface="맑은 고딕"/>
                          <a:cs typeface="맑은 고딕"/>
                        </a:rPr>
                        <a:t>교과·비교과, 학업준비도·성실성 등</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6"/>
                  </a:ext>
                </a:extLst>
              </a:tr>
              <a:tr h="381000">
                <a:tc>
                  <a:txBody>
                    <a:bodyPr/>
                    <a:lstStyle/>
                    <a:p>
                      <a:r>
                        <a:rPr sz="1425" b="1">
                          <a:solidFill>
                            <a:srgbClr val="17212D"/>
                          </a:solidFill>
                          <a:latin typeface="맑은 고딕"/>
                          <a:ea typeface="맑은 고딕"/>
                          <a:cs typeface="맑은 고딕"/>
                        </a:rPr>
                        <a:t>숙명여대 일반학생 가군</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425" b="0">
                          <a:solidFill>
                            <a:srgbClr val="17212D"/>
                          </a:solidFill>
                          <a:latin typeface="맑은 고딕"/>
                          <a:ea typeface="맑은 고딕"/>
                          <a:cs typeface="맑은 고딕"/>
                        </a:rPr>
                        <a:t>수능 80+서류 20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425" b="0">
                          <a:solidFill>
                            <a:srgbClr val="17212D"/>
                          </a:solidFill>
                          <a:latin typeface="맑은 고딕"/>
                          <a:ea typeface="맑은 고딕"/>
                          <a:cs typeface="맑은 고딕"/>
                        </a:rPr>
                        <a:t>인문·자연, 교과 위주 서류평가</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7"/>
                  </a:ext>
                </a:extLst>
              </a:tr>
              <a:tr h="381000">
                <a:tc>
                  <a:txBody>
                    <a:bodyPr/>
                    <a:lstStyle/>
                    <a:p>
                      <a:r>
                        <a:rPr sz="1425" b="1">
                          <a:solidFill>
                            <a:srgbClr val="17212D"/>
                          </a:solidFill>
                          <a:latin typeface="맑은 고딕"/>
                          <a:ea typeface="맑은 고딕"/>
                          <a:cs typeface="맑은 고딕"/>
                        </a:rPr>
                        <a:t>성균관대 정시 융합인재</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425" b="0">
                          <a:solidFill>
                            <a:srgbClr val="17212D"/>
                          </a:solidFill>
                          <a:latin typeface="맑은 고딕"/>
                          <a:ea typeface="맑은 고딕"/>
                          <a:cs typeface="맑은 고딕"/>
                        </a:rPr>
                        <a:t>학생부 100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425" b="0">
                          <a:solidFill>
                            <a:srgbClr val="17212D"/>
                          </a:solidFill>
                          <a:latin typeface="맑은 고딕"/>
                          <a:ea typeface="맑은 고딕"/>
                          <a:cs typeface="맑은 고딕"/>
                        </a:rPr>
                        <a:t>사범대 일부 40명, 수능최저 적용</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8"/>
                  </a:ext>
                </a:extLst>
              </a:tr>
              <a:tr h="381000">
                <a:tc>
                  <a:txBody>
                    <a:bodyPr/>
                    <a:lstStyle/>
                    <a:p>
                      <a:r>
                        <a:rPr sz="1425" b="1">
                          <a:solidFill>
                            <a:srgbClr val="17212D"/>
                          </a:solidFill>
                          <a:latin typeface="맑은 고딕"/>
                          <a:ea typeface="맑은 고딕"/>
                          <a:cs typeface="맑은 고딕"/>
                        </a:rPr>
                        <a:t>건국대 KU일반</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425" b="0">
                          <a:solidFill>
                            <a:srgbClr val="17212D"/>
                          </a:solidFill>
                          <a:latin typeface="맑은 고딕"/>
                          <a:ea typeface="맑은 고딕"/>
                          <a:cs typeface="맑은 고딕"/>
                        </a:rPr>
                        <a:t>수능 90+교과정성 10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425" b="0">
                          <a:solidFill>
                            <a:srgbClr val="17212D"/>
                          </a:solidFill>
                          <a:latin typeface="맑은 고딕"/>
                          <a:ea typeface="맑은 고딕"/>
                          <a:cs typeface="맑은 고딕"/>
                        </a:rPr>
                        <a:t>다군 단과대학 자유전공학부</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9"/>
                  </a:ext>
                </a:extLst>
              </a:tr>
              <a:tr h="381000">
                <a:tc>
                  <a:txBody>
                    <a:bodyPr/>
                    <a:lstStyle/>
                    <a:p>
                      <a:r>
                        <a:rPr sz="1425" b="1">
                          <a:solidFill>
                            <a:srgbClr val="17212D"/>
                          </a:solidFill>
                          <a:latin typeface="맑은 고딕"/>
                          <a:ea typeface="맑은 고딕"/>
                          <a:cs typeface="맑은 고딕"/>
                        </a:rPr>
                        <a:t>단국대 일반학생</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425" b="0">
                          <a:solidFill>
                            <a:srgbClr val="17212D"/>
                          </a:solidFill>
                          <a:latin typeface="맑은 고딕"/>
                          <a:ea typeface="맑은 고딕"/>
                          <a:cs typeface="맑은 고딕"/>
                        </a:rPr>
                        <a:t>수능 90+학생부정성 10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425" b="0">
                          <a:solidFill>
                            <a:srgbClr val="17212D"/>
                          </a:solidFill>
                          <a:latin typeface="맑은 고딕"/>
                          <a:ea typeface="맑은 고딕"/>
                          <a:cs typeface="맑은 고딕"/>
                        </a:rPr>
                        <a:t>일반 인문·자연, 진로적합성·성실성 등</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10"/>
                  </a:ext>
                </a:extLst>
              </a:tr>
              <a:tr h="381000">
                <a:tc>
                  <a:txBody>
                    <a:bodyPr/>
                    <a:lstStyle/>
                    <a:p>
                      <a:r>
                        <a:rPr sz="1425" b="1">
                          <a:solidFill>
                            <a:srgbClr val="17212D"/>
                          </a:solidFill>
                          <a:latin typeface="맑은 고딕"/>
                          <a:ea typeface="맑은 고딕"/>
                          <a:cs typeface="맑은 고딕"/>
                        </a:rPr>
                        <a:t>세종대 융합형</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425" b="0">
                          <a:solidFill>
                            <a:srgbClr val="17212D"/>
                          </a:solidFill>
                          <a:latin typeface="맑은 고딕"/>
                          <a:ea typeface="맑은 고딕"/>
                          <a:cs typeface="맑은 고딕"/>
                        </a:rPr>
                        <a:t>수능 90+교과정성 10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425" b="0">
                          <a:solidFill>
                            <a:srgbClr val="17212D"/>
                          </a:solidFill>
                          <a:latin typeface="맑은 고딕"/>
                          <a:ea typeface="맑은 고딕"/>
                          <a:cs typeface="맑은 고딕"/>
                        </a:rPr>
                        <a:t>수능형 100%와 별도 유형</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11"/>
                  </a:ext>
                </a:extLst>
              </a:tr>
              <a:tr h="381000">
                <a:tc>
                  <a:txBody>
                    <a:bodyPr/>
                    <a:lstStyle/>
                    <a:p>
                      <a:r>
                        <a:rPr sz="1425" b="1">
                          <a:solidFill>
                            <a:srgbClr val="17212D"/>
                          </a:solidFill>
                          <a:latin typeface="맑은 고딕"/>
                          <a:ea typeface="맑은 고딕"/>
                          <a:cs typeface="맑은 고딕"/>
                        </a:rPr>
                        <a:t>부산대 수능우수·수능지역</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425" b="0">
                          <a:solidFill>
                            <a:srgbClr val="17212D"/>
                          </a:solidFill>
                          <a:latin typeface="맑은 고딕"/>
                          <a:ea typeface="맑은 고딕"/>
                          <a:cs typeface="맑은 고딕"/>
                        </a:rPr>
                        <a:t>수능 80+학업충실도 20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425" b="0">
                          <a:solidFill>
                            <a:srgbClr val="17212D"/>
                          </a:solidFill>
                          <a:latin typeface="맑은 고딕"/>
                          <a:ea typeface="맑은 고딕"/>
                          <a:cs typeface="맑은 고딕"/>
                        </a:rPr>
                        <a:t>교과 이수노력·성취·학교생활 성실도</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12"/>
                  </a:ext>
                </a:extLst>
              </a:tr>
            </a:tbl>
          </a:graphicData>
        </a:graphic>
      </p:graphicFrame>
      <p:sp>
        <p:nvSpPr>
          <p:cNvPr id="4" name="직사각형 3">
            <a:extLst>
              <a:ext uri="{FF2B5EF4-FFF2-40B4-BE49-F238E27FC236}">
                <a16:creationId xmlns:a16="http://schemas.microsoft.com/office/drawing/2014/main" id="{F71EA34C-919C-491C-ADFE-341A66D297AA}"/>
              </a:ext>
            </a:extLst>
          </p:cNvPr>
          <p:cNvSpPr>
            <a:spLocks noGrp="1"/>
          </p:cNvSpPr>
          <p:nvPr/>
        </p:nvSpPr>
        <p:spPr>
          <a:xfrm>
            <a:off x="381000" y="6477000"/>
            <a:ext cx="10668000" cy="257175"/>
          </a:xfrm>
          <a:prstGeom prst="rect">
            <a:avLst/>
          </a:prstGeom>
          <a:noFill/>
          <a:ln w="0">
            <a:noFill/>
          </a:ln>
        </p:spPr>
        <p:txBody>
          <a:bodyPr lIns="0" tIns="0" rIns="0" bIns="0" anchor="t"/>
          <a:lstStyle>
            <a:defPPr>
              <a:defRPr sz="1125" b="0">
                <a:solidFill>
                  <a:srgbClr val="535D69"/>
                </a:solidFill>
                <a:latin typeface="맑은 고딕"/>
                <a:ea typeface="맑은 고딕"/>
                <a:cs typeface="맑은 고딕"/>
              </a:defRPr>
            </a:defPPr>
            <a:lvl1pPr>
              <a:defRPr sz="1125" b="0">
                <a:solidFill>
                  <a:srgbClr val="535D69"/>
                </a:solidFill>
                <a:latin typeface="맑은 고딕"/>
                <a:ea typeface="맑은 고딕"/>
                <a:cs typeface="맑은 고딕"/>
              </a:defRPr>
            </a:lvl1pPr>
            <a:lvl2pPr>
              <a:defRPr sz="1125" b="0">
                <a:solidFill>
                  <a:srgbClr val="535D69"/>
                </a:solidFill>
                <a:latin typeface="맑은 고딕"/>
                <a:ea typeface="맑은 고딕"/>
                <a:cs typeface="맑은 고딕"/>
              </a:defRPr>
            </a:lvl2pPr>
            <a:lvl3pPr>
              <a:defRPr sz="1125" b="0">
                <a:solidFill>
                  <a:srgbClr val="535D69"/>
                </a:solidFill>
                <a:latin typeface="맑은 고딕"/>
                <a:ea typeface="맑은 고딕"/>
                <a:cs typeface="맑은 고딕"/>
              </a:defRPr>
            </a:lvl3pPr>
            <a:lvl4pPr>
              <a:defRPr sz="1125" b="0">
                <a:solidFill>
                  <a:srgbClr val="535D69"/>
                </a:solidFill>
                <a:latin typeface="맑은 고딕"/>
                <a:ea typeface="맑은 고딕"/>
                <a:cs typeface="맑은 고딕"/>
              </a:defRPr>
            </a:lvl4pPr>
            <a:lvl5pPr>
              <a:defRPr sz="1125" b="0">
                <a:solidFill>
                  <a:srgbClr val="535D69"/>
                </a:solidFill>
                <a:latin typeface="맑은 고딕"/>
                <a:ea typeface="맑은 고딕"/>
                <a:cs typeface="맑은 고딕"/>
              </a:defRPr>
            </a:lvl5pPr>
            <a:lvl6pPr>
              <a:defRPr sz="1125" b="0">
                <a:solidFill>
                  <a:srgbClr val="535D69"/>
                </a:solidFill>
                <a:latin typeface="맑은 고딕"/>
                <a:ea typeface="맑은 고딕"/>
                <a:cs typeface="맑은 고딕"/>
              </a:defRPr>
            </a:lvl6pPr>
            <a:lvl7pPr>
              <a:defRPr sz="1125" b="0">
                <a:solidFill>
                  <a:srgbClr val="535D69"/>
                </a:solidFill>
                <a:latin typeface="맑은 고딕"/>
                <a:ea typeface="맑은 고딕"/>
                <a:cs typeface="맑은 고딕"/>
              </a:defRPr>
            </a:lvl7pPr>
            <a:lvl8pPr>
              <a:defRPr sz="1125" b="0">
                <a:solidFill>
                  <a:srgbClr val="535D69"/>
                </a:solidFill>
                <a:latin typeface="맑은 고딕"/>
                <a:ea typeface="맑은 고딕"/>
                <a:cs typeface="맑은 고딕"/>
              </a:defRPr>
            </a:lvl8pPr>
            <a:lvl9pPr>
              <a:defRPr sz="1125" b="0">
                <a:solidFill>
                  <a:srgbClr val="535D69"/>
                </a:solidFill>
                <a:latin typeface="맑은 고딕"/>
                <a:ea typeface="맑은 고딕"/>
                <a:cs typeface="맑은 고딕"/>
              </a:defRPr>
            </a:lvl9pPr>
          </a:lstStyle>
          <a:p>
            <a:pPr>
              <a:defRPr sz="1125" b="0">
                <a:solidFill>
                  <a:srgbClr val="535D69"/>
                </a:solidFill>
                <a:latin typeface="맑은 고딕"/>
                <a:ea typeface="맑은 고딕"/>
                <a:cs typeface="맑은 고딕"/>
              </a:defRPr>
            </a:pPr>
            <a:r>
              <a:rPr sz="1125" b="0">
                <a:solidFill>
                  <a:srgbClr val="535D69"/>
                </a:solidFill>
                <a:latin typeface="맑은 고딕"/>
                <a:ea typeface="맑은 고딕"/>
                <a:cs typeface="맑은 고딕"/>
              </a:rPr>
              <a:t>서울대 의·수의는 60+20+면접 20. 연세대 의예는 단계형으로 별도.  원고의 “자유전공”은 KU자유전공학부와 단과대학 자유전공학부를 구분하여 사용.</a:t>
            </a:r>
          </a:p>
        </p:txBody>
      </p:sp>
      <p:sp>
        <p:nvSpPr>
          <p:cNvPr id="5" name="직사각형 4">
            <a:extLst>
              <a:ext uri="{FF2B5EF4-FFF2-40B4-BE49-F238E27FC236}">
                <a16:creationId xmlns:a16="http://schemas.microsoft.com/office/drawing/2014/main" id="{17AC8C0E-5120-404F-8622-003B5C8B1829}"/>
              </a:ext>
            </a:extLst>
          </p:cNvPr>
          <p:cNvSpPr>
            <a:spLocks noGrp="1"/>
          </p:cNvSpPr>
          <p:nvPr/>
        </p:nvSpPr>
        <p:spPr>
          <a:xfrm>
            <a:off x="381000" y="9572625"/>
            <a:ext cx="10096500" cy="361950"/>
          </a:xfrm>
          <a:prstGeom prst="rect">
            <a:avLst/>
          </a:prstGeom>
          <a:noFill/>
          <a:ln w="0">
            <a:noFill/>
          </a:ln>
        </p:spPr>
        <p:txBody>
          <a:bodyPr lIns="0" tIns="0" rIns="0" bIns="0" anchor="t"/>
          <a:lstStyle>
            <a:defPPr>
              <a:defRPr sz="900" b="0">
                <a:solidFill>
                  <a:srgbClr val="666666"/>
                </a:solidFill>
                <a:latin typeface="맑은 고딕"/>
                <a:ea typeface="맑은 고딕"/>
                <a:cs typeface="맑은 고딕"/>
              </a:defRPr>
            </a:defPPr>
            <a:lvl1pPr>
              <a:defRPr sz="900" b="0">
                <a:solidFill>
                  <a:srgbClr val="666666"/>
                </a:solidFill>
                <a:latin typeface="맑은 고딕"/>
                <a:ea typeface="맑은 고딕"/>
                <a:cs typeface="맑은 고딕"/>
              </a:defRPr>
            </a:lvl1pPr>
            <a:lvl2pPr>
              <a:defRPr sz="900" b="0">
                <a:solidFill>
                  <a:srgbClr val="666666"/>
                </a:solidFill>
                <a:latin typeface="맑은 고딕"/>
                <a:ea typeface="맑은 고딕"/>
                <a:cs typeface="맑은 고딕"/>
              </a:defRPr>
            </a:lvl2pPr>
            <a:lvl3pPr>
              <a:defRPr sz="900" b="0">
                <a:solidFill>
                  <a:srgbClr val="666666"/>
                </a:solidFill>
                <a:latin typeface="맑은 고딕"/>
                <a:ea typeface="맑은 고딕"/>
                <a:cs typeface="맑은 고딕"/>
              </a:defRPr>
            </a:lvl3pPr>
            <a:lvl4pPr>
              <a:defRPr sz="900" b="0">
                <a:solidFill>
                  <a:srgbClr val="666666"/>
                </a:solidFill>
                <a:latin typeface="맑은 고딕"/>
                <a:ea typeface="맑은 고딕"/>
                <a:cs typeface="맑은 고딕"/>
              </a:defRPr>
            </a:lvl4pPr>
            <a:lvl5pPr>
              <a:defRPr sz="900" b="0">
                <a:solidFill>
                  <a:srgbClr val="666666"/>
                </a:solidFill>
                <a:latin typeface="맑은 고딕"/>
                <a:ea typeface="맑은 고딕"/>
                <a:cs typeface="맑은 고딕"/>
              </a:defRPr>
            </a:lvl5pPr>
            <a:lvl6pPr>
              <a:defRPr sz="900" b="0">
                <a:solidFill>
                  <a:srgbClr val="666666"/>
                </a:solidFill>
                <a:latin typeface="맑은 고딕"/>
                <a:ea typeface="맑은 고딕"/>
                <a:cs typeface="맑은 고딕"/>
              </a:defRPr>
            </a:lvl6pPr>
            <a:lvl7pPr>
              <a:defRPr sz="900" b="0">
                <a:solidFill>
                  <a:srgbClr val="666666"/>
                </a:solidFill>
                <a:latin typeface="맑은 고딕"/>
                <a:ea typeface="맑은 고딕"/>
                <a:cs typeface="맑은 고딕"/>
              </a:defRPr>
            </a:lvl7pPr>
            <a:lvl8pPr>
              <a:defRPr sz="900" b="0">
                <a:solidFill>
                  <a:srgbClr val="666666"/>
                </a:solidFill>
                <a:latin typeface="맑은 고딕"/>
                <a:ea typeface="맑은 고딕"/>
                <a:cs typeface="맑은 고딕"/>
              </a:defRPr>
            </a:lvl8pPr>
            <a:lvl9pPr>
              <a:defRPr sz="900" b="0">
                <a:solidFill>
                  <a:srgbClr val="666666"/>
                </a:solidFill>
                <a:latin typeface="맑은 고딕"/>
                <a:ea typeface="맑은 고딕"/>
                <a:cs typeface="맑은 고딕"/>
              </a:defRPr>
            </a:lvl9pPr>
          </a:lstStyle>
          <a:p>
            <a:pPr>
              <a:defRPr sz="900" b="0">
                <a:solidFill>
                  <a:srgbClr val="666666"/>
                </a:solidFill>
                <a:latin typeface="맑은 고딕"/>
                <a:ea typeface="맑은 고딕"/>
                <a:cs typeface="맑은 고딕"/>
              </a:defRPr>
            </a:pPr>
            <a:r>
              <a:rPr sz="900" b="0">
                <a:solidFill>
                  <a:srgbClr val="666666"/>
                </a:solidFill>
                <a:latin typeface="맑은 고딕"/>
                <a:ea typeface="맑은 고딕"/>
                <a:cs typeface="맑은 고딕"/>
              </a:rPr>
              <a:t>근거  인천 18~20쪽 / 서울 PDF 17~20·36쪽 / 동국 학생부 평가 안내 / 중앙 PDF 32쪽 / 이화 PDF 15~16쪽 / 성균관 PDF 42쪽 / 인천 20쪽 / 건국 PDF 36쪽 / 단국 PDF 25·35쪽 / 인천 18~19쪽 / 부산 PDF 29~30쪽</a:t>
            </a:r>
          </a:p>
        </p:txBody>
      </p:sp>
      <p:sp>
        <p:nvSpPr>
          <p:cNvPr id="6" name="직사각형 5">
            <a:extLst>
              <a:ext uri="{FF2B5EF4-FFF2-40B4-BE49-F238E27FC236}">
                <a16:creationId xmlns:a16="http://schemas.microsoft.com/office/drawing/2014/main" id="{2CE7A89F-47B1-4DAB-8DD9-0D6B715C5DE7}"/>
              </a:ext>
            </a:extLst>
          </p:cNvPr>
          <p:cNvSpPr>
            <a:spLocks noGrp="1"/>
          </p:cNvSpPr>
          <p:nvPr/>
        </p:nvSpPr>
        <p:spPr>
          <a:xfrm>
            <a:off x="10715625" y="9572625"/>
            <a:ext cx="333375" cy="228600"/>
          </a:xfrm>
          <a:prstGeom prst="rect">
            <a:avLst/>
          </a:prstGeom>
          <a:noFill/>
          <a:ln w="0">
            <a:noFill/>
          </a:ln>
        </p:spPr>
        <p:txBody>
          <a:bodyPr lIns="0" tIns="0" rIns="0" bIns="0" anchor="t"/>
          <a:lstStyle>
            <a:defPPr>
              <a:defRPr sz="1050" b="0">
                <a:solidFill>
                  <a:srgbClr val="002060"/>
                </a:solidFill>
                <a:latin typeface="맑은 고딕"/>
                <a:ea typeface="맑은 고딕"/>
                <a:cs typeface="맑은 고딕"/>
              </a:defRPr>
            </a:defPPr>
            <a:lvl1pPr>
              <a:defRPr sz="1050" b="0">
                <a:solidFill>
                  <a:srgbClr val="002060"/>
                </a:solidFill>
                <a:latin typeface="맑은 고딕"/>
                <a:ea typeface="맑은 고딕"/>
                <a:cs typeface="맑은 고딕"/>
              </a:defRPr>
            </a:lvl1pPr>
            <a:lvl2pPr>
              <a:defRPr sz="1050" b="0">
                <a:solidFill>
                  <a:srgbClr val="002060"/>
                </a:solidFill>
                <a:latin typeface="맑은 고딕"/>
                <a:ea typeface="맑은 고딕"/>
                <a:cs typeface="맑은 고딕"/>
              </a:defRPr>
            </a:lvl2pPr>
            <a:lvl3pPr>
              <a:defRPr sz="1050" b="0">
                <a:solidFill>
                  <a:srgbClr val="002060"/>
                </a:solidFill>
                <a:latin typeface="맑은 고딕"/>
                <a:ea typeface="맑은 고딕"/>
                <a:cs typeface="맑은 고딕"/>
              </a:defRPr>
            </a:lvl3pPr>
            <a:lvl4pPr>
              <a:defRPr sz="1050" b="0">
                <a:solidFill>
                  <a:srgbClr val="002060"/>
                </a:solidFill>
                <a:latin typeface="맑은 고딕"/>
                <a:ea typeface="맑은 고딕"/>
                <a:cs typeface="맑은 고딕"/>
              </a:defRPr>
            </a:lvl4pPr>
            <a:lvl5pPr>
              <a:defRPr sz="1050" b="0">
                <a:solidFill>
                  <a:srgbClr val="002060"/>
                </a:solidFill>
                <a:latin typeface="맑은 고딕"/>
                <a:ea typeface="맑은 고딕"/>
                <a:cs typeface="맑은 고딕"/>
              </a:defRPr>
            </a:lvl5pPr>
            <a:lvl6pPr>
              <a:defRPr sz="1050" b="0">
                <a:solidFill>
                  <a:srgbClr val="002060"/>
                </a:solidFill>
                <a:latin typeface="맑은 고딕"/>
                <a:ea typeface="맑은 고딕"/>
                <a:cs typeface="맑은 고딕"/>
              </a:defRPr>
            </a:lvl6pPr>
            <a:lvl7pPr>
              <a:defRPr sz="1050" b="0">
                <a:solidFill>
                  <a:srgbClr val="002060"/>
                </a:solidFill>
                <a:latin typeface="맑은 고딕"/>
                <a:ea typeface="맑은 고딕"/>
                <a:cs typeface="맑은 고딕"/>
              </a:defRPr>
            </a:lvl7pPr>
            <a:lvl8pPr>
              <a:defRPr sz="1050" b="0">
                <a:solidFill>
                  <a:srgbClr val="002060"/>
                </a:solidFill>
                <a:latin typeface="맑은 고딕"/>
                <a:ea typeface="맑은 고딕"/>
                <a:cs typeface="맑은 고딕"/>
              </a:defRPr>
            </a:lvl8pPr>
            <a:lvl9pPr>
              <a:defRPr sz="1050" b="0">
                <a:solidFill>
                  <a:srgbClr val="002060"/>
                </a:solidFill>
                <a:latin typeface="맑은 고딕"/>
                <a:ea typeface="맑은 고딕"/>
                <a:cs typeface="맑은 고딕"/>
              </a:defRPr>
            </a:lvl9pPr>
          </a:lstStyle>
          <a:p>
            <a:pPr>
              <a:defRPr sz="1050" b="0">
                <a:solidFill>
                  <a:srgbClr val="002060"/>
                </a:solidFill>
                <a:latin typeface="맑은 고딕"/>
                <a:ea typeface="맑은 고딕"/>
                <a:cs typeface="맑은 고딕"/>
              </a:defRPr>
            </a:pPr>
            <a:r>
              <a:rPr sz="1050" b="0">
                <a:solidFill>
                  <a:srgbClr val="002060"/>
                </a:solidFill>
                <a:latin typeface="맑은 고딕"/>
                <a:ea typeface="맑은 고딕"/>
                <a:cs typeface="맑은 고딕"/>
              </a:rPr>
              <a:t>09</a:t>
            </a:r>
          </a:p>
        </p:txBody>
      </p:sp>
    </p:spTree>
    <p:extLst>
      <p:ext uri="{BB962C8B-B14F-4D97-AF65-F5344CB8AC3E}">
        <p14:creationId xmlns:p14="http://schemas.microsoft.com/office/powerpoint/2010/main" val="6290103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56EA6243-081E-4D01-9E94-14AC5C11321C}"/>
              </a:ext>
            </a:extLst>
          </p:cNvPr>
          <p:cNvSpPr>
            <a:spLocks noGrp="1"/>
          </p:cNvSpPr>
          <p:nvPr/>
        </p:nvSpPr>
        <p:spPr>
          <a:xfrm>
            <a:off x="381000" y="228600"/>
            <a:ext cx="9525000" cy="238125"/>
          </a:xfrm>
          <a:prstGeom prst="rect">
            <a:avLst/>
          </a:prstGeom>
          <a:noFill/>
          <a:ln w="0">
            <a:noFill/>
          </a:ln>
        </p:spPr>
        <p:txBody>
          <a:bodyPr lIns="0" tIns="0" rIns="0" bIns="0" anchor="t"/>
          <a:lstStyle>
            <a:defPPr>
              <a:defRPr sz="1200" b="1">
                <a:solidFill>
                  <a:srgbClr val="002060"/>
                </a:solidFill>
                <a:latin typeface="맑은 고딕"/>
                <a:ea typeface="맑은 고딕"/>
                <a:cs typeface="맑은 고딕"/>
              </a:defRPr>
            </a:defPPr>
            <a:lvl1pPr>
              <a:defRPr sz="1200" b="1">
                <a:solidFill>
                  <a:srgbClr val="002060"/>
                </a:solidFill>
                <a:latin typeface="맑은 고딕"/>
                <a:ea typeface="맑은 고딕"/>
                <a:cs typeface="맑은 고딕"/>
              </a:defRPr>
            </a:lvl1pPr>
            <a:lvl2pPr>
              <a:defRPr sz="1200" b="1">
                <a:solidFill>
                  <a:srgbClr val="002060"/>
                </a:solidFill>
                <a:latin typeface="맑은 고딕"/>
                <a:ea typeface="맑은 고딕"/>
                <a:cs typeface="맑은 고딕"/>
              </a:defRPr>
            </a:lvl2pPr>
            <a:lvl3pPr>
              <a:defRPr sz="1200" b="1">
                <a:solidFill>
                  <a:srgbClr val="002060"/>
                </a:solidFill>
                <a:latin typeface="맑은 고딕"/>
                <a:ea typeface="맑은 고딕"/>
                <a:cs typeface="맑은 고딕"/>
              </a:defRPr>
            </a:lvl3pPr>
            <a:lvl4pPr>
              <a:defRPr sz="1200" b="1">
                <a:solidFill>
                  <a:srgbClr val="002060"/>
                </a:solidFill>
                <a:latin typeface="맑은 고딕"/>
                <a:ea typeface="맑은 고딕"/>
                <a:cs typeface="맑은 고딕"/>
              </a:defRPr>
            </a:lvl4pPr>
            <a:lvl5pPr>
              <a:defRPr sz="1200" b="1">
                <a:solidFill>
                  <a:srgbClr val="002060"/>
                </a:solidFill>
                <a:latin typeface="맑은 고딕"/>
                <a:ea typeface="맑은 고딕"/>
                <a:cs typeface="맑은 고딕"/>
              </a:defRPr>
            </a:lvl5pPr>
            <a:lvl6pPr>
              <a:defRPr sz="1200" b="1">
                <a:solidFill>
                  <a:srgbClr val="002060"/>
                </a:solidFill>
                <a:latin typeface="맑은 고딕"/>
                <a:ea typeface="맑은 고딕"/>
                <a:cs typeface="맑은 고딕"/>
              </a:defRPr>
            </a:lvl6pPr>
            <a:lvl7pPr>
              <a:defRPr sz="1200" b="1">
                <a:solidFill>
                  <a:srgbClr val="002060"/>
                </a:solidFill>
                <a:latin typeface="맑은 고딕"/>
                <a:ea typeface="맑은 고딕"/>
                <a:cs typeface="맑은 고딕"/>
              </a:defRPr>
            </a:lvl7pPr>
            <a:lvl8pPr>
              <a:defRPr sz="1200" b="1">
                <a:solidFill>
                  <a:srgbClr val="002060"/>
                </a:solidFill>
                <a:latin typeface="맑은 고딕"/>
                <a:ea typeface="맑은 고딕"/>
                <a:cs typeface="맑은 고딕"/>
              </a:defRPr>
            </a:lvl8pPr>
            <a:lvl9pPr>
              <a:defRPr sz="1200" b="1">
                <a:solidFill>
                  <a:srgbClr val="002060"/>
                </a:solidFill>
                <a:latin typeface="맑은 고딕"/>
                <a:ea typeface="맑은 고딕"/>
                <a:cs typeface="맑은 고딕"/>
              </a:defRPr>
            </a:lvl9pPr>
          </a:lstStyle>
          <a:p>
            <a:pPr>
              <a:defRPr sz="1200" b="1">
                <a:solidFill>
                  <a:srgbClr val="002060"/>
                </a:solidFill>
                <a:latin typeface="맑은 고딕"/>
                <a:ea typeface="맑은 고딕"/>
                <a:cs typeface="맑은 고딕"/>
              </a:defRPr>
            </a:pPr>
            <a:r>
              <a:rPr sz="1200" b="1">
                <a:solidFill>
                  <a:srgbClr val="002060"/>
                </a:solidFill>
                <a:latin typeface="맑은 고딕"/>
                <a:ea typeface="맑은 고딕"/>
                <a:cs typeface="맑은 고딕"/>
              </a:rPr>
              <a:t>2028 정시  대학별 전형 비교</a:t>
            </a:r>
          </a:p>
        </p:txBody>
      </p:sp>
      <p:sp>
        <p:nvSpPr>
          <p:cNvPr id="2" name="직사각형 1">
            <a:extLst>
              <a:ext uri="{FF2B5EF4-FFF2-40B4-BE49-F238E27FC236}">
                <a16:creationId xmlns:a16="http://schemas.microsoft.com/office/drawing/2014/main" id="{2487FE13-D3F0-4E89-B107-E455526B104D}"/>
              </a:ext>
            </a:extLst>
          </p:cNvPr>
          <p:cNvSpPr>
            <a:spLocks noGrp="1"/>
          </p:cNvSpPr>
          <p:nvPr/>
        </p:nvSpPr>
        <p:spPr>
          <a:xfrm>
            <a:off x="381000" y="619125"/>
            <a:ext cx="10668000" cy="533400"/>
          </a:xfrm>
          <a:prstGeom prst="rect">
            <a:avLst/>
          </a:prstGeom>
          <a:noFill/>
          <a:ln w="0">
            <a:noFill/>
          </a:ln>
        </p:spPr>
        <p:txBody>
          <a:bodyPr lIns="0" tIns="0" rIns="0" bIns="0" anchor="t"/>
          <a:lstStyle>
            <a:defPPr>
              <a:defRPr sz="2400" b="1">
                <a:solidFill>
                  <a:srgbClr val="002060"/>
                </a:solidFill>
                <a:latin typeface="맑은 고딕"/>
                <a:ea typeface="맑은 고딕"/>
                <a:cs typeface="맑은 고딕"/>
              </a:defRPr>
            </a:defPPr>
            <a:lvl1pPr>
              <a:defRPr sz="2400" b="1">
                <a:solidFill>
                  <a:srgbClr val="002060"/>
                </a:solidFill>
                <a:latin typeface="맑은 고딕"/>
                <a:ea typeface="맑은 고딕"/>
                <a:cs typeface="맑은 고딕"/>
              </a:defRPr>
            </a:lvl1pPr>
            <a:lvl2pPr>
              <a:defRPr sz="2400" b="1">
                <a:solidFill>
                  <a:srgbClr val="002060"/>
                </a:solidFill>
                <a:latin typeface="맑은 고딕"/>
                <a:ea typeface="맑은 고딕"/>
                <a:cs typeface="맑은 고딕"/>
              </a:defRPr>
            </a:lvl2pPr>
            <a:lvl3pPr>
              <a:defRPr sz="2400" b="1">
                <a:solidFill>
                  <a:srgbClr val="002060"/>
                </a:solidFill>
                <a:latin typeface="맑은 고딕"/>
                <a:ea typeface="맑은 고딕"/>
                <a:cs typeface="맑은 고딕"/>
              </a:defRPr>
            </a:lvl3pPr>
            <a:lvl4pPr>
              <a:defRPr sz="2400" b="1">
                <a:solidFill>
                  <a:srgbClr val="002060"/>
                </a:solidFill>
                <a:latin typeface="맑은 고딕"/>
                <a:ea typeface="맑은 고딕"/>
                <a:cs typeface="맑은 고딕"/>
              </a:defRPr>
            </a:lvl4pPr>
            <a:lvl5pPr>
              <a:defRPr sz="2400" b="1">
                <a:solidFill>
                  <a:srgbClr val="002060"/>
                </a:solidFill>
                <a:latin typeface="맑은 고딕"/>
                <a:ea typeface="맑은 고딕"/>
                <a:cs typeface="맑은 고딕"/>
              </a:defRPr>
            </a:lvl5pPr>
            <a:lvl6pPr>
              <a:defRPr sz="2400" b="1">
                <a:solidFill>
                  <a:srgbClr val="002060"/>
                </a:solidFill>
                <a:latin typeface="맑은 고딕"/>
                <a:ea typeface="맑은 고딕"/>
                <a:cs typeface="맑은 고딕"/>
              </a:defRPr>
            </a:lvl6pPr>
            <a:lvl7pPr>
              <a:defRPr sz="2400" b="1">
                <a:solidFill>
                  <a:srgbClr val="002060"/>
                </a:solidFill>
                <a:latin typeface="맑은 고딕"/>
                <a:ea typeface="맑은 고딕"/>
                <a:cs typeface="맑은 고딕"/>
              </a:defRPr>
            </a:lvl7pPr>
            <a:lvl8pPr>
              <a:defRPr sz="2400" b="1">
                <a:solidFill>
                  <a:srgbClr val="002060"/>
                </a:solidFill>
                <a:latin typeface="맑은 고딕"/>
                <a:ea typeface="맑은 고딕"/>
                <a:cs typeface="맑은 고딕"/>
              </a:defRPr>
            </a:lvl8pPr>
            <a:lvl9pPr>
              <a:defRPr sz="2400" b="1">
                <a:solidFill>
                  <a:srgbClr val="002060"/>
                </a:solidFill>
                <a:latin typeface="맑은 고딕"/>
                <a:ea typeface="맑은 고딕"/>
                <a:cs typeface="맑은 고딕"/>
              </a:defRPr>
            </a:lvl9pPr>
          </a:lstStyle>
          <a:p>
            <a:pPr>
              <a:defRPr sz="2400" b="1">
                <a:solidFill>
                  <a:srgbClr val="002060"/>
                </a:solidFill>
                <a:latin typeface="맑은 고딕"/>
                <a:ea typeface="맑은 고딕"/>
                <a:cs typeface="맑은 고딕"/>
              </a:defRPr>
            </a:pPr>
            <a:r>
              <a:rPr sz="2400" b="1">
                <a:solidFill>
                  <a:srgbClr val="002060"/>
                </a:solidFill>
                <a:latin typeface="맑은 고딕"/>
                <a:ea typeface="맑은 고딕"/>
                <a:cs typeface="맑은 고딕"/>
              </a:rPr>
              <a:t>학생부 정량평가·출결 반영 통합 비교</a:t>
            </a:r>
          </a:p>
        </p:txBody>
      </p:sp>
      <p:graphicFrame>
        <p:nvGraphicFramePr>
          <p:cNvPr id="3" name="표 2">
            <a:extLst>
              <a:ext uri="{FF2B5EF4-FFF2-40B4-BE49-F238E27FC236}">
                <a16:creationId xmlns:a16="http://schemas.microsoft.com/office/drawing/2014/main" id="{82AD3DA8-3662-4053-82E4-88A8221C8C8E}"/>
              </a:ext>
            </a:extLst>
          </p:cNvPr>
          <p:cNvGraphicFramePr/>
          <p:nvPr/>
        </p:nvGraphicFramePr>
        <p:xfrm>
          <a:off x="381000" y="1381125"/>
          <a:ext cx="10668000" cy="3448050"/>
        </p:xfrm>
        <a:graphic>
          <a:graphicData uri="http://schemas.openxmlformats.org/drawingml/2006/table">
            <a:tbl>
              <a:tblPr/>
              <a:tblGrid>
                <a:gridCol w="276225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tblGrid>
              <a:tr h="400050">
                <a:tc>
                  <a:txBody>
                    <a:bodyPr/>
                    <a:lstStyle/>
                    <a:p>
                      <a:r>
                        <a:rPr sz="1500" b="1">
                          <a:solidFill>
                            <a:srgbClr val="FFFFFF"/>
                          </a:solidFill>
                          <a:latin typeface="맑은 고딕"/>
                          <a:ea typeface="맑은 고딕"/>
                          <a:cs typeface="맑은 고딕"/>
                        </a:rPr>
                        <a:t>대학·전형</a:t>
                      </a:r>
                    </a:p>
                  </a:txBody>
                  <a:tcPr marL="95250" marR="95250" marT="47625" marB="47625" anchor="ctr">
                    <a:lnL w="5715">
                      <a:solidFill>
                        <a:srgbClr val="C5CFDA"/>
                      </a:solidFill>
                      <a:prstDash val="soli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반영 방식</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적용 범위·특징</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extLst>
                  <a:ext uri="{0D108BD9-81ED-4DB2-BD59-A6C34878D82A}">
                    <a16:rowId xmlns:a16="http://schemas.microsoft.com/office/drawing/2014/main" val="10000"/>
                  </a:ext>
                </a:extLst>
              </a:tr>
              <a:tr h="381000">
                <a:tc>
                  <a:txBody>
                    <a:bodyPr/>
                    <a:lstStyle/>
                    <a:p>
                      <a:r>
                        <a:rPr sz="1500" b="1">
                          <a:solidFill>
                            <a:srgbClr val="17212D"/>
                          </a:solidFill>
                          <a:latin typeface="맑은 고딕"/>
                          <a:ea typeface="맑은 고딕"/>
                          <a:cs typeface="맑은 고딕"/>
                        </a:rPr>
                        <a:t>고려대 교과우수</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수능 80+교과 20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6학기 전 교과, 등급·성취도 활용</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1"/>
                  </a:ext>
                </a:extLst>
              </a:tr>
              <a:tr h="381000">
                <a:tc>
                  <a:txBody>
                    <a:bodyPr/>
                    <a:lstStyle/>
                    <a:p>
                      <a:r>
                        <a:rPr sz="1500" b="1">
                          <a:solidFill>
                            <a:srgbClr val="17212D"/>
                          </a:solidFill>
                          <a:latin typeface="맑은 고딕"/>
                          <a:ea typeface="맑은 고딕"/>
                          <a:cs typeface="맑은 고딕"/>
                        </a:rPr>
                        <a:t>서강대 지역균형</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수능 80+교과 10+출결 10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성적 상위 12과목, 출결 별도</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2"/>
                  </a:ext>
                </a:extLst>
              </a:tr>
              <a:tr h="381000">
                <a:tc>
                  <a:txBody>
                    <a:bodyPr/>
                    <a:lstStyle/>
                    <a:p>
                      <a:r>
                        <a:rPr sz="1500" b="1">
                          <a:solidFill>
                            <a:srgbClr val="17212D"/>
                          </a:solidFill>
                          <a:latin typeface="맑은 고딕"/>
                          <a:ea typeface="맑은 고딕"/>
                          <a:cs typeface="맑은 고딕"/>
                        </a:rPr>
                        <a:t>서울시립대 일반</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수능 80+교과 18+출결 2</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전 학년 전 교과의 반영 대상 과목</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3"/>
                  </a:ext>
                </a:extLst>
              </a:tr>
              <a:tr h="381000">
                <a:tc>
                  <a:txBody>
                    <a:bodyPr/>
                    <a:lstStyle/>
                    <a:p>
                      <a:r>
                        <a:rPr sz="1500" b="1">
                          <a:solidFill>
                            <a:srgbClr val="17212D"/>
                          </a:solidFill>
                          <a:latin typeface="맑은 고딕"/>
                          <a:ea typeface="맑은 고딕"/>
                          <a:cs typeface="맑은 고딕"/>
                        </a:rPr>
                        <a:t>홍익대 다군 인문·자연</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수능 90+교과 10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성취도 환산, 교과 이수학점 가중</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4"/>
                  </a:ext>
                </a:extLst>
              </a:tr>
              <a:tr h="381000">
                <a:tc>
                  <a:txBody>
                    <a:bodyPr/>
                    <a:lstStyle/>
                    <a:p>
                      <a:r>
                        <a:rPr sz="1500" b="1">
                          <a:solidFill>
                            <a:srgbClr val="17212D"/>
                          </a:solidFill>
                          <a:latin typeface="맑은 고딕"/>
                          <a:ea typeface="맑은 고딕"/>
                          <a:cs typeface="맑은 고딕"/>
                        </a:rPr>
                        <a:t>경희대 수능·학생부형</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수능 90+교과 5+출결 2.5+봉사 2.5</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수능형 100과 구분, 자연 이수 가산 별도</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5"/>
                  </a:ext>
                </a:extLst>
              </a:tr>
              <a:tr h="381000">
                <a:tc>
                  <a:txBody>
                    <a:bodyPr/>
                    <a:lstStyle/>
                    <a:p>
                      <a:r>
                        <a:rPr sz="1500" b="1">
                          <a:solidFill>
                            <a:srgbClr val="17212D"/>
                          </a:solidFill>
                          <a:latin typeface="맑은 고딕"/>
                          <a:ea typeface="맑은 고딕"/>
                          <a:cs typeface="맑은 고딕"/>
                        </a:rPr>
                        <a:t>경북대 일반</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수능 90+교과 10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정시 교과 반영과 수시 교과이수충실도 구분</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6"/>
                  </a:ext>
                </a:extLst>
              </a:tr>
              <a:tr h="381000">
                <a:tc>
                  <a:txBody>
                    <a:bodyPr/>
                    <a:lstStyle/>
                    <a:p>
                      <a:r>
                        <a:rPr sz="1500" b="1">
                          <a:solidFill>
                            <a:srgbClr val="17212D"/>
                          </a:solidFill>
                          <a:latin typeface="맑은 고딕"/>
                          <a:ea typeface="맑은 고딕"/>
                          <a:cs typeface="맑은 고딕"/>
                        </a:rPr>
                        <a:t>충남대 일반</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실질비율 수능 80+교과 15+출결 5</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교과·출결의 기본점수와 실질비율 확인</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7"/>
                  </a:ext>
                </a:extLst>
              </a:tr>
              <a:tr h="381000">
                <a:tc>
                  <a:txBody>
                    <a:bodyPr/>
                    <a:lstStyle/>
                    <a:p>
                      <a:r>
                        <a:rPr sz="1500" b="1">
                          <a:solidFill>
                            <a:srgbClr val="17212D"/>
                          </a:solidFill>
                          <a:latin typeface="맑은 고딕"/>
                          <a:ea typeface="맑은 고딕"/>
                          <a:cs typeface="맑은 고딕"/>
                        </a:rPr>
                        <a:t>중앙대 수능89</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수능 89+출결 11</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교과등급 정량평가가 아닌 출결 반영</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8"/>
                  </a:ext>
                </a:extLst>
              </a:tr>
            </a:tbl>
          </a:graphicData>
        </a:graphic>
      </p:graphicFrame>
      <p:sp>
        <p:nvSpPr>
          <p:cNvPr id="4" name="직사각형 3">
            <a:extLst>
              <a:ext uri="{FF2B5EF4-FFF2-40B4-BE49-F238E27FC236}">
                <a16:creationId xmlns:a16="http://schemas.microsoft.com/office/drawing/2014/main" id="{8CDAFE41-737A-41F3-B644-6E1A8B48D8ED}"/>
              </a:ext>
            </a:extLst>
          </p:cNvPr>
          <p:cNvSpPr>
            <a:spLocks noGrp="1"/>
          </p:cNvSpPr>
          <p:nvPr/>
        </p:nvSpPr>
        <p:spPr>
          <a:xfrm>
            <a:off x="381000" y="4953000"/>
            <a:ext cx="10668000" cy="257175"/>
          </a:xfrm>
          <a:prstGeom prst="rect">
            <a:avLst/>
          </a:prstGeom>
          <a:noFill/>
          <a:ln w="0">
            <a:noFill/>
          </a:ln>
        </p:spPr>
        <p:txBody>
          <a:bodyPr lIns="0" tIns="0" rIns="0" bIns="0" anchor="t"/>
          <a:lstStyle>
            <a:defPPr>
              <a:defRPr sz="1125" b="0">
                <a:solidFill>
                  <a:srgbClr val="535D69"/>
                </a:solidFill>
                <a:latin typeface="맑은 고딕"/>
                <a:ea typeface="맑은 고딕"/>
                <a:cs typeface="맑은 고딕"/>
              </a:defRPr>
            </a:defPPr>
            <a:lvl1pPr>
              <a:defRPr sz="1125" b="0">
                <a:solidFill>
                  <a:srgbClr val="535D69"/>
                </a:solidFill>
                <a:latin typeface="맑은 고딕"/>
                <a:ea typeface="맑은 고딕"/>
                <a:cs typeface="맑은 고딕"/>
              </a:defRPr>
            </a:lvl1pPr>
            <a:lvl2pPr>
              <a:defRPr sz="1125" b="0">
                <a:solidFill>
                  <a:srgbClr val="535D69"/>
                </a:solidFill>
                <a:latin typeface="맑은 고딕"/>
                <a:ea typeface="맑은 고딕"/>
                <a:cs typeface="맑은 고딕"/>
              </a:defRPr>
            </a:lvl2pPr>
            <a:lvl3pPr>
              <a:defRPr sz="1125" b="0">
                <a:solidFill>
                  <a:srgbClr val="535D69"/>
                </a:solidFill>
                <a:latin typeface="맑은 고딕"/>
                <a:ea typeface="맑은 고딕"/>
                <a:cs typeface="맑은 고딕"/>
              </a:defRPr>
            </a:lvl3pPr>
            <a:lvl4pPr>
              <a:defRPr sz="1125" b="0">
                <a:solidFill>
                  <a:srgbClr val="535D69"/>
                </a:solidFill>
                <a:latin typeface="맑은 고딕"/>
                <a:ea typeface="맑은 고딕"/>
                <a:cs typeface="맑은 고딕"/>
              </a:defRPr>
            </a:lvl4pPr>
            <a:lvl5pPr>
              <a:defRPr sz="1125" b="0">
                <a:solidFill>
                  <a:srgbClr val="535D69"/>
                </a:solidFill>
                <a:latin typeface="맑은 고딕"/>
                <a:ea typeface="맑은 고딕"/>
                <a:cs typeface="맑은 고딕"/>
              </a:defRPr>
            </a:lvl5pPr>
            <a:lvl6pPr>
              <a:defRPr sz="1125" b="0">
                <a:solidFill>
                  <a:srgbClr val="535D69"/>
                </a:solidFill>
                <a:latin typeface="맑은 고딕"/>
                <a:ea typeface="맑은 고딕"/>
                <a:cs typeface="맑은 고딕"/>
              </a:defRPr>
            </a:lvl6pPr>
            <a:lvl7pPr>
              <a:defRPr sz="1125" b="0">
                <a:solidFill>
                  <a:srgbClr val="535D69"/>
                </a:solidFill>
                <a:latin typeface="맑은 고딕"/>
                <a:ea typeface="맑은 고딕"/>
                <a:cs typeface="맑은 고딕"/>
              </a:defRPr>
            </a:lvl7pPr>
            <a:lvl8pPr>
              <a:defRPr sz="1125" b="0">
                <a:solidFill>
                  <a:srgbClr val="535D69"/>
                </a:solidFill>
                <a:latin typeface="맑은 고딕"/>
                <a:ea typeface="맑은 고딕"/>
                <a:cs typeface="맑은 고딕"/>
              </a:defRPr>
            </a:lvl8pPr>
            <a:lvl9pPr>
              <a:defRPr sz="1125" b="0">
                <a:solidFill>
                  <a:srgbClr val="535D69"/>
                </a:solidFill>
                <a:latin typeface="맑은 고딕"/>
                <a:ea typeface="맑은 고딕"/>
                <a:cs typeface="맑은 고딕"/>
              </a:defRPr>
            </a:lvl9pPr>
          </a:lstStyle>
          <a:p>
            <a:pPr>
              <a:defRPr sz="1125" b="0">
                <a:solidFill>
                  <a:srgbClr val="535D69"/>
                </a:solidFill>
                <a:latin typeface="맑은 고딕"/>
                <a:ea typeface="맑은 고딕"/>
                <a:cs typeface="맑은 고딕"/>
              </a:defRPr>
            </a:pPr>
            <a:r>
              <a:rPr sz="1125" b="0">
                <a:solidFill>
                  <a:srgbClr val="535D69"/>
                </a:solidFill>
                <a:latin typeface="맑은 고딕"/>
                <a:ea typeface="맑은 고딕"/>
                <a:cs typeface="맑은 고딕"/>
              </a:rPr>
              <a:t>홍익대는 다군 인문·자연 기준. 미술계열 단계별 전형과 구분.  충남대 전형 배점 수능 300·교과 100·출결 100, 시행계획에 실질반영비율 별도 표기.</a:t>
            </a:r>
          </a:p>
        </p:txBody>
      </p:sp>
      <p:sp>
        <p:nvSpPr>
          <p:cNvPr id="5" name="직사각형 4">
            <a:extLst>
              <a:ext uri="{FF2B5EF4-FFF2-40B4-BE49-F238E27FC236}">
                <a16:creationId xmlns:a16="http://schemas.microsoft.com/office/drawing/2014/main" id="{74B21419-4988-4BC0-9FD0-D339F366B5A9}"/>
              </a:ext>
            </a:extLst>
          </p:cNvPr>
          <p:cNvSpPr>
            <a:spLocks noGrp="1"/>
          </p:cNvSpPr>
          <p:nvPr/>
        </p:nvSpPr>
        <p:spPr>
          <a:xfrm>
            <a:off x="381000" y="9572625"/>
            <a:ext cx="10096500" cy="361950"/>
          </a:xfrm>
          <a:prstGeom prst="rect">
            <a:avLst/>
          </a:prstGeom>
          <a:noFill/>
          <a:ln w="0">
            <a:noFill/>
          </a:ln>
        </p:spPr>
        <p:txBody>
          <a:bodyPr lIns="0" tIns="0" rIns="0" bIns="0" anchor="t"/>
          <a:lstStyle>
            <a:defPPr>
              <a:defRPr sz="900" b="0">
                <a:solidFill>
                  <a:srgbClr val="666666"/>
                </a:solidFill>
                <a:latin typeface="맑은 고딕"/>
                <a:ea typeface="맑은 고딕"/>
                <a:cs typeface="맑은 고딕"/>
              </a:defRPr>
            </a:defPPr>
            <a:lvl1pPr>
              <a:defRPr sz="900" b="0">
                <a:solidFill>
                  <a:srgbClr val="666666"/>
                </a:solidFill>
                <a:latin typeface="맑은 고딕"/>
                <a:ea typeface="맑은 고딕"/>
                <a:cs typeface="맑은 고딕"/>
              </a:defRPr>
            </a:lvl1pPr>
            <a:lvl2pPr>
              <a:defRPr sz="900" b="0">
                <a:solidFill>
                  <a:srgbClr val="666666"/>
                </a:solidFill>
                <a:latin typeface="맑은 고딕"/>
                <a:ea typeface="맑은 고딕"/>
                <a:cs typeface="맑은 고딕"/>
              </a:defRPr>
            </a:lvl2pPr>
            <a:lvl3pPr>
              <a:defRPr sz="900" b="0">
                <a:solidFill>
                  <a:srgbClr val="666666"/>
                </a:solidFill>
                <a:latin typeface="맑은 고딕"/>
                <a:ea typeface="맑은 고딕"/>
                <a:cs typeface="맑은 고딕"/>
              </a:defRPr>
            </a:lvl3pPr>
            <a:lvl4pPr>
              <a:defRPr sz="900" b="0">
                <a:solidFill>
                  <a:srgbClr val="666666"/>
                </a:solidFill>
                <a:latin typeface="맑은 고딕"/>
                <a:ea typeface="맑은 고딕"/>
                <a:cs typeface="맑은 고딕"/>
              </a:defRPr>
            </a:lvl4pPr>
            <a:lvl5pPr>
              <a:defRPr sz="900" b="0">
                <a:solidFill>
                  <a:srgbClr val="666666"/>
                </a:solidFill>
                <a:latin typeface="맑은 고딕"/>
                <a:ea typeface="맑은 고딕"/>
                <a:cs typeface="맑은 고딕"/>
              </a:defRPr>
            </a:lvl5pPr>
            <a:lvl6pPr>
              <a:defRPr sz="900" b="0">
                <a:solidFill>
                  <a:srgbClr val="666666"/>
                </a:solidFill>
                <a:latin typeface="맑은 고딕"/>
                <a:ea typeface="맑은 고딕"/>
                <a:cs typeface="맑은 고딕"/>
              </a:defRPr>
            </a:lvl6pPr>
            <a:lvl7pPr>
              <a:defRPr sz="900" b="0">
                <a:solidFill>
                  <a:srgbClr val="666666"/>
                </a:solidFill>
                <a:latin typeface="맑은 고딕"/>
                <a:ea typeface="맑은 고딕"/>
                <a:cs typeface="맑은 고딕"/>
              </a:defRPr>
            </a:lvl7pPr>
            <a:lvl8pPr>
              <a:defRPr sz="900" b="0">
                <a:solidFill>
                  <a:srgbClr val="666666"/>
                </a:solidFill>
                <a:latin typeface="맑은 고딕"/>
                <a:ea typeface="맑은 고딕"/>
                <a:cs typeface="맑은 고딕"/>
              </a:defRPr>
            </a:lvl8pPr>
            <a:lvl9pPr>
              <a:defRPr sz="900" b="0">
                <a:solidFill>
                  <a:srgbClr val="666666"/>
                </a:solidFill>
                <a:latin typeface="맑은 고딕"/>
                <a:ea typeface="맑은 고딕"/>
                <a:cs typeface="맑은 고딕"/>
              </a:defRPr>
            </a:lvl9pPr>
          </a:lstStyle>
          <a:p>
            <a:pPr>
              <a:defRPr sz="900" b="0">
                <a:solidFill>
                  <a:srgbClr val="666666"/>
                </a:solidFill>
                <a:latin typeface="맑은 고딕"/>
                <a:ea typeface="맑은 고딕"/>
                <a:cs typeface="맑은 고딕"/>
              </a:defRPr>
            </a:pPr>
            <a:r>
              <a:rPr sz="900" b="0">
                <a:solidFill>
                  <a:srgbClr val="666666"/>
                </a:solidFill>
                <a:latin typeface="맑은 고딕"/>
                <a:ea typeface="맑은 고딕"/>
                <a:cs typeface="맑은 고딕"/>
              </a:rPr>
              <a:t>근거  인천 18~20쪽 / 고려 PDF 26쪽 / 서강 PDF 31~32쪽 / SEN 131·123·265쪽 / 중앙 PDF 30쪽 / 충남 PDF 32쪽</a:t>
            </a:r>
          </a:p>
        </p:txBody>
      </p:sp>
      <p:sp>
        <p:nvSpPr>
          <p:cNvPr id="6" name="직사각형 5">
            <a:extLst>
              <a:ext uri="{FF2B5EF4-FFF2-40B4-BE49-F238E27FC236}">
                <a16:creationId xmlns:a16="http://schemas.microsoft.com/office/drawing/2014/main" id="{AE1AF3BE-0F04-48E7-9A7C-EB35B221D943}"/>
              </a:ext>
            </a:extLst>
          </p:cNvPr>
          <p:cNvSpPr>
            <a:spLocks noGrp="1"/>
          </p:cNvSpPr>
          <p:nvPr/>
        </p:nvSpPr>
        <p:spPr>
          <a:xfrm>
            <a:off x="10715625" y="9572625"/>
            <a:ext cx="333375" cy="228600"/>
          </a:xfrm>
          <a:prstGeom prst="rect">
            <a:avLst/>
          </a:prstGeom>
          <a:noFill/>
          <a:ln w="0">
            <a:noFill/>
          </a:ln>
        </p:spPr>
        <p:txBody>
          <a:bodyPr lIns="0" tIns="0" rIns="0" bIns="0" anchor="t"/>
          <a:lstStyle>
            <a:defPPr>
              <a:defRPr sz="1050" b="0">
                <a:solidFill>
                  <a:srgbClr val="002060"/>
                </a:solidFill>
                <a:latin typeface="맑은 고딕"/>
                <a:ea typeface="맑은 고딕"/>
                <a:cs typeface="맑은 고딕"/>
              </a:defRPr>
            </a:defPPr>
            <a:lvl1pPr>
              <a:defRPr sz="1050" b="0">
                <a:solidFill>
                  <a:srgbClr val="002060"/>
                </a:solidFill>
                <a:latin typeface="맑은 고딕"/>
                <a:ea typeface="맑은 고딕"/>
                <a:cs typeface="맑은 고딕"/>
              </a:defRPr>
            </a:lvl1pPr>
            <a:lvl2pPr>
              <a:defRPr sz="1050" b="0">
                <a:solidFill>
                  <a:srgbClr val="002060"/>
                </a:solidFill>
                <a:latin typeface="맑은 고딕"/>
                <a:ea typeface="맑은 고딕"/>
                <a:cs typeface="맑은 고딕"/>
              </a:defRPr>
            </a:lvl2pPr>
            <a:lvl3pPr>
              <a:defRPr sz="1050" b="0">
                <a:solidFill>
                  <a:srgbClr val="002060"/>
                </a:solidFill>
                <a:latin typeface="맑은 고딕"/>
                <a:ea typeface="맑은 고딕"/>
                <a:cs typeface="맑은 고딕"/>
              </a:defRPr>
            </a:lvl3pPr>
            <a:lvl4pPr>
              <a:defRPr sz="1050" b="0">
                <a:solidFill>
                  <a:srgbClr val="002060"/>
                </a:solidFill>
                <a:latin typeface="맑은 고딕"/>
                <a:ea typeface="맑은 고딕"/>
                <a:cs typeface="맑은 고딕"/>
              </a:defRPr>
            </a:lvl4pPr>
            <a:lvl5pPr>
              <a:defRPr sz="1050" b="0">
                <a:solidFill>
                  <a:srgbClr val="002060"/>
                </a:solidFill>
                <a:latin typeface="맑은 고딕"/>
                <a:ea typeface="맑은 고딕"/>
                <a:cs typeface="맑은 고딕"/>
              </a:defRPr>
            </a:lvl5pPr>
            <a:lvl6pPr>
              <a:defRPr sz="1050" b="0">
                <a:solidFill>
                  <a:srgbClr val="002060"/>
                </a:solidFill>
                <a:latin typeface="맑은 고딕"/>
                <a:ea typeface="맑은 고딕"/>
                <a:cs typeface="맑은 고딕"/>
              </a:defRPr>
            </a:lvl6pPr>
            <a:lvl7pPr>
              <a:defRPr sz="1050" b="0">
                <a:solidFill>
                  <a:srgbClr val="002060"/>
                </a:solidFill>
                <a:latin typeface="맑은 고딕"/>
                <a:ea typeface="맑은 고딕"/>
                <a:cs typeface="맑은 고딕"/>
              </a:defRPr>
            </a:lvl7pPr>
            <a:lvl8pPr>
              <a:defRPr sz="1050" b="0">
                <a:solidFill>
                  <a:srgbClr val="002060"/>
                </a:solidFill>
                <a:latin typeface="맑은 고딕"/>
                <a:ea typeface="맑은 고딕"/>
                <a:cs typeface="맑은 고딕"/>
              </a:defRPr>
            </a:lvl8pPr>
            <a:lvl9pPr>
              <a:defRPr sz="1050" b="0">
                <a:solidFill>
                  <a:srgbClr val="002060"/>
                </a:solidFill>
                <a:latin typeface="맑은 고딕"/>
                <a:ea typeface="맑은 고딕"/>
                <a:cs typeface="맑은 고딕"/>
              </a:defRPr>
            </a:lvl9pPr>
          </a:lstStyle>
          <a:p>
            <a:pPr>
              <a:defRPr sz="1050" b="0">
                <a:solidFill>
                  <a:srgbClr val="002060"/>
                </a:solidFill>
                <a:latin typeface="맑은 고딕"/>
                <a:ea typeface="맑은 고딕"/>
                <a:cs typeface="맑은 고딕"/>
              </a:defRPr>
            </a:pPr>
            <a:r>
              <a:rPr sz="1050" b="0">
                <a:solidFill>
                  <a:srgbClr val="002060"/>
                </a:solidFill>
                <a:latin typeface="맑은 고딕"/>
                <a:ea typeface="맑은 고딕"/>
                <a:cs typeface="맑은 고딕"/>
              </a:rPr>
              <a:t>10</a:t>
            </a:r>
          </a:p>
        </p:txBody>
      </p:sp>
    </p:spTree>
    <p:extLst>
      <p:ext uri="{BB962C8B-B14F-4D97-AF65-F5344CB8AC3E}">
        <p14:creationId xmlns:p14="http://schemas.microsoft.com/office/powerpoint/2010/main" val="5206875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16C4380E-BDF0-44BF-86C1-0977B76E9191}"/>
              </a:ext>
            </a:extLst>
          </p:cNvPr>
          <p:cNvSpPr>
            <a:spLocks noGrp="1"/>
          </p:cNvSpPr>
          <p:nvPr/>
        </p:nvSpPr>
        <p:spPr>
          <a:xfrm>
            <a:off x="381000" y="228600"/>
            <a:ext cx="9525000" cy="238125"/>
          </a:xfrm>
          <a:prstGeom prst="rect">
            <a:avLst/>
          </a:prstGeom>
          <a:noFill/>
          <a:ln w="0">
            <a:noFill/>
          </a:ln>
        </p:spPr>
        <p:txBody>
          <a:bodyPr lIns="0" tIns="0" rIns="0" bIns="0" anchor="t"/>
          <a:lstStyle>
            <a:defPPr>
              <a:defRPr sz="1200" b="1">
                <a:solidFill>
                  <a:srgbClr val="002060"/>
                </a:solidFill>
                <a:latin typeface="맑은 고딕"/>
                <a:ea typeface="맑은 고딕"/>
                <a:cs typeface="맑은 고딕"/>
              </a:defRPr>
            </a:defPPr>
            <a:lvl1pPr>
              <a:defRPr sz="1200" b="1">
                <a:solidFill>
                  <a:srgbClr val="002060"/>
                </a:solidFill>
                <a:latin typeface="맑은 고딕"/>
                <a:ea typeface="맑은 고딕"/>
                <a:cs typeface="맑은 고딕"/>
              </a:defRPr>
            </a:lvl1pPr>
            <a:lvl2pPr>
              <a:defRPr sz="1200" b="1">
                <a:solidFill>
                  <a:srgbClr val="002060"/>
                </a:solidFill>
                <a:latin typeface="맑은 고딕"/>
                <a:ea typeface="맑은 고딕"/>
                <a:cs typeface="맑은 고딕"/>
              </a:defRPr>
            </a:lvl2pPr>
            <a:lvl3pPr>
              <a:defRPr sz="1200" b="1">
                <a:solidFill>
                  <a:srgbClr val="002060"/>
                </a:solidFill>
                <a:latin typeface="맑은 고딕"/>
                <a:ea typeface="맑은 고딕"/>
                <a:cs typeface="맑은 고딕"/>
              </a:defRPr>
            </a:lvl3pPr>
            <a:lvl4pPr>
              <a:defRPr sz="1200" b="1">
                <a:solidFill>
                  <a:srgbClr val="002060"/>
                </a:solidFill>
                <a:latin typeface="맑은 고딕"/>
                <a:ea typeface="맑은 고딕"/>
                <a:cs typeface="맑은 고딕"/>
              </a:defRPr>
            </a:lvl4pPr>
            <a:lvl5pPr>
              <a:defRPr sz="1200" b="1">
                <a:solidFill>
                  <a:srgbClr val="002060"/>
                </a:solidFill>
                <a:latin typeface="맑은 고딕"/>
                <a:ea typeface="맑은 고딕"/>
                <a:cs typeface="맑은 고딕"/>
              </a:defRPr>
            </a:lvl5pPr>
            <a:lvl6pPr>
              <a:defRPr sz="1200" b="1">
                <a:solidFill>
                  <a:srgbClr val="002060"/>
                </a:solidFill>
                <a:latin typeface="맑은 고딕"/>
                <a:ea typeface="맑은 고딕"/>
                <a:cs typeface="맑은 고딕"/>
              </a:defRPr>
            </a:lvl6pPr>
            <a:lvl7pPr>
              <a:defRPr sz="1200" b="1">
                <a:solidFill>
                  <a:srgbClr val="002060"/>
                </a:solidFill>
                <a:latin typeface="맑은 고딕"/>
                <a:ea typeface="맑은 고딕"/>
                <a:cs typeface="맑은 고딕"/>
              </a:defRPr>
            </a:lvl7pPr>
            <a:lvl8pPr>
              <a:defRPr sz="1200" b="1">
                <a:solidFill>
                  <a:srgbClr val="002060"/>
                </a:solidFill>
                <a:latin typeface="맑은 고딕"/>
                <a:ea typeface="맑은 고딕"/>
                <a:cs typeface="맑은 고딕"/>
              </a:defRPr>
            </a:lvl8pPr>
            <a:lvl9pPr>
              <a:defRPr sz="1200" b="1">
                <a:solidFill>
                  <a:srgbClr val="002060"/>
                </a:solidFill>
                <a:latin typeface="맑은 고딕"/>
                <a:ea typeface="맑은 고딕"/>
                <a:cs typeface="맑은 고딕"/>
              </a:defRPr>
            </a:lvl9pPr>
          </a:lstStyle>
          <a:p>
            <a:pPr>
              <a:defRPr sz="1200" b="1">
                <a:solidFill>
                  <a:srgbClr val="002060"/>
                </a:solidFill>
                <a:latin typeface="맑은 고딕"/>
                <a:ea typeface="맑은 고딕"/>
                <a:cs typeface="맑은 고딕"/>
              </a:defRPr>
            </a:pPr>
            <a:r>
              <a:rPr sz="1200" b="1">
                <a:solidFill>
                  <a:srgbClr val="002060"/>
                </a:solidFill>
                <a:latin typeface="맑은 고딕"/>
                <a:ea typeface="맑은 고딕"/>
                <a:cs typeface="맑은 고딕"/>
              </a:rPr>
              <a:t>2028 정시  대학별 전형 비교</a:t>
            </a:r>
          </a:p>
        </p:txBody>
      </p:sp>
      <p:sp>
        <p:nvSpPr>
          <p:cNvPr id="2" name="직사각형 1">
            <a:extLst>
              <a:ext uri="{FF2B5EF4-FFF2-40B4-BE49-F238E27FC236}">
                <a16:creationId xmlns:a16="http://schemas.microsoft.com/office/drawing/2014/main" id="{04583415-19B8-489E-8CB4-344807E82DF5}"/>
              </a:ext>
            </a:extLst>
          </p:cNvPr>
          <p:cNvSpPr>
            <a:spLocks noGrp="1"/>
          </p:cNvSpPr>
          <p:nvPr/>
        </p:nvSpPr>
        <p:spPr>
          <a:xfrm>
            <a:off x="381000" y="619125"/>
            <a:ext cx="10668000" cy="533400"/>
          </a:xfrm>
          <a:prstGeom prst="rect">
            <a:avLst/>
          </a:prstGeom>
          <a:noFill/>
          <a:ln w="0">
            <a:noFill/>
          </a:ln>
        </p:spPr>
        <p:txBody>
          <a:bodyPr lIns="0" tIns="0" rIns="0" bIns="0" anchor="t"/>
          <a:lstStyle>
            <a:defPPr>
              <a:defRPr sz="2400" b="1">
                <a:solidFill>
                  <a:srgbClr val="002060"/>
                </a:solidFill>
                <a:latin typeface="맑은 고딕"/>
                <a:ea typeface="맑은 고딕"/>
                <a:cs typeface="맑은 고딕"/>
              </a:defRPr>
            </a:defPPr>
            <a:lvl1pPr>
              <a:defRPr sz="2400" b="1">
                <a:solidFill>
                  <a:srgbClr val="002060"/>
                </a:solidFill>
                <a:latin typeface="맑은 고딕"/>
                <a:ea typeface="맑은 고딕"/>
                <a:cs typeface="맑은 고딕"/>
              </a:defRPr>
            </a:lvl1pPr>
            <a:lvl2pPr>
              <a:defRPr sz="2400" b="1">
                <a:solidFill>
                  <a:srgbClr val="002060"/>
                </a:solidFill>
                <a:latin typeface="맑은 고딕"/>
                <a:ea typeface="맑은 고딕"/>
                <a:cs typeface="맑은 고딕"/>
              </a:defRPr>
            </a:lvl2pPr>
            <a:lvl3pPr>
              <a:defRPr sz="2400" b="1">
                <a:solidFill>
                  <a:srgbClr val="002060"/>
                </a:solidFill>
                <a:latin typeface="맑은 고딕"/>
                <a:ea typeface="맑은 고딕"/>
                <a:cs typeface="맑은 고딕"/>
              </a:defRPr>
            </a:lvl3pPr>
            <a:lvl4pPr>
              <a:defRPr sz="2400" b="1">
                <a:solidFill>
                  <a:srgbClr val="002060"/>
                </a:solidFill>
                <a:latin typeface="맑은 고딕"/>
                <a:ea typeface="맑은 고딕"/>
                <a:cs typeface="맑은 고딕"/>
              </a:defRPr>
            </a:lvl4pPr>
            <a:lvl5pPr>
              <a:defRPr sz="2400" b="1">
                <a:solidFill>
                  <a:srgbClr val="002060"/>
                </a:solidFill>
                <a:latin typeface="맑은 고딕"/>
                <a:ea typeface="맑은 고딕"/>
                <a:cs typeface="맑은 고딕"/>
              </a:defRPr>
            </a:lvl5pPr>
            <a:lvl6pPr>
              <a:defRPr sz="2400" b="1">
                <a:solidFill>
                  <a:srgbClr val="002060"/>
                </a:solidFill>
                <a:latin typeface="맑은 고딕"/>
                <a:ea typeface="맑은 고딕"/>
                <a:cs typeface="맑은 고딕"/>
              </a:defRPr>
            </a:lvl6pPr>
            <a:lvl7pPr>
              <a:defRPr sz="2400" b="1">
                <a:solidFill>
                  <a:srgbClr val="002060"/>
                </a:solidFill>
                <a:latin typeface="맑은 고딕"/>
                <a:ea typeface="맑은 고딕"/>
                <a:cs typeface="맑은 고딕"/>
              </a:defRPr>
            </a:lvl7pPr>
            <a:lvl8pPr>
              <a:defRPr sz="2400" b="1">
                <a:solidFill>
                  <a:srgbClr val="002060"/>
                </a:solidFill>
                <a:latin typeface="맑은 고딕"/>
                <a:ea typeface="맑은 고딕"/>
                <a:cs typeface="맑은 고딕"/>
              </a:defRPr>
            </a:lvl8pPr>
            <a:lvl9pPr>
              <a:defRPr sz="2400" b="1">
                <a:solidFill>
                  <a:srgbClr val="002060"/>
                </a:solidFill>
                <a:latin typeface="맑은 고딕"/>
                <a:ea typeface="맑은 고딕"/>
                <a:cs typeface="맑은 고딕"/>
              </a:defRPr>
            </a:lvl9pPr>
          </a:lstStyle>
          <a:p>
            <a:pPr>
              <a:defRPr sz="2400" b="1">
                <a:solidFill>
                  <a:srgbClr val="002060"/>
                </a:solidFill>
                <a:latin typeface="맑은 고딕"/>
                <a:ea typeface="맑은 고딕"/>
                <a:cs typeface="맑은 고딕"/>
              </a:defRPr>
            </a:pPr>
            <a:r>
              <a:rPr sz="2400" b="1">
                <a:solidFill>
                  <a:srgbClr val="002060"/>
                </a:solidFill>
                <a:latin typeface="맑은 고딕"/>
                <a:ea typeface="맑은 고딕"/>
                <a:cs typeface="맑은 고딕"/>
              </a:rPr>
              <a:t>수능 활용지표와 전형별 차이</a:t>
            </a:r>
          </a:p>
        </p:txBody>
      </p:sp>
      <p:graphicFrame>
        <p:nvGraphicFramePr>
          <p:cNvPr id="3" name="표 2">
            <a:extLst>
              <a:ext uri="{FF2B5EF4-FFF2-40B4-BE49-F238E27FC236}">
                <a16:creationId xmlns:a16="http://schemas.microsoft.com/office/drawing/2014/main" id="{1E4FF9BD-D8BE-4180-954F-D9FB6B095CAB}"/>
              </a:ext>
            </a:extLst>
          </p:cNvPr>
          <p:cNvGraphicFramePr/>
          <p:nvPr/>
        </p:nvGraphicFramePr>
        <p:xfrm>
          <a:off x="381000" y="1381125"/>
          <a:ext cx="10668000" cy="4040505"/>
        </p:xfrm>
        <a:graphic>
          <a:graphicData uri="http://schemas.openxmlformats.org/drawingml/2006/table">
            <a:tbl>
              <a:tblPr/>
              <a:tblGrid>
                <a:gridCol w="276225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tblGrid>
              <a:tr h="400050">
                <a:tc>
                  <a:txBody>
                    <a:bodyPr/>
                    <a:lstStyle/>
                    <a:p>
                      <a:r>
                        <a:rPr sz="1500" b="1">
                          <a:solidFill>
                            <a:srgbClr val="FFFFFF"/>
                          </a:solidFill>
                          <a:latin typeface="맑은 고딕"/>
                          <a:ea typeface="맑은 고딕"/>
                          <a:cs typeface="맑은 고딕"/>
                        </a:rPr>
                        <a:t>지표·대학</a:t>
                      </a:r>
                    </a:p>
                  </a:txBody>
                  <a:tcPr marL="95250" marR="95250" marT="47625" marB="47625" anchor="ctr">
                    <a:lnL w="5715">
                      <a:solidFill>
                        <a:srgbClr val="C5CFDA"/>
                      </a:solidFill>
                      <a:prstDash val="soli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사례·전형·단계</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활용 방식·해석</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extLst>
                  <a:ext uri="{0D108BD9-81ED-4DB2-BD59-A6C34878D82A}">
                    <a16:rowId xmlns:a16="http://schemas.microsoft.com/office/drawing/2014/main" val="10000"/>
                  </a:ext>
                </a:extLst>
              </a:tr>
              <a:tr h="381000">
                <a:tc>
                  <a:txBody>
                    <a:bodyPr/>
                    <a:lstStyle/>
                    <a:p>
                      <a:r>
                        <a:rPr sz="1500" b="1">
                          <a:solidFill>
                            <a:srgbClr val="17212D"/>
                          </a:solidFill>
                          <a:latin typeface="맑은 고딕"/>
                          <a:ea typeface="맑은 고딕"/>
                          <a:cs typeface="맑은 고딕"/>
                        </a:rPr>
                        <a:t>표준점수</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경북대·세종대·인하대 등</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대학별 영역 가중치·영어 환산 별도</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1"/>
                  </a:ext>
                </a:extLst>
              </a:tr>
              <a:tr h="381000">
                <a:tc>
                  <a:txBody>
                    <a:bodyPr/>
                    <a:lstStyle/>
                    <a:p>
                      <a:r>
                        <a:rPr sz="1500" b="1">
                          <a:solidFill>
                            <a:srgbClr val="17212D"/>
                          </a:solidFill>
                          <a:latin typeface="맑은 고딕"/>
                          <a:ea typeface="맑은 고딕"/>
                          <a:cs typeface="맑은 고딕"/>
                        </a:rPr>
                        <a:t>백분위</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단국대(죽전)·전북대·제주대 등</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대학별 영역 반영비율·가산점 별도</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2"/>
                  </a:ext>
                </a:extLst>
              </a:tr>
              <a:tr h="381000">
                <a:tc>
                  <a:txBody>
                    <a:bodyPr/>
                    <a:lstStyle/>
                    <a:p>
                      <a:r>
                        <a:rPr sz="1500" b="1">
                          <a:solidFill>
                            <a:srgbClr val="17212D"/>
                          </a:solidFill>
                          <a:latin typeface="맑은 고딕"/>
                          <a:ea typeface="맑은 고딕"/>
                          <a:cs typeface="맑은 고딕"/>
                        </a:rPr>
                        <a:t>등급</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서울대 일반 1단계, 중앙대 수능67</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등급을 전형점수로 활용하는 방식 확인</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3"/>
                  </a:ext>
                </a:extLst>
              </a:tr>
              <a:tr h="381000">
                <a:tc>
                  <a:txBody>
                    <a:bodyPr/>
                    <a:lstStyle/>
                    <a:p>
                      <a:r>
                        <a:rPr sz="1500" b="1">
                          <a:solidFill>
                            <a:srgbClr val="17212D"/>
                          </a:solidFill>
                          <a:latin typeface="맑은 고딕"/>
                          <a:ea typeface="맑은 고딕"/>
                          <a:cs typeface="맑은 고딕"/>
                        </a:rPr>
                        <a:t>혼합·자체변환</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한양대(서울)·성균관대 등</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영역별로 사용하는 원자료가 다름</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4"/>
                  </a:ext>
                </a:extLst>
              </a:tr>
              <a:tr h="381000">
                <a:tc>
                  <a:txBody>
                    <a:bodyPr/>
                    <a:lstStyle/>
                    <a:p>
                      <a:r>
                        <a:rPr sz="1500" b="1">
                          <a:solidFill>
                            <a:srgbClr val="17212D"/>
                          </a:solidFill>
                          <a:latin typeface="맑은 고딕"/>
                          <a:ea typeface="맑은 고딕"/>
                          <a:cs typeface="맑은 고딕"/>
                        </a:rPr>
                        <a:t>가천대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일반1 / 일반2</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일반1 백분위 / 일반2 표준점수</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5"/>
                  </a:ext>
                </a:extLst>
              </a:tr>
              <a:tr h="381000">
                <a:tc>
                  <a:txBody>
                    <a:bodyPr/>
                    <a:lstStyle/>
                    <a:p>
                      <a:r>
                        <a:rPr sz="1500" b="1">
                          <a:solidFill>
                            <a:srgbClr val="17212D"/>
                          </a:solidFill>
                          <a:latin typeface="맑은 고딕"/>
                          <a:ea typeface="맑은 고딕"/>
                          <a:cs typeface="맑은 고딕"/>
                        </a:rPr>
                        <a:t>고려대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일반 / 교과우수</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일반 표준점수 / 교과우수 백분위</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6"/>
                  </a:ext>
                </a:extLst>
              </a:tr>
              <a:tr h="592455">
                <a:tc>
                  <a:txBody>
                    <a:bodyPr/>
                    <a:lstStyle/>
                    <a:p>
                      <a:r>
                        <a:rPr sz="1500" b="1">
                          <a:solidFill>
                            <a:srgbClr val="17212D"/>
                          </a:solidFill>
                          <a:latin typeface="맑은 고딕"/>
                          <a:ea typeface="맑은 고딕"/>
                          <a:cs typeface="맑은 고딕"/>
                        </a:rPr>
                        <a:t>서강대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일반 / 지역균형</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일반 국·수 표준+탐구 변환 / 지역균형 백분위</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7"/>
                  </a:ext>
                </a:extLst>
              </a:tr>
              <a:tr h="381000">
                <a:tc>
                  <a:txBody>
                    <a:bodyPr/>
                    <a:lstStyle/>
                    <a:p>
                      <a:r>
                        <a:rPr sz="1500" b="1">
                          <a:solidFill>
                            <a:srgbClr val="17212D"/>
                          </a:solidFill>
                          <a:latin typeface="맑은 고딕"/>
                          <a:ea typeface="맑은 고딕"/>
                          <a:cs typeface="맑은 고딕"/>
                        </a:rPr>
                        <a:t>서울대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일반 1단계 / 2단계</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1단계 등급 / 2단계 국·수·탐 백분위</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8"/>
                  </a:ext>
                </a:extLst>
              </a:tr>
              <a:tr h="381000">
                <a:tc>
                  <a:txBody>
                    <a:bodyPr/>
                    <a:lstStyle/>
                    <a:p>
                      <a:r>
                        <a:rPr sz="1500" b="1">
                          <a:solidFill>
                            <a:srgbClr val="17212D"/>
                          </a:solidFill>
                          <a:latin typeface="맑은 고딕"/>
                          <a:ea typeface="맑은 고딕"/>
                          <a:cs typeface="맑은 고딕"/>
                        </a:rPr>
                        <a:t>중앙대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수능89 / 수능67</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수능89 표준·변환 / 수능67 등급</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9"/>
                  </a:ext>
                </a:extLst>
              </a:tr>
            </a:tbl>
          </a:graphicData>
        </a:graphic>
      </p:graphicFrame>
      <p:sp>
        <p:nvSpPr>
          <p:cNvPr id="4" name="직사각형 3">
            <a:extLst>
              <a:ext uri="{FF2B5EF4-FFF2-40B4-BE49-F238E27FC236}">
                <a16:creationId xmlns:a16="http://schemas.microsoft.com/office/drawing/2014/main" id="{F2B36C8D-CD29-4306-9ED0-7A2DC2075068}"/>
              </a:ext>
            </a:extLst>
          </p:cNvPr>
          <p:cNvSpPr>
            <a:spLocks noGrp="1"/>
          </p:cNvSpPr>
          <p:nvPr/>
        </p:nvSpPr>
        <p:spPr>
          <a:xfrm>
            <a:off x="381000" y="5545455"/>
            <a:ext cx="10668000" cy="257175"/>
          </a:xfrm>
          <a:prstGeom prst="rect">
            <a:avLst/>
          </a:prstGeom>
          <a:noFill/>
          <a:ln w="0">
            <a:noFill/>
          </a:ln>
        </p:spPr>
        <p:txBody>
          <a:bodyPr lIns="0" tIns="0" rIns="0" bIns="0" anchor="t"/>
          <a:lstStyle>
            <a:defPPr>
              <a:defRPr sz="1125" b="0">
                <a:solidFill>
                  <a:srgbClr val="535D69"/>
                </a:solidFill>
                <a:latin typeface="맑은 고딕"/>
                <a:ea typeface="맑은 고딕"/>
                <a:cs typeface="맑은 고딕"/>
              </a:defRPr>
            </a:defPPr>
            <a:lvl1pPr>
              <a:defRPr sz="1125" b="0">
                <a:solidFill>
                  <a:srgbClr val="535D69"/>
                </a:solidFill>
                <a:latin typeface="맑은 고딕"/>
                <a:ea typeface="맑은 고딕"/>
                <a:cs typeface="맑은 고딕"/>
              </a:defRPr>
            </a:lvl1pPr>
            <a:lvl2pPr>
              <a:defRPr sz="1125" b="0">
                <a:solidFill>
                  <a:srgbClr val="535D69"/>
                </a:solidFill>
                <a:latin typeface="맑은 고딕"/>
                <a:ea typeface="맑은 고딕"/>
                <a:cs typeface="맑은 고딕"/>
              </a:defRPr>
            </a:lvl2pPr>
            <a:lvl3pPr>
              <a:defRPr sz="1125" b="0">
                <a:solidFill>
                  <a:srgbClr val="535D69"/>
                </a:solidFill>
                <a:latin typeface="맑은 고딕"/>
                <a:ea typeface="맑은 고딕"/>
                <a:cs typeface="맑은 고딕"/>
              </a:defRPr>
            </a:lvl3pPr>
            <a:lvl4pPr>
              <a:defRPr sz="1125" b="0">
                <a:solidFill>
                  <a:srgbClr val="535D69"/>
                </a:solidFill>
                <a:latin typeface="맑은 고딕"/>
                <a:ea typeface="맑은 고딕"/>
                <a:cs typeface="맑은 고딕"/>
              </a:defRPr>
            </a:lvl4pPr>
            <a:lvl5pPr>
              <a:defRPr sz="1125" b="0">
                <a:solidFill>
                  <a:srgbClr val="535D69"/>
                </a:solidFill>
                <a:latin typeface="맑은 고딕"/>
                <a:ea typeface="맑은 고딕"/>
                <a:cs typeface="맑은 고딕"/>
              </a:defRPr>
            </a:lvl5pPr>
            <a:lvl6pPr>
              <a:defRPr sz="1125" b="0">
                <a:solidFill>
                  <a:srgbClr val="535D69"/>
                </a:solidFill>
                <a:latin typeface="맑은 고딕"/>
                <a:ea typeface="맑은 고딕"/>
                <a:cs typeface="맑은 고딕"/>
              </a:defRPr>
            </a:lvl6pPr>
            <a:lvl7pPr>
              <a:defRPr sz="1125" b="0">
                <a:solidFill>
                  <a:srgbClr val="535D69"/>
                </a:solidFill>
                <a:latin typeface="맑은 고딕"/>
                <a:ea typeface="맑은 고딕"/>
                <a:cs typeface="맑은 고딕"/>
              </a:defRPr>
            </a:lvl7pPr>
            <a:lvl8pPr>
              <a:defRPr sz="1125" b="0">
                <a:solidFill>
                  <a:srgbClr val="535D69"/>
                </a:solidFill>
                <a:latin typeface="맑은 고딕"/>
                <a:ea typeface="맑은 고딕"/>
                <a:cs typeface="맑은 고딕"/>
              </a:defRPr>
            </a:lvl8pPr>
            <a:lvl9pPr>
              <a:defRPr sz="1125" b="0">
                <a:solidFill>
                  <a:srgbClr val="535D69"/>
                </a:solidFill>
                <a:latin typeface="맑은 고딕"/>
                <a:ea typeface="맑은 고딕"/>
                <a:cs typeface="맑은 고딕"/>
              </a:defRPr>
            </a:lvl9pPr>
          </a:lstStyle>
          <a:p>
            <a:pPr>
              <a:defRPr sz="1125" b="0">
                <a:solidFill>
                  <a:srgbClr val="535D69"/>
                </a:solidFill>
                <a:latin typeface="맑은 고딕"/>
                <a:ea typeface="맑은 고딕"/>
                <a:cs typeface="맑은 고딕"/>
              </a:defRPr>
            </a:pPr>
            <a:r>
              <a:rPr sz="1125" b="0">
                <a:solidFill>
                  <a:srgbClr val="535D69"/>
                </a:solidFill>
                <a:latin typeface="맑은 고딕"/>
                <a:ea typeface="맑은 고딕"/>
                <a:cs typeface="맑은 고딕"/>
              </a:rPr>
              <a:t>영어·한국사 처리까지 모든 영역이 동일한 지표를 사용한다는 뜻은 아님.</a:t>
            </a:r>
          </a:p>
        </p:txBody>
      </p:sp>
      <p:sp>
        <p:nvSpPr>
          <p:cNvPr id="5" name="직사각형 4">
            <a:extLst>
              <a:ext uri="{FF2B5EF4-FFF2-40B4-BE49-F238E27FC236}">
                <a16:creationId xmlns:a16="http://schemas.microsoft.com/office/drawing/2014/main" id="{13F1A976-F5F8-402D-A44A-22589F89E89F}"/>
              </a:ext>
            </a:extLst>
          </p:cNvPr>
          <p:cNvSpPr>
            <a:spLocks noGrp="1"/>
          </p:cNvSpPr>
          <p:nvPr/>
        </p:nvSpPr>
        <p:spPr>
          <a:xfrm>
            <a:off x="381000" y="9572625"/>
            <a:ext cx="10096500" cy="361950"/>
          </a:xfrm>
          <a:prstGeom prst="rect">
            <a:avLst/>
          </a:prstGeom>
          <a:noFill/>
          <a:ln w="0">
            <a:noFill/>
          </a:ln>
        </p:spPr>
        <p:txBody>
          <a:bodyPr lIns="0" tIns="0" rIns="0" bIns="0" anchor="t"/>
          <a:lstStyle>
            <a:defPPr>
              <a:defRPr sz="900" b="0">
                <a:solidFill>
                  <a:srgbClr val="666666"/>
                </a:solidFill>
                <a:latin typeface="맑은 고딕"/>
                <a:ea typeface="맑은 고딕"/>
                <a:cs typeface="맑은 고딕"/>
              </a:defRPr>
            </a:defPPr>
            <a:lvl1pPr>
              <a:defRPr sz="900" b="0">
                <a:solidFill>
                  <a:srgbClr val="666666"/>
                </a:solidFill>
                <a:latin typeface="맑은 고딕"/>
                <a:ea typeface="맑은 고딕"/>
                <a:cs typeface="맑은 고딕"/>
              </a:defRPr>
            </a:lvl1pPr>
            <a:lvl2pPr>
              <a:defRPr sz="900" b="0">
                <a:solidFill>
                  <a:srgbClr val="666666"/>
                </a:solidFill>
                <a:latin typeface="맑은 고딕"/>
                <a:ea typeface="맑은 고딕"/>
                <a:cs typeface="맑은 고딕"/>
              </a:defRPr>
            </a:lvl2pPr>
            <a:lvl3pPr>
              <a:defRPr sz="900" b="0">
                <a:solidFill>
                  <a:srgbClr val="666666"/>
                </a:solidFill>
                <a:latin typeface="맑은 고딕"/>
                <a:ea typeface="맑은 고딕"/>
                <a:cs typeface="맑은 고딕"/>
              </a:defRPr>
            </a:lvl3pPr>
            <a:lvl4pPr>
              <a:defRPr sz="900" b="0">
                <a:solidFill>
                  <a:srgbClr val="666666"/>
                </a:solidFill>
                <a:latin typeface="맑은 고딕"/>
                <a:ea typeface="맑은 고딕"/>
                <a:cs typeface="맑은 고딕"/>
              </a:defRPr>
            </a:lvl4pPr>
            <a:lvl5pPr>
              <a:defRPr sz="900" b="0">
                <a:solidFill>
                  <a:srgbClr val="666666"/>
                </a:solidFill>
                <a:latin typeface="맑은 고딕"/>
                <a:ea typeface="맑은 고딕"/>
                <a:cs typeface="맑은 고딕"/>
              </a:defRPr>
            </a:lvl5pPr>
            <a:lvl6pPr>
              <a:defRPr sz="900" b="0">
                <a:solidFill>
                  <a:srgbClr val="666666"/>
                </a:solidFill>
                <a:latin typeface="맑은 고딕"/>
                <a:ea typeface="맑은 고딕"/>
                <a:cs typeface="맑은 고딕"/>
              </a:defRPr>
            </a:lvl6pPr>
            <a:lvl7pPr>
              <a:defRPr sz="900" b="0">
                <a:solidFill>
                  <a:srgbClr val="666666"/>
                </a:solidFill>
                <a:latin typeface="맑은 고딕"/>
                <a:ea typeface="맑은 고딕"/>
                <a:cs typeface="맑은 고딕"/>
              </a:defRPr>
            </a:lvl7pPr>
            <a:lvl8pPr>
              <a:defRPr sz="900" b="0">
                <a:solidFill>
                  <a:srgbClr val="666666"/>
                </a:solidFill>
                <a:latin typeface="맑은 고딕"/>
                <a:ea typeface="맑은 고딕"/>
                <a:cs typeface="맑은 고딕"/>
              </a:defRPr>
            </a:lvl8pPr>
            <a:lvl9pPr>
              <a:defRPr sz="900" b="0">
                <a:solidFill>
                  <a:srgbClr val="666666"/>
                </a:solidFill>
                <a:latin typeface="맑은 고딕"/>
                <a:ea typeface="맑은 고딕"/>
                <a:cs typeface="맑은 고딕"/>
              </a:defRPr>
            </a:lvl9pPr>
          </a:lstStyle>
          <a:p>
            <a:pPr>
              <a:defRPr sz="900" b="0">
                <a:solidFill>
                  <a:srgbClr val="666666"/>
                </a:solidFill>
                <a:latin typeface="맑은 고딕"/>
                <a:ea typeface="맑은 고딕"/>
                <a:cs typeface="맑은 고딕"/>
              </a:defRPr>
            </a:pPr>
            <a:r>
              <a:rPr sz="900" b="0">
                <a:solidFill>
                  <a:srgbClr val="666666"/>
                </a:solidFill>
                <a:latin typeface="맑은 고딕"/>
                <a:ea typeface="맑은 고딕"/>
                <a:cs typeface="맑은 고딕"/>
              </a:rPr>
              <a:t>근거  인천 18~20쪽 / SEN 109·124·250·253·258·299쪽 / 가천 시행계획 정시 반영방법 / 고려 PDF 4·24~26쪽 / 서강 PDF 31~32쪽 / 서울 PDF 17~18쪽 / 중앙 PDF 30·32쪽</a:t>
            </a:r>
          </a:p>
        </p:txBody>
      </p:sp>
      <p:sp>
        <p:nvSpPr>
          <p:cNvPr id="6" name="직사각형 5">
            <a:extLst>
              <a:ext uri="{FF2B5EF4-FFF2-40B4-BE49-F238E27FC236}">
                <a16:creationId xmlns:a16="http://schemas.microsoft.com/office/drawing/2014/main" id="{F1A36BA4-39F5-409C-8D71-32A3C1079F92}"/>
              </a:ext>
            </a:extLst>
          </p:cNvPr>
          <p:cNvSpPr>
            <a:spLocks noGrp="1"/>
          </p:cNvSpPr>
          <p:nvPr/>
        </p:nvSpPr>
        <p:spPr>
          <a:xfrm>
            <a:off x="10715625" y="9572625"/>
            <a:ext cx="333375" cy="228600"/>
          </a:xfrm>
          <a:prstGeom prst="rect">
            <a:avLst/>
          </a:prstGeom>
          <a:noFill/>
          <a:ln w="0">
            <a:noFill/>
          </a:ln>
        </p:spPr>
        <p:txBody>
          <a:bodyPr lIns="0" tIns="0" rIns="0" bIns="0" anchor="t"/>
          <a:lstStyle>
            <a:defPPr>
              <a:defRPr sz="1050" b="0">
                <a:solidFill>
                  <a:srgbClr val="002060"/>
                </a:solidFill>
                <a:latin typeface="맑은 고딕"/>
                <a:ea typeface="맑은 고딕"/>
                <a:cs typeface="맑은 고딕"/>
              </a:defRPr>
            </a:defPPr>
            <a:lvl1pPr>
              <a:defRPr sz="1050" b="0">
                <a:solidFill>
                  <a:srgbClr val="002060"/>
                </a:solidFill>
                <a:latin typeface="맑은 고딕"/>
                <a:ea typeface="맑은 고딕"/>
                <a:cs typeface="맑은 고딕"/>
              </a:defRPr>
            </a:lvl1pPr>
            <a:lvl2pPr>
              <a:defRPr sz="1050" b="0">
                <a:solidFill>
                  <a:srgbClr val="002060"/>
                </a:solidFill>
                <a:latin typeface="맑은 고딕"/>
                <a:ea typeface="맑은 고딕"/>
                <a:cs typeface="맑은 고딕"/>
              </a:defRPr>
            </a:lvl2pPr>
            <a:lvl3pPr>
              <a:defRPr sz="1050" b="0">
                <a:solidFill>
                  <a:srgbClr val="002060"/>
                </a:solidFill>
                <a:latin typeface="맑은 고딕"/>
                <a:ea typeface="맑은 고딕"/>
                <a:cs typeface="맑은 고딕"/>
              </a:defRPr>
            </a:lvl3pPr>
            <a:lvl4pPr>
              <a:defRPr sz="1050" b="0">
                <a:solidFill>
                  <a:srgbClr val="002060"/>
                </a:solidFill>
                <a:latin typeface="맑은 고딕"/>
                <a:ea typeface="맑은 고딕"/>
                <a:cs typeface="맑은 고딕"/>
              </a:defRPr>
            </a:lvl4pPr>
            <a:lvl5pPr>
              <a:defRPr sz="1050" b="0">
                <a:solidFill>
                  <a:srgbClr val="002060"/>
                </a:solidFill>
                <a:latin typeface="맑은 고딕"/>
                <a:ea typeface="맑은 고딕"/>
                <a:cs typeface="맑은 고딕"/>
              </a:defRPr>
            </a:lvl5pPr>
            <a:lvl6pPr>
              <a:defRPr sz="1050" b="0">
                <a:solidFill>
                  <a:srgbClr val="002060"/>
                </a:solidFill>
                <a:latin typeface="맑은 고딕"/>
                <a:ea typeface="맑은 고딕"/>
                <a:cs typeface="맑은 고딕"/>
              </a:defRPr>
            </a:lvl6pPr>
            <a:lvl7pPr>
              <a:defRPr sz="1050" b="0">
                <a:solidFill>
                  <a:srgbClr val="002060"/>
                </a:solidFill>
                <a:latin typeface="맑은 고딕"/>
                <a:ea typeface="맑은 고딕"/>
                <a:cs typeface="맑은 고딕"/>
              </a:defRPr>
            </a:lvl7pPr>
            <a:lvl8pPr>
              <a:defRPr sz="1050" b="0">
                <a:solidFill>
                  <a:srgbClr val="002060"/>
                </a:solidFill>
                <a:latin typeface="맑은 고딕"/>
                <a:ea typeface="맑은 고딕"/>
                <a:cs typeface="맑은 고딕"/>
              </a:defRPr>
            </a:lvl8pPr>
            <a:lvl9pPr>
              <a:defRPr sz="1050" b="0">
                <a:solidFill>
                  <a:srgbClr val="002060"/>
                </a:solidFill>
                <a:latin typeface="맑은 고딕"/>
                <a:ea typeface="맑은 고딕"/>
                <a:cs typeface="맑은 고딕"/>
              </a:defRPr>
            </a:lvl9pPr>
          </a:lstStyle>
          <a:p>
            <a:pPr>
              <a:defRPr sz="1050" b="0">
                <a:solidFill>
                  <a:srgbClr val="002060"/>
                </a:solidFill>
                <a:latin typeface="맑은 고딕"/>
                <a:ea typeface="맑은 고딕"/>
                <a:cs typeface="맑은 고딕"/>
              </a:defRPr>
            </a:pPr>
            <a:r>
              <a:rPr sz="1050" b="0">
                <a:solidFill>
                  <a:srgbClr val="002060"/>
                </a:solidFill>
                <a:latin typeface="맑은 고딕"/>
                <a:ea typeface="맑은 고딕"/>
                <a:cs typeface="맑은 고딕"/>
              </a:rPr>
              <a:t>11</a:t>
            </a:r>
          </a:p>
        </p:txBody>
      </p:sp>
    </p:spTree>
    <p:extLst>
      <p:ext uri="{BB962C8B-B14F-4D97-AF65-F5344CB8AC3E}">
        <p14:creationId xmlns:p14="http://schemas.microsoft.com/office/powerpoint/2010/main" val="9412024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17EAE78C-1900-4C67-A7DC-01B243FFE46D}"/>
              </a:ext>
            </a:extLst>
          </p:cNvPr>
          <p:cNvSpPr>
            <a:spLocks noGrp="1"/>
          </p:cNvSpPr>
          <p:nvPr/>
        </p:nvSpPr>
        <p:spPr>
          <a:xfrm>
            <a:off x="381000" y="228600"/>
            <a:ext cx="9525000" cy="238125"/>
          </a:xfrm>
          <a:prstGeom prst="rect">
            <a:avLst/>
          </a:prstGeom>
          <a:noFill/>
          <a:ln w="0">
            <a:noFill/>
          </a:ln>
        </p:spPr>
        <p:txBody>
          <a:bodyPr lIns="0" tIns="0" rIns="0" bIns="0" anchor="t"/>
          <a:lstStyle>
            <a:defPPr>
              <a:defRPr sz="1200" b="1">
                <a:solidFill>
                  <a:srgbClr val="002060"/>
                </a:solidFill>
                <a:latin typeface="맑은 고딕"/>
                <a:ea typeface="맑은 고딕"/>
                <a:cs typeface="맑은 고딕"/>
              </a:defRPr>
            </a:defPPr>
            <a:lvl1pPr>
              <a:defRPr sz="1200" b="1">
                <a:solidFill>
                  <a:srgbClr val="002060"/>
                </a:solidFill>
                <a:latin typeface="맑은 고딕"/>
                <a:ea typeface="맑은 고딕"/>
                <a:cs typeface="맑은 고딕"/>
              </a:defRPr>
            </a:lvl1pPr>
            <a:lvl2pPr>
              <a:defRPr sz="1200" b="1">
                <a:solidFill>
                  <a:srgbClr val="002060"/>
                </a:solidFill>
                <a:latin typeface="맑은 고딕"/>
                <a:ea typeface="맑은 고딕"/>
                <a:cs typeface="맑은 고딕"/>
              </a:defRPr>
            </a:lvl2pPr>
            <a:lvl3pPr>
              <a:defRPr sz="1200" b="1">
                <a:solidFill>
                  <a:srgbClr val="002060"/>
                </a:solidFill>
                <a:latin typeface="맑은 고딕"/>
                <a:ea typeface="맑은 고딕"/>
                <a:cs typeface="맑은 고딕"/>
              </a:defRPr>
            </a:lvl3pPr>
            <a:lvl4pPr>
              <a:defRPr sz="1200" b="1">
                <a:solidFill>
                  <a:srgbClr val="002060"/>
                </a:solidFill>
                <a:latin typeface="맑은 고딕"/>
                <a:ea typeface="맑은 고딕"/>
                <a:cs typeface="맑은 고딕"/>
              </a:defRPr>
            </a:lvl4pPr>
            <a:lvl5pPr>
              <a:defRPr sz="1200" b="1">
                <a:solidFill>
                  <a:srgbClr val="002060"/>
                </a:solidFill>
                <a:latin typeface="맑은 고딕"/>
                <a:ea typeface="맑은 고딕"/>
                <a:cs typeface="맑은 고딕"/>
              </a:defRPr>
            </a:lvl5pPr>
            <a:lvl6pPr>
              <a:defRPr sz="1200" b="1">
                <a:solidFill>
                  <a:srgbClr val="002060"/>
                </a:solidFill>
                <a:latin typeface="맑은 고딕"/>
                <a:ea typeface="맑은 고딕"/>
                <a:cs typeface="맑은 고딕"/>
              </a:defRPr>
            </a:lvl6pPr>
            <a:lvl7pPr>
              <a:defRPr sz="1200" b="1">
                <a:solidFill>
                  <a:srgbClr val="002060"/>
                </a:solidFill>
                <a:latin typeface="맑은 고딕"/>
                <a:ea typeface="맑은 고딕"/>
                <a:cs typeface="맑은 고딕"/>
              </a:defRPr>
            </a:lvl7pPr>
            <a:lvl8pPr>
              <a:defRPr sz="1200" b="1">
                <a:solidFill>
                  <a:srgbClr val="002060"/>
                </a:solidFill>
                <a:latin typeface="맑은 고딕"/>
                <a:ea typeface="맑은 고딕"/>
                <a:cs typeface="맑은 고딕"/>
              </a:defRPr>
            </a:lvl8pPr>
            <a:lvl9pPr>
              <a:defRPr sz="1200" b="1">
                <a:solidFill>
                  <a:srgbClr val="002060"/>
                </a:solidFill>
                <a:latin typeface="맑은 고딕"/>
                <a:ea typeface="맑은 고딕"/>
                <a:cs typeface="맑은 고딕"/>
              </a:defRPr>
            </a:lvl9pPr>
          </a:lstStyle>
          <a:p>
            <a:pPr>
              <a:defRPr sz="1200" b="1">
                <a:solidFill>
                  <a:srgbClr val="002060"/>
                </a:solidFill>
                <a:latin typeface="맑은 고딕"/>
                <a:ea typeface="맑은 고딕"/>
                <a:cs typeface="맑은 고딕"/>
              </a:defRPr>
            </a:pPr>
            <a:r>
              <a:rPr sz="1200" b="1">
                <a:solidFill>
                  <a:srgbClr val="002060"/>
                </a:solidFill>
                <a:latin typeface="맑은 고딕"/>
                <a:ea typeface="맑은 고딕"/>
                <a:cs typeface="맑은 고딕"/>
              </a:rPr>
              <a:t>2028 정시  대학별 전형 비교</a:t>
            </a:r>
          </a:p>
        </p:txBody>
      </p:sp>
      <p:sp>
        <p:nvSpPr>
          <p:cNvPr id="2" name="직사각형 1">
            <a:extLst>
              <a:ext uri="{FF2B5EF4-FFF2-40B4-BE49-F238E27FC236}">
                <a16:creationId xmlns:a16="http://schemas.microsoft.com/office/drawing/2014/main" id="{FF608A4B-4640-47A4-9204-C6ABD497DEC3}"/>
              </a:ext>
            </a:extLst>
          </p:cNvPr>
          <p:cNvSpPr>
            <a:spLocks noGrp="1"/>
          </p:cNvSpPr>
          <p:nvPr/>
        </p:nvSpPr>
        <p:spPr>
          <a:xfrm>
            <a:off x="381000" y="619125"/>
            <a:ext cx="10668000" cy="533400"/>
          </a:xfrm>
          <a:prstGeom prst="rect">
            <a:avLst/>
          </a:prstGeom>
          <a:noFill/>
          <a:ln w="0">
            <a:noFill/>
          </a:ln>
        </p:spPr>
        <p:txBody>
          <a:bodyPr lIns="0" tIns="0" rIns="0" bIns="0" anchor="t"/>
          <a:lstStyle>
            <a:defPPr>
              <a:defRPr sz="2400" b="1">
                <a:solidFill>
                  <a:srgbClr val="002060"/>
                </a:solidFill>
                <a:latin typeface="맑은 고딕"/>
                <a:ea typeface="맑은 고딕"/>
                <a:cs typeface="맑은 고딕"/>
              </a:defRPr>
            </a:defPPr>
            <a:lvl1pPr>
              <a:defRPr sz="2400" b="1">
                <a:solidFill>
                  <a:srgbClr val="002060"/>
                </a:solidFill>
                <a:latin typeface="맑은 고딕"/>
                <a:ea typeface="맑은 고딕"/>
                <a:cs typeface="맑은 고딕"/>
              </a:defRPr>
            </a:lvl1pPr>
            <a:lvl2pPr>
              <a:defRPr sz="2400" b="1">
                <a:solidFill>
                  <a:srgbClr val="002060"/>
                </a:solidFill>
                <a:latin typeface="맑은 고딕"/>
                <a:ea typeface="맑은 고딕"/>
                <a:cs typeface="맑은 고딕"/>
              </a:defRPr>
            </a:lvl2pPr>
            <a:lvl3pPr>
              <a:defRPr sz="2400" b="1">
                <a:solidFill>
                  <a:srgbClr val="002060"/>
                </a:solidFill>
                <a:latin typeface="맑은 고딕"/>
                <a:ea typeface="맑은 고딕"/>
                <a:cs typeface="맑은 고딕"/>
              </a:defRPr>
            </a:lvl3pPr>
            <a:lvl4pPr>
              <a:defRPr sz="2400" b="1">
                <a:solidFill>
                  <a:srgbClr val="002060"/>
                </a:solidFill>
                <a:latin typeface="맑은 고딕"/>
                <a:ea typeface="맑은 고딕"/>
                <a:cs typeface="맑은 고딕"/>
              </a:defRPr>
            </a:lvl4pPr>
            <a:lvl5pPr>
              <a:defRPr sz="2400" b="1">
                <a:solidFill>
                  <a:srgbClr val="002060"/>
                </a:solidFill>
                <a:latin typeface="맑은 고딕"/>
                <a:ea typeface="맑은 고딕"/>
                <a:cs typeface="맑은 고딕"/>
              </a:defRPr>
            </a:lvl5pPr>
            <a:lvl6pPr>
              <a:defRPr sz="2400" b="1">
                <a:solidFill>
                  <a:srgbClr val="002060"/>
                </a:solidFill>
                <a:latin typeface="맑은 고딕"/>
                <a:ea typeface="맑은 고딕"/>
                <a:cs typeface="맑은 고딕"/>
              </a:defRPr>
            </a:lvl6pPr>
            <a:lvl7pPr>
              <a:defRPr sz="2400" b="1">
                <a:solidFill>
                  <a:srgbClr val="002060"/>
                </a:solidFill>
                <a:latin typeface="맑은 고딕"/>
                <a:ea typeface="맑은 고딕"/>
                <a:cs typeface="맑은 고딕"/>
              </a:defRPr>
            </a:lvl7pPr>
            <a:lvl8pPr>
              <a:defRPr sz="2400" b="1">
                <a:solidFill>
                  <a:srgbClr val="002060"/>
                </a:solidFill>
                <a:latin typeface="맑은 고딕"/>
                <a:ea typeface="맑은 고딕"/>
                <a:cs typeface="맑은 고딕"/>
              </a:defRPr>
            </a:lvl8pPr>
            <a:lvl9pPr>
              <a:defRPr sz="2400" b="1">
                <a:solidFill>
                  <a:srgbClr val="002060"/>
                </a:solidFill>
                <a:latin typeface="맑은 고딕"/>
                <a:ea typeface="맑은 고딕"/>
                <a:cs typeface="맑은 고딕"/>
              </a:defRPr>
            </a:lvl9pPr>
          </a:lstStyle>
          <a:p>
            <a:pPr>
              <a:defRPr sz="2400" b="1">
                <a:solidFill>
                  <a:srgbClr val="002060"/>
                </a:solidFill>
                <a:latin typeface="맑은 고딕"/>
                <a:ea typeface="맑은 고딕"/>
                <a:cs typeface="맑은 고딕"/>
              </a:defRPr>
            </a:pPr>
            <a:r>
              <a:rPr sz="2400" b="1">
                <a:solidFill>
                  <a:srgbClr val="002060"/>
                </a:solidFill>
                <a:latin typeface="맑은 고딕"/>
                <a:ea typeface="맑은 고딕"/>
                <a:cs typeface="맑은 고딕"/>
              </a:rPr>
              <a:t>단계형 선발과 면접 반영 비교</a:t>
            </a:r>
          </a:p>
        </p:txBody>
      </p:sp>
      <p:graphicFrame>
        <p:nvGraphicFramePr>
          <p:cNvPr id="3" name="표 2">
            <a:extLst>
              <a:ext uri="{FF2B5EF4-FFF2-40B4-BE49-F238E27FC236}">
                <a16:creationId xmlns:a16="http://schemas.microsoft.com/office/drawing/2014/main" id="{3A1AC0CF-0BA0-4E3D-837C-EB35EA00A5DF}"/>
              </a:ext>
            </a:extLst>
          </p:cNvPr>
          <p:cNvGraphicFramePr/>
          <p:nvPr/>
        </p:nvGraphicFramePr>
        <p:xfrm>
          <a:off x="381000" y="1381125"/>
          <a:ext cx="10668000" cy="2305050"/>
        </p:xfrm>
        <a:graphic>
          <a:graphicData uri="http://schemas.openxmlformats.org/drawingml/2006/table">
            <a:tbl>
              <a:tblPr/>
              <a:tblGrid>
                <a:gridCol w="276225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tblGrid>
              <a:tr h="400050">
                <a:tc>
                  <a:txBody>
                    <a:bodyPr/>
                    <a:lstStyle/>
                    <a:p>
                      <a:r>
                        <a:rPr sz="1500" b="1">
                          <a:solidFill>
                            <a:srgbClr val="FFFFFF"/>
                          </a:solidFill>
                          <a:latin typeface="맑은 고딕"/>
                          <a:ea typeface="맑은 고딕"/>
                          <a:cs typeface="맑은 고딕"/>
                        </a:rPr>
                        <a:t>대학·모집단위</a:t>
                      </a:r>
                    </a:p>
                  </a:txBody>
                  <a:tcPr marL="95250" marR="95250" marT="47625" marB="47625" anchor="ctr">
                    <a:lnL w="5715">
                      <a:solidFill>
                        <a:srgbClr val="C5CFDA"/>
                      </a:solidFill>
                      <a:prstDash val="soli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1단계</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최종 선발 또는 후속 평가</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extLst>
                  <a:ext uri="{0D108BD9-81ED-4DB2-BD59-A6C34878D82A}">
                    <a16:rowId xmlns:a16="http://schemas.microsoft.com/office/drawing/2014/main" val="10000"/>
                  </a:ext>
                </a:extLst>
              </a:tr>
              <a:tr h="381000">
                <a:tc>
                  <a:txBody>
                    <a:bodyPr/>
                    <a:lstStyle/>
                    <a:p>
                      <a:r>
                        <a:rPr sz="1500" b="1">
                          <a:solidFill>
                            <a:srgbClr val="17212D"/>
                          </a:solidFill>
                          <a:latin typeface="맑은 고딕"/>
                          <a:ea typeface="맑은 고딕"/>
                          <a:cs typeface="맑은 고딕"/>
                        </a:rPr>
                        <a:t>서울대 일반(대부분)</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수능 100, 3배수</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수능 60+교과역량 40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1"/>
                  </a:ext>
                </a:extLst>
              </a:tr>
              <a:tr h="381000">
                <a:tc>
                  <a:txBody>
                    <a:bodyPr/>
                    <a:lstStyle/>
                    <a:p>
                      <a:r>
                        <a:rPr sz="1500" b="1">
                          <a:solidFill>
                            <a:srgbClr val="17212D"/>
                          </a:solidFill>
                          <a:latin typeface="맑은 고딕"/>
                          <a:ea typeface="맑은 고딕"/>
                          <a:cs typeface="맑은 고딕"/>
                        </a:rPr>
                        <a:t>서울대 의·수의</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수능 100, 3배수</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수능 60+교과역량 20+면접 20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2"/>
                  </a:ext>
                </a:extLst>
              </a:tr>
              <a:tr h="381000">
                <a:tc>
                  <a:txBody>
                    <a:bodyPr/>
                    <a:lstStyle/>
                    <a:p>
                      <a:r>
                        <a:rPr sz="1500" b="1">
                          <a:solidFill>
                            <a:srgbClr val="17212D"/>
                          </a:solidFill>
                          <a:latin typeface="맑은 고딕"/>
                          <a:ea typeface="맑은 고딕"/>
                          <a:cs typeface="맑은 고딕"/>
                        </a:rPr>
                        <a:t>연세대 의예</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수능 100, 2.5배수</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수능 85+서류 10+면접 5</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3"/>
                  </a:ext>
                </a:extLst>
              </a:tr>
              <a:tr h="381000">
                <a:tc>
                  <a:txBody>
                    <a:bodyPr/>
                    <a:lstStyle/>
                    <a:p>
                      <a:r>
                        <a:rPr sz="1500" b="1">
                          <a:solidFill>
                            <a:srgbClr val="17212D"/>
                          </a:solidFill>
                          <a:latin typeface="맑은 고딕"/>
                          <a:ea typeface="맑은 고딕"/>
                          <a:cs typeface="맑은 고딕"/>
                        </a:rPr>
                        <a:t>홍익대 서울 미술</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수능 100, 3배수</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1단계 60+서류 40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4"/>
                  </a:ext>
                </a:extLst>
              </a:tr>
              <a:tr h="381000">
                <a:tc>
                  <a:txBody>
                    <a:bodyPr/>
                    <a:lstStyle/>
                    <a:p>
                      <a:r>
                        <a:rPr sz="1500" b="1">
                          <a:solidFill>
                            <a:srgbClr val="17212D"/>
                          </a:solidFill>
                          <a:latin typeface="맑은 고딕"/>
                          <a:ea typeface="맑은 고딕"/>
                          <a:cs typeface="맑은 고딕"/>
                        </a:rPr>
                        <a:t>아주대 의학 일반1</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일괄합산</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수능 95+면접 5</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4" name="직사각형 3">
            <a:extLst>
              <a:ext uri="{FF2B5EF4-FFF2-40B4-BE49-F238E27FC236}">
                <a16:creationId xmlns:a16="http://schemas.microsoft.com/office/drawing/2014/main" id="{6ED4090E-2596-4F4D-A582-5BEB40946870}"/>
              </a:ext>
            </a:extLst>
          </p:cNvPr>
          <p:cNvSpPr>
            <a:spLocks noGrp="1"/>
          </p:cNvSpPr>
          <p:nvPr/>
        </p:nvSpPr>
        <p:spPr>
          <a:xfrm>
            <a:off x="381000" y="3810000"/>
            <a:ext cx="10668000" cy="257175"/>
          </a:xfrm>
          <a:prstGeom prst="rect">
            <a:avLst/>
          </a:prstGeom>
          <a:noFill/>
          <a:ln w="0">
            <a:noFill/>
          </a:ln>
        </p:spPr>
        <p:txBody>
          <a:bodyPr lIns="0" tIns="0" rIns="0" bIns="0" anchor="t"/>
          <a:lstStyle>
            <a:defPPr>
              <a:defRPr sz="1125" b="0">
                <a:solidFill>
                  <a:srgbClr val="535D69"/>
                </a:solidFill>
                <a:latin typeface="맑은 고딕"/>
                <a:ea typeface="맑은 고딕"/>
                <a:cs typeface="맑은 고딕"/>
              </a:defRPr>
            </a:defPPr>
            <a:lvl1pPr>
              <a:defRPr sz="1125" b="0">
                <a:solidFill>
                  <a:srgbClr val="535D69"/>
                </a:solidFill>
                <a:latin typeface="맑은 고딕"/>
                <a:ea typeface="맑은 고딕"/>
                <a:cs typeface="맑은 고딕"/>
              </a:defRPr>
            </a:lvl1pPr>
            <a:lvl2pPr>
              <a:defRPr sz="1125" b="0">
                <a:solidFill>
                  <a:srgbClr val="535D69"/>
                </a:solidFill>
                <a:latin typeface="맑은 고딕"/>
                <a:ea typeface="맑은 고딕"/>
                <a:cs typeface="맑은 고딕"/>
              </a:defRPr>
            </a:lvl2pPr>
            <a:lvl3pPr>
              <a:defRPr sz="1125" b="0">
                <a:solidFill>
                  <a:srgbClr val="535D69"/>
                </a:solidFill>
                <a:latin typeface="맑은 고딕"/>
                <a:ea typeface="맑은 고딕"/>
                <a:cs typeface="맑은 고딕"/>
              </a:defRPr>
            </a:lvl3pPr>
            <a:lvl4pPr>
              <a:defRPr sz="1125" b="0">
                <a:solidFill>
                  <a:srgbClr val="535D69"/>
                </a:solidFill>
                <a:latin typeface="맑은 고딕"/>
                <a:ea typeface="맑은 고딕"/>
                <a:cs typeface="맑은 고딕"/>
              </a:defRPr>
            </a:lvl4pPr>
            <a:lvl5pPr>
              <a:defRPr sz="1125" b="0">
                <a:solidFill>
                  <a:srgbClr val="535D69"/>
                </a:solidFill>
                <a:latin typeface="맑은 고딕"/>
                <a:ea typeface="맑은 고딕"/>
                <a:cs typeface="맑은 고딕"/>
              </a:defRPr>
            </a:lvl5pPr>
            <a:lvl6pPr>
              <a:defRPr sz="1125" b="0">
                <a:solidFill>
                  <a:srgbClr val="535D69"/>
                </a:solidFill>
                <a:latin typeface="맑은 고딕"/>
                <a:ea typeface="맑은 고딕"/>
                <a:cs typeface="맑은 고딕"/>
              </a:defRPr>
            </a:lvl6pPr>
            <a:lvl7pPr>
              <a:defRPr sz="1125" b="0">
                <a:solidFill>
                  <a:srgbClr val="535D69"/>
                </a:solidFill>
                <a:latin typeface="맑은 고딕"/>
                <a:ea typeface="맑은 고딕"/>
                <a:cs typeface="맑은 고딕"/>
              </a:defRPr>
            </a:lvl7pPr>
            <a:lvl8pPr>
              <a:defRPr sz="1125" b="0">
                <a:solidFill>
                  <a:srgbClr val="535D69"/>
                </a:solidFill>
                <a:latin typeface="맑은 고딕"/>
                <a:ea typeface="맑은 고딕"/>
                <a:cs typeface="맑은 고딕"/>
              </a:defRPr>
            </a:lvl8pPr>
            <a:lvl9pPr>
              <a:defRPr sz="1125" b="0">
                <a:solidFill>
                  <a:srgbClr val="535D69"/>
                </a:solidFill>
                <a:latin typeface="맑은 고딕"/>
                <a:ea typeface="맑은 고딕"/>
                <a:cs typeface="맑은 고딕"/>
              </a:defRPr>
            </a:lvl9pPr>
          </a:lstStyle>
          <a:p>
            <a:pPr>
              <a:defRPr sz="1125" b="0">
                <a:solidFill>
                  <a:srgbClr val="535D69"/>
                </a:solidFill>
                <a:latin typeface="맑은 고딕"/>
                <a:ea typeface="맑은 고딕"/>
                <a:cs typeface="맑은 고딕"/>
              </a:defRPr>
            </a:pPr>
            <a:r>
              <a:rPr sz="1125" b="0">
                <a:solidFill>
                  <a:srgbClr val="535D69"/>
                </a:solidFill>
                <a:latin typeface="맑은 고딕"/>
                <a:ea typeface="맑은 고딕"/>
                <a:cs typeface="맑은 고딕"/>
              </a:rPr>
              <a:t>예체능·군사·의학 특수 모집단위를 일반 인문·자연 전형에 일반화하지 않음.</a:t>
            </a:r>
          </a:p>
        </p:txBody>
      </p:sp>
      <p:sp>
        <p:nvSpPr>
          <p:cNvPr id="5" name="직사각형 4">
            <a:extLst>
              <a:ext uri="{FF2B5EF4-FFF2-40B4-BE49-F238E27FC236}">
                <a16:creationId xmlns:a16="http://schemas.microsoft.com/office/drawing/2014/main" id="{A25E9D78-BDDA-4734-BC4C-4EE5E558F050}"/>
              </a:ext>
            </a:extLst>
          </p:cNvPr>
          <p:cNvSpPr>
            <a:spLocks noGrp="1"/>
          </p:cNvSpPr>
          <p:nvPr/>
        </p:nvSpPr>
        <p:spPr>
          <a:xfrm>
            <a:off x="381000" y="9572625"/>
            <a:ext cx="10096500" cy="361950"/>
          </a:xfrm>
          <a:prstGeom prst="rect">
            <a:avLst/>
          </a:prstGeom>
          <a:noFill/>
          <a:ln w="0">
            <a:noFill/>
          </a:ln>
        </p:spPr>
        <p:txBody>
          <a:bodyPr lIns="0" tIns="0" rIns="0" bIns="0" anchor="t"/>
          <a:lstStyle>
            <a:defPPr>
              <a:defRPr sz="900" b="0">
                <a:solidFill>
                  <a:srgbClr val="666666"/>
                </a:solidFill>
                <a:latin typeface="맑은 고딕"/>
                <a:ea typeface="맑은 고딕"/>
                <a:cs typeface="맑은 고딕"/>
              </a:defRPr>
            </a:defPPr>
            <a:lvl1pPr>
              <a:defRPr sz="900" b="0">
                <a:solidFill>
                  <a:srgbClr val="666666"/>
                </a:solidFill>
                <a:latin typeface="맑은 고딕"/>
                <a:ea typeface="맑은 고딕"/>
                <a:cs typeface="맑은 고딕"/>
              </a:defRPr>
            </a:lvl1pPr>
            <a:lvl2pPr>
              <a:defRPr sz="900" b="0">
                <a:solidFill>
                  <a:srgbClr val="666666"/>
                </a:solidFill>
                <a:latin typeface="맑은 고딕"/>
                <a:ea typeface="맑은 고딕"/>
                <a:cs typeface="맑은 고딕"/>
              </a:defRPr>
            </a:lvl2pPr>
            <a:lvl3pPr>
              <a:defRPr sz="900" b="0">
                <a:solidFill>
                  <a:srgbClr val="666666"/>
                </a:solidFill>
                <a:latin typeface="맑은 고딕"/>
                <a:ea typeface="맑은 고딕"/>
                <a:cs typeface="맑은 고딕"/>
              </a:defRPr>
            </a:lvl3pPr>
            <a:lvl4pPr>
              <a:defRPr sz="900" b="0">
                <a:solidFill>
                  <a:srgbClr val="666666"/>
                </a:solidFill>
                <a:latin typeface="맑은 고딕"/>
                <a:ea typeface="맑은 고딕"/>
                <a:cs typeface="맑은 고딕"/>
              </a:defRPr>
            </a:lvl4pPr>
            <a:lvl5pPr>
              <a:defRPr sz="900" b="0">
                <a:solidFill>
                  <a:srgbClr val="666666"/>
                </a:solidFill>
                <a:latin typeface="맑은 고딕"/>
                <a:ea typeface="맑은 고딕"/>
                <a:cs typeface="맑은 고딕"/>
              </a:defRPr>
            </a:lvl5pPr>
            <a:lvl6pPr>
              <a:defRPr sz="900" b="0">
                <a:solidFill>
                  <a:srgbClr val="666666"/>
                </a:solidFill>
                <a:latin typeface="맑은 고딕"/>
                <a:ea typeface="맑은 고딕"/>
                <a:cs typeface="맑은 고딕"/>
              </a:defRPr>
            </a:lvl6pPr>
            <a:lvl7pPr>
              <a:defRPr sz="900" b="0">
                <a:solidFill>
                  <a:srgbClr val="666666"/>
                </a:solidFill>
                <a:latin typeface="맑은 고딕"/>
                <a:ea typeface="맑은 고딕"/>
                <a:cs typeface="맑은 고딕"/>
              </a:defRPr>
            </a:lvl7pPr>
            <a:lvl8pPr>
              <a:defRPr sz="900" b="0">
                <a:solidFill>
                  <a:srgbClr val="666666"/>
                </a:solidFill>
                <a:latin typeface="맑은 고딕"/>
                <a:ea typeface="맑은 고딕"/>
                <a:cs typeface="맑은 고딕"/>
              </a:defRPr>
            </a:lvl8pPr>
            <a:lvl9pPr>
              <a:defRPr sz="900" b="0">
                <a:solidFill>
                  <a:srgbClr val="666666"/>
                </a:solidFill>
                <a:latin typeface="맑은 고딕"/>
                <a:ea typeface="맑은 고딕"/>
                <a:cs typeface="맑은 고딕"/>
              </a:defRPr>
            </a:lvl9pPr>
          </a:lstStyle>
          <a:p>
            <a:pPr>
              <a:defRPr sz="900" b="0">
                <a:solidFill>
                  <a:srgbClr val="666666"/>
                </a:solidFill>
                <a:latin typeface="맑은 고딕"/>
                <a:ea typeface="맑은 고딕"/>
                <a:cs typeface="맑은 고딕"/>
              </a:defRPr>
            </a:pPr>
            <a:r>
              <a:rPr sz="900" b="0">
                <a:solidFill>
                  <a:srgbClr val="666666"/>
                </a:solidFill>
                <a:latin typeface="맑은 고딕"/>
                <a:ea typeface="맑은 고딕"/>
                <a:cs typeface="맑은 고딕"/>
              </a:rPr>
              <a:t>근거  서울 PDF 17·20쪽 / 연세 PDF 24쪽 / 홍익 시행계획 정시 미술 / 아주 시행계획 정시 일반1 / 고려 PDF 24·26쪽</a:t>
            </a:r>
          </a:p>
        </p:txBody>
      </p:sp>
      <p:sp>
        <p:nvSpPr>
          <p:cNvPr id="6" name="직사각형 5">
            <a:extLst>
              <a:ext uri="{FF2B5EF4-FFF2-40B4-BE49-F238E27FC236}">
                <a16:creationId xmlns:a16="http://schemas.microsoft.com/office/drawing/2014/main" id="{F249D7DD-77DB-4B90-A0FF-9306EAA6784A}"/>
              </a:ext>
            </a:extLst>
          </p:cNvPr>
          <p:cNvSpPr>
            <a:spLocks noGrp="1"/>
          </p:cNvSpPr>
          <p:nvPr/>
        </p:nvSpPr>
        <p:spPr>
          <a:xfrm>
            <a:off x="10715625" y="9572625"/>
            <a:ext cx="333375" cy="228600"/>
          </a:xfrm>
          <a:prstGeom prst="rect">
            <a:avLst/>
          </a:prstGeom>
          <a:noFill/>
          <a:ln w="0">
            <a:noFill/>
          </a:ln>
        </p:spPr>
        <p:txBody>
          <a:bodyPr lIns="0" tIns="0" rIns="0" bIns="0" anchor="t"/>
          <a:lstStyle>
            <a:defPPr>
              <a:defRPr sz="1050" b="0">
                <a:solidFill>
                  <a:srgbClr val="002060"/>
                </a:solidFill>
                <a:latin typeface="맑은 고딕"/>
                <a:ea typeface="맑은 고딕"/>
                <a:cs typeface="맑은 고딕"/>
              </a:defRPr>
            </a:defPPr>
            <a:lvl1pPr>
              <a:defRPr sz="1050" b="0">
                <a:solidFill>
                  <a:srgbClr val="002060"/>
                </a:solidFill>
                <a:latin typeface="맑은 고딕"/>
                <a:ea typeface="맑은 고딕"/>
                <a:cs typeface="맑은 고딕"/>
              </a:defRPr>
            </a:lvl1pPr>
            <a:lvl2pPr>
              <a:defRPr sz="1050" b="0">
                <a:solidFill>
                  <a:srgbClr val="002060"/>
                </a:solidFill>
                <a:latin typeface="맑은 고딕"/>
                <a:ea typeface="맑은 고딕"/>
                <a:cs typeface="맑은 고딕"/>
              </a:defRPr>
            </a:lvl2pPr>
            <a:lvl3pPr>
              <a:defRPr sz="1050" b="0">
                <a:solidFill>
                  <a:srgbClr val="002060"/>
                </a:solidFill>
                <a:latin typeface="맑은 고딕"/>
                <a:ea typeface="맑은 고딕"/>
                <a:cs typeface="맑은 고딕"/>
              </a:defRPr>
            </a:lvl3pPr>
            <a:lvl4pPr>
              <a:defRPr sz="1050" b="0">
                <a:solidFill>
                  <a:srgbClr val="002060"/>
                </a:solidFill>
                <a:latin typeface="맑은 고딕"/>
                <a:ea typeface="맑은 고딕"/>
                <a:cs typeface="맑은 고딕"/>
              </a:defRPr>
            </a:lvl4pPr>
            <a:lvl5pPr>
              <a:defRPr sz="1050" b="0">
                <a:solidFill>
                  <a:srgbClr val="002060"/>
                </a:solidFill>
                <a:latin typeface="맑은 고딕"/>
                <a:ea typeface="맑은 고딕"/>
                <a:cs typeface="맑은 고딕"/>
              </a:defRPr>
            </a:lvl5pPr>
            <a:lvl6pPr>
              <a:defRPr sz="1050" b="0">
                <a:solidFill>
                  <a:srgbClr val="002060"/>
                </a:solidFill>
                <a:latin typeface="맑은 고딕"/>
                <a:ea typeface="맑은 고딕"/>
                <a:cs typeface="맑은 고딕"/>
              </a:defRPr>
            </a:lvl6pPr>
            <a:lvl7pPr>
              <a:defRPr sz="1050" b="0">
                <a:solidFill>
                  <a:srgbClr val="002060"/>
                </a:solidFill>
                <a:latin typeface="맑은 고딕"/>
                <a:ea typeface="맑은 고딕"/>
                <a:cs typeface="맑은 고딕"/>
              </a:defRPr>
            </a:lvl7pPr>
            <a:lvl8pPr>
              <a:defRPr sz="1050" b="0">
                <a:solidFill>
                  <a:srgbClr val="002060"/>
                </a:solidFill>
                <a:latin typeface="맑은 고딕"/>
                <a:ea typeface="맑은 고딕"/>
                <a:cs typeface="맑은 고딕"/>
              </a:defRPr>
            </a:lvl8pPr>
            <a:lvl9pPr>
              <a:defRPr sz="1050" b="0">
                <a:solidFill>
                  <a:srgbClr val="002060"/>
                </a:solidFill>
                <a:latin typeface="맑은 고딕"/>
                <a:ea typeface="맑은 고딕"/>
                <a:cs typeface="맑은 고딕"/>
              </a:defRPr>
            </a:lvl9pPr>
          </a:lstStyle>
          <a:p>
            <a:pPr>
              <a:defRPr sz="1050" b="0">
                <a:solidFill>
                  <a:srgbClr val="002060"/>
                </a:solidFill>
                <a:latin typeface="맑은 고딕"/>
                <a:ea typeface="맑은 고딕"/>
                <a:cs typeface="맑은 고딕"/>
              </a:defRPr>
            </a:pPr>
            <a:r>
              <a:rPr sz="1050" b="0">
                <a:solidFill>
                  <a:srgbClr val="002060"/>
                </a:solidFill>
                <a:latin typeface="맑은 고딕"/>
                <a:ea typeface="맑은 고딕"/>
                <a:cs typeface="맑은 고딕"/>
              </a:rPr>
              <a:t>12</a:t>
            </a:r>
          </a:p>
        </p:txBody>
      </p:sp>
    </p:spTree>
    <p:extLst>
      <p:ext uri="{BB962C8B-B14F-4D97-AF65-F5344CB8AC3E}">
        <p14:creationId xmlns:p14="http://schemas.microsoft.com/office/powerpoint/2010/main" val="19120009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5545889B-695C-4EA3-AF46-5B78602368E4}"/>
              </a:ext>
            </a:extLst>
          </p:cNvPr>
          <p:cNvSpPr>
            <a:spLocks noGrp="1"/>
          </p:cNvSpPr>
          <p:nvPr/>
        </p:nvSpPr>
        <p:spPr>
          <a:xfrm>
            <a:off x="381000" y="228600"/>
            <a:ext cx="9525000" cy="238125"/>
          </a:xfrm>
          <a:prstGeom prst="rect">
            <a:avLst/>
          </a:prstGeom>
          <a:noFill/>
          <a:ln w="0">
            <a:noFill/>
          </a:ln>
        </p:spPr>
        <p:txBody>
          <a:bodyPr lIns="0" tIns="0" rIns="0" bIns="0" anchor="t"/>
          <a:lstStyle>
            <a:defPPr>
              <a:defRPr sz="1200" b="1">
                <a:solidFill>
                  <a:srgbClr val="002060"/>
                </a:solidFill>
                <a:latin typeface="맑은 고딕"/>
                <a:ea typeface="맑은 고딕"/>
                <a:cs typeface="맑은 고딕"/>
              </a:defRPr>
            </a:defPPr>
            <a:lvl1pPr>
              <a:defRPr sz="1200" b="1">
                <a:solidFill>
                  <a:srgbClr val="002060"/>
                </a:solidFill>
                <a:latin typeface="맑은 고딕"/>
                <a:ea typeface="맑은 고딕"/>
                <a:cs typeface="맑은 고딕"/>
              </a:defRPr>
            </a:lvl1pPr>
            <a:lvl2pPr>
              <a:defRPr sz="1200" b="1">
                <a:solidFill>
                  <a:srgbClr val="002060"/>
                </a:solidFill>
                <a:latin typeface="맑은 고딕"/>
                <a:ea typeface="맑은 고딕"/>
                <a:cs typeface="맑은 고딕"/>
              </a:defRPr>
            </a:lvl2pPr>
            <a:lvl3pPr>
              <a:defRPr sz="1200" b="1">
                <a:solidFill>
                  <a:srgbClr val="002060"/>
                </a:solidFill>
                <a:latin typeface="맑은 고딕"/>
                <a:ea typeface="맑은 고딕"/>
                <a:cs typeface="맑은 고딕"/>
              </a:defRPr>
            </a:lvl3pPr>
            <a:lvl4pPr>
              <a:defRPr sz="1200" b="1">
                <a:solidFill>
                  <a:srgbClr val="002060"/>
                </a:solidFill>
                <a:latin typeface="맑은 고딕"/>
                <a:ea typeface="맑은 고딕"/>
                <a:cs typeface="맑은 고딕"/>
              </a:defRPr>
            </a:lvl4pPr>
            <a:lvl5pPr>
              <a:defRPr sz="1200" b="1">
                <a:solidFill>
                  <a:srgbClr val="002060"/>
                </a:solidFill>
                <a:latin typeface="맑은 고딕"/>
                <a:ea typeface="맑은 고딕"/>
                <a:cs typeface="맑은 고딕"/>
              </a:defRPr>
            </a:lvl5pPr>
            <a:lvl6pPr>
              <a:defRPr sz="1200" b="1">
                <a:solidFill>
                  <a:srgbClr val="002060"/>
                </a:solidFill>
                <a:latin typeface="맑은 고딕"/>
                <a:ea typeface="맑은 고딕"/>
                <a:cs typeface="맑은 고딕"/>
              </a:defRPr>
            </a:lvl6pPr>
            <a:lvl7pPr>
              <a:defRPr sz="1200" b="1">
                <a:solidFill>
                  <a:srgbClr val="002060"/>
                </a:solidFill>
                <a:latin typeface="맑은 고딕"/>
                <a:ea typeface="맑은 고딕"/>
                <a:cs typeface="맑은 고딕"/>
              </a:defRPr>
            </a:lvl7pPr>
            <a:lvl8pPr>
              <a:defRPr sz="1200" b="1">
                <a:solidFill>
                  <a:srgbClr val="002060"/>
                </a:solidFill>
                <a:latin typeface="맑은 고딕"/>
                <a:ea typeface="맑은 고딕"/>
                <a:cs typeface="맑은 고딕"/>
              </a:defRPr>
            </a:lvl8pPr>
            <a:lvl9pPr>
              <a:defRPr sz="1200" b="1">
                <a:solidFill>
                  <a:srgbClr val="002060"/>
                </a:solidFill>
                <a:latin typeface="맑은 고딕"/>
                <a:ea typeface="맑은 고딕"/>
                <a:cs typeface="맑은 고딕"/>
              </a:defRPr>
            </a:lvl9pPr>
          </a:lstStyle>
          <a:p>
            <a:pPr>
              <a:defRPr sz="1200" b="1">
                <a:solidFill>
                  <a:srgbClr val="002060"/>
                </a:solidFill>
                <a:latin typeface="맑은 고딕"/>
                <a:ea typeface="맑은 고딕"/>
                <a:cs typeface="맑은 고딕"/>
              </a:defRPr>
            </a:pPr>
            <a:r>
              <a:rPr sz="1200" b="1">
                <a:solidFill>
                  <a:srgbClr val="002060"/>
                </a:solidFill>
                <a:latin typeface="맑은 고딕"/>
                <a:ea typeface="맑은 고딕"/>
                <a:cs typeface="맑은 고딕"/>
              </a:rPr>
              <a:t>2028 정시  대학별 전형 비교</a:t>
            </a:r>
          </a:p>
        </p:txBody>
      </p:sp>
      <p:sp>
        <p:nvSpPr>
          <p:cNvPr id="2" name="직사각형 1">
            <a:extLst>
              <a:ext uri="{FF2B5EF4-FFF2-40B4-BE49-F238E27FC236}">
                <a16:creationId xmlns:a16="http://schemas.microsoft.com/office/drawing/2014/main" id="{AAB13B39-F36D-4653-86A9-9DC021AAFDBC}"/>
              </a:ext>
            </a:extLst>
          </p:cNvPr>
          <p:cNvSpPr>
            <a:spLocks noGrp="1"/>
          </p:cNvSpPr>
          <p:nvPr/>
        </p:nvSpPr>
        <p:spPr>
          <a:xfrm>
            <a:off x="381000" y="619125"/>
            <a:ext cx="10668000" cy="533400"/>
          </a:xfrm>
          <a:prstGeom prst="rect">
            <a:avLst/>
          </a:prstGeom>
          <a:noFill/>
          <a:ln w="0">
            <a:noFill/>
          </a:ln>
        </p:spPr>
        <p:txBody>
          <a:bodyPr lIns="0" tIns="0" rIns="0" bIns="0" anchor="t"/>
          <a:lstStyle>
            <a:defPPr>
              <a:defRPr sz="2400" b="1">
                <a:solidFill>
                  <a:srgbClr val="002060"/>
                </a:solidFill>
                <a:latin typeface="맑은 고딕"/>
                <a:ea typeface="맑은 고딕"/>
                <a:cs typeface="맑은 고딕"/>
              </a:defRPr>
            </a:defPPr>
            <a:lvl1pPr>
              <a:defRPr sz="2400" b="1">
                <a:solidFill>
                  <a:srgbClr val="002060"/>
                </a:solidFill>
                <a:latin typeface="맑은 고딕"/>
                <a:ea typeface="맑은 고딕"/>
                <a:cs typeface="맑은 고딕"/>
              </a:defRPr>
            </a:lvl1pPr>
            <a:lvl2pPr>
              <a:defRPr sz="2400" b="1">
                <a:solidFill>
                  <a:srgbClr val="002060"/>
                </a:solidFill>
                <a:latin typeface="맑은 고딕"/>
                <a:ea typeface="맑은 고딕"/>
                <a:cs typeface="맑은 고딕"/>
              </a:defRPr>
            </a:lvl2pPr>
            <a:lvl3pPr>
              <a:defRPr sz="2400" b="1">
                <a:solidFill>
                  <a:srgbClr val="002060"/>
                </a:solidFill>
                <a:latin typeface="맑은 고딕"/>
                <a:ea typeface="맑은 고딕"/>
                <a:cs typeface="맑은 고딕"/>
              </a:defRPr>
            </a:lvl3pPr>
            <a:lvl4pPr>
              <a:defRPr sz="2400" b="1">
                <a:solidFill>
                  <a:srgbClr val="002060"/>
                </a:solidFill>
                <a:latin typeface="맑은 고딕"/>
                <a:ea typeface="맑은 고딕"/>
                <a:cs typeface="맑은 고딕"/>
              </a:defRPr>
            </a:lvl4pPr>
            <a:lvl5pPr>
              <a:defRPr sz="2400" b="1">
                <a:solidFill>
                  <a:srgbClr val="002060"/>
                </a:solidFill>
                <a:latin typeface="맑은 고딕"/>
                <a:ea typeface="맑은 고딕"/>
                <a:cs typeface="맑은 고딕"/>
              </a:defRPr>
            </a:lvl5pPr>
            <a:lvl6pPr>
              <a:defRPr sz="2400" b="1">
                <a:solidFill>
                  <a:srgbClr val="002060"/>
                </a:solidFill>
                <a:latin typeface="맑은 고딕"/>
                <a:ea typeface="맑은 고딕"/>
                <a:cs typeface="맑은 고딕"/>
              </a:defRPr>
            </a:lvl6pPr>
            <a:lvl7pPr>
              <a:defRPr sz="2400" b="1">
                <a:solidFill>
                  <a:srgbClr val="002060"/>
                </a:solidFill>
                <a:latin typeface="맑은 고딕"/>
                <a:ea typeface="맑은 고딕"/>
                <a:cs typeface="맑은 고딕"/>
              </a:defRPr>
            </a:lvl7pPr>
            <a:lvl8pPr>
              <a:defRPr sz="2400" b="1">
                <a:solidFill>
                  <a:srgbClr val="002060"/>
                </a:solidFill>
                <a:latin typeface="맑은 고딕"/>
                <a:ea typeface="맑은 고딕"/>
                <a:cs typeface="맑은 고딕"/>
              </a:defRPr>
            </a:lvl8pPr>
            <a:lvl9pPr>
              <a:defRPr sz="2400" b="1">
                <a:solidFill>
                  <a:srgbClr val="002060"/>
                </a:solidFill>
                <a:latin typeface="맑은 고딕"/>
                <a:ea typeface="맑은 고딕"/>
                <a:cs typeface="맑은 고딕"/>
              </a:defRPr>
            </a:lvl9pPr>
          </a:lstStyle>
          <a:p>
            <a:pPr>
              <a:defRPr sz="2400" b="1">
                <a:solidFill>
                  <a:srgbClr val="002060"/>
                </a:solidFill>
                <a:latin typeface="맑은 고딕"/>
                <a:ea typeface="맑은 고딕"/>
                <a:cs typeface="맑은 고딕"/>
              </a:defRPr>
            </a:pPr>
            <a:r>
              <a:rPr sz="2400" b="1">
                <a:solidFill>
                  <a:srgbClr val="002060"/>
                </a:solidFill>
                <a:latin typeface="맑은 고딕"/>
                <a:ea typeface="맑은 고딕"/>
                <a:cs typeface="맑은 고딕"/>
              </a:rPr>
              <a:t>탐구 응시 조건과 상위 1과목 반영</a:t>
            </a:r>
          </a:p>
        </p:txBody>
      </p:sp>
      <p:sp>
        <p:nvSpPr>
          <p:cNvPr id="3" name="직사각형 2">
            <a:extLst>
              <a:ext uri="{FF2B5EF4-FFF2-40B4-BE49-F238E27FC236}">
                <a16:creationId xmlns:a16="http://schemas.microsoft.com/office/drawing/2014/main" id="{102F8A8A-0052-47ED-84E5-A407BCCC4F08}"/>
              </a:ext>
            </a:extLst>
          </p:cNvPr>
          <p:cNvSpPr>
            <a:spLocks noGrp="1"/>
          </p:cNvSpPr>
          <p:nvPr/>
        </p:nvSpPr>
        <p:spPr>
          <a:xfrm>
            <a:off x="381000" y="1381125"/>
            <a:ext cx="10668000" cy="257175"/>
          </a:xfrm>
          <a:prstGeom prst="rect">
            <a:avLst/>
          </a:prstGeom>
          <a:noFill/>
          <a:ln w="0">
            <a:noFill/>
          </a:ln>
        </p:spPr>
        <p:txBody>
          <a:bodyPr lIns="0" tIns="0" rIns="0" bIns="0" anchor="t"/>
          <a:lstStyle>
            <a:defPPr>
              <a:defRPr sz="1425" b="1">
                <a:solidFill>
                  <a:srgbClr val="002060"/>
                </a:solidFill>
                <a:latin typeface="맑은 고딕"/>
                <a:ea typeface="맑은 고딕"/>
                <a:cs typeface="맑은 고딕"/>
              </a:defRPr>
            </a:defPPr>
            <a:lvl1pPr>
              <a:defRPr sz="1425" b="1">
                <a:solidFill>
                  <a:srgbClr val="002060"/>
                </a:solidFill>
                <a:latin typeface="맑은 고딕"/>
                <a:ea typeface="맑은 고딕"/>
                <a:cs typeface="맑은 고딕"/>
              </a:defRPr>
            </a:lvl1pPr>
            <a:lvl2pPr>
              <a:defRPr sz="1425" b="1">
                <a:solidFill>
                  <a:srgbClr val="002060"/>
                </a:solidFill>
                <a:latin typeface="맑은 고딕"/>
                <a:ea typeface="맑은 고딕"/>
                <a:cs typeface="맑은 고딕"/>
              </a:defRPr>
            </a:lvl2pPr>
            <a:lvl3pPr>
              <a:defRPr sz="1425" b="1">
                <a:solidFill>
                  <a:srgbClr val="002060"/>
                </a:solidFill>
                <a:latin typeface="맑은 고딕"/>
                <a:ea typeface="맑은 고딕"/>
                <a:cs typeface="맑은 고딕"/>
              </a:defRPr>
            </a:lvl3pPr>
            <a:lvl4pPr>
              <a:defRPr sz="1425" b="1">
                <a:solidFill>
                  <a:srgbClr val="002060"/>
                </a:solidFill>
                <a:latin typeface="맑은 고딕"/>
                <a:ea typeface="맑은 고딕"/>
                <a:cs typeface="맑은 고딕"/>
              </a:defRPr>
            </a:lvl4pPr>
            <a:lvl5pPr>
              <a:defRPr sz="1425" b="1">
                <a:solidFill>
                  <a:srgbClr val="002060"/>
                </a:solidFill>
                <a:latin typeface="맑은 고딕"/>
                <a:ea typeface="맑은 고딕"/>
                <a:cs typeface="맑은 고딕"/>
              </a:defRPr>
            </a:lvl5pPr>
            <a:lvl6pPr>
              <a:defRPr sz="1425" b="1">
                <a:solidFill>
                  <a:srgbClr val="002060"/>
                </a:solidFill>
                <a:latin typeface="맑은 고딕"/>
                <a:ea typeface="맑은 고딕"/>
                <a:cs typeface="맑은 고딕"/>
              </a:defRPr>
            </a:lvl6pPr>
            <a:lvl7pPr>
              <a:defRPr sz="1425" b="1">
                <a:solidFill>
                  <a:srgbClr val="002060"/>
                </a:solidFill>
                <a:latin typeface="맑은 고딕"/>
                <a:ea typeface="맑은 고딕"/>
                <a:cs typeface="맑은 고딕"/>
              </a:defRPr>
            </a:lvl7pPr>
            <a:lvl8pPr>
              <a:defRPr sz="1425" b="1">
                <a:solidFill>
                  <a:srgbClr val="002060"/>
                </a:solidFill>
                <a:latin typeface="맑은 고딕"/>
                <a:ea typeface="맑은 고딕"/>
                <a:cs typeface="맑은 고딕"/>
              </a:defRPr>
            </a:lvl8pPr>
            <a:lvl9pPr>
              <a:defRPr sz="1425" b="1">
                <a:solidFill>
                  <a:srgbClr val="002060"/>
                </a:solidFill>
                <a:latin typeface="맑은 고딕"/>
                <a:ea typeface="맑은 고딕"/>
                <a:cs typeface="맑은 고딕"/>
              </a:defRPr>
            </a:lvl9pPr>
          </a:lstStyle>
          <a:p>
            <a:pPr>
              <a:defRPr sz="1425" b="1">
                <a:solidFill>
                  <a:srgbClr val="002060"/>
                </a:solidFill>
                <a:latin typeface="맑은 고딕"/>
                <a:ea typeface="맑은 고딕"/>
                <a:cs typeface="맑은 고딕"/>
              </a:defRPr>
            </a:pPr>
            <a:r>
              <a:rPr sz="1425" b="1">
                <a:solidFill>
                  <a:srgbClr val="002060"/>
                </a:solidFill>
                <a:latin typeface="맑은 고딕"/>
                <a:ea typeface="맑은 고딕"/>
                <a:cs typeface="맑은 고딕"/>
              </a:rPr>
              <a:t>응시 과목 수와 반영 과목 수는 다르다</a:t>
            </a:r>
          </a:p>
        </p:txBody>
      </p:sp>
      <p:graphicFrame>
        <p:nvGraphicFramePr>
          <p:cNvPr id="4" name="표 3">
            <a:extLst>
              <a:ext uri="{FF2B5EF4-FFF2-40B4-BE49-F238E27FC236}">
                <a16:creationId xmlns:a16="http://schemas.microsoft.com/office/drawing/2014/main" id="{08AC52C3-E84A-4C06-8BF3-E3AEC45B126D}"/>
              </a:ext>
            </a:extLst>
          </p:cNvPr>
          <p:cNvGraphicFramePr/>
          <p:nvPr/>
        </p:nvGraphicFramePr>
        <p:xfrm>
          <a:off x="381000" y="1704975"/>
          <a:ext cx="10668000" cy="2135505"/>
        </p:xfrm>
        <a:graphic>
          <a:graphicData uri="http://schemas.openxmlformats.org/drawingml/2006/table">
            <a:tbl>
              <a:tblPr/>
              <a:tblGrid>
                <a:gridCol w="266700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tblGrid>
              <a:tr h="400050">
                <a:tc>
                  <a:txBody>
                    <a:bodyPr/>
                    <a:lstStyle/>
                    <a:p>
                      <a:r>
                        <a:rPr sz="1500" b="1">
                          <a:solidFill>
                            <a:srgbClr val="FFFFFF"/>
                          </a:solidFill>
                          <a:latin typeface="맑은 고딕"/>
                          <a:ea typeface="맑은 고딕"/>
                          <a:cs typeface="맑은 고딕"/>
                        </a:rPr>
                        <a:t>구분</a:t>
                      </a:r>
                    </a:p>
                  </a:txBody>
                  <a:tcPr marL="95250" marR="95250" marT="47625" marB="47625" anchor="ctr">
                    <a:lnL w="5715">
                      <a:solidFill>
                        <a:srgbClr val="C5CFDA"/>
                      </a:solidFill>
                      <a:prstDash val="soli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의미</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확인 사례</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extLst>
                  <a:ext uri="{0D108BD9-81ED-4DB2-BD59-A6C34878D82A}">
                    <a16:rowId xmlns:a16="http://schemas.microsoft.com/office/drawing/2014/main" val="10000"/>
                  </a:ext>
                </a:extLst>
              </a:tr>
              <a:tr h="381000">
                <a:tc>
                  <a:txBody>
                    <a:bodyPr/>
                    <a:lstStyle/>
                    <a:p>
                      <a:r>
                        <a:rPr sz="1500" b="1">
                          <a:solidFill>
                            <a:srgbClr val="17212D"/>
                          </a:solidFill>
                          <a:latin typeface="맑은 고딕"/>
                          <a:ea typeface="맑은 고딕"/>
                          <a:cs typeface="맑은 고딕"/>
                        </a:rPr>
                        <a:t>두 과목 응시</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통합사회·통합과학의 응시 조건</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반드시 대학별 필수 응시영역 확인</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1"/>
                  </a:ext>
                </a:extLst>
              </a:tr>
              <a:tr h="381000">
                <a:tc>
                  <a:txBody>
                    <a:bodyPr/>
                    <a:lstStyle/>
                    <a:p>
                      <a:r>
                        <a:rPr sz="1500" b="1">
                          <a:solidFill>
                            <a:srgbClr val="17212D"/>
                          </a:solidFill>
                          <a:latin typeface="맑은 고딕"/>
                          <a:ea typeface="맑은 고딕"/>
                          <a:cs typeface="맑은 고딕"/>
                        </a:rPr>
                        <a:t>상위 1과목 반영</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두 점수 중 지정 기준에 따라 하나 활용</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국민대·한국외대·한국항공대 등</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2"/>
                  </a:ext>
                </a:extLst>
              </a:tr>
              <a:tr h="381000">
                <a:tc>
                  <a:txBody>
                    <a:bodyPr/>
                    <a:lstStyle/>
                    <a:p>
                      <a:r>
                        <a:rPr sz="1500" b="1">
                          <a:solidFill>
                            <a:srgbClr val="17212D"/>
                          </a:solidFill>
                          <a:latin typeface="맑은 고딕"/>
                          <a:ea typeface="맑은 고딕"/>
                          <a:cs typeface="맑은 고딕"/>
                        </a:rPr>
                        <a:t>두 과목 고정 반영</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사회와 과학을 각각 정해진 비율로 반영</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광운대·숭실대·세종대 등</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3"/>
                  </a:ext>
                </a:extLst>
              </a:tr>
              <a:tr h="592455">
                <a:tc>
                  <a:txBody>
                    <a:bodyPr/>
                    <a:lstStyle/>
                    <a:p>
                      <a:r>
                        <a:rPr sz="1500" b="1">
                          <a:solidFill>
                            <a:srgbClr val="17212D"/>
                          </a:solidFill>
                          <a:latin typeface="맑은 고딕"/>
                          <a:ea typeface="맑은 고딕"/>
                          <a:cs typeface="맑은 고딕"/>
                        </a:rPr>
                        <a:t>두 과목 차등 반영</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상위 점수에 더 큰 가중치 적용</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성균관대 일부 70:30, 이화 수능 일부 20:10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4"/>
                  </a:ext>
                </a:extLst>
              </a:tr>
            </a:tbl>
          </a:graphicData>
        </a:graphic>
      </p:graphicFrame>
      <p:sp>
        <p:nvSpPr>
          <p:cNvPr id="5" name="직사각형 4">
            <a:extLst>
              <a:ext uri="{FF2B5EF4-FFF2-40B4-BE49-F238E27FC236}">
                <a16:creationId xmlns:a16="http://schemas.microsoft.com/office/drawing/2014/main" id="{94A134D4-1E1D-43C8-A819-4ACA473704FC}"/>
              </a:ext>
            </a:extLst>
          </p:cNvPr>
          <p:cNvSpPr>
            <a:spLocks noGrp="1"/>
          </p:cNvSpPr>
          <p:nvPr/>
        </p:nvSpPr>
        <p:spPr>
          <a:xfrm>
            <a:off x="381000" y="4069080"/>
            <a:ext cx="10668000" cy="257175"/>
          </a:xfrm>
          <a:prstGeom prst="rect">
            <a:avLst/>
          </a:prstGeom>
          <a:noFill/>
          <a:ln w="0">
            <a:noFill/>
          </a:ln>
        </p:spPr>
        <p:txBody>
          <a:bodyPr lIns="0" tIns="0" rIns="0" bIns="0" anchor="t"/>
          <a:lstStyle>
            <a:defPPr>
              <a:defRPr sz="1425" b="1">
                <a:solidFill>
                  <a:srgbClr val="002060"/>
                </a:solidFill>
                <a:latin typeface="맑은 고딕"/>
                <a:ea typeface="맑은 고딕"/>
                <a:cs typeface="맑은 고딕"/>
              </a:defRPr>
            </a:defPPr>
            <a:lvl1pPr>
              <a:defRPr sz="1425" b="1">
                <a:solidFill>
                  <a:srgbClr val="002060"/>
                </a:solidFill>
                <a:latin typeface="맑은 고딕"/>
                <a:ea typeface="맑은 고딕"/>
                <a:cs typeface="맑은 고딕"/>
              </a:defRPr>
            </a:lvl1pPr>
            <a:lvl2pPr>
              <a:defRPr sz="1425" b="1">
                <a:solidFill>
                  <a:srgbClr val="002060"/>
                </a:solidFill>
                <a:latin typeface="맑은 고딕"/>
                <a:ea typeface="맑은 고딕"/>
                <a:cs typeface="맑은 고딕"/>
              </a:defRPr>
            </a:lvl2pPr>
            <a:lvl3pPr>
              <a:defRPr sz="1425" b="1">
                <a:solidFill>
                  <a:srgbClr val="002060"/>
                </a:solidFill>
                <a:latin typeface="맑은 고딕"/>
                <a:ea typeface="맑은 고딕"/>
                <a:cs typeface="맑은 고딕"/>
              </a:defRPr>
            </a:lvl3pPr>
            <a:lvl4pPr>
              <a:defRPr sz="1425" b="1">
                <a:solidFill>
                  <a:srgbClr val="002060"/>
                </a:solidFill>
                <a:latin typeface="맑은 고딕"/>
                <a:ea typeface="맑은 고딕"/>
                <a:cs typeface="맑은 고딕"/>
              </a:defRPr>
            </a:lvl4pPr>
            <a:lvl5pPr>
              <a:defRPr sz="1425" b="1">
                <a:solidFill>
                  <a:srgbClr val="002060"/>
                </a:solidFill>
                <a:latin typeface="맑은 고딕"/>
                <a:ea typeface="맑은 고딕"/>
                <a:cs typeface="맑은 고딕"/>
              </a:defRPr>
            </a:lvl5pPr>
            <a:lvl6pPr>
              <a:defRPr sz="1425" b="1">
                <a:solidFill>
                  <a:srgbClr val="002060"/>
                </a:solidFill>
                <a:latin typeface="맑은 고딕"/>
                <a:ea typeface="맑은 고딕"/>
                <a:cs typeface="맑은 고딕"/>
              </a:defRPr>
            </a:lvl6pPr>
            <a:lvl7pPr>
              <a:defRPr sz="1425" b="1">
                <a:solidFill>
                  <a:srgbClr val="002060"/>
                </a:solidFill>
                <a:latin typeface="맑은 고딕"/>
                <a:ea typeface="맑은 고딕"/>
                <a:cs typeface="맑은 고딕"/>
              </a:defRPr>
            </a:lvl7pPr>
            <a:lvl8pPr>
              <a:defRPr sz="1425" b="1">
                <a:solidFill>
                  <a:srgbClr val="002060"/>
                </a:solidFill>
                <a:latin typeface="맑은 고딕"/>
                <a:ea typeface="맑은 고딕"/>
                <a:cs typeface="맑은 고딕"/>
              </a:defRPr>
            </a:lvl8pPr>
            <a:lvl9pPr>
              <a:defRPr sz="1425" b="1">
                <a:solidFill>
                  <a:srgbClr val="002060"/>
                </a:solidFill>
                <a:latin typeface="맑은 고딕"/>
                <a:ea typeface="맑은 고딕"/>
                <a:cs typeface="맑은 고딕"/>
              </a:defRPr>
            </a:lvl9pPr>
          </a:lstStyle>
          <a:p>
            <a:pPr>
              <a:defRPr sz="1425" b="1">
                <a:solidFill>
                  <a:srgbClr val="002060"/>
                </a:solidFill>
                <a:latin typeface="맑은 고딕"/>
                <a:ea typeface="맑은 고딕"/>
                <a:cs typeface="맑은 고딕"/>
              </a:defRPr>
            </a:pPr>
            <a:r>
              <a:rPr sz="1425" b="1">
                <a:solidFill>
                  <a:srgbClr val="002060"/>
                </a:solidFill>
                <a:latin typeface="맑은 고딕"/>
                <a:ea typeface="맑은 고딕"/>
                <a:cs typeface="맑은 고딕"/>
              </a:rPr>
              <a:t>상위 1과목 반영 대학은 적용 범위를 확인한다</a:t>
            </a:r>
          </a:p>
        </p:txBody>
      </p:sp>
      <p:graphicFrame>
        <p:nvGraphicFramePr>
          <p:cNvPr id="6" name="표 5">
            <a:extLst>
              <a:ext uri="{FF2B5EF4-FFF2-40B4-BE49-F238E27FC236}">
                <a16:creationId xmlns:a16="http://schemas.microsoft.com/office/drawing/2014/main" id="{B6B9DC56-24CD-488A-A628-7EC1B2E18826}"/>
              </a:ext>
            </a:extLst>
          </p:cNvPr>
          <p:cNvGraphicFramePr/>
          <p:nvPr/>
        </p:nvGraphicFramePr>
        <p:xfrm>
          <a:off x="381000" y="4392930"/>
          <a:ext cx="10668000" cy="2305050"/>
        </p:xfrm>
        <a:graphic>
          <a:graphicData uri="http://schemas.openxmlformats.org/drawingml/2006/table">
            <a:tbl>
              <a:tblPr/>
              <a:tblGrid>
                <a:gridCol w="266700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tblGrid>
              <a:tr h="400050">
                <a:tc>
                  <a:txBody>
                    <a:bodyPr/>
                    <a:lstStyle/>
                    <a:p>
                      <a:r>
                        <a:rPr sz="1500" b="1">
                          <a:solidFill>
                            <a:srgbClr val="FFFFFF"/>
                          </a:solidFill>
                          <a:latin typeface="맑은 고딕"/>
                          <a:ea typeface="맑은 고딕"/>
                          <a:cs typeface="맑은 고딕"/>
                        </a:rPr>
                        <a:t>대학·범위</a:t>
                      </a:r>
                    </a:p>
                  </a:txBody>
                  <a:tcPr marL="95250" marR="95250" marT="47625" marB="47625" anchor="ctr">
                    <a:lnL w="5715">
                      <a:solidFill>
                        <a:srgbClr val="C5CFDA"/>
                      </a:solidFill>
                      <a:prstDash val="soli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반영 방식</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주의할 점</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extLst>
                  <a:ext uri="{0D108BD9-81ED-4DB2-BD59-A6C34878D82A}">
                    <a16:rowId xmlns:a16="http://schemas.microsoft.com/office/drawing/2014/main" val="10000"/>
                  </a:ext>
                </a:extLst>
              </a:tr>
              <a:tr h="381000">
                <a:tc>
                  <a:txBody>
                    <a:bodyPr/>
                    <a:lstStyle/>
                    <a:p>
                      <a:r>
                        <a:rPr sz="1500" b="1">
                          <a:solidFill>
                            <a:srgbClr val="17212D"/>
                          </a:solidFill>
                          <a:latin typeface="맑은 고딕"/>
                          <a:ea typeface="맑은 고딕"/>
                          <a:cs typeface="맑은 고딕"/>
                        </a:rPr>
                        <a:t>건국대 일반 인문·자연</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탐구 상위 1과목</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예체능의 별도 영역 선택과 구분</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1"/>
                  </a:ext>
                </a:extLst>
              </a:tr>
              <a:tr h="381000">
                <a:tc>
                  <a:txBody>
                    <a:bodyPr/>
                    <a:lstStyle/>
                    <a:p>
                      <a:r>
                        <a:rPr sz="1500" b="1">
                          <a:solidFill>
                            <a:srgbClr val="17212D"/>
                          </a:solidFill>
                          <a:latin typeface="맑은 고딕"/>
                          <a:ea typeface="맑은 고딕"/>
                          <a:cs typeface="맑은 고딕"/>
                        </a:rPr>
                        <a:t>국민대 일반 인문·자연</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탐구 상위 1과목</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국어·수학·영어 비율은 모집단위별</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2"/>
                  </a:ext>
                </a:extLst>
              </a:tr>
              <a:tr h="381000">
                <a:tc>
                  <a:txBody>
                    <a:bodyPr/>
                    <a:lstStyle/>
                    <a:p>
                      <a:r>
                        <a:rPr sz="1500" b="1">
                          <a:solidFill>
                            <a:srgbClr val="17212D"/>
                          </a:solidFill>
                          <a:latin typeface="맑은 고딕"/>
                          <a:ea typeface="맑은 고딕"/>
                          <a:cs typeface="맑은 고딕"/>
                        </a:rPr>
                        <a:t>한국외대 일반</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탐구 상위 1과목</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A·B 유형 중 유리한 환산점수</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3"/>
                  </a:ext>
                </a:extLst>
              </a:tr>
              <a:tr h="381000">
                <a:tc>
                  <a:txBody>
                    <a:bodyPr/>
                    <a:lstStyle/>
                    <a:p>
                      <a:r>
                        <a:rPr sz="1500" b="1">
                          <a:solidFill>
                            <a:srgbClr val="17212D"/>
                          </a:solidFill>
                          <a:latin typeface="맑은 고딕"/>
                          <a:ea typeface="맑은 고딕"/>
                          <a:cs typeface="맑은 고딕"/>
                        </a:rPr>
                        <a:t>한국항공대 일반</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탐구 1과목</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공학적성 통합과학 가산점 확인</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4"/>
                  </a:ext>
                </a:extLst>
              </a:tr>
              <a:tr h="381000">
                <a:tc>
                  <a:txBody>
                    <a:bodyPr/>
                    <a:lstStyle/>
                    <a:p>
                      <a:r>
                        <a:rPr sz="1500" b="1">
                          <a:solidFill>
                            <a:srgbClr val="17212D"/>
                          </a:solidFill>
                          <a:latin typeface="맑은 고딕"/>
                          <a:ea typeface="맑은 고딕"/>
                          <a:cs typeface="맑은 고딕"/>
                        </a:rPr>
                        <a:t>경희대 인문·사회</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탐구 상위 1과목</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자연은 사회·과학을 각각 반영</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7" name="직사각형 6">
            <a:extLst>
              <a:ext uri="{FF2B5EF4-FFF2-40B4-BE49-F238E27FC236}">
                <a16:creationId xmlns:a16="http://schemas.microsoft.com/office/drawing/2014/main" id="{BE1D1802-F641-465E-BEE2-933D57D668B2}"/>
              </a:ext>
            </a:extLst>
          </p:cNvPr>
          <p:cNvSpPr>
            <a:spLocks noGrp="1"/>
          </p:cNvSpPr>
          <p:nvPr/>
        </p:nvSpPr>
        <p:spPr>
          <a:xfrm>
            <a:off x="381000" y="9572625"/>
            <a:ext cx="10096500" cy="361950"/>
          </a:xfrm>
          <a:prstGeom prst="rect">
            <a:avLst/>
          </a:prstGeom>
          <a:noFill/>
          <a:ln w="0">
            <a:noFill/>
          </a:ln>
        </p:spPr>
        <p:txBody>
          <a:bodyPr lIns="0" tIns="0" rIns="0" bIns="0" anchor="t"/>
          <a:lstStyle>
            <a:defPPr>
              <a:defRPr sz="900" b="0">
                <a:solidFill>
                  <a:srgbClr val="666666"/>
                </a:solidFill>
                <a:latin typeface="맑은 고딕"/>
                <a:ea typeface="맑은 고딕"/>
                <a:cs typeface="맑은 고딕"/>
              </a:defRPr>
            </a:defPPr>
            <a:lvl1pPr>
              <a:defRPr sz="900" b="0">
                <a:solidFill>
                  <a:srgbClr val="666666"/>
                </a:solidFill>
                <a:latin typeface="맑은 고딕"/>
                <a:ea typeface="맑은 고딕"/>
                <a:cs typeface="맑은 고딕"/>
              </a:defRPr>
            </a:lvl1pPr>
            <a:lvl2pPr>
              <a:defRPr sz="900" b="0">
                <a:solidFill>
                  <a:srgbClr val="666666"/>
                </a:solidFill>
                <a:latin typeface="맑은 고딕"/>
                <a:ea typeface="맑은 고딕"/>
                <a:cs typeface="맑은 고딕"/>
              </a:defRPr>
            </a:lvl2pPr>
            <a:lvl3pPr>
              <a:defRPr sz="900" b="0">
                <a:solidFill>
                  <a:srgbClr val="666666"/>
                </a:solidFill>
                <a:latin typeface="맑은 고딕"/>
                <a:ea typeface="맑은 고딕"/>
                <a:cs typeface="맑은 고딕"/>
              </a:defRPr>
            </a:lvl3pPr>
            <a:lvl4pPr>
              <a:defRPr sz="900" b="0">
                <a:solidFill>
                  <a:srgbClr val="666666"/>
                </a:solidFill>
                <a:latin typeface="맑은 고딕"/>
                <a:ea typeface="맑은 고딕"/>
                <a:cs typeface="맑은 고딕"/>
              </a:defRPr>
            </a:lvl4pPr>
            <a:lvl5pPr>
              <a:defRPr sz="900" b="0">
                <a:solidFill>
                  <a:srgbClr val="666666"/>
                </a:solidFill>
                <a:latin typeface="맑은 고딕"/>
                <a:ea typeface="맑은 고딕"/>
                <a:cs typeface="맑은 고딕"/>
              </a:defRPr>
            </a:lvl5pPr>
            <a:lvl6pPr>
              <a:defRPr sz="900" b="0">
                <a:solidFill>
                  <a:srgbClr val="666666"/>
                </a:solidFill>
                <a:latin typeface="맑은 고딕"/>
                <a:ea typeface="맑은 고딕"/>
                <a:cs typeface="맑은 고딕"/>
              </a:defRPr>
            </a:lvl6pPr>
            <a:lvl7pPr>
              <a:defRPr sz="900" b="0">
                <a:solidFill>
                  <a:srgbClr val="666666"/>
                </a:solidFill>
                <a:latin typeface="맑은 고딕"/>
                <a:ea typeface="맑은 고딕"/>
                <a:cs typeface="맑은 고딕"/>
              </a:defRPr>
            </a:lvl7pPr>
            <a:lvl8pPr>
              <a:defRPr sz="900" b="0">
                <a:solidFill>
                  <a:srgbClr val="666666"/>
                </a:solidFill>
                <a:latin typeface="맑은 고딕"/>
                <a:ea typeface="맑은 고딕"/>
                <a:cs typeface="맑은 고딕"/>
              </a:defRPr>
            </a:lvl8pPr>
            <a:lvl9pPr>
              <a:defRPr sz="900" b="0">
                <a:solidFill>
                  <a:srgbClr val="666666"/>
                </a:solidFill>
                <a:latin typeface="맑은 고딕"/>
                <a:ea typeface="맑은 고딕"/>
                <a:cs typeface="맑은 고딕"/>
              </a:defRPr>
            </a:lvl9pPr>
          </a:lstStyle>
          <a:p>
            <a:pPr>
              <a:defRPr sz="900" b="0">
                <a:solidFill>
                  <a:srgbClr val="666666"/>
                </a:solidFill>
                <a:latin typeface="맑은 고딕"/>
                <a:ea typeface="맑은 고딕"/>
                <a:cs typeface="맑은 고딕"/>
              </a:defRPr>
            </a:pPr>
            <a:r>
              <a:rPr sz="900" b="0">
                <a:solidFill>
                  <a:srgbClr val="666666"/>
                </a:solidFill>
                <a:latin typeface="맑은 고딕"/>
                <a:ea typeface="맑은 고딕"/>
                <a:cs typeface="맑은 고딕"/>
              </a:rPr>
              <a:t>근거  인천 18~20·24쪽 / 성균관 PDF 38쪽 / 이화 PDF 15~16쪽 / SEN 114·132쪽 / 인천 18·20쪽 / 한국항공 시행계획 수능 반영</a:t>
            </a:r>
          </a:p>
        </p:txBody>
      </p:sp>
      <p:sp>
        <p:nvSpPr>
          <p:cNvPr id="8" name="직사각형 7">
            <a:extLst>
              <a:ext uri="{FF2B5EF4-FFF2-40B4-BE49-F238E27FC236}">
                <a16:creationId xmlns:a16="http://schemas.microsoft.com/office/drawing/2014/main" id="{920F39AD-2B59-415C-96BC-0151B7323CD2}"/>
              </a:ext>
            </a:extLst>
          </p:cNvPr>
          <p:cNvSpPr>
            <a:spLocks noGrp="1"/>
          </p:cNvSpPr>
          <p:nvPr/>
        </p:nvSpPr>
        <p:spPr>
          <a:xfrm>
            <a:off x="10715625" y="9572625"/>
            <a:ext cx="333375" cy="228600"/>
          </a:xfrm>
          <a:prstGeom prst="rect">
            <a:avLst/>
          </a:prstGeom>
          <a:noFill/>
          <a:ln w="0">
            <a:noFill/>
          </a:ln>
        </p:spPr>
        <p:txBody>
          <a:bodyPr lIns="0" tIns="0" rIns="0" bIns="0" anchor="t"/>
          <a:lstStyle>
            <a:defPPr>
              <a:defRPr sz="1050" b="0">
                <a:solidFill>
                  <a:srgbClr val="002060"/>
                </a:solidFill>
                <a:latin typeface="맑은 고딕"/>
                <a:ea typeface="맑은 고딕"/>
                <a:cs typeface="맑은 고딕"/>
              </a:defRPr>
            </a:defPPr>
            <a:lvl1pPr>
              <a:defRPr sz="1050" b="0">
                <a:solidFill>
                  <a:srgbClr val="002060"/>
                </a:solidFill>
                <a:latin typeface="맑은 고딕"/>
                <a:ea typeface="맑은 고딕"/>
                <a:cs typeface="맑은 고딕"/>
              </a:defRPr>
            </a:lvl1pPr>
            <a:lvl2pPr>
              <a:defRPr sz="1050" b="0">
                <a:solidFill>
                  <a:srgbClr val="002060"/>
                </a:solidFill>
                <a:latin typeface="맑은 고딕"/>
                <a:ea typeface="맑은 고딕"/>
                <a:cs typeface="맑은 고딕"/>
              </a:defRPr>
            </a:lvl2pPr>
            <a:lvl3pPr>
              <a:defRPr sz="1050" b="0">
                <a:solidFill>
                  <a:srgbClr val="002060"/>
                </a:solidFill>
                <a:latin typeface="맑은 고딕"/>
                <a:ea typeface="맑은 고딕"/>
                <a:cs typeface="맑은 고딕"/>
              </a:defRPr>
            </a:lvl3pPr>
            <a:lvl4pPr>
              <a:defRPr sz="1050" b="0">
                <a:solidFill>
                  <a:srgbClr val="002060"/>
                </a:solidFill>
                <a:latin typeface="맑은 고딕"/>
                <a:ea typeface="맑은 고딕"/>
                <a:cs typeface="맑은 고딕"/>
              </a:defRPr>
            </a:lvl4pPr>
            <a:lvl5pPr>
              <a:defRPr sz="1050" b="0">
                <a:solidFill>
                  <a:srgbClr val="002060"/>
                </a:solidFill>
                <a:latin typeface="맑은 고딕"/>
                <a:ea typeface="맑은 고딕"/>
                <a:cs typeface="맑은 고딕"/>
              </a:defRPr>
            </a:lvl5pPr>
            <a:lvl6pPr>
              <a:defRPr sz="1050" b="0">
                <a:solidFill>
                  <a:srgbClr val="002060"/>
                </a:solidFill>
                <a:latin typeface="맑은 고딕"/>
                <a:ea typeface="맑은 고딕"/>
                <a:cs typeface="맑은 고딕"/>
              </a:defRPr>
            </a:lvl6pPr>
            <a:lvl7pPr>
              <a:defRPr sz="1050" b="0">
                <a:solidFill>
                  <a:srgbClr val="002060"/>
                </a:solidFill>
                <a:latin typeface="맑은 고딕"/>
                <a:ea typeface="맑은 고딕"/>
                <a:cs typeface="맑은 고딕"/>
              </a:defRPr>
            </a:lvl7pPr>
            <a:lvl8pPr>
              <a:defRPr sz="1050" b="0">
                <a:solidFill>
                  <a:srgbClr val="002060"/>
                </a:solidFill>
                <a:latin typeface="맑은 고딕"/>
                <a:ea typeface="맑은 고딕"/>
                <a:cs typeface="맑은 고딕"/>
              </a:defRPr>
            </a:lvl8pPr>
            <a:lvl9pPr>
              <a:defRPr sz="1050" b="0">
                <a:solidFill>
                  <a:srgbClr val="002060"/>
                </a:solidFill>
                <a:latin typeface="맑은 고딕"/>
                <a:ea typeface="맑은 고딕"/>
                <a:cs typeface="맑은 고딕"/>
              </a:defRPr>
            </a:lvl9pPr>
          </a:lstStyle>
          <a:p>
            <a:pPr>
              <a:defRPr sz="1050" b="0">
                <a:solidFill>
                  <a:srgbClr val="002060"/>
                </a:solidFill>
                <a:latin typeface="맑은 고딕"/>
                <a:ea typeface="맑은 고딕"/>
                <a:cs typeface="맑은 고딕"/>
              </a:defRPr>
            </a:pPr>
            <a:r>
              <a:rPr sz="1050" b="0">
                <a:solidFill>
                  <a:srgbClr val="002060"/>
                </a:solidFill>
                <a:latin typeface="맑은 고딕"/>
                <a:ea typeface="맑은 고딕"/>
                <a:cs typeface="맑은 고딕"/>
              </a:rPr>
              <a:t>13</a:t>
            </a:r>
          </a:p>
        </p:txBody>
      </p:sp>
    </p:spTree>
    <p:extLst>
      <p:ext uri="{BB962C8B-B14F-4D97-AF65-F5344CB8AC3E}">
        <p14:creationId xmlns:p14="http://schemas.microsoft.com/office/powerpoint/2010/main" val="20470956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1B6990C1-69C2-46F4-A431-6D0C95DC5FDD}"/>
              </a:ext>
            </a:extLst>
          </p:cNvPr>
          <p:cNvSpPr>
            <a:spLocks noGrp="1"/>
          </p:cNvSpPr>
          <p:nvPr/>
        </p:nvSpPr>
        <p:spPr>
          <a:xfrm>
            <a:off x="381000" y="228600"/>
            <a:ext cx="9525000" cy="238125"/>
          </a:xfrm>
          <a:prstGeom prst="rect">
            <a:avLst/>
          </a:prstGeom>
          <a:noFill/>
          <a:ln w="0">
            <a:noFill/>
          </a:ln>
        </p:spPr>
        <p:txBody>
          <a:bodyPr lIns="0" tIns="0" rIns="0" bIns="0" anchor="t"/>
          <a:lstStyle>
            <a:defPPr>
              <a:defRPr sz="1200" b="1">
                <a:solidFill>
                  <a:srgbClr val="002060"/>
                </a:solidFill>
                <a:latin typeface="맑은 고딕"/>
                <a:ea typeface="맑은 고딕"/>
                <a:cs typeface="맑은 고딕"/>
              </a:defRPr>
            </a:defPPr>
            <a:lvl1pPr>
              <a:defRPr sz="1200" b="1">
                <a:solidFill>
                  <a:srgbClr val="002060"/>
                </a:solidFill>
                <a:latin typeface="맑은 고딕"/>
                <a:ea typeface="맑은 고딕"/>
                <a:cs typeface="맑은 고딕"/>
              </a:defRPr>
            </a:lvl1pPr>
            <a:lvl2pPr>
              <a:defRPr sz="1200" b="1">
                <a:solidFill>
                  <a:srgbClr val="002060"/>
                </a:solidFill>
                <a:latin typeface="맑은 고딕"/>
                <a:ea typeface="맑은 고딕"/>
                <a:cs typeface="맑은 고딕"/>
              </a:defRPr>
            </a:lvl2pPr>
            <a:lvl3pPr>
              <a:defRPr sz="1200" b="1">
                <a:solidFill>
                  <a:srgbClr val="002060"/>
                </a:solidFill>
                <a:latin typeface="맑은 고딕"/>
                <a:ea typeface="맑은 고딕"/>
                <a:cs typeface="맑은 고딕"/>
              </a:defRPr>
            </a:lvl3pPr>
            <a:lvl4pPr>
              <a:defRPr sz="1200" b="1">
                <a:solidFill>
                  <a:srgbClr val="002060"/>
                </a:solidFill>
                <a:latin typeface="맑은 고딕"/>
                <a:ea typeface="맑은 고딕"/>
                <a:cs typeface="맑은 고딕"/>
              </a:defRPr>
            </a:lvl4pPr>
            <a:lvl5pPr>
              <a:defRPr sz="1200" b="1">
                <a:solidFill>
                  <a:srgbClr val="002060"/>
                </a:solidFill>
                <a:latin typeface="맑은 고딕"/>
                <a:ea typeface="맑은 고딕"/>
                <a:cs typeface="맑은 고딕"/>
              </a:defRPr>
            </a:lvl5pPr>
            <a:lvl6pPr>
              <a:defRPr sz="1200" b="1">
                <a:solidFill>
                  <a:srgbClr val="002060"/>
                </a:solidFill>
                <a:latin typeface="맑은 고딕"/>
                <a:ea typeface="맑은 고딕"/>
                <a:cs typeface="맑은 고딕"/>
              </a:defRPr>
            </a:lvl6pPr>
            <a:lvl7pPr>
              <a:defRPr sz="1200" b="1">
                <a:solidFill>
                  <a:srgbClr val="002060"/>
                </a:solidFill>
                <a:latin typeface="맑은 고딕"/>
                <a:ea typeface="맑은 고딕"/>
                <a:cs typeface="맑은 고딕"/>
              </a:defRPr>
            </a:lvl7pPr>
            <a:lvl8pPr>
              <a:defRPr sz="1200" b="1">
                <a:solidFill>
                  <a:srgbClr val="002060"/>
                </a:solidFill>
                <a:latin typeface="맑은 고딕"/>
                <a:ea typeface="맑은 고딕"/>
                <a:cs typeface="맑은 고딕"/>
              </a:defRPr>
            </a:lvl8pPr>
            <a:lvl9pPr>
              <a:defRPr sz="1200" b="1">
                <a:solidFill>
                  <a:srgbClr val="002060"/>
                </a:solidFill>
                <a:latin typeface="맑은 고딕"/>
                <a:ea typeface="맑은 고딕"/>
                <a:cs typeface="맑은 고딕"/>
              </a:defRPr>
            </a:lvl9pPr>
          </a:lstStyle>
          <a:p>
            <a:pPr>
              <a:defRPr sz="1200" b="1">
                <a:solidFill>
                  <a:srgbClr val="002060"/>
                </a:solidFill>
                <a:latin typeface="맑은 고딕"/>
                <a:ea typeface="맑은 고딕"/>
                <a:cs typeface="맑은 고딕"/>
              </a:defRPr>
            </a:pPr>
            <a:r>
              <a:rPr sz="1200" b="1">
                <a:solidFill>
                  <a:srgbClr val="002060"/>
                </a:solidFill>
                <a:latin typeface="맑은 고딕"/>
                <a:ea typeface="맑은 고딕"/>
                <a:cs typeface="맑은 고딕"/>
              </a:rPr>
              <a:t>2028 정시  대학별 전형 비교</a:t>
            </a:r>
          </a:p>
        </p:txBody>
      </p:sp>
      <p:sp>
        <p:nvSpPr>
          <p:cNvPr id="2" name="직사각형 1">
            <a:extLst>
              <a:ext uri="{FF2B5EF4-FFF2-40B4-BE49-F238E27FC236}">
                <a16:creationId xmlns:a16="http://schemas.microsoft.com/office/drawing/2014/main" id="{D26CDE8D-7AC6-4EBC-A540-5ED5510BDC2B}"/>
              </a:ext>
            </a:extLst>
          </p:cNvPr>
          <p:cNvSpPr>
            <a:spLocks noGrp="1"/>
          </p:cNvSpPr>
          <p:nvPr/>
        </p:nvSpPr>
        <p:spPr>
          <a:xfrm>
            <a:off x="381000" y="619125"/>
            <a:ext cx="10668000" cy="533400"/>
          </a:xfrm>
          <a:prstGeom prst="rect">
            <a:avLst/>
          </a:prstGeom>
          <a:noFill/>
          <a:ln w="0">
            <a:noFill/>
          </a:ln>
        </p:spPr>
        <p:txBody>
          <a:bodyPr lIns="0" tIns="0" rIns="0" bIns="0" anchor="t"/>
          <a:lstStyle>
            <a:defPPr>
              <a:defRPr sz="2400" b="1">
                <a:solidFill>
                  <a:srgbClr val="002060"/>
                </a:solidFill>
                <a:latin typeface="맑은 고딕"/>
                <a:ea typeface="맑은 고딕"/>
                <a:cs typeface="맑은 고딕"/>
              </a:defRPr>
            </a:defPPr>
            <a:lvl1pPr>
              <a:defRPr sz="2400" b="1">
                <a:solidFill>
                  <a:srgbClr val="002060"/>
                </a:solidFill>
                <a:latin typeface="맑은 고딕"/>
                <a:ea typeface="맑은 고딕"/>
                <a:cs typeface="맑은 고딕"/>
              </a:defRPr>
            </a:lvl1pPr>
            <a:lvl2pPr>
              <a:defRPr sz="2400" b="1">
                <a:solidFill>
                  <a:srgbClr val="002060"/>
                </a:solidFill>
                <a:latin typeface="맑은 고딕"/>
                <a:ea typeface="맑은 고딕"/>
                <a:cs typeface="맑은 고딕"/>
              </a:defRPr>
            </a:lvl2pPr>
            <a:lvl3pPr>
              <a:defRPr sz="2400" b="1">
                <a:solidFill>
                  <a:srgbClr val="002060"/>
                </a:solidFill>
                <a:latin typeface="맑은 고딕"/>
                <a:ea typeface="맑은 고딕"/>
                <a:cs typeface="맑은 고딕"/>
              </a:defRPr>
            </a:lvl3pPr>
            <a:lvl4pPr>
              <a:defRPr sz="2400" b="1">
                <a:solidFill>
                  <a:srgbClr val="002060"/>
                </a:solidFill>
                <a:latin typeface="맑은 고딕"/>
                <a:ea typeface="맑은 고딕"/>
                <a:cs typeface="맑은 고딕"/>
              </a:defRPr>
            </a:lvl4pPr>
            <a:lvl5pPr>
              <a:defRPr sz="2400" b="1">
                <a:solidFill>
                  <a:srgbClr val="002060"/>
                </a:solidFill>
                <a:latin typeface="맑은 고딕"/>
                <a:ea typeface="맑은 고딕"/>
                <a:cs typeface="맑은 고딕"/>
              </a:defRPr>
            </a:lvl5pPr>
            <a:lvl6pPr>
              <a:defRPr sz="2400" b="1">
                <a:solidFill>
                  <a:srgbClr val="002060"/>
                </a:solidFill>
                <a:latin typeface="맑은 고딕"/>
                <a:ea typeface="맑은 고딕"/>
                <a:cs typeface="맑은 고딕"/>
              </a:defRPr>
            </a:lvl6pPr>
            <a:lvl7pPr>
              <a:defRPr sz="2400" b="1">
                <a:solidFill>
                  <a:srgbClr val="002060"/>
                </a:solidFill>
                <a:latin typeface="맑은 고딕"/>
                <a:ea typeface="맑은 고딕"/>
                <a:cs typeface="맑은 고딕"/>
              </a:defRPr>
            </a:lvl7pPr>
            <a:lvl8pPr>
              <a:defRPr sz="2400" b="1">
                <a:solidFill>
                  <a:srgbClr val="002060"/>
                </a:solidFill>
                <a:latin typeface="맑은 고딕"/>
                <a:ea typeface="맑은 고딕"/>
                <a:cs typeface="맑은 고딕"/>
              </a:defRPr>
            </a:lvl8pPr>
            <a:lvl9pPr>
              <a:defRPr sz="2400" b="1">
                <a:solidFill>
                  <a:srgbClr val="002060"/>
                </a:solidFill>
                <a:latin typeface="맑은 고딕"/>
                <a:ea typeface="맑은 고딕"/>
                <a:cs typeface="맑은 고딕"/>
              </a:defRPr>
            </a:lvl9pPr>
          </a:lstStyle>
          <a:p>
            <a:pPr>
              <a:defRPr sz="2400" b="1">
                <a:solidFill>
                  <a:srgbClr val="002060"/>
                </a:solidFill>
                <a:latin typeface="맑은 고딕"/>
                <a:ea typeface="맑은 고딕"/>
                <a:cs typeface="맑은 고딕"/>
              </a:defRPr>
            </a:pPr>
            <a:r>
              <a:rPr sz="2400" b="1">
                <a:solidFill>
                  <a:srgbClr val="002060"/>
                </a:solidFill>
                <a:latin typeface="맑은 고딕"/>
                <a:ea typeface="맑은 고딕"/>
                <a:cs typeface="맑은 고딕"/>
              </a:rPr>
              <a:t>탐구 두 과목의 차등·고정 가중 비교</a:t>
            </a:r>
          </a:p>
        </p:txBody>
      </p:sp>
      <p:graphicFrame>
        <p:nvGraphicFramePr>
          <p:cNvPr id="3" name="표 2">
            <a:extLst>
              <a:ext uri="{FF2B5EF4-FFF2-40B4-BE49-F238E27FC236}">
                <a16:creationId xmlns:a16="http://schemas.microsoft.com/office/drawing/2014/main" id="{BEEDC08E-19FB-42A7-8306-B996E715FD2C}"/>
              </a:ext>
            </a:extLst>
          </p:cNvPr>
          <p:cNvGraphicFramePr/>
          <p:nvPr/>
        </p:nvGraphicFramePr>
        <p:xfrm>
          <a:off x="381000" y="1381125"/>
          <a:ext cx="10668000" cy="2305050"/>
        </p:xfrm>
        <a:graphic>
          <a:graphicData uri="http://schemas.openxmlformats.org/drawingml/2006/table">
            <a:tbl>
              <a:tblPr/>
              <a:tblGrid>
                <a:gridCol w="276225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tblGrid>
              <a:tr h="400050">
                <a:tc>
                  <a:txBody>
                    <a:bodyPr/>
                    <a:lstStyle/>
                    <a:p>
                      <a:r>
                        <a:rPr sz="1500" b="1">
                          <a:solidFill>
                            <a:srgbClr val="FFFFFF"/>
                          </a:solidFill>
                          <a:latin typeface="맑은 고딕"/>
                          <a:ea typeface="맑은 고딕"/>
                          <a:cs typeface="맑은 고딕"/>
                        </a:rPr>
                        <a:t>대학·전형</a:t>
                      </a:r>
                    </a:p>
                  </a:txBody>
                  <a:tcPr marL="95250" marR="95250" marT="47625" marB="47625" anchor="ctr">
                    <a:lnL w="5715">
                      <a:solidFill>
                        <a:srgbClr val="C5CFDA"/>
                      </a:solidFill>
                      <a:prstDash val="soli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탐구 반영 예시</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해석</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extLst>
                  <a:ext uri="{0D108BD9-81ED-4DB2-BD59-A6C34878D82A}">
                    <a16:rowId xmlns:a16="http://schemas.microsoft.com/office/drawing/2014/main" val="10000"/>
                  </a:ext>
                </a:extLst>
              </a:tr>
              <a:tr h="381000">
                <a:tc>
                  <a:txBody>
                    <a:bodyPr/>
                    <a:lstStyle/>
                    <a:p>
                      <a:r>
                        <a:rPr sz="1500" b="1">
                          <a:solidFill>
                            <a:srgbClr val="17212D"/>
                          </a:solidFill>
                          <a:latin typeface="맑은 고딕"/>
                          <a:ea typeface="맑은 고딕"/>
                          <a:cs typeface="맑은 고딕"/>
                        </a:rPr>
                        <a:t>성균관대 특화형</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2과목 변환점수 상위 순 70:30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두 점수의 단순 평균과 다름</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1"/>
                  </a:ext>
                </a:extLst>
              </a:tr>
              <a:tr h="381000">
                <a:tc>
                  <a:txBody>
                    <a:bodyPr/>
                    <a:lstStyle/>
                    <a:p>
                      <a:r>
                        <a:rPr sz="1500" b="1">
                          <a:solidFill>
                            <a:srgbClr val="17212D"/>
                          </a:solidFill>
                          <a:latin typeface="맑은 고딕"/>
                          <a:ea typeface="맑은 고딕"/>
                          <a:cs typeface="맑은 고딕"/>
                        </a:rPr>
                        <a:t>이화여대 수능(가·나)</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우수한 영역 순 20%, 10%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높은 탐구 점수의 비중이 더 큼</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2"/>
                  </a:ext>
                </a:extLst>
              </a:tr>
              <a:tr h="381000">
                <a:tc>
                  <a:txBody>
                    <a:bodyPr/>
                    <a:lstStyle/>
                    <a:p>
                      <a:r>
                        <a:rPr sz="1500" b="1">
                          <a:solidFill>
                            <a:srgbClr val="17212D"/>
                          </a:solidFill>
                          <a:latin typeface="맑은 고딕"/>
                          <a:ea typeface="맑은 고딕"/>
                          <a:cs typeface="맑은 고딕"/>
                        </a:rPr>
                        <a:t>이화여대 수능-학생부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사회 15%+과학 15%</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수능전형과 다른 탐구 구조</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3"/>
                  </a:ext>
                </a:extLst>
              </a:tr>
              <a:tr h="381000">
                <a:tc>
                  <a:txBody>
                    <a:bodyPr/>
                    <a:lstStyle/>
                    <a:p>
                      <a:r>
                        <a:rPr sz="1500" b="1">
                          <a:solidFill>
                            <a:srgbClr val="17212D"/>
                          </a:solidFill>
                          <a:latin typeface="맑은 고딕"/>
                          <a:ea typeface="맑은 고딕"/>
                          <a:cs typeface="맑은 고딕"/>
                        </a:rPr>
                        <a:t>서울대 일반 2단계</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인문 예: 사회 50·과학 30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총점 비율이 아닌 상대 반영비율</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4"/>
                  </a:ext>
                </a:extLst>
              </a:tr>
              <a:tr h="381000">
                <a:tc>
                  <a:txBody>
                    <a:bodyPr/>
                    <a:lstStyle/>
                    <a:p>
                      <a:r>
                        <a:rPr sz="1500" b="1">
                          <a:solidFill>
                            <a:srgbClr val="17212D"/>
                          </a:solidFill>
                          <a:latin typeface="맑은 고딕"/>
                          <a:ea typeface="맑은 고딕"/>
                          <a:cs typeface="맑은 고딕"/>
                        </a:rPr>
                        <a:t>경희대 자연</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사회 10%+과학 20%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인문·사회의 상위 1과목과 구분</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4" name="직사각형 3">
            <a:extLst>
              <a:ext uri="{FF2B5EF4-FFF2-40B4-BE49-F238E27FC236}">
                <a16:creationId xmlns:a16="http://schemas.microsoft.com/office/drawing/2014/main" id="{BDE3DF1A-7C9E-4938-BA82-7568CAEE78B6}"/>
              </a:ext>
            </a:extLst>
          </p:cNvPr>
          <p:cNvSpPr>
            <a:spLocks noGrp="1"/>
          </p:cNvSpPr>
          <p:nvPr/>
        </p:nvSpPr>
        <p:spPr>
          <a:xfrm>
            <a:off x="381000" y="3810000"/>
            <a:ext cx="10668000" cy="257175"/>
          </a:xfrm>
          <a:prstGeom prst="rect">
            <a:avLst/>
          </a:prstGeom>
          <a:noFill/>
          <a:ln w="0">
            <a:noFill/>
          </a:ln>
        </p:spPr>
        <p:txBody>
          <a:bodyPr lIns="0" tIns="0" rIns="0" bIns="0" anchor="t"/>
          <a:lstStyle>
            <a:defPPr>
              <a:defRPr sz="1125" b="0">
                <a:solidFill>
                  <a:srgbClr val="535D69"/>
                </a:solidFill>
                <a:latin typeface="맑은 고딕"/>
                <a:ea typeface="맑은 고딕"/>
                <a:cs typeface="맑은 고딕"/>
              </a:defRPr>
            </a:defPPr>
            <a:lvl1pPr>
              <a:defRPr sz="1125" b="0">
                <a:solidFill>
                  <a:srgbClr val="535D69"/>
                </a:solidFill>
                <a:latin typeface="맑은 고딕"/>
                <a:ea typeface="맑은 고딕"/>
                <a:cs typeface="맑은 고딕"/>
              </a:defRPr>
            </a:lvl1pPr>
            <a:lvl2pPr>
              <a:defRPr sz="1125" b="0">
                <a:solidFill>
                  <a:srgbClr val="535D69"/>
                </a:solidFill>
                <a:latin typeface="맑은 고딕"/>
                <a:ea typeface="맑은 고딕"/>
                <a:cs typeface="맑은 고딕"/>
              </a:defRPr>
            </a:lvl2pPr>
            <a:lvl3pPr>
              <a:defRPr sz="1125" b="0">
                <a:solidFill>
                  <a:srgbClr val="535D69"/>
                </a:solidFill>
                <a:latin typeface="맑은 고딕"/>
                <a:ea typeface="맑은 고딕"/>
                <a:cs typeface="맑은 고딕"/>
              </a:defRPr>
            </a:lvl3pPr>
            <a:lvl4pPr>
              <a:defRPr sz="1125" b="0">
                <a:solidFill>
                  <a:srgbClr val="535D69"/>
                </a:solidFill>
                <a:latin typeface="맑은 고딕"/>
                <a:ea typeface="맑은 고딕"/>
                <a:cs typeface="맑은 고딕"/>
              </a:defRPr>
            </a:lvl4pPr>
            <a:lvl5pPr>
              <a:defRPr sz="1125" b="0">
                <a:solidFill>
                  <a:srgbClr val="535D69"/>
                </a:solidFill>
                <a:latin typeface="맑은 고딕"/>
                <a:ea typeface="맑은 고딕"/>
                <a:cs typeface="맑은 고딕"/>
              </a:defRPr>
            </a:lvl5pPr>
            <a:lvl6pPr>
              <a:defRPr sz="1125" b="0">
                <a:solidFill>
                  <a:srgbClr val="535D69"/>
                </a:solidFill>
                <a:latin typeface="맑은 고딕"/>
                <a:ea typeface="맑은 고딕"/>
                <a:cs typeface="맑은 고딕"/>
              </a:defRPr>
            </a:lvl6pPr>
            <a:lvl7pPr>
              <a:defRPr sz="1125" b="0">
                <a:solidFill>
                  <a:srgbClr val="535D69"/>
                </a:solidFill>
                <a:latin typeface="맑은 고딕"/>
                <a:ea typeface="맑은 고딕"/>
                <a:cs typeface="맑은 고딕"/>
              </a:defRPr>
            </a:lvl7pPr>
            <a:lvl8pPr>
              <a:defRPr sz="1125" b="0">
                <a:solidFill>
                  <a:srgbClr val="535D69"/>
                </a:solidFill>
                <a:latin typeface="맑은 고딕"/>
                <a:ea typeface="맑은 고딕"/>
                <a:cs typeface="맑은 고딕"/>
              </a:defRPr>
            </a:lvl8pPr>
            <a:lvl9pPr>
              <a:defRPr sz="1125" b="0">
                <a:solidFill>
                  <a:srgbClr val="535D69"/>
                </a:solidFill>
                <a:latin typeface="맑은 고딕"/>
                <a:ea typeface="맑은 고딕"/>
                <a:cs typeface="맑은 고딕"/>
              </a:defRPr>
            </a:lvl9pPr>
          </a:lstStyle>
          <a:p>
            <a:pPr>
              <a:defRPr sz="1125" b="0">
                <a:solidFill>
                  <a:srgbClr val="535D69"/>
                </a:solidFill>
                <a:latin typeface="맑은 고딕"/>
                <a:ea typeface="맑은 고딕"/>
                <a:cs typeface="맑은 고딕"/>
              </a:defRPr>
            </a:pPr>
            <a:r>
              <a:rPr sz="1125" b="0">
                <a:solidFill>
                  <a:srgbClr val="535D69"/>
                </a:solidFill>
                <a:latin typeface="맑은 고딕"/>
                <a:ea typeface="맑은 고딕"/>
                <a:cs typeface="맑은 고딕"/>
              </a:rPr>
              <a:t>서울대의 상대비율은 모집단위군별로 다름. 이화 다군 일부 수능전형은 탐구 우수 1개 영역.</a:t>
            </a:r>
          </a:p>
        </p:txBody>
      </p:sp>
      <p:sp>
        <p:nvSpPr>
          <p:cNvPr id="5" name="직사각형 4">
            <a:extLst>
              <a:ext uri="{FF2B5EF4-FFF2-40B4-BE49-F238E27FC236}">
                <a16:creationId xmlns:a16="http://schemas.microsoft.com/office/drawing/2014/main" id="{71B4BF30-02B5-46F1-9E54-341292BF1A58}"/>
              </a:ext>
            </a:extLst>
          </p:cNvPr>
          <p:cNvSpPr>
            <a:spLocks noGrp="1"/>
          </p:cNvSpPr>
          <p:nvPr/>
        </p:nvSpPr>
        <p:spPr>
          <a:xfrm>
            <a:off x="381000" y="9572625"/>
            <a:ext cx="10096500" cy="361950"/>
          </a:xfrm>
          <a:prstGeom prst="rect">
            <a:avLst/>
          </a:prstGeom>
          <a:noFill/>
          <a:ln w="0">
            <a:noFill/>
          </a:ln>
        </p:spPr>
        <p:txBody>
          <a:bodyPr lIns="0" tIns="0" rIns="0" bIns="0" anchor="t"/>
          <a:lstStyle>
            <a:defPPr>
              <a:defRPr sz="900" b="0">
                <a:solidFill>
                  <a:srgbClr val="666666"/>
                </a:solidFill>
                <a:latin typeface="맑은 고딕"/>
                <a:ea typeface="맑은 고딕"/>
                <a:cs typeface="맑은 고딕"/>
              </a:defRPr>
            </a:defPPr>
            <a:lvl1pPr>
              <a:defRPr sz="900" b="0">
                <a:solidFill>
                  <a:srgbClr val="666666"/>
                </a:solidFill>
                <a:latin typeface="맑은 고딕"/>
                <a:ea typeface="맑은 고딕"/>
                <a:cs typeface="맑은 고딕"/>
              </a:defRPr>
            </a:lvl1pPr>
            <a:lvl2pPr>
              <a:defRPr sz="900" b="0">
                <a:solidFill>
                  <a:srgbClr val="666666"/>
                </a:solidFill>
                <a:latin typeface="맑은 고딕"/>
                <a:ea typeface="맑은 고딕"/>
                <a:cs typeface="맑은 고딕"/>
              </a:defRPr>
            </a:lvl2pPr>
            <a:lvl3pPr>
              <a:defRPr sz="900" b="0">
                <a:solidFill>
                  <a:srgbClr val="666666"/>
                </a:solidFill>
                <a:latin typeface="맑은 고딕"/>
                <a:ea typeface="맑은 고딕"/>
                <a:cs typeface="맑은 고딕"/>
              </a:defRPr>
            </a:lvl3pPr>
            <a:lvl4pPr>
              <a:defRPr sz="900" b="0">
                <a:solidFill>
                  <a:srgbClr val="666666"/>
                </a:solidFill>
                <a:latin typeface="맑은 고딕"/>
                <a:ea typeface="맑은 고딕"/>
                <a:cs typeface="맑은 고딕"/>
              </a:defRPr>
            </a:lvl4pPr>
            <a:lvl5pPr>
              <a:defRPr sz="900" b="0">
                <a:solidFill>
                  <a:srgbClr val="666666"/>
                </a:solidFill>
                <a:latin typeface="맑은 고딕"/>
                <a:ea typeface="맑은 고딕"/>
                <a:cs typeface="맑은 고딕"/>
              </a:defRPr>
            </a:lvl5pPr>
            <a:lvl6pPr>
              <a:defRPr sz="900" b="0">
                <a:solidFill>
                  <a:srgbClr val="666666"/>
                </a:solidFill>
                <a:latin typeface="맑은 고딕"/>
                <a:ea typeface="맑은 고딕"/>
                <a:cs typeface="맑은 고딕"/>
              </a:defRPr>
            </a:lvl6pPr>
            <a:lvl7pPr>
              <a:defRPr sz="900" b="0">
                <a:solidFill>
                  <a:srgbClr val="666666"/>
                </a:solidFill>
                <a:latin typeface="맑은 고딕"/>
                <a:ea typeface="맑은 고딕"/>
                <a:cs typeface="맑은 고딕"/>
              </a:defRPr>
            </a:lvl7pPr>
            <a:lvl8pPr>
              <a:defRPr sz="900" b="0">
                <a:solidFill>
                  <a:srgbClr val="666666"/>
                </a:solidFill>
                <a:latin typeface="맑은 고딕"/>
                <a:ea typeface="맑은 고딕"/>
                <a:cs typeface="맑은 고딕"/>
              </a:defRPr>
            </a:lvl8pPr>
            <a:lvl9pPr>
              <a:defRPr sz="900" b="0">
                <a:solidFill>
                  <a:srgbClr val="666666"/>
                </a:solidFill>
                <a:latin typeface="맑은 고딕"/>
                <a:ea typeface="맑은 고딕"/>
                <a:cs typeface="맑은 고딕"/>
              </a:defRPr>
            </a:lvl9pPr>
          </a:lstStyle>
          <a:p>
            <a:pPr>
              <a:defRPr sz="900" b="0">
                <a:solidFill>
                  <a:srgbClr val="666666"/>
                </a:solidFill>
                <a:latin typeface="맑은 고딕"/>
                <a:ea typeface="맑은 고딕"/>
                <a:cs typeface="맑은 고딕"/>
              </a:defRPr>
            </a:pPr>
            <a:r>
              <a:rPr sz="900" b="0">
                <a:solidFill>
                  <a:srgbClr val="666666"/>
                </a:solidFill>
                <a:latin typeface="맑은 고딕"/>
                <a:ea typeface="맑은 고딕"/>
                <a:cs typeface="맑은 고딕"/>
              </a:rPr>
              <a:t>근거  성균관 PDF 38쪽 / 이화 PDF 15~16쪽 / 서울 PDF 18쪽 / SEN 132쪽</a:t>
            </a:r>
          </a:p>
        </p:txBody>
      </p:sp>
      <p:sp>
        <p:nvSpPr>
          <p:cNvPr id="6" name="직사각형 5">
            <a:extLst>
              <a:ext uri="{FF2B5EF4-FFF2-40B4-BE49-F238E27FC236}">
                <a16:creationId xmlns:a16="http://schemas.microsoft.com/office/drawing/2014/main" id="{4ECB8302-310C-4959-925B-21A0EC11D947}"/>
              </a:ext>
            </a:extLst>
          </p:cNvPr>
          <p:cNvSpPr>
            <a:spLocks noGrp="1"/>
          </p:cNvSpPr>
          <p:nvPr/>
        </p:nvSpPr>
        <p:spPr>
          <a:xfrm>
            <a:off x="10715625" y="9572625"/>
            <a:ext cx="333375" cy="228600"/>
          </a:xfrm>
          <a:prstGeom prst="rect">
            <a:avLst/>
          </a:prstGeom>
          <a:noFill/>
          <a:ln w="0">
            <a:noFill/>
          </a:ln>
        </p:spPr>
        <p:txBody>
          <a:bodyPr lIns="0" tIns="0" rIns="0" bIns="0" anchor="t"/>
          <a:lstStyle>
            <a:defPPr>
              <a:defRPr sz="1050" b="0">
                <a:solidFill>
                  <a:srgbClr val="002060"/>
                </a:solidFill>
                <a:latin typeface="맑은 고딕"/>
                <a:ea typeface="맑은 고딕"/>
                <a:cs typeface="맑은 고딕"/>
              </a:defRPr>
            </a:defPPr>
            <a:lvl1pPr>
              <a:defRPr sz="1050" b="0">
                <a:solidFill>
                  <a:srgbClr val="002060"/>
                </a:solidFill>
                <a:latin typeface="맑은 고딕"/>
                <a:ea typeface="맑은 고딕"/>
                <a:cs typeface="맑은 고딕"/>
              </a:defRPr>
            </a:lvl1pPr>
            <a:lvl2pPr>
              <a:defRPr sz="1050" b="0">
                <a:solidFill>
                  <a:srgbClr val="002060"/>
                </a:solidFill>
                <a:latin typeface="맑은 고딕"/>
                <a:ea typeface="맑은 고딕"/>
                <a:cs typeface="맑은 고딕"/>
              </a:defRPr>
            </a:lvl2pPr>
            <a:lvl3pPr>
              <a:defRPr sz="1050" b="0">
                <a:solidFill>
                  <a:srgbClr val="002060"/>
                </a:solidFill>
                <a:latin typeface="맑은 고딕"/>
                <a:ea typeface="맑은 고딕"/>
                <a:cs typeface="맑은 고딕"/>
              </a:defRPr>
            </a:lvl3pPr>
            <a:lvl4pPr>
              <a:defRPr sz="1050" b="0">
                <a:solidFill>
                  <a:srgbClr val="002060"/>
                </a:solidFill>
                <a:latin typeface="맑은 고딕"/>
                <a:ea typeface="맑은 고딕"/>
                <a:cs typeface="맑은 고딕"/>
              </a:defRPr>
            </a:lvl4pPr>
            <a:lvl5pPr>
              <a:defRPr sz="1050" b="0">
                <a:solidFill>
                  <a:srgbClr val="002060"/>
                </a:solidFill>
                <a:latin typeface="맑은 고딕"/>
                <a:ea typeface="맑은 고딕"/>
                <a:cs typeface="맑은 고딕"/>
              </a:defRPr>
            </a:lvl5pPr>
            <a:lvl6pPr>
              <a:defRPr sz="1050" b="0">
                <a:solidFill>
                  <a:srgbClr val="002060"/>
                </a:solidFill>
                <a:latin typeface="맑은 고딕"/>
                <a:ea typeface="맑은 고딕"/>
                <a:cs typeface="맑은 고딕"/>
              </a:defRPr>
            </a:lvl6pPr>
            <a:lvl7pPr>
              <a:defRPr sz="1050" b="0">
                <a:solidFill>
                  <a:srgbClr val="002060"/>
                </a:solidFill>
                <a:latin typeface="맑은 고딕"/>
                <a:ea typeface="맑은 고딕"/>
                <a:cs typeface="맑은 고딕"/>
              </a:defRPr>
            </a:lvl7pPr>
            <a:lvl8pPr>
              <a:defRPr sz="1050" b="0">
                <a:solidFill>
                  <a:srgbClr val="002060"/>
                </a:solidFill>
                <a:latin typeface="맑은 고딕"/>
                <a:ea typeface="맑은 고딕"/>
                <a:cs typeface="맑은 고딕"/>
              </a:defRPr>
            </a:lvl8pPr>
            <a:lvl9pPr>
              <a:defRPr sz="1050" b="0">
                <a:solidFill>
                  <a:srgbClr val="002060"/>
                </a:solidFill>
                <a:latin typeface="맑은 고딕"/>
                <a:ea typeface="맑은 고딕"/>
                <a:cs typeface="맑은 고딕"/>
              </a:defRPr>
            </a:lvl9pPr>
          </a:lstStyle>
          <a:p>
            <a:pPr>
              <a:defRPr sz="1050" b="0">
                <a:solidFill>
                  <a:srgbClr val="002060"/>
                </a:solidFill>
                <a:latin typeface="맑은 고딕"/>
                <a:ea typeface="맑은 고딕"/>
                <a:cs typeface="맑은 고딕"/>
              </a:defRPr>
            </a:pPr>
            <a:r>
              <a:rPr sz="1050" b="0">
                <a:solidFill>
                  <a:srgbClr val="002060"/>
                </a:solidFill>
                <a:latin typeface="맑은 고딕"/>
                <a:ea typeface="맑은 고딕"/>
                <a:cs typeface="맑은 고딕"/>
              </a:rPr>
              <a:t>14</a:t>
            </a:r>
          </a:p>
        </p:txBody>
      </p:sp>
    </p:spTree>
    <p:extLst>
      <p:ext uri="{BB962C8B-B14F-4D97-AF65-F5344CB8AC3E}">
        <p14:creationId xmlns:p14="http://schemas.microsoft.com/office/powerpoint/2010/main" val="15178223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9B54B6D1-5B28-4BDC-A143-134F291898DD}"/>
              </a:ext>
            </a:extLst>
          </p:cNvPr>
          <p:cNvSpPr>
            <a:spLocks noGrp="1"/>
          </p:cNvSpPr>
          <p:nvPr/>
        </p:nvSpPr>
        <p:spPr>
          <a:xfrm>
            <a:off x="381000" y="228600"/>
            <a:ext cx="9525000" cy="238125"/>
          </a:xfrm>
          <a:prstGeom prst="rect">
            <a:avLst/>
          </a:prstGeom>
          <a:noFill/>
          <a:ln w="0">
            <a:noFill/>
          </a:ln>
        </p:spPr>
        <p:txBody>
          <a:bodyPr lIns="0" tIns="0" rIns="0" bIns="0" anchor="t"/>
          <a:lstStyle>
            <a:defPPr>
              <a:defRPr sz="1200" b="1">
                <a:solidFill>
                  <a:srgbClr val="002060"/>
                </a:solidFill>
                <a:latin typeface="맑은 고딕"/>
                <a:ea typeface="맑은 고딕"/>
                <a:cs typeface="맑은 고딕"/>
              </a:defRPr>
            </a:defPPr>
            <a:lvl1pPr>
              <a:defRPr sz="1200" b="1">
                <a:solidFill>
                  <a:srgbClr val="002060"/>
                </a:solidFill>
                <a:latin typeface="맑은 고딕"/>
                <a:ea typeface="맑은 고딕"/>
                <a:cs typeface="맑은 고딕"/>
              </a:defRPr>
            </a:lvl1pPr>
            <a:lvl2pPr>
              <a:defRPr sz="1200" b="1">
                <a:solidFill>
                  <a:srgbClr val="002060"/>
                </a:solidFill>
                <a:latin typeface="맑은 고딕"/>
                <a:ea typeface="맑은 고딕"/>
                <a:cs typeface="맑은 고딕"/>
              </a:defRPr>
            </a:lvl2pPr>
            <a:lvl3pPr>
              <a:defRPr sz="1200" b="1">
                <a:solidFill>
                  <a:srgbClr val="002060"/>
                </a:solidFill>
                <a:latin typeface="맑은 고딕"/>
                <a:ea typeface="맑은 고딕"/>
                <a:cs typeface="맑은 고딕"/>
              </a:defRPr>
            </a:lvl3pPr>
            <a:lvl4pPr>
              <a:defRPr sz="1200" b="1">
                <a:solidFill>
                  <a:srgbClr val="002060"/>
                </a:solidFill>
                <a:latin typeface="맑은 고딕"/>
                <a:ea typeface="맑은 고딕"/>
                <a:cs typeface="맑은 고딕"/>
              </a:defRPr>
            </a:lvl4pPr>
            <a:lvl5pPr>
              <a:defRPr sz="1200" b="1">
                <a:solidFill>
                  <a:srgbClr val="002060"/>
                </a:solidFill>
                <a:latin typeface="맑은 고딕"/>
                <a:ea typeface="맑은 고딕"/>
                <a:cs typeface="맑은 고딕"/>
              </a:defRPr>
            </a:lvl5pPr>
            <a:lvl6pPr>
              <a:defRPr sz="1200" b="1">
                <a:solidFill>
                  <a:srgbClr val="002060"/>
                </a:solidFill>
                <a:latin typeface="맑은 고딕"/>
                <a:ea typeface="맑은 고딕"/>
                <a:cs typeface="맑은 고딕"/>
              </a:defRPr>
            </a:lvl6pPr>
            <a:lvl7pPr>
              <a:defRPr sz="1200" b="1">
                <a:solidFill>
                  <a:srgbClr val="002060"/>
                </a:solidFill>
                <a:latin typeface="맑은 고딕"/>
                <a:ea typeface="맑은 고딕"/>
                <a:cs typeface="맑은 고딕"/>
              </a:defRPr>
            </a:lvl7pPr>
            <a:lvl8pPr>
              <a:defRPr sz="1200" b="1">
                <a:solidFill>
                  <a:srgbClr val="002060"/>
                </a:solidFill>
                <a:latin typeface="맑은 고딕"/>
                <a:ea typeface="맑은 고딕"/>
                <a:cs typeface="맑은 고딕"/>
              </a:defRPr>
            </a:lvl8pPr>
            <a:lvl9pPr>
              <a:defRPr sz="1200" b="1">
                <a:solidFill>
                  <a:srgbClr val="002060"/>
                </a:solidFill>
                <a:latin typeface="맑은 고딕"/>
                <a:ea typeface="맑은 고딕"/>
                <a:cs typeface="맑은 고딕"/>
              </a:defRPr>
            </a:lvl9pPr>
          </a:lstStyle>
          <a:p>
            <a:pPr>
              <a:defRPr sz="1200" b="1">
                <a:solidFill>
                  <a:srgbClr val="002060"/>
                </a:solidFill>
                <a:latin typeface="맑은 고딕"/>
                <a:ea typeface="맑은 고딕"/>
                <a:cs typeface="맑은 고딕"/>
              </a:defRPr>
            </a:pPr>
            <a:r>
              <a:rPr sz="1200" b="1">
                <a:solidFill>
                  <a:srgbClr val="002060"/>
                </a:solidFill>
                <a:latin typeface="맑은 고딕"/>
                <a:ea typeface="맑은 고딕"/>
                <a:cs typeface="맑은 고딕"/>
              </a:rPr>
              <a:t>2028 정시  대학별 전형 비교</a:t>
            </a:r>
          </a:p>
        </p:txBody>
      </p:sp>
      <p:sp>
        <p:nvSpPr>
          <p:cNvPr id="2" name="직사각형 1">
            <a:extLst>
              <a:ext uri="{FF2B5EF4-FFF2-40B4-BE49-F238E27FC236}">
                <a16:creationId xmlns:a16="http://schemas.microsoft.com/office/drawing/2014/main" id="{072DFC81-B33D-4CCA-844B-ADCA0EFF662F}"/>
              </a:ext>
            </a:extLst>
          </p:cNvPr>
          <p:cNvSpPr>
            <a:spLocks noGrp="1"/>
          </p:cNvSpPr>
          <p:nvPr/>
        </p:nvSpPr>
        <p:spPr>
          <a:xfrm>
            <a:off x="381000" y="619125"/>
            <a:ext cx="10668000" cy="533400"/>
          </a:xfrm>
          <a:prstGeom prst="rect">
            <a:avLst/>
          </a:prstGeom>
          <a:noFill/>
          <a:ln w="0">
            <a:noFill/>
          </a:ln>
        </p:spPr>
        <p:txBody>
          <a:bodyPr lIns="0" tIns="0" rIns="0" bIns="0" anchor="t"/>
          <a:lstStyle>
            <a:defPPr>
              <a:defRPr sz="2400" b="1">
                <a:solidFill>
                  <a:srgbClr val="002060"/>
                </a:solidFill>
                <a:latin typeface="맑은 고딕"/>
                <a:ea typeface="맑은 고딕"/>
                <a:cs typeface="맑은 고딕"/>
              </a:defRPr>
            </a:defPPr>
            <a:lvl1pPr>
              <a:defRPr sz="2400" b="1">
                <a:solidFill>
                  <a:srgbClr val="002060"/>
                </a:solidFill>
                <a:latin typeface="맑은 고딕"/>
                <a:ea typeface="맑은 고딕"/>
                <a:cs typeface="맑은 고딕"/>
              </a:defRPr>
            </a:lvl1pPr>
            <a:lvl2pPr>
              <a:defRPr sz="2400" b="1">
                <a:solidFill>
                  <a:srgbClr val="002060"/>
                </a:solidFill>
                <a:latin typeface="맑은 고딕"/>
                <a:ea typeface="맑은 고딕"/>
                <a:cs typeface="맑은 고딕"/>
              </a:defRPr>
            </a:lvl2pPr>
            <a:lvl3pPr>
              <a:defRPr sz="2400" b="1">
                <a:solidFill>
                  <a:srgbClr val="002060"/>
                </a:solidFill>
                <a:latin typeface="맑은 고딕"/>
                <a:ea typeface="맑은 고딕"/>
                <a:cs typeface="맑은 고딕"/>
              </a:defRPr>
            </a:lvl3pPr>
            <a:lvl4pPr>
              <a:defRPr sz="2400" b="1">
                <a:solidFill>
                  <a:srgbClr val="002060"/>
                </a:solidFill>
                <a:latin typeface="맑은 고딕"/>
                <a:ea typeface="맑은 고딕"/>
                <a:cs typeface="맑은 고딕"/>
              </a:defRPr>
            </a:lvl4pPr>
            <a:lvl5pPr>
              <a:defRPr sz="2400" b="1">
                <a:solidFill>
                  <a:srgbClr val="002060"/>
                </a:solidFill>
                <a:latin typeface="맑은 고딕"/>
                <a:ea typeface="맑은 고딕"/>
                <a:cs typeface="맑은 고딕"/>
              </a:defRPr>
            </a:lvl5pPr>
            <a:lvl6pPr>
              <a:defRPr sz="2400" b="1">
                <a:solidFill>
                  <a:srgbClr val="002060"/>
                </a:solidFill>
                <a:latin typeface="맑은 고딕"/>
                <a:ea typeface="맑은 고딕"/>
                <a:cs typeface="맑은 고딕"/>
              </a:defRPr>
            </a:lvl6pPr>
            <a:lvl7pPr>
              <a:defRPr sz="2400" b="1">
                <a:solidFill>
                  <a:srgbClr val="002060"/>
                </a:solidFill>
                <a:latin typeface="맑은 고딕"/>
                <a:ea typeface="맑은 고딕"/>
                <a:cs typeface="맑은 고딕"/>
              </a:defRPr>
            </a:lvl7pPr>
            <a:lvl8pPr>
              <a:defRPr sz="2400" b="1">
                <a:solidFill>
                  <a:srgbClr val="002060"/>
                </a:solidFill>
                <a:latin typeface="맑은 고딕"/>
                <a:ea typeface="맑은 고딕"/>
                <a:cs typeface="맑은 고딕"/>
              </a:defRPr>
            </a:lvl8pPr>
            <a:lvl9pPr>
              <a:defRPr sz="2400" b="1">
                <a:solidFill>
                  <a:srgbClr val="002060"/>
                </a:solidFill>
                <a:latin typeface="맑은 고딕"/>
                <a:ea typeface="맑은 고딕"/>
                <a:cs typeface="맑은 고딕"/>
              </a:defRPr>
            </a:lvl9pPr>
          </a:lstStyle>
          <a:p>
            <a:pPr>
              <a:defRPr sz="2400" b="1">
                <a:solidFill>
                  <a:srgbClr val="002060"/>
                </a:solidFill>
                <a:latin typeface="맑은 고딕"/>
                <a:ea typeface="맑은 고딕"/>
                <a:cs typeface="맑은 고딕"/>
              </a:defRPr>
            </a:pPr>
            <a:r>
              <a:rPr sz="2400" b="1">
                <a:solidFill>
                  <a:srgbClr val="002060"/>
                </a:solidFill>
                <a:latin typeface="맑은 고딕"/>
                <a:ea typeface="맑은 고딕"/>
                <a:cs typeface="맑은 고딕"/>
              </a:rPr>
              <a:t>거점국립대 수능 지표·탐구 반영 비교</a:t>
            </a:r>
          </a:p>
        </p:txBody>
      </p:sp>
      <p:graphicFrame>
        <p:nvGraphicFramePr>
          <p:cNvPr id="3" name="표 2">
            <a:extLst>
              <a:ext uri="{FF2B5EF4-FFF2-40B4-BE49-F238E27FC236}">
                <a16:creationId xmlns:a16="http://schemas.microsoft.com/office/drawing/2014/main" id="{5E9FABDC-7A72-4D4A-8A3F-802B60460EA8}"/>
              </a:ext>
            </a:extLst>
          </p:cNvPr>
          <p:cNvGraphicFramePr/>
          <p:nvPr/>
        </p:nvGraphicFramePr>
        <p:xfrm>
          <a:off x="381000" y="1381125"/>
          <a:ext cx="10668000" cy="4210050"/>
        </p:xfrm>
        <a:graphic>
          <a:graphicData uri="http://schemas.openxmlformats.org/drawingml/2006/table">
            <a:tbl>
              <a:tblPr/>
              <a:tblGrid>
                <a:gridCol w="276225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tblGrid>
              <a:tr h="400050">
                <a:tc>
                  <a:txBody>
                    <a:bodyPr/>
                    <a:lstStyle/>
                    <a:p>
                      <a:r>
                        <a:rPr sz="1500" b="1">
                          <a:solidFill>
                            <a:srgbClr val="FFFFFF"/>
                          </a:solidFill>
                          <a:latin typeface="맑은 고딕"/>
                          <a:ea typeface="맑은 고딕"/>
                          <a:cs typeface="맑은 고딕"/>
                        </a:rPr>
                        <a:t>대학·범위</a:t>
                      </a:r>
                    </a:p>
                  </a:txBody>
                  <a:tcPr marL="95250" marR="95250" marT="47625" marB="47625" anchor="ctr">
                    <a:lnL w="5715">
                      <a:solidFill>
                        <a:srgbClr val="C5CFDA"/>
                      </a:solidFill>
                      <a:prstDash val="soli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국·수·탐 활용지표</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탐구 반영 특징</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extLst>
                  <a:ext uri="{0D108BD9-81ED-4DB2-BD59-A6C34878D82A}">
                    <a16:rowId xmlns:a16="http://schemas.microsoft.com/office/drawing/2014/main" val="10000"/>
                  </a:ext>
                </a:extLst>
              </a:tr>
              <a:tr h="381000">
                <a:tc>
                  <a:txBody>
                    <a:bodyPr/>
                    <a:lstStyle/>
                    <a:p>
                      <a:r>
                        <a:rPr sz="1500" b="1">
                          <a:solidFill>
                            <a:srgbClr val="17212D"/>
                          </a:solidFill>
                          <a:latin typeface="맑은 고딕"/>
                          <a:ea typeface="맑은 고딕"/>
                          <a:cs typeface="맑은 고딕"/>
                        </a:rPr>
                        <a:t>강원대 춘천 일반</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백분위</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사회·과학 2과목, 계열별 가중</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1"/>
                  </a:ext>
                </a:extLst>
              </a:tr>
              <a:tr h="381000">
                <a:tc>
                  <a:txBody>
                    <a:bodyPr/>
                    <a:lstStyle/>
                    <a:p>
                      <a:r>
                        <a:rPr sz="1500" b="1">
                          <a:solidFill>
                            <a:srgbClr val="17212D"/>
                          </a:solidFill>
                          <a:latin typeface="맑은 고딕"/>
                          <a:ea typeface="맑은 고딕"/>
                          <a:cs typeface="맑은 고딕"/>
                        </a:rPr>
                        <a:t>강원대 삼척·도계</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백분위</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우수 2개 영역, 탐구 반영 시 1과목</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2"/>
                  </a:ext>
                </a:extLst>
              </a:tr>
              <a:tr h="381000">
                <a:tc>
                  <a:txBody>
                    <a:bodyPr/>
                    <a:lstStyle/>
                    <a:p>
                      <a:r>
                        <a:rPr sz="1500" b="1">
                          <a:solidFill>
                            <a:srgbClr val="17212D"/>
                          </a:solidFill>
                          <a:latin typeface="맑은 고딕"/>
                          <a:ea typeface="맑은 고딕"/>
                          <a:cs typeface="맑은 고딕"/>
                        </a:rPr>
                        <a:t>강원대 강릉·원주 일반</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백분위</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우수 3개 영역, 치의예 별도</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3"/>
                  </a:ext>
                </a:extLst>
              </a:tr>
              <a:tr h="381000">
                <a:tc>
                  <a:txBody>
                    <a:bodyPr/>
                    <a:lstStyle/>
                    <a:p>
                      <a:r>
                        <a:rPr sz="1500" b="1">
                          <a:solidFill>
                            <a:srgbClr val="17212D"/>
                          </a:solidFill>
                          <a:latin typeface="맑은 고딕"/>
                          <a:ea typeface="맑은 고딕"/>
                          <a:cs typeface="맑은 고딕"/>
                        </a:rPr>
                        <a:t>경북대 일반</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표준점수</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2과목, 인문·자연의 사회·과학 가중 차이</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4"/>
                  </a:ext>
                </a:extLst>
              </a:tr>
              <a:tr h="381000">
                <a:tc>
                  <a:txBody>
                    <a:bodyPr/>
                    <a:lstStyle/>
                    <a:p>
                      <a:r>
                        <a:rPr sz="1500" b="1">
                          <a:solidFill>
                            <a:srgbClr val="17212D"/>
                          </a:solidFill>
                          <a:latin typeface="맑은 고딕"/>
                          <a:ea typeface="맑은 고딕"/>
                          <a:cs typeface="맑은 고딕"/>
                        </a:rPr>
                        <a:t>경상국립대 일반</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표준점수</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2과목, 인문과 자연의 가중 차이</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5"/>
                  </a:ext>
                </a:extLst>
              </a:tr>
              <a:tr h="381000">
                <a:tc>
                  <a:txBody>
                    <a:bodyPr/>
                    <a:lstStyle/>
                    <a:p>
                      <a:r>
                        <a:rPr sz="1500" b="1">
                          <a:solidFill>
                            <a:srgbClr val="17212D"/>
                          </a:solidFill>
                          <a:latin typeface="맑은 고딕"/>
                          <a:ea typeface="맑은 고딕"/>
                          <a:cs typeface="맑은 고딕"/>
                        </a:rPr>
                        <a:t>부산대 일반</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표준점수 기반</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사회·과학을 계열별 배점으로 각각 반영</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6"/>
                  </a:ext>
                </a:extLst>
              </a:tr>
              <a:tr h="381000">
                <a:tc>
                  <a:txBody>
                    <a:bodyPr/>
                    <a:lstStyle/>
                    <a:p>
                      <a:r>
                        <a:rPr sz="1500" b="1">
                          <a:solidFill>
                            <a:srgbClr val="17212D"/>
                          </a:solidFill>
                          <a:latin typeface="맑은 고딕"/>
                          <a:ea typeface="맑은 고딕"/>
                          <a:cs typeface="맑은 고딕"/>
                        </a:rPr>
                        <a:t>전남대 일반</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표준점수</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일반 1과목, 의·치·약·수의는 2과목 평균</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7"/>
                  </a:ext>
                </a:extLst>
              </a:tr>
              <a:tr h="381000">
                <a:tc>
                  <a:txBody>
                    <a:bodyPr/>
                    <a:lstStyle/>
                    <a:p>
                      <a:r>
                        <a:rPr sz="1500" b="1">
                          <a:solidFill>
                            <a:srgbClr val="17212D"/>
                          </a:solidFill>
                          <a:latin typeface="맑은 고딕"/>
                          <a:ea typeface="맑은 고딕"/>
                          <a:cs typeface="맑은 고딕"/>
                        </a:rPr>
                        <a:t>전북대 일반</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백분위</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2과목, 계열별 사회·과학 가중 차이</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8"/>
                  </a:ext>
                </a:extLst>
              </a:tr>
              <a:tr h="381000">
                <a:tc>
                  <a:txBody>
                    <a:bodyPr/>
                    <a:lstStyle/>
                    <a:p>
                      <a:r>
                        <a:rPr sz="1500" b="1">
                          <a:solidFill>
                            <a:srgbClr val="17212D"/>
                          </a:solidFill>
                          <a:latin typeface="맑은 고딕"/>
                          <a:ea typeface="맑은 고딕"/>
                          <a:cs typeface="맑은 고딕"/>
                        </a:rPr>
                        <a:t>제주대 일반</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백분위</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탐구 1과목</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9"/>
                  </a:ext>
                </a:extLst>
              </a:tr>
              <a:tr h="381000">
                <a:tc>
                  <a:txBody>
                    <a:bodyPr/>
                    <a:lstStyle/>
                    <a:p>
                      <a:r>
                        <a:rPr sz="1500" b="1">
                          <a:solidFill>
                            <a:srgbClr val="17212D"/>
                          </a:solidFill>
                          <a:latin typeface="맑은 고딕"/>
                          <a:ea typeface="맑은 고딕"/>
                          <a:cs typeface="맑은 고딕"/>
                        </a:rPr>
                        <a:t>충남대·충북대 일반</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표준점수</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탐구 2과목, 계열별 가중 차이</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10"/>
                  </a:ext>
                </a:extLst>
              </a:tr>
            </a:tbl>
          </a:graphicData>
        </a:graphic>
      </p:graphicFrame>
      <p:sp>
        <p:nvSpPr>
          <p:cNvPr id="4" name="직사각형 3">
            <a:extLst>
              <a:ext uri="{FF2B5EF4-FFF2-40B4-BE49-F238E27FC236}">
                <a16:creationId xmlns:a16="http://schemas.microsoft.com/office/drawing/2014/main" id="{0A71603B-E74C-4F2A-82D1-317F3F539802}"/>
              </a:ext>
            </a:extLst>
          </p:cNvPr>
          <p:cNvSpPr>
            <a:spLocks noGrp="1"/>
          </p:cNvSpPr>
          <p:nvPr/>
        </p:nvSpPr>
        <p:spPr>
          <a:xfrm>
            <a:off x="381000" y="5715000"/>
            <a:ext cx="10668000" cy="257175"/>
          </a:xfrm>
          <a:prstGeom prst="rect">
            <a:avLst/>
          </a:prstGeom>
          <a:noFill/>
          <a:ln w="0">
            <a:noFill/>
          </a:ln>
        </p:spPr>
        <p:txBody>
          <a:bodyPr lIns="0" tIns="0" rIns="0" bIns="0" anchor="t"/>
          <a:lstStyle>
            <a:defPPr>
              <a:defRPr sz="1125" b="0">
                <a:solidFill>
                  <a:srgbClr val="535D69"/>
                </a:solidFill>
                <a:latin typeface="맑은 고딕"/>
                <a:ea typeface="맑은 고딕"/>
                <a:cs typeface="맑은 고딕"/>
              </a:defRPr>
            </a:defPPr>
            <a:lvl1pPr>
              <a:defRPr sz="1125" b="0">
                <a:solidFill>
                  <a:srgbClr val="535D69"/>
                </a:solidFill>
                <a:latin typeface="맑은 고딕"/>
                <a:ea typeface="맑은 고딕"/>
                <a:cs typeface="맑은 고딕"/>
              </a:defRPr>
            </a:lvl1pPr>
            <a:lvl2pPr>
              <a:defRPr sz="1125" b="0">
                <a:solidFill>
                  <a:srgbClr val="535D69"/>
                </a:solidFill>
                <a:latin typeface="맑은 고딕"/>
                <a:ea typeface="맑은 고딕"/>
                <a:cs typeface="맑은 고딕"/>
              </a:defRPr>
            </a:lvl2pPr>
            <a:lvl3pPr>
              <a:defRPr sz="1125" b="0">
                <a:solidFill>
                  <a:srgbClr val="535D69"/>
                </a:solidFill>
                <a:latin typeface="맑은 고딕"/>
                <a:ea typeface="맑은 고딕"/>
                <a:cs typeface="맑은 고딕"/>
              </a:defRPr>
            </a:lvl3pPr>
            <a:lvl4pPr>
              <a:defRPr sz="1125" b="0">
                <a:solidFill>
                  <a:srgbClr val="535D69"/>
                </a:solidFill>
                <a:latin typeface="맑은 고딕"/>
                <a:ea typeface="맑은 고딕"/>
                <a:cs typeface="맑은 고딕"/>
              </a:defRPr>
            </a:lvl4pPr>
            <a:lvl5pPr>
              <a:defRPr sz="1125" b="0">
                <a:solidFill>
                  <a:srgbClr val="535D69"/>
                </a:solidFill>
                <a:latin typeface="맑은 고딕"/>
                <a:ea typeface="맑은 고딕"/>
                <a:cs typeface="맑은 고딕"/>
              </a:defRPr>
            </a:lvl5pPr>
            <a:lvl6pPr>
              <a:defRPr sz="1125" b="0">
                <a:solidFill>
                  <a:srgbClr val="535D69"/>
                </a:solidFill>
                <a:latin typeface="맑은 고딕"/>
                <a:ea typeface="맑은 고딕"/>
                <a:cs typeface="맑은 고딕"/>
              </a:defRPr>
            </a:lvl6pPr>
            <a:lvl7pPr>
              <a:defRPr sz="1125" b="0">
                <a:solidFill>
                  <a:srgbClr val="535D69"/>
                </a:solidFill>
                <a:latin typeface="맑은 고딕"/>
                <a:ea typeface="맑은 고딕"/>
                <a:cs typeface="맑은 고딕"/>
              </a:defRPr>
            </a:lvl7pPr>
            <a:lvl8pPr>
              <a:defRPr sz="1125" b="0">
                <a:solidFill>
                  <a:srgbClr val="535D69"/>
                </a:solidFill>
                <a:latin typeface="맑은 고딕"/>
                <a:ea typeface="맑은 고딕"/>
                <a:cs typeface="맑은 고딕"/>
              </a:defRPr>
            </a:lvl8pPr>
            <a:lvl9pPr>
              <a:defRPr sz="1125" b="0">
                <a:solidFill>
                  <a:srgbClr val="535D69"/>
                </a:solidFill>
                <a:latin typeface="맑은 고딕"/>
                <a:ea typeface="맑은 고딕"/>
                <a:cs typeface="맑은 고딕"/>
              </a:defRPr>
            </a:lvl9pPr>
          </a:lstStyle>
          <a:p>
            <a:pPr>
              <a:defRPr sz="1125" b="0">
                <a:solidFill>
                  <a:srgbClr val="535D69"/>
                </a:solidFill>
                <a:latin typeface="맑은 고딕"/>
                <a:ea typeface="맑은 고딕"/>
                <a:cs typeface="맑은 고딕"/>
              </a:defRPr>
            </a:pPr>
            <a:r>
              <a:rPr sz="1125" b="0">
                <a:solidFill>
                  <a:srgbClr val="535D69"/>
                </a:solidFill>
                <a:latin typeface="맑은 고딕"/>
                <a:ea typeface="맑은 고딕"/>
                <a:cs typeface="맑은 고딕"/>
              </a:rPr>
              <a:t>강원대 캠퍼스별 모집단위 예외·가산점은 해당 캠퍼스 시행계획 기준.  부산대는 요약자료의 지표 명칭보다 시행계획의 영역별 산출식을 우선 확인.</a:t>
            </a:r>
          </a:p>
        </p:txBody>
      </p:sp>
      <p:sp>
        <p:nvSpPr>
          <p:cNvPr id="5" name="직사각형 4">
            <a:extLst>
              <a:ext uri="{FF2B5EF4-FFF2-40B4-BE49-F238E27FC236}">
                <a16:creationId xmlns:a16="http://schemas.microsoft.com/office/drawing/2014/main" id="{6C597103-55E3-4227-BDE8-1FD745BDE16D}"/>
              </a:ext>
            </a:extLst>
          </p:cNvPr>
          <p:cNvSpPr>
            <a:spLocks noGrp="1"/>
          </p:cNvSpPr>
          <p:nvPr/>
        </p:nvSpPr>
        <p:spPr>
          <a:xfrm>
            <a:off x="381000" y="9572625"/>
            <a:ext cx="10096500" cy="361950"/>
          </a:xfrm>
          <a:prstGeom prst="rect">
            <a:avLst/>
          </a:prstGeom>
          <a:noFill/>
          <a:ln w="0">
            <a:noFill/>
          </a:ln>
        </p:spPr>
        <p:txBody>
          <a:bodyPr lIns="0" tIns="0" rIns="0" bIns="0" anchor="t"/>
          <a:lstStyle>
            <a:defPPr>
              <a:defRPr sz="900" b="0">
                <a:solidFill>
                  <a:srgbClr val="666666"/>
                </a:solidFill>
                <a:latin typeface="맑은 고딕"/>
                <a:ea typeface="맑은 고딕"/>
                <a:cs typeface="맑은 고딕"/>
              </a:defRPr>
            </a:defPPr>
            <a:lvl1pPr>
              <a:defRPr sz="900" b="0">
                <a:solidFill>
                  <a:srgbClr val="666666"/>
                </a:solidFill>
                <a:latin typeface="맑은 고딕"/>
                <a:ea typeface="맑은 고딕"/>
                <a:cs typeface="맑은 고딕"/>
              </a:defRPr>
            </a:lvl1pPr>
            <a:lvl2pPr>
              <a:defRPr sz="900" b="0">
                <a:solidFill>
                  <a:srgbClr val="666666"/>
                </a:solidFill>
                <a:latin typeface="맑은 고딕"/>
                <a:ea typeface="맑은 고딕"/>
                <a:cs typeface="맑은 고딕"/>
              </a:defRPr>
            </a:lvl2pPr>
            <a:lvl3pPr>
              <a:defRPr sz="900" b="0">
                <a:solidFill>
                  <a:srgbClr val="666666"/>
                </a:solidFill>
                <a:latin typeface="맑은 고딕"/>
                <a:ea typeface="맑은 고딕"/>
                <a:cs typeface="맑은 고딕"/>
              </a:defRPr>
            </a:lvl3pPr>
            <a:lvl4pPr>
              <a:defRPr sz="900" b="0">
                <a:solidFill>
                  <a:srgbClr val="666666"/>
                </a:solidFill>
                <a:latin typeface="맑은 고딕"/>
                <a:ea typeface="맑은 고딕"/>
                <a:cs typeface="맑은 고딕"/>
              </a:defRPr>
            </a:lvl4pPr>
            <a:lvl5pPr>
              <a:defRPr sz="900" b="0">
                <a:solidFill>
                  <a:srgbClr val="666666"/>
                </a:solidFill>
                <a:latin typeface="맑은 고딕"/>
                <a:ea typeface="맑은 고딕"/>
                <a:cs typeface="맑은 고딕"/>
              </a:defRPr>
            </a:lvl5pPr>
            <a:lvl6pPr>
              <a:defRPr sz="900" b="0">
                <a:solidFill>
                  <a:srgbClr val="666666"/>
                </a:solidFill>
                <a:latin typeface="맑은 고딕"/>
                <a:ea typeface="맑은 고딕"/>
                <a:cs typeface="맑은 고딕"/>
              </a:defRPr>
            </a:lvl6pPr>
            <a:lvl7pPr>
              <a:defRPr sz="900" b="0">
                <a:solidFill>
                  <a:srgbClr val="666666"/>
                </a:solidFill>
                <a:latin typeface="맑은 고딕"/>
                <a:ea typeface="맑은 고딕"/>
                <a:cs typeface="맑은 고딕"/>
              </a:defRPr>
            </a:lvl7pPr>
            <a:lvl8pPr>
              <a:defRPr sz="900" b="0">
                <a:solidFill>
                  <a:srgbClr val="666666"/>
                </a:solidFill>
                <a:latin typeface="맑은 고딕"/>
                <a:ea typeface="맑은 고딕"/>
                <a:cs typeface="맑은 고딕"/>
              </a:defRPr>
            </a:lvl8pPr>
            <a:lvl9pPr>
              <a:defRPr sz="900" b="0">
                <a:solidFill>
                  <a:srgbClr val="666666"/>
                </a:solidFill>
                <a:latin typeface="맑은 고딕"/>
                <a:ea typeface="맑은 고딕"/>
                <a:cs typeface="맑은 고딕"/>
              </a:defRPr>
            </a:lvl9pPr>
          </a:lstStyle>
          <a:p>
            <a:pPr>
              <a:defRPr sz="900" b="0">
                <a:solidFill>
                  <a:srgbClr val="666666"/>
                </a:solidFill>
                <a:latin typeface="맑은 고딕"/>
                <a:ea typeface="맑은 고딕"/>
                <a:cs typeface="맑은 고딕"/>
              </a:defRPr>
            </a:pPr>
            <a:r>
              <a:rPr sz="900" b="0">
                <a:solidFill>
                  <a:srgbClr val="666666"/>
                </a:solidFill>
                <a:latin typeface="맑은 고딕"/>
                <a:ea typeface="맑은 고딕"/>
                <a:cs typeface="맑은 고딕"/>
              </a:rPr>
              <a:t>근거  SEN 109·124·128쪽 / 강원·경북·경상 시행계획 수능 반영방법 / SEN 173·246·250·253·266·270쪽 / 각 대학 시행계획 수능 반영방법</a:t>
            </a:r>
          </a:p>
        </p:txBody>
      </p:sp>
      <p:sp>
        <p:nvSpPr>
          <p:cNvPr id="6" name="직사각형 5">
            <a:extLst>
              <a:ext uri="{FF2B5EF4-FFF2-40B4-BE49-F238E27FC236}">
                <a16:creationId xmlns:a16="http://schemas.microsoft.com/office/drawing/2014/main" id="{F01F6D71-6762-47A3-B485-EB2F6B9495E2}"/>
              </a:ext>
            </a:extLst>
          </p:cNvPr>
          <p:cNvSpPr>
            <a:spLocks noGrp="1"/>
          </p:cNvSpPr>
          <p:nvPr/>
        </p:nvSpPr>
        <p:spPr>
          <a:xfrm>
            <a:off x="10715625" y="9572625"/>
            <a:ext cx="333375" cy="228600"/>
          </a:xfrm>
          <a:prstGeom prst="rect">
            <a:avLst/>
          </a:prstGeom>
          <a:noFill/>
          <a:ln w="0">
            <a:noFill/>
          </a:ln>
        </p:spPr>
        <p:txBody>
          <a:bodyPr lIns="0" tIns="0" rIns="0" bIns="0" anchor="t"/>
          <a:lstStyle>
            <a:defPPr>
              <a:defRPr sz="1050" b="0">
                <a:solidFill>
                  <a:srgbClr val="002060"/>
                </a:solidFill>
                <a:latin typeface="맑은 고딕"/>
                <a:ea typeface="맑은 고딕"/>
                <a:cs typeface="맑은 고딕"/>
              </a:defRPr>
            </a:defPPr>
            <a:lvl1pPr>
              <a:defRPr sz="1050" b="0">
                <a:solidFill>
                  <a:srgbClr val="002060"/>
                </a:solidFill>
                <a:latin typeface="맑은 고딕"/>
                <a:ea typeface="맑은 고딕"/>
                <a:cs typeface="맑은 고딕"/>
              </a:defRPr>
            </a:lvl1pPr>
            <a:lvl2pPr>
              <a:defRPr sz="1050" b="0">
                <a:solidFill>
                  <a:srgbClr val="002060"/>
                </a:solidFill>
                <a:latin typeface="맑은 고딕"/>
                <a:ea typeface="맑은 고딕"/>
                <a:cs typeface="맑은 고딕"/>
              </a:defRPr>
            </a:lvl2pPr>
            <a:lvl3pPr>
              <a:defRPr sz="1050" b="0">
                <a:solidFill>
                  <a:srgbClr val="002060"/>
                </a:solidFill>
                <a:latin typeface="맑은 고딕"/>
                <a:ea typeface="맑은 고딕"/>
                <a:cs typeface="맑은 고딕"/>
              </a:defRPr>
            </a:lvl3pPr>
            <a:lvl4pPr>
              <a:defRPr sz="1050" b="0">
                <a:solidFill>
                  <a:srgbClr val="002060"/>
                </a:solidFill>
                <a:latin typeface="맑은 고딕"/>
                <a:ea typeface="맑은 고딕"/>
                <a:cs typeface="맑은 고딕"/>
              </a:defRPr>
            </a:lvl4pPr>
            <a:lvl5pPr>
              <a:defRPr sz="1050" b="0">
                <a:solidFill>
                  <a:srgbClr val="002060"/>
                </a:solidFill>
                <a:latin typeface="맑은 고딕"/>
                <a:ea typeface="맑은 고딕"/>
                <a:cs typeface="맑은 고딕"/>
              </a:defRPr>
            </a:lvl5pPr>
            <a:lvl6pPr>
              <a:defRPr sz="1050" b="0">
                <a:solidFill>
                  <a:srgbClr val="002060"/>
                </a:solidFill>
                <a:latin typeface="맑은 고딕"/>
                <a:ea typeface="맑은 고딕"/>
                <a:cs typeface="맑은 고딕"/>
              </a:defRPr>
            </a:lvl6pPr>
            <a:lvl7pPr>
              <a:defRPr sz="1050" b="0">
                <a:solidFill>
                  <a:srgbClr val="002060"/>
                </a:solidFill>
                <a:latin typeface="맑은 고딕"/>
                <a:ea typeface="맑은 고딕"/>
                <a:cs typeface="맑은 고딕"/>
              </a:defRPr>
            </a:lvl7pPr>
            <a:lvl8pPr>
              <a:defRPr sz="1050" b="0">
                <a:solidFill>
                  <a:srgbClr val="002060"/>
                </a:solidFill>
                <a:latin typeface="맑은 고딕"/>
                <a:ea typeface="맑은 고딕"/>
                <a:cs typeface="맑은 고딕"/>
              </a:defRPr>
            </a:lvl8pPr>
            <a:lvl9pPr>
              <a:defRPr sz="1050" b="0">
                <a:solidFill>
                  <a:srgbClr val="002060"/>
                </a:solidFill>
                <a:latin typeface="맑은 고딕"/>
                <a:ea typeface="맑은 고딕"/>
                <a:cs typeface="맑은 고딕"/>
              </a:defRPr>
            </a:lvl9pPr>
          </a:lstStyle>
          <a:p>
            <a:pPr>
              <a:defRPr sz="1050" b="0">
                <a:solidFill>
                  <a:srgbClr val="002060"/>
                </a:solidFill>
                <a:latin typeface="맑은 고딕"/>
                <a:ea typeface="맑은 고딕"/>
                <a:cs typeface="맑은 고딕"/>
              </a:defRPr>
            </a:pPr>
            <a:r>
              <a:rPr sz="1050" b="0">
                <a:solidFill>
                  <a:srgbClr val="002060"/>
                </a:solidFill>
                <a:latin typeface="맑은 고딕"/>
                <a:ea typeface="맑은 고딕"/>
                <a:cs typeface="맑은 고딕"/>
              </a:rPr>
              <a:t>15</a:t>
            </a:r>
          </a:p>
        </p:txBody>
      </p:sp>
    </p:spTree>
    <p:extLst>
      <p:ext uri="{BB962C8B-B14F-4D97-AF65-F5344CB8AC3E}">
        <p14:creationId xmlns:p14="http://schemas.microsoft.com/office/powerpoint/2010/main" val="3031617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직사각형 9">
            <a:extLst>
              <a:ext uri="{FF2B5EF4-FFF2-40B4-BE49-F238E27FC236}">
                <a16:creationId xmlns:a16="http://schemas.microsoft.com/office/drawing/2014/main" id="{1D599E8A-04F1-4206-AA3C-D8C206D4B4FF}"/>
              </a:ext>
            </a:extLst>
          </p:cNvPr>
          <p:cNvSpPr>
            <a:spLocks noGrp="1"/>
          </p:cNvSpPr>
          <p:nvPr/>
        </p:nvSpPr>
        <p:spPr>
          <a:xfrm>
            <a:off x="381000" y="228600"/>
            <a:ext cx="9525000" cy="238125"/>
          </a:xfrm>
          <a:prstGeom prst="rect">
            <a:avLst/>
          </a:prstGeom>
          <a:noFill/>
          <a:ln w="0">
            <a:noFill/>
          </a:ln>
        </p:spPr>
        <p:txBody>
          <a:bodyPr lIns="0" tIns="0" rIns="0" bIns="0" anchor="t"/>
          <a:lstStyle>
            <a:defPPr>
              <a:defRPr sz="1200" b="1">
                <a:solidFill>
                  <a:srgbClr val="002060"/>
                </a:solidFill>
                <a:latin typeface="맑은 고딕"/>
                <a:ea typeface="맑은 고딕"/>
                <a:cs typeface="맑은 고딕"/>
              </a:defRPr>
            </a:defPPr>
            <a:lvl1pPr>
              <a:defRPr sz="1200" b="1">
                <a:solidFill>
                  <a:srgbClr val="002060"/>
                </a:solidFill>
                <a:latin typeface="맑은 고딕"/>
                <a:ea typeface="맑은 고딕"/>
                <a:cs typeface="맑은 고딕"/>
              </a:defRPr>
            </a:lvl1pPr>
            <a:lvl2pPr>
              <a:defRPr sz="1200" b="1">
                <a:solidFill>
                  <a:srgbClr val="002060"/>
                </a:solidFill>
                <a:latin typeface="맑은 고딕"/>
                <a:ea typeface="맑은 고딕"/>
                <a:cs typeface="맑은 고딕"/>
              </a:defRPr>
            </a:lvl2pPr>
            <a:lvl3pPr>
              <a:defRPr sz="1200" b="1">
                <a:solidFill>
                  <a:srgbClr val="002060"/>
                </a:solidFill>
                <a:latin typeface="맑은 고딕"/>
                <a:ea typeface="맑은 고딕"/>
                <a:cs typeface="맑은 고딕"/>
              </a:defRPr>
            </a:lvl3pPr>
            <a:lvl4pPr>
              <a:defRPr sz="1200" b="1">
                <a:solidFill>
                  <a:srgbClr val="002060"/>
                </a:solidFill>
                <a:latin typeface="맑은 고딕"/>
                <a:ea typeface="맑은 고딕"/>
                <a:cs typeface="맑은 고딕"/>
              </a:defRPr>
            </a:lvl4pPr>
            <a:lvl5pPr>
              <a:defRPr sz="1200" b="1">
                <a:solidFill>
                  <a:srgbClr val="002060"/>
                </a:solidFill>
                <a:latin typeface="맑은 고딕"/>
                <a:ea typeface="맑은 고딕"/>
                <a:cs typeface="맑은 고딕"/>
              </a:defRPr>
            </a:lvl5pPr>
            <a:lvl6pPr>
              <a:defRPr sz="1200" b="1">
                <a:solidFill>
                  <a:srgbClr val="002060"/>
                </a:solidFill>
                <a:latin typeface="맑은 고딕"/>
                <a:ea typeface="맑은 고딕"/>
                <a:cs typeface="맑은 고딕"/>
              </a:defRPr>
            </a:lvl6pPr>
            <a:lvl7pPr>
              <a:defRPr sz="1200" b="1">
                <a:solidFill>
                  <a:srgbClr val="002060"/>
                </a:solidFill>
                <a:latin typeface="맑은 고딕"/>
                <a:ea typeface="맑은 고딕"/>
                <a:cs typeface="맑은 고딕"/>
              </a:defRPr>
            </a:lvl7pPr>
            <a:lvl8pPr>
              <a:defRPr sz="1200" b="1">
                <a:solidFill>
                  <a:srgbClr val="002060"/>
                </a:solidFill>
                <a:latin typeface="맑은 고딕"/>
                <a:ea typeface="맑은 고딕"/>
                <a:cs typeface="맑은 고딕"/>
              </a:defRPr>
            </a:lvl8pPr>
            <a:lvl9pPr>
              <a:defRPr sz="1200" b="1">
                <a:solidFill>
                  <a:srgbClr val="002060"/>
                </a:solidFill>
                <a:latin typeface="맑은 고딕"/>
                <a:ea typeface="맑은 고딕"/>
                <a:cs typeface="맑은 고딕"/>
              </a:defRPr>
            </a:lvl9pPr>
          </a:lstStyle>
          <a:p>
            <a:pPr>
              <a:defRPr sz="1200" b="1">
                <a:solidFill>
                  <a:srgbClr val="002060"/>
                </a:solidFill>
                <a:latin typeface="맑은 고딕"/>
                <a:ea typeface="맑은 고딕"/>
                <a:cs typeface="맑은 고딕"/>
              </a:defRPr>
            </a:pPr>
            <a:r>
              <a:rPr sz="1200" b="1">
                <a:solidFill>
                  <a:srgbClr val="002060"/>
                </a:solidFill>
                <a:latin typeface="맑은 고딕"/>
                <a:ea typeface="맑은 고딕"/>
                <a:cs typeface="맑은 고딕"/>
              </a:rPr>
              <a:t>2028 정시  대학별 전형 비교</a:t>
            </a:r>
          </a:p>
        </p:txBody>
      </p:sp>
      <p:sp>
        <p:nvSpPr>
          <p:cNvPr id="2" name="직사각형 1">
            <a:extLst>
              <a:ext uri="{FF2B5EF4-FFF2-40B4-BE49-F238E27FC236}">
                <a16:creationId xmlns:a16="http://schemas.microsoft.com/office/drawing/2014/main" id="{1E80F5F6-287B-4776-9EA1-7ED43D303604}"/>
              </a:ext>
            </a:extLst>
          </p:cNvPr>
          <p:cNvSpPr>
            <a:spLocks noGrp="1"/>
          </p:cNvSpPr>
          <p:nvPr/>
        </p:nvSpPr>
        <p:spPr>
          <a:xfrm>
            <a:off x="381000" y="619125"/>
            <a:ext cx="10668000" cy="533400"/>
          </a:xfrm>
          <a:prstGeom prst="rect">
            <a:avLst/>
          </a:prstGeom>
          <a:noFill/>
          <a:ln w="0">
            <a:noFill/>
          </a:ln>
        </p:spPr>
        <p:txBody>
          <a:bodyPr lIns="0" tIns="0" rIns="0" bIns="0" anchor="t"/>
          <a:lstStyle>
            <a:defPPr>
              <a:defRPr sz="2400" b="1">
                <a:solidFill>
                  <a:srgbClr val="002060"/>
                </a:solidFill>
                <a:latin typeface="맑은 고딕"/>
                <a:ea typeface="맑은 고딕"/>
                <a:cs typeface="맑은 고딕"/>
              </a:defRPr>
            </a:defPPr>
            <a:lvl1pPr>
              <a:defRPr sz="2400" b="1">
                <a:solidFill>
                  <a:srgbClr val="002060"/>
                </a:solidFill>
                <a:latin typeface="맑은 고딕"/>
                <a:ea typeface="맑은 고딕"/>
                <a:cs typeface="맑은 고딕"/>
              </a:defRPr>
            </a:lvl1pPr>
            <a:lvl2pPr>
              <a:defRPr sz="2400" b="1">
                <a:solidFill>
                  <a:srgbClr val="002060"/>
                </a:solidFill>
                <a:latin typeface="맑은 고딕"/>
                <a:ea typeface="맑은 고딕"/>
                <a:cs typeface="맑은 고딕"/>
              </a:defRPr>
            </a:lvl2pPr>
            <a:lvl3pPr>
              <a:defRPr sz="2400" b="1">
                <a:solidFill>
                  <a:srgbClr val="002060"/>
                </a:solidFill>
                <a:latin typeface="맑은 고딕"/>
                <a:ea typeface="맑은 고딕"/>
                <a:cs typeface="맑은 고딕"/>
              </a:defRPr>
            </a:lvl3pPr>
            <a:lvl4pPr>
              <a:defRPr sz="2400" b="1">
                <a:solidFill>
                  <a:srgbClr val="002060"/>
                </a:solidFill>
                <a:latin typeface="맑은 고딕"/>
                <a:ea typeface="맑은 고딕"/>
                <a:cs typeface="맑은 고딕"/>
              </a:defRPr>
            </a:lvl4pPr>
            <a:lvl5pPr>
              <a:defRPr sz="2400" b="1">
                <a:solidFill>
                  <a:srgbClr val="002060"/>
                </a:solidFill>
                <a:latin typeface="맑은 고딕"/>
                <a:ea typeface="맑은 고딕"/>
                <a:cs typeface="맑은 고딕"/>
              </a:defRPr>
            </a:lvl5pPr>
            <a:lvl6pPr>
              <a:defRPr sz="2400" b="1">
                <a:solidFill>
                  <a:srgbClr val="002060"/>
                </a:solidFill>
                <a:latin typeface="맑은 고딕"/>
                <a:ea typeface="맑은 고딕"/>
                <a:cs typeface="맑은 고딕"/>
              </a:defRPr>
            </a:lvl6pPr>
            <a:lvl7pPr>
              <a:defRPr sz="2400" b="1">
                <a:solidFill>
                  <a:srgbClr val="002060"/>
                </a:solidFill>
                <a:latin typeface="맑은 고딕"/>
                <a:ea typeface="맑은 고딕"/>
                <a:cs typeface="맑은 고딕"/>
              </a:defRPr>
            </a:lvl7pPr>
            <a:lvl8pPr>
              <a:defRPr sz="2400" b="1">
                <a:solidFill>
                  <a:srgbClr val="002060"/>
                </a:solidFill>
                <a:latin typeface="맑은 고딕"/>
                <a:ea typeface="맑은 고딕"/>
                <a:cs typeface="맑은 고딕"/>
              </a:defRPr>
            </a:lvl8pPr>
            <a:lvl9pPr>
              <a:defRPr sz="2400" b="1">
                <a:solidFill>
                  <a:srgbClr val="002060"/>
                </a:solidFill>
                <a:latin typeface="맑은 고딕"/>
                <a:ea typeface="맑은 고딕"/>
                <a:cs typeface="맑은 고딕"/>
              </a:defRPr>
            </a:lvl9pPr>
          </a:lstStyle>
          <a:p>
            <a:pPr>
              <a:defRPr sz="2400" b="1">
                <a:solidFill>
                  <a:srgbClr val="002060"/>
                </a:solidFill>
                <a:latin typeface="맑은 고딕"/>
                <a:ea typeface="맑은 고딕"/>
                <a:cs typeface="맑은 고딕"/>
              </a:defRPr>
            </a:pPr>
            <a:r>
              <a:rPr sz="2400" b="1">
                <a:solidFill>
                  <a:srgbClr val="002060"/>
                </a:solidFill>
                <a:latin typeface="맑은 고딕"/>
                <a:ea typeface="맑은 고딕"/>
                <a:cs typeface="맑은 고딕"/>
              </a:rPr>
              <a:t>서울대·성균관대 선발구조 상세 비교</a:t>
            </a:r>
          </a:p>
        </p:txBody>
      </p:sp>
      <p:sp>
        <p:nvSpPr>
          <p:cNvPr id="3" name="직사각형 2">
            <a:extLst>
              <a:ext uri="{FF2B5EF4-FFF2-40B4-BE49-F238E27FC236}">
                <a16:creationId xmlns:a16="http://schemas.microsoft.com/office/drawing/2014/main" id="{496BA8D4-072D-4A57-9C24-50378BC7BCF1}"/>
              </a:ext>
            </a:extLst>
          </p:cNvPr>
          <p:cNvSpPr>
            <a:spLocks noGrp="1"/>
          </p:cNvSpPr>
          <p:nvPr/>
        </p:nvSpPr>
        <p:spPr>
          <a:xfrm>
            <a:off x="381000" y="1381125"/>
            <a:ext cx="10668000" cy="257175"/>
          </a:xfrm>
          <a:prstGeom prst="rect">
            <a:avLst/>
          </a:prstGeom>
          <a:noFill/>
          <a:ln w="0">
            <a:noFill/>
          </a:ln>
        </p:spPr>
        <p:txBody>
          <a:bodyPr lIns="0" tIns="0" rIns="0" bIns="0" anchor="t"/>
          <a:lstStyle>
            <a:defPPr>
              <a:defRPr sz="1425" b="1">
                <a:solidFill>
                  <a:srgbClr val="002060"/>
                </a:solidFill>
                <a:latin typeface="맑은 고딕"/>
                <a:ea typeface="맑은 고딕"/>
                <a:cs typeface="맑은 고딕"/>
              </a:defRPr>
            </a:defPPr>
            <a:lvl1pPr>
              <a:defRPr sz="1425" b="1">
                <a:solidFill>
                  <a:srgbClr val="002060"/>
                </a:solidFill>
                <a:latin typeface="맑은 고딕"/>
                <a:ea typeface="맑은 고딕"/>
                <a:cs typeface="맑은 고딕"/>
              </a:defRPr>
            </a:lvl1pPr>
            <a:lvl2pPr>
              <a:defRPr sz="1425" b="1">
                <a:solidFill>
                  <a:srgbClr val="002060"/>
                </a:solidFill>
                <a:latin typeface="맑은 고딕"/>
                <a:ea typeface="맑은 고딕"/>
                <a:cs typeface="맑은 고딕"/>
              </a:defRPr>
            </a:lvl2pPr>
            <a:lvl3pPr>
              <a:defRPr sz="1425" b="1">
                <a:solidFill>
                  <a:srgbClr val="002060"/>
                </a:solidFill>
                <a:latin typeface="맑은 고딕"/>
                <a:ea typeface="맑은 고딕"/>
                <a:cs typeface="맑은 고딕"/>
              </a:defRPr>
            </a:lvl3pPr>
            <a:lvl4pPr>
              <a:defRPr sz="1425" b="1">
                <a:solidFill>
                  <a:srgbClr val="002060"/>
                </a:solidFill>
                <a:latin typeface="맑은 고딕"/>
                <a:ea typeface="맑은 고딕"/>
                <a:cs typeface="맑은 고딕"/>
              </a:defRPr>
            </a:lvl4pPr>
            <a:lvl5pPr>
              <a:defRPr sz="1425" b="1">
                <a:solidFill>
                  <a:srgbClr val="002060"/>
                </a:solidFill>
                <a:latin typeface="맑은 고딕"/>
                <a:ea typeface="맑은 고딕"/>
                <a:cs typeface="맑은 고딕"/>
              </a:defRPr>
            </a:lvl5pPr>
            <a:lvl6pPr>
              <a:defRPr sz="1425" b="1">
                <a:solidFill>
                  <a:srgbClr val="002060"/>
                </a:solidFill>
                <a:latin typeface="맑은 고딕"/>
                <a:ea typeface="맑은 고딕"/>
                <a:cs typeface="맑은 고딕"/>
              </a:defRPr>
            </a:lvl6pPr>
            <a:lvl7pPr>
              <a:defRPr sz="1425" b="1">
                <a:solidFill>
                  <a:srgbClr val="002060"/>
                </a:solidFill>
                <a:latin typeface="맑은 고딕"/>
                <a:ea typeface="맑은 고딕"/>
                <a:cs typeface="맑은 고딕"/>
              </a:defRPr>
            </a:lvl7pPr>
            <a:lvl8pPr>
              <a:defRPr sz="1425" b="1">
                <a:solidFill>
                  <a:srgbClr val="002060"/>
                </a:solidFill>
                <a:latin typeface="맑은 고딕"/>
                <a:ea typeface="맑은 고딕"/>
                <a:cs typeface="맑은 고딕"/>
              </a:defRPr>
            </a:lvl8pPr>
            <a:lvl9pPr>
              <a:defRPr sz="1425" b="1">
                <a:solidFill>
                  <a:srgbClr val="002060"/>
                </a:solidFill>
                <a:latin typeface="맑은 고딕"/>
                <a:ea typeface="맑은 고딕"/>
                <a:cs typeface="맑은 고딕"/>
              </a:defRPr>
            </a:lvl9pPr>
          </a:lstStyle>
          <a:p>
            <a:pPr>
              <a:defRPr sz="1425" b="1">
                <a:solidFill>
                  <a:srgbClr val="002060"/>
                </a:solidFill>
                <a:latin typeface="맑은 고딕"/>
                <a:ea typeface="맑은 고딕"/>
                <a:cs typeface="맑은 고딕"/>
              </a:defRPr>
            </a:pPr>
            <a:r>
              <a:rPr sz="1425" b="1">
                <a:solidFill>
                  <a:srgbClr val="002060"/>
                </a:solidFill>
                <a:latin typeface="맑은 고딕"/>
                <a:ea typeface="맑은 고딕"/>
                <a:cs typeface="맑은 고딕"/>
              </a:rPr>
              <a:t>서울대는 단계와 평가점수 범위를 함께 본다</a:t>
            </a:r>
          </a:p>
        </p:txBody>
      </p:sp>
      <p:graphicFrame>
        <p:nvGraphicFramePr>
          <p:cNvPr id="4" name="표 3">
            <a:extLst>
              <a:ext uri="{FF2B5EF4-FFF2-40B4-BE49-F238E27FC236}">
                <a16:creationId xmlns:a16="http://schemas.microsoft.com/office/drawing/2014/main" id="{E8022390-78BA-43B2-BBF6-C29BDBFCD04D}"/>
              </a:ext>
            </a:extLst>
          </p:cNvPr>
          <p:cNvGraphicFramePr/>
          <p:nvPr/>
        </p:nvGraphicFramePr>
        <p:xfrm>
          <a:off x="381000" y="1704975"/>
          <a:ext cx="10668000" cy="1924050"/>
        </p:xfrm>
        <a:graphic>
          <a:graphicData uri="http://schemas.openxmlformats.org/drawingml/2006/table">
            <a:tbl>
              <a:tblPr/>
              <a:tblGrid>
                <a:gridCol w="266700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tblGrid>
              <a:tr h="400050">
                <a:tc>
                  <a:txBody>
                    <a:bodyPr/>
                    <a:lstStyle/>
                    <a:p>
                      <a:r>
                        <a:rPr sz="1500" b="1">
                          <a:solidFill>
                            <a:srgbClr val="FFFFFF"/>
                          </a:solidFill>
                          <a:latin typeface="맑은 고딕"/>
                          <a:ea typeface="맑은 고딕"/>
                          <a:cs typeface="맑은 고딕"/>
                        </a:rPr>
                        <a:t>구분</a:t>
                      </a:r>
                    </a:p>
                  </a:txBody>
                  <a:tcPr marL="95250" marR="95250" marT="47625" marB="47625" anchor="ctr">
                    <a:lnL w="5715">
                      <a:solidFill>
                        <a:srgbClr val="C5CFDA"/>
                      </a:solidFill>
                      <a:prstDash val="soli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일반전형 대부분 모집단위</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의·수의 모집단위</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extLst>
                  <a:ext uri="{0D108BD9-81ED-4DB2-BD59-A6C34878D82A}">
                    <a16:rowId xmlns:a16="http://schemas.microsoft.com/office/drawing/2014/main" val="10000"/>
                  </a:ext>
                </a:extLst>
              </a:tr>
              <a:tr h="381000">
                <a:tc>
                  <a:txBody>
                    <a:bodyPr/>
                    <a:lstStyle/>
                    <a:p>
                      <a:r>
                        <a:rPr sz="1500" b="1">
                          <a:solidFill>
                            <a:srgbClr val="17212D"/>
                          </a:solidFill>
                          <a:latin typeface="맑은 고딕"/>
                          <a:ea typeface="맑은 고딕"/>
                          <a:cs typeface="맑은 고딕"/>
                        </a:rPr>
                        <a:t>1단계</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수능 등급 환산 합, 3배수</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수능 등급 환산 합, 3배수</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1"/>
                  </a:ext>
                </a:extLst>
              </a:tr>
              <a:tr h="381000">
                <a:tc>
                  <a:txBody>
                    <a:bodyPr/>
                    <a:lstStyle/>
                    <a:p>
                      <a:r>
                        <a:rPr sz="1500" b="1">
                          <a:solidFill>
                            <a:srgbClr val="17212D"/>
                          </a:solidFill>
                          <a:latin typeface="맑은 고딕"/>
                          <a:ea typeface="맑은 고딕"/>
                          <a:cs typeface="맑은 고딕"/>
                        </a:rPr>
                        <a:t>2단계</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수능 60+교과역량 40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수능 60+교과역량 20+면접 20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2"/>
                  </a:ext>
                </a:extLst>
              </a:tr>
              <a:tr h="381000">
                <a:tc>
                  <a:txBody>
                    <a:bodyPr/>
                    <a:lstStyle/>
                    <a:p>
                      <a:r>
                        <a:rPr sz="1500" b="1">
                          <a:solidFill>
                            <a:srgbClr val="17212D"/>
                          </a:solidFill>
                          <a:latin typeface="맑은 고딕"/>
                          <a:ea typeface="맑은 고딕"/>
                          <a:cs typeface="맑은 고딕"/>
                        </a:rPr>
                        <a:t>수능 원자료</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국어·수학·탐구 백분위</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국어·수학·탐구 백분위</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3"/>
                  </a:ext>
                </a:extLst>
              </a:tr>
              <a:tr h="381000">
                <a:tc>
                  <a:txBody>
                    <a:bodyPr/>
                    <a:lstStyle/>
                    <a:p>
                      <a:r>
                        <a:rPr sz="1500" b="1">
                          <a:solidFill>
                            <a:srgbClr val="17212D"/>
                          </a:solidFill>
                          <a:latin typeface="맑은 고딕"/>
                          <a:ea typeface="맑은 고딕"/>
                          <a:cs typeface="맑은 고딕"/>
                        </a:rPr>
                        <a:t>교과역량 등급점수</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A+ 40점 ~ C 35점</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A+ 20점 ~ C 17.5점</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4"/>
                  </a:ext>
                </a:extLst>
              </a:tr>
            </a:tbl>
          </a:graphicData>
        </a:graphic>
      </p:graphicFrame>
      <p:sp>
        <p:nvSpPr>
          <p:cNvPr id="5" name="직사각형 4">
            <a:extLst>
              <a:ext uri="{FF2B5EF4-FFF2-40B4-BE49-F238E27FC236}">
                <a16:creationId xmlns:a16="http://schemas.microsoft.com/office/drawing/2014/main" id="{94784F47-A337-4D89-AB3B-78649F8598A2}"/>
              </a:ext>
            </a:extLst>
          </p:cNvPr>
          <p:cNvSpPr>
            <a:spLocks noGrp="1"/>
          </p:cNvSpPr>
          <p:nvPr/>
        </p:nvSpPr>
        <p:spPr>
          <a:xfrm>
            <a:off x="381000" y="3857625"/>
            <a:ext cx="10668000" cy="257175"/>
          </a:xfrm>
          <a:prstGeom prst="rect">
            <a:avLst/>
          </a:prstGeom>
          <a:noFill/>
          <a:ln w="0">
            <a:noFill/>
          </a:ln>
        </p:spPr>
        <p:txBody>
          <a:bodyPr lIns="0" tIns="0" rIns="0" bIns="0" anchor="t"/>
          <a:lstStyle>
            <a:defPPr>
              <a:defRPr sz="1425" b="1">
                <a:solidFill>
                  <a:srgbClr val="002060"/>
                </a:solidFill>
                <a:latin typeface="맑은 고딕"/>
                <a:ea typeface="맑은 고딕"/>
                <a:cs typeface="맑은 고딕"/>
              </a:defRPr>
            </a:defPPr>
            <a:lvl1pPr>
              <a:defRPr sz="1425" b="1">
                <a:solidFill>
                  <a:srgbClr val="002060"/>
                </a:solidFill>
                <a:latin typeface="맑은 고딕"/>
                <a:ea typeface="맑은 고딕"/>
                <a:cs typeface="맑은 고딕"/>
              </a:defRPr>
            </a:lvl1pPr>
            <a:lvl2pPr>
              <a:defRPr sz="1425" b="1">
                <a:solidFill>
                  <a:srgbClr val="002060"/>
                </a:solidFill>
                <a:latin typeface="맑은 고딕"/>
                <a:ea typeface="맑은 고딕"/>
                <a:cs typeface="맑은 고딕"/>
              </a:defRPr>
            </a:lvl2pPr>
            <a:lvl3pPr>
              <a:defRPr sz="1425" b="1">
                <a:solidFill>
                  <a:srgbClr val="002060"/>
                </a:solidFill>
                <a:latin typeface="맑은 고딕"/>
                <a:ea typeface="맑은 고딕"/>
                <a:cs typeface="맑은 고딕"/>
              </a:defRPr>
            </a:lvl3pPr>
            <a:lvl4pPr>
              <a:defRPr sz="1425" b="1">
                <a:solidFill>
                  <a:srgbClr val="002060"/>
                </a:solidFill>
                <a:latin typeface="맑은 고딕"/>
                <a:ea typeface="맑은 고딕"/>
                <a:cs typeface="맑은 고딕"/>
              </a:defRPr>
            </a:lvl4pPr>
            <a:lvl5pPr>
              <a:defRPr sz="1425" b="1">
                <a:solidFill>
                  <a:srgbClr val="002060"/>
                </a:solidFill>
                <a:latin typeface="맑은 고딕"/>
                <a:ea typeface="맑은 고딕"/>
                <a:cs typeface="맑은 고딕"/>
              </a:defRPr>
            </a:lvl5pPr>
            <a:lvl6pPr>
              <a:defRPr sz="1425" b="1">
                <a:solidFill>
                  <a:srgbClr val="002060"/>
                </a:solidFill>
                <a:latin typeface="맑은 고딕"/>
                <a:ea typeface="맑은 고딕"/>
                <a:cs typeface="맑은 고딕"/>
              </a:defRPr>
            </a:lvl6pPr>
            <a:lvl7pPr>
              <a:defRPr sz="1425" b="1">
                <a:solidFill>
                  <a:srgbClr val="002060"/>
                </a:solidFill>
                <a:latin typeface="맑은 고딕"/>
                <a:ea typeface="맑은 고딕"/>
                <a:cs typeface="맑은 고딕"/>
              </a:defRPr>
            </a:lvl7pPr>
            <a:lvl8pPr>
              <a:defRPr sz="1425" b="1">
                <a:solidFill>
                  <a:srgbClr val="002060"/>
                </a:solidFill>
                <a:latin typeface="맑은 고딕"/>
                <a:ea typeface="맑은 고딕"/>
                <a:cs typeface="맑은 고딕"/>
              </a:defRPr>
            </a:lvl8pPr>
            <a:lvl9pPr>
              <a:defRPr sz="1425" b="1">
                <a:solidFill>
                  <a:srgbClr val="002060"/>
                </a:solidFill>
                <a:latin typeface="맑은 고딕"/>
                <a:ea typeface="맑은 고딕"/>
                <a:cs typeface="맑은 고딕"/>
              </a:defRPr>
            </a:lvl9pPr>
          </a:lstStyle>
          <a:p>
            <a:pPr>
              <a:defRPr sz="1425" b="1">
                <a:solidFill>
                  <a:srgbClr val="002060"/>
                </a:solidFill>
                <a:latin typeface="맑은 고딕"/>
                <a:ea typeface="맑은 고딕"/>
                <a:cs typeface="맑은 고딕"/>
              </a:defRPr>
            </a:pPr>
            <a:r>
              <a:rPr sz="1425" b="1">
                <a:solidFill>
                  <a:srgbClr val="002060"/>
                </a:solidFill>
                <a:latin typeface="맑은 고딕"/>
                <a:ea typeface="맑은 고딕"/>
                <a:cs typeface="맑은 고딕"/>
              </a:rPr>
              <a:t>성균관대는 수능 유형과 학생부형을 구분한다</a:t>
            </a:r>
          </a:p>
        </p:txBody>
      </p:sp>
      <p:graphicFrame>
        <p:nvGraphicFramePr>
          <p:cNvPr id="6" name="표 5">
            <a:extLst>
              <a:ext uri="{FF2B5EF4-FFF2-40B4-BE49-F238E27FC236}">
                <a16:creationId xmlns:a16="http://schemas.microsoft.com/office/drawing/2014/main" id="{9983F3A3-2076-4055-B19A-E5BD2F93EA51}"/>
              </a:ext>
            </a:extLst>
          </p:cNvPr>
          <p:cNvGraphicFramePr/>
          <p:nvPr/>
        </p:nvGraphicFramePr>
        <p:xfrm>
          <a:off x="381000" y="4181475"/>
          <a:ext cx="10668000" cy="1924050"/>
        </p:xfrm>
        <a:graphic>
          <a:graphicData uri="http://schemas.openxmlformats.org/drawingml/2006/table">
            <a:tbl>
              <a:tblPr/>
              <a:tblGrid>
                <a:gridCol w="266700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tblGrid>
              <a:tr h="400050">
                <a:tc>
                  <a:txBody>
                    <a:bodyPr/>
                    <a:lstStyle/>
                    <a:p>
                      <a:r>
                        <a:rPr sz="1500" b="1">
                          <a:solidFill>
                            <a:srgbClr val="FFFFFF"/>
                          </a:solidFill>
                          <a:latin typeface="맑은 고딕"/>
                          <a:ea typeface="맑은 고딕"/>
                          <a:cs typeface="맑은 고딕"/>
                        </a:rPr>
                        <a:t>유형</a:t>
                      </a:r>
                    </a:p>
                  </a:txBody>
                  <a:tcPr marL="95250" marR="95250" marT="47625" marB="47625" anchor="ctr">
                    <a:lnL w="5715">
                      <a:solidFill>
                        <a:srgbClr val="C5CFDA"/>
                      </a:solidFill>
                      <a:prstDash val="soli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선발 기준</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지원·반영 특징</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extLst>
                  <a:ext uri="{0D108BD9-81ED-4DB2-BD59-A6C34878D82A}">
                    <a16:rowId xmlns:a16="http://schemas.microsoft.com/office/drawing/2014/main" val="10000"/>
                  </a:ext>
                </a:extLst>
              </a:tr>
              <a:tr h="381000">
                <a:tc>
                  <a:txBody>
                    <a:bodyPr/>
                    <a:lstStyle/>
                    <a:p>
                      <a:r>
                        <a:rPr sz="1500" b="1">
                          <a:solidFill>
                            <a:srgbClr val="17212D"/>
                          </a:solidFill>
                          <a:latin typeface="맑은 고딕"/>
                          <a:ea typeface="맑은 고딕"/>
                          <a:cs typeface="맑은 고딕"/>
                        </a:rPr>
                        <a:t>일반형</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수능 100 중심</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모집군·모집단위별 반영방식 차등</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1"/>
                  </a:ext>
                </a:extLst>
              </a:tr>
              <a:tr h="381000">
                <a:tc>
                  <a:txBody>
                    <a:bodyPr/>
                    <a:lstStyle/>
                    <a:p>
                      <a:r>
                        <a:rPr sz="1500" b="1">
                          <a:solidFill>
                            <a:srgbClr val="17212D"/>
                          </a:solidFill>
                          <a:latin typeface="맑은 고딕"/>
                          <a:ea typeface="맑은 고딕"/>
                          <a:cs typeface="맑은 고딕"/>
                        </a:rPr>
                        <a:t>특화형</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수능 100</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국어+탐구 또는 수학+탐구 중심 가중</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2"/>
                  </a:ext>
                </a:extLst>
              </a:tr>
              <a:tr h="381000">
                <a:tc>
                  <a:txBody>
                    <a:bodyPr/>
                    <a:lstStyle/>
                    <a:p>
                      <a:r>
                        <a:rPr sz="1500" b="1">
                          <a:solidFill>
                            <a:srgbClr val="17212D"/>
                          </a:solidFill>
                          <a:latin typeface="맑은 고딕"/>
                          <a:ea typeface="맑은 고딕"/>
                          <a:cs typeface="맑은 고딕"/>
                        </a:rPr>
                        <a:t>정시 융합인재</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학생부 100+수능최저</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다군 40명, 현역·졸업생 지원 가능</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3"/>
                  </a:ext>
                </a:extLst>
              </a:tr>
              <a:tr h="381000">
                <a:tc>
                  <a:txBody>
                    <a:bodyPr/>
                    <a:lstStyle/>
                    <a:p>
                      <a:r>
                        <a:rPr sz="1500" b="1">
                          <a:solidFill>
                            <a:srgbClr val="17212D"/>
                          </a:solidFill>
                          <a:latin typeface="맑은 고딕"/>
                          <a:ea typeface="맑은 고딕"/>
                          <a:cs typeface="맑은 고딕"/>
                        </a:rPr>
                        <a:t>공통 확인</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자체 변환점수</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표준점수·백분위·등급의 사용 영역 확인</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4"/>
                  </a:ext>
                </a:extLst>
              </a:tr>
            </a:tbl>
          </a:graphicData>
        </a:graphic>
      </p:graphicFrame>
      <p:sp>
        <p:nvSpPr>
          <p:cNvPr id="7" name="직사각형 6">
            <a:extLst>
              <a:ext uri="{FF2B5EF4-FFF2-40B4-BE49-F238E27FC236}">
                <a16:creationId xmlns:a16="http://schemas.microsoft.com/office/drawing/2014/main" id="{1910BECC-FF8B-473F-8D05-E3B2C041F83C}"/>
              </a:ext>
            </a:extLst>
          </p:cNvPr>
          <p:cNvSpPr>
            <a:spLocks noGrp="1"/>
          </p:cNvSpPr>
          <p:nvPr/>
        </p:nvSpPr>
        <p:spPr>
          <a:xfrm>
            <a:off x="381000" y="6229350"/>
            <a:ext cx="10668000" cy="438150"/>
          </a:xfrm>
          <a:prstGeom prst="rect">
            <a:avLst/>
          </a:prstGeom>
          <a:noFill/>
          <a:ln w="0">
            <a:noFill/>
          </a:ln>
        </p:spPr>
        <p:txBody>
          <a:bodyPr lIns="0" tIns="0" rIns="0" bIns="0" anchor="t"/>
          <a:lstStyle>
            <a:defPPr>
              <a:defRPr sz="1125" b="0">
                <a:solidFill>
                  <a:srgbClr val="535D69"/>
                </a:solidFill>
                <a:latin typeface="맑은 고딕"/>
                <a:ea typeface="맑은 고딕"/>
                <a:cs typeface="맑은 고딕"/>
              </a:defRPr>
            </a:defPPr>
            <a:lvl1pPr>
              <a:defRPr sz="1125" b="0">
                <a:solidFill>
                  <a:srgbClr val="535D69"/>
                </a:solidFill>
                <a:latin typeface="맑은 고딕"/>
                <a:ea typeface="맑은 고딕"/>
                <a:cs typeface="맑은 고딕"/>
              </a:defRPr>
            </a:lvl1pPr>
            <a:lvl2pPr>
              <a:defRPr sz="1125" b="0">
                <a:solidFill>
                  <a:srgbClr val="535D69"/>
                </a:solidFill>
                <a:latin typeface="맑은 고딕"/>
                <a:ea typeface="맑은 고딕"/>
                <a:cs typeface="맑은 고딕"/>
              </a:defRPr>
            </a:lvl2pPr>
            <a:lvl3pPr>
              <a:defRPr sz="1125" b="0">
                <a:solidFill>
                  <a:srgbClr val="535D69"/>
                </a:solidFill>
                <a:latin typeface="맑은 고딕"/>
                <a:ea typeface="맑은 고딕"/>
                <a:cs typeface="맑은 고딕"/>
              </a:defRPr>
            </a:lvl3pPr>
            <a:lvl4pPr>
              <a:defRPr sz="1125" b="0">
                <a:solidFill>
                  <a:srgbClr val="535D69"/>
                </a:solidFill>
                <a:latin typeface="맑은 고딕"/>
                <a:ea typeface="맑은 고딕"/>
                <a:cs typeface="맑은 고딕"/>
              </a:defRPr>
            </a:lvl4pPr>
            <a:lvl5pPr>
              <a:defRPr sz="1125" b="0">
                <a:solidFill>
                  <a:srgbClr val="535D69"/>
                </a:solidFill>
                <a:latin typeface="맑은 고딕"/>
                <a:ea typeface="맑은 고딕"/>
                <a:cs typeface="맑은 고딕"/>
              </a:defRPr>
            </a:lvl5pPr>
            <a:lvl6pPr>
              <a:defRPr sz="1125" b="0">
                <a:solidFill>
                  <a:srgbClr val="535D69"/>
                </a:solidFill>
                <a:latin typeface="맑은 고딕"/>
                <a:ea typeface="맑은 고딕"/>
                <a:cs typeface="맑은 고딕"/>
              </a:defRPr>
            </a:lvl6pPr>
            <a:lvl7pPr>
              <a:defRPr sz="1125" b="0">
                <a:solidFill>
                  <a:srgbClr val="535D69"/>
                </a:solidFill>
                <a:latin typeface="맑은 고딕"/>
                <a:ea typeface="맑은 고딕"/>
                <a:cs typeface="맑은 고딕"/>
              </a:defRPr>
            </a:lvl7pPr>
            <a:lvl8pPr>
              <a:defRPr sz="1125" b="0">
                <a:solidFill>
                  <a:srgbClr val="535D69"/>
                </a:solidFill>
                <a:latin typeface="맑은 고딕"/>
                <a:ea typeface="맑은 고딕"/>
                <a:cs typeface="맑은 고딕"/>
              </a:defRPr>
            </a:lvl8pPr>
            <a:lvl9pPr>
              <a:defRPr sz="1125" b="0">
                <a:solidFill>
                  <a:srgbClr val="535D69"/>
                </a:solidFill>
                <a:latin typeface="맑은 고딕"/>
                <a:ea typeface="맑은 고딕"/>
                <a:cs typeface="맑은 고딕"/>
              </a:defRPr>
            </a:lvl9pPr>
          </a:lstStyle>
          <a:p>
            <a:pPr>
              <a:defRPr sz="1125" b="0">
                <a:solidFill>
                  <a:srgbClr val="535D69"/>
                </a:solidFill>
                <a:latin typeface="맑은 고딕"/>
                <a:ea typeface="맑은 고딕"/>
                <a:cs typeface="맑은 고딕"/>
              </a:defRPr>
            </a:pPr>
            <a:r>
              <a:rPr sz="1125" b="0">
                <a:solidFill>
                  <a:srgbClr val="535D69"/>
                </a:solidFill>
                <a:latin typeface="맑은 고딕"/>
                <a:ea typeface="맑은 고딕"/>
                <a:cs typeface="맑은 고딕"/>
              </a:rPr>
              <a:t>미술·체육·음악 등은 별도 전형방법. 교과역량 2인 평가점수 평균, 결격 사유 규정 별도.  정시 융합인재 모집단위: 교육학·한문교육·수학교육·컴퓨터교육. 일반형 정원내·계약학과 인원 구분.</a:t>
            </a:r>
          </a:p>
        </p:txBody>
      </p:sp>
      <p:sp>
        <p:nvSpPr>
          <p:cNvPr id="8" name="직사각형 7">
            <a:extLst>
              <a:ext uri="{FF2B5EF4-FFF2-40B4-BE49-F238E27FC236}">
                <a16:creationId xmlns:a16="http://schemas.microsoft.com/office/drawing/2014/main" id="{A2239788-6904-46BE-8655-E8088E5599E3}"/>
              </a:ext>
            </a:extLst>
          </p:cNvPr>
          <p:cNvSpPr>
            <a:spLocks noGrp="1"/>
          </p:cNvSpPr>
          <p:nvPr/>
        </p:nvSpPr>
        <p:spPr>
          <a:xfrm>
            <a:off x="381000" y="9572625"/>
            <a:ext cx="10096500" cy="361950"/>
          </a:xfrm>
          <a:prstGeom prst="rect">
            <a:avLst/>
          </a:prstGeom>
          <a:noFill/>
          <a:ln w="0">
            <a:noFill/>
          </a:ln>
        </p:spPr>
        <p:txBody>
          <a:bodyPr lIns="0" tIns="0" rIns="0" bIns="0" anchor="t"/>
          <a:lstStyle>
            <a:defPPr>
              <a:defRPr sz="900" b="0">
                <a:solidFill>
                  <a:srgbClr val="666666"/>
                </a:solidFill>
                <a:latin typeface="맑은 고딕"/>
                <a:ea typeface="맑은 고딕"/>
                <a:cs typeface="맑은 고딕"/>
              </a:defRPr>
            </a:defPPr>
            <a:lvl1pPr>
              <a:defRPr sz="900" b="0">
                <a:solidFill>
                  <a:srgbClr val="666666"/>
                </a:solidFill>
                <a:latin typeface="맑은 고딕"/>
                <a:ea typeface="맑은 고딕"/>
                <a:cs typeface="맑은 고딕"/>
              </a:defRPr>
            </a:lvl1pPr>
            <a:lvl2pPr>
              <a:defRPr sz="900" b="0">
                <a:solidFill>
                  <a:srgbClr val="666666"/>
                </a:solidFill>
                <a:latin typeface="맑은 고딕"/>
                <a:ea typeface="맑은 고딕"/>
                <a:cs typeface="맑은 고딕"/>
              </a:defRPr>
            </a:lvl2pPr>
            <a:lvl3pPr>
              <a:defRPr sz="900" b="0">
                <a:solidFill>
                  <a:srgbClr val="666666"/>
                </a:solidFill>
                <a:latin typeface="맑은 고딕"/>
                <a:ea typeface="맑은 고딕"/>
                <a:cs typeface="맑은 고딕"/>
              </a:defRPr>
            </a:lvl3pPr>
            <a:lvl4pPr>
              <a:defRPr sz="900" b="0">
                <a:solidFill>
                  <a:srgbClr val="666666"/>
                </a:solidFill>
                <a:latin typeface="맑은 고딕"/>
                <a:ea typeface="맑은 고딕"/>
                <a:cs typeface="맑은 고딕"/>
              </a:defRPr>
            </a:lvl4pPr>
            <a:lvl5pPr>
              <a:defRPr sz="900" b="0">
                <a:solidFill>
                  <a:srgbClr val="666666"/>
                </a:solidFill>
                <a:latin typeface="맑은 고딕"/>
                <a:ea typeface="맑은 고딕"/>
                <a:cs typeface="맑은 고딕"/>
              </a:defRPr>
            </a:lvl5pPr>
            <a:lvl6pPr>
              <a:defRPr sz="900" b="0">
                <a:solidFill>
                  <a:srgbClr val="666666"/>
                </a:solidFill>
                <a:latin typeface="맑은 고딕"/>
                <a:ea typeface="맑은 고딕"/>
                <a:cs typeface="맑은 고딕"/>
              </a:defRPr>
            </a:lvl6pPr>
            <a:lvl7pPr>
              <a:defRPr sz="900" b="0">
                <a:solidFill>
                  <a:srgbClr val="666666"/>
                </a:solidFill>
                <a:latin typeface="맑은 고딕"/>
                <a:ea typeface="맑은 고딕"/>
                <a:cs typeface="맑은 고딕"/>
              </a:defRPr>
            </a:lvl7pPr>
            <a:lvl8pPr>
              <a:defRPr sz="900" b="0">
                <a:solidFill>
                  <a:srgbClr val="666666"/>
                </a:solidFill>
                <a:latin typeface="맑은 고딕"/>
                <a:ea typeface="맑은 고딕"/>
                <a:cs typeface="맑은 고딕"/>
              </a:defRPr>
            </a:lvl8pPr>
            <a:lvl9pPr>
              <a:defRPr sz="900" b="0">
                <a:solidFill>
                  <a:srgbClr val="666666"/>
                </a:solidFill>
                <a:latin typeface="맑은 고딕"/>
                <a:ea typeface="맑은 고딕"/>
                <a:cs typeface="맑은 고딕"/>
              </a:defRPr>
            </a:lvl9pPr>
          </a:lstStyle>
          <a:p>
            <a:pPr>
              <a:defRPr sz="900" b="0">
                <a:solidFill>
                  <a:srgbClr val="666666"/>
                </a:solidFill>
                <a:latin typeface="맑은 고딕"/>
                <a:ea typeface="맑은 고딕"/>
                <a:cs typeface="맑은 고딕"/>
              </a:defRPr>
            </a:pPr>
            <a:r>
              <a:rPr sz="900" b="0">
                <a:solidFill>
                  <a:srgbClr val="666666"/>
                </a:solidFill>
                <a:latin typeface="맑은 고딕"/>
                <a:ea typeface="맑은 고딕"/>
                <a:cs typeface="맑은 고딕"/>
              </a:rPr>
              <a:t>근거  서울 PDF 17~20·35~36쪽 / 성균관 PDF 34~42쪽</a:t>
            </a:r>
          </a:p>
        </p:txBody>
      </p:sp>
      <p:sp>
        <p:nvSpPr>
          <p:cNvPr id="9" name="직사각형 8">
            <a:extLst>
              <a:ext uri="{FF2B5EF4-FFF2-40B4-BE49-F238E27FC236}">
                <a16:creationId xmlns:a16="http://schemas.microsoft.com/office/drawing/2014/main" id="{4B50978D-CD19-478E-BB88-EBA811055C11}"/>
              </a:ext>
            </a:extLst>
          </p:cNvPr>
          <p:cNvSpPr>
            <a:spLocks noGrp="1"/>
          </p:cNvSpPr>
          <p:nvPr/>
        </p:nvSpPr>
        <p:spPr>
          <a:xfrm>
            <a:off x="10715625" y="9572625"/>
            <a:ext cx="333375" cy="228600"/>
          </a:xfrm>
          <a:prstGeom prst="rect">
            <a:avLst/>
          </a:prstGeom>
          <a:noFill/>
          <a:ln w="0">
            <a:noFill/>
          </a:ln>
        </p:spPr>
        <p:txBody>
          <a:bodyPr lIns="0" tIns="0" rIns="0" bIns="0" anchor="t"/>
          <a:lstStyle>
            <a:defPPr>
              <a:defRPr sz="1050" b="0">
                <a:solidFill>
                  <a:srgbClr val="002060"/>
                </a:solidFill>
                <a:latin typeface="맑은 고딕"/>
                <a:ea typeface="맑은 고딕"/>
                <a:cs typeface="맑은 고딕"/>
              </a:defRPr>
            </a:defPPr>
            <a:lvl1pPr>
              <a:defRPr sz="1050" b="0">
                <a:solidFill>
                  <a:srgbClr val="002060"/>
                </a:solidFill>
                <a:latin typeface="맑은 고딕"/>
                <a:ea typeface="맑은 고딕"/>
                <a:cs typeface="맑은 고딕"/>
              </a:defRPr>
            </a:lvl1pPr>
            <a:lvl2pPr>
              <a:defRPr sz="1050" b="0">
                <a:solidFill>
                  <a:srgbClr val="002060"/>
                </a:solidFill>
                <a:latin typeface="맑은 고딕"/>
                <a:ea typeface="맑은 고딕"/>
                <a:cs typeface="맑은 고딕"/>
              </a:defRPr>
            </a:lvl2pPr>
            <a:lvl3pPr>
              <a:defRPr sz="1050" b="0">
                <a:solidFill>
                  <a:srgbClr val="002060"/>
                </a:solidFill>
                <a:latin typeface="맑은 고딕"/>
                <a:ea typeface="맑은 고딕"/>
                <a:cs typeface="맑은 고딕"/>
              </a:defRPr>
            </a:lvl3pPr>
            <a:lvl4pPr>
              <a:defRPr sz="1050" b="0">
                <a:solidFill>
                  <a:srgbClr val="002060"/>
                </a:solidFill>
                <a:latin typeface="맑은 고딕"/>
                <a:ea typeface="맑은 고딕"/>
                <a:cs typeface="맑은 고딕"/>
              </a:defRPr>
            </a:lvl4pPr>
            <a:lvl5pPr>
              <a:defRPr sz="1050" b="0">
                <a:solidFill>
                  <a:srgbClr val="002060"/>
                </a:solidFill>
                <a:latin typeface="맑은 고딕"/>
                <a:ea typeface="맑은 고딕"/>
                <a:cs typeface="맑은 고딕"/>
              </a:defRPr>
            </a:lvl5pPr>
            <a:lvl6pPr>
              <a:defRPr sz="1050" b="0">
                <a:solidFill>
                  <a:srgbClr val="002060"/>
                </a:solidFill>
                <a:latin typeface="맑은 고딕"/>
                <a:ea typeface="맑은 고딕"/>
                <a:cs typeface="맑은 고딕"/>
              </a:defRPr>
            </a:lvl6pPr>
            <a:lvl7pPr>
              <a:defRPr sz="1050" b="0">
                <a:solidFill>
                  <a:srgbClr val="002060"/>
                </a:solidFill>
                <a:latin typeface="맑은 고딕"/>
                <a:ea typeface="맑은 고딕"/>
                <a:cs typeface="맑은 고딕"/>
              </a:defRPr>
            </a:lvl7pPr>
            <a:lvl8pPr>
              <a:defRPr sz="1050" b="0">
                <a:solidFill>
                  <a:srgbClr val="002060"/>
                </a:solidFill>
                <a:latin typeface="맑은 고딕"/>
                <a:ea typeface="맑은 고딕"/>
                <a:cs typeface="맑은 고딕"/>
              </a:defRPr>
            </a:lvl8pPr>
            <a:lvl9pPr>
              <a:defRPr sz="1050" b="0">
                <a:solidFill>
                  <a:srgbClr val="002060"/>
                </a:solidFill>
                <a:latin typeface="맑은 고딕"/>
                <a:ea typeface="맑은 고딕"/>
                <a:cs typeface="맑은 고딕"/>
              </a:defRPr>
            </a:lvl9pPr>
          </a:lstStyle>
          <a:p>
            <a:pPr>
              <a:defRPr sz="1050" b="0">
                <a:solidFill>
                  <a:srgbClr val="002060"/>
                </a:solidFill>
                <a:latin typeface="맑은 고딕"/>
                <a:ea typeface="맑은 고딕"/>
                <a:cs typeface="맑은 고딕"/>
              </a:defRPr>
            </a:pPr>
            <a:r>
              <a:rPr sz="1050" b="0">
                <a:solidFill>
                  <a:srgbClr val="002060"/>
                </a:solidFill>
                <a:latin typeface="맑은 고딕"/>
                <a:ea typeface="맑은 고딕"/>
                <a:cs typeface="맑은 고딕"/>
              </a:rPr>
              <a:t>16</a:t>
            </a:r>
          </a:p>
        </p:txBody>
      </p:sp>
    </p:spTree>
    <p:extLst>
      <p:ext uri="{BB962C8B-B14F-4D97-AF65-F5344CB8AC3E}">
        <p14:creationId xmlns:p14="http://schemas.microsoft.com/office/powerpoint/2010/main" val="6398913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11F33E68-C118-48E0-87D2-31CEDE0873EE}"/>
              </a:ext>
            </a:extLst>
          </p:cNvPr>
          <p:cNvSpPr>
            <a:spLocks noGrp="1"/>
          </p:cNvSpPr>
          <p:nvPr/>
        </p:nvSpPr>
        <p:spPr>
          <a:xfrm>
            <a:off x="381000" y="228600"/>
            <a:ext cx="9525000" cy="238125"/>
          </a:xfrm>
          <a:prstGeom prst="rect">
            <a:avLst/>
          </a:prstGeom>
          <a:noFill/>
          <a:ln w="0">
            <a:noFill/>
          </a:ln>
        </p:spPr>
        <p:txBody>
          <a:bodyPr lIns="0" tIns="0" rIns="0" bIns="0" anchor="t"/>
          <a:lstStyle>
            <a:defPPr>
              <a:defRPr sz="1200" b="1">
                <a:solidFill>
                  <a:srgbClr val="002060"/>
                </a:solidFill>
                <a:latin typeface="맑은 고딕"/>
                <a:ea typeface="맑은 고딕"/>
                <a:cs typeface="맑은 고딕"/>
              </a:defRPr>
            </a:defPPr>
            <a:lvl1pPr>
              <a:defRPr sz="1200" b="1">
                <a:solidFill>
                  <a:srgbClr val="002060"/>
                </a:solidFill>
                <a:latin typeface="맑은 고딕"/>
                <a:ea typeface="맑은 고딕"/>
                <a:cs typeface="맑은 고딕"/>
              </a:defRPr>
            </a:lvl1pPr>
            <a:lvl2pPr>
              <a:defRPr sz="1200" b="1">
                <a:solidFill>
                  <a:srgbClr val="002060"/>
                </a:solidFill>
                <a:latin typeface="맑은 고딕"/>
                <a:ea typeface="맑은 고딕"/>
                <a:cs typeface="맑은 고딕"/>
              </a:defRPr>
            </a:lvl2pPr>
            <a:lvl3pPr>
              <a:defRPr sz="1200" b="1">
                <a:solidFill>
                  <a:srgbClr val="002060"/>
                </a:solidFill>
                <a:latin typeface="맑은 고딕"/>
                <a:ea typeface="맑은 고딕"/>
                <a:cs typeface="맑은 고딕"/>
              </a:defRPr>
            </a:lvl3pPr>
            <a:lvl4pPr>
              <a:defRPr sz="1200" b="1">
                <a:solidFill>
                  <a:srgbClr val="002060"/>
                </a:solidFill>
                <a:latin typeface="맑은 고딕"/>
                <a:ea typeface="맑은 고딕"/>
                <a:cs typeface="맑은 고딕"/>
              </a:defRPr>
            </a:lvl4pPr>
            <a:lvl5pPr>
              <a:defRPr sz="1200" b="1">
                <a:solidFill>
                  <a:srgbClr val="002060"/>
                </a:solidFill>
                <a:latin typeface="맑은 고딕"/>
                <a:ea typeface="맑은 고딕"/>
                <a:cs typeface="맑은 고딕"/>
              </a:defRPr>
            </a:lvl5pPr>
            <a:lvl6pPr>
              <a:defRPr sz="1200" b="1">
                <a:solidFill>
                  <a:srgbClr val="002060"/>
                </a:solidFill>
                <a:latin typeface="맑은 고딕"/>
                <a:ea typeface="맑은 고딕"/>
                <a:cs typeface="맑은 고딕"/>
              </a:defRPr>
            </a:lvl6pPr>
            <a:lvl7pPr>
              <a:defRPr sz="1200" b="1">
                <a:solidFill>
                  <a:srgbClr val="002060"/>
                </a:solidFill>
                <a:latin typeface="맑은 고딕"/>
                <a:ea typeface="맑은 고딕"/>
                <a:cs typeface="맑은 고딕"/>
              </a:defRPr>
            </a:lvl7pPr>
            <a:lvl8pPr>
              <a:defRPr sz="1200" b="1">
                <a:solidFill>
                  <a:srgbClr val="002060"/>
                </a:solidFill>
                <a:latin typeface="맑은 고딕"/>
                <a:ea typeface="맑은 고딕"/>
                <a:cs typeface="맑은 고딕"/>
              </a:defRPr>
            </a:lvl8pPr>
            <a:lvl9pPr>
              <a:defRPr sz="1200" b="1">
                <a:solidFill>
                  <a:srgbClr val="002060"/>
                </a:solidFill>
                <a:latin typeface="맑은 고딕"/>
                <a:ea typeface="맑은 고딕"/>
                <a:cs typeface="맑은 고딕"/>
              </a:defRPr>
            </a:lvl9pPr>
          </a:lstStyle>
          <a:p>
            <a:pPr>
              <a:defRPr sz="1200" b="1">
                <a:solidFill>
                  <a:srgbClr val="002060"/>
                </a:solidFill>
                <a:latin typeface="맑은 고딕"/>
                <a:ea typeface="맑은 고딕"/>
                <a:cs typeface="맑은 고딕"/>
              </a:defRPr>
            </a:pPr>
            <a:r>
              <a:rPr sz="1200" b="1">
                <a:solidFill>
                  <a:srgbClr val="002060"/>
                </a:solidFill>
                <a:latin typeface="맑은 고딕"/>
                <a:ea typeface="맑은 고딕"/>
                <a:cs typeface="맑은 고딕"/>
              </a:rPr>
              <a:t>2028 정시  대학별 전형 비교</a:t>
            </a:r>
          </a:p>
        </p:txBody>
      </p:sp>
      <p:sp>
        <p:nvSpPr>
          <p:cNvPr id="2" name="직사각형 1">
            <a:extLst>
              <a:ext uri="{FF2B5EF4-FFF2-40B4-BE49-F238E27FC236}">
                <a16:creationId xmlns:a16="http://schemas.microsoft.com/office/drawing/2014/main" id="{66D18B26-7B03-477A-9E0A-18B659187600}"/>
              </a:ext>
            </a:extLst>
          </p:cNvPr>
          <p:cNvSpPr>
            <a:spLocks noGrp="1"/>
          </p:cNvSpPr>
          <p:nvPr/>
        </p:nvSpPr>
        <p:spPr>
          <a:xfrm>
            <a:off x="381000" y="619125"/>
            <a:ext cx="10668000" cy="533400"/>
          </a:xfrm>
          <a:prstGeom prst="rect">
            <a:avLst/>
          </a:prstGeom>
          <a:noFill/>
          <a:ln w="0">
            <a:noFill/>
          </a:ln>
        </p:spPr>
        <p:txBody>
          <a:bodyPr lIns="0" tIns="0" rIns="0" bIns="0" anchor="t"/>
          <a:lstStyle>
            <a:defPPr>
              <a:defRPr sz="2400" b="1">
                <a:solidFill>
                  <a:srgbClr val="002060"/>
                </a:solidFill>
                <a:latin typeface="맑은 고딕"/>
                <a:ea typeface="맑은 고딕"/>
                <a:cs typeface="맑은 고딕"/>
              </a:defRPr>
            </a:defPPr>
            <a:lvl1pPr>
              <a:defRPr sz="2400" b="1">
                <a:solidFill>
                  <a:srgbClr val="002060"/>
                </a:solidFill>
                <a:latin typeface="맑은 고딕"/>
                <a:ea typeface="맑은 고딕"/>
                <a:cs typeface="맑은 고딕"/>
              </a:defRPr>
            </a:lvl1pPr>
            <a:lvl2pPr>
              <a:defRPr sz="2400" b="1">
                <a:solidFill>
                  <a:srgbClr val="002060"/>
                </a:solidFill>
                <a:latin typeface="맑은 고딕"/>
                <a:ea typeface="맑은 고딕"/>
                <a:cs typeface="맑은 고딕"/>
              </a:defRPr>
            </a:lvl2pPr>
            <a:lvl3pPr>
              <a:defRPr sz="2400" b="1">
                <a:solidFill>
                  <a:srgbClr val="002060"/>
                </a:solidFill>
                <a:latin typeface="맑은 고딕"/>
                <a:ea typeface="맑은 고딕"/>
                <a:cs typeface="맑은 고딕"/>
              </a:defRPr>
            </a:lvl3pPr>
            <a:lvl4pPr>
              <a:defRPr sz="2400" b="1">
                <a:solidFill>
                  <a:srgbClr val="002060"/>
                </a:solidFill>
                <a:latin typeface="맑은 고딕"/>
                <a:ea typeface="맑은 고딕"/>
                <a:cs typeface="맑은 고딕"/>
              </a:defRPr>
            </a:lvl4pPr>
            <a:lvl5pPr>
              <a:defRPr sz="2400" b="1">
                <a:solidFill>
                  <a:srgbClr val="002060"/>
                </a:solidFill>
                <a:latin typeface="맑은 고딕"/>
                <a:ea typeface="맑은 고딕"/>
                <a:cs typeface="맑은 고딕"/>
              </a:defRPr>
            </a:lvl5pPr>
            <a:lvl6pPr>
              <a:defRPr sz="2400" b="1">
                <a:solidFill>
                  <a:srgbClr val="002060"/>
                </a:solidFill>
                <a:latin typeface="맑은 고딕"/>
                <a:ea typeface="맑은 고딕"/>
                <a:cs typeface="맑은 고딕"/>
              </a:defRPr>
            </a:lvl6pPr>
            <a:lvl7pPr>
              <a:defRPr sz="2400" b="1">
                <a:solidFill>
                  <a:srgbClr val="002060"/>
                </a:solidFill>
                <a:latin typeface="맑은 고딕"/>
                <a:ea typeface="맑은 고딕"/>
                <a:cs typeface="맑은 고딕"/>
              </a:defRPr>
            </a:lvl7pPr>
            <a:lvl8pPr>
              <a:defRPr sz="2400" b="1">
                <a:solidFill>
                  <a:srgbClr val="002060"/>
                </a:solidFill>
                <a:latin typeface="맑은 고딕"/>
                <a:ea typeface="맑은 고딕"/>
                <a:cs typeface="맑은 고딕"/>
              </a:defRPr>
            </a:lvl8pPr>
            <a:lvl9pPr>
              <a:defRPr sz="2400" b="1">
                <a:solidFill>
                  <a:srgbClr val="002060"/>
                </a:solidFill>
                <a:latin typeface="맑은 고딕"/>
                <a:ea typeface="맑은 고딕"/>
                <a:cs typeface="맑은 고딕"/>
              </a:defRPr>
            </a:lvl9pPr>
          </a:lstStyle>
          <a:p>
            <a:pPr>
              <a:defRPr sz="2400" b="1">
                <a:solidFill>
                  <a:srgbClr val="002060"/>
                </a:solidFill>
                <a:latin typeface="맑은 고딕"/>
                <a:ea typeface="맑은 고딕"/>
                <a:cs typeface="맑은 고딕"/>
              </a:defRPr>
            </a:pPr>
            <a:r>
              <a:rPr sz="2400" b="1">
                <a:solidFill>
                  <a:srgbClr val="002060"/>
                </a:solidFill>
                <a:latin typeface="맑은 고딕"/>
                <a:ea typeface="맑은 고딕"/>
                <a:cs typeface="맑은 고딕"/>
              </a:rPr>
              <a:t>전형 해석과 출판 전 확인 기준</a:t>
            </a:r>
          </a:p>
        </p:txBody>
      </p:sp>
      <p:graphicFrame>
        <p:nvGraphicFramePr>
          <p:cNvPr id="3" name="표 2">
            <a:extLst>
              <a:ext uri="{FF2B5EF4-FFF2-40B4-BE49-F238E27FC236}">
                <a16:creationId xmlns:a16="http://schemas.microsoft.com/office/drawing/2014/main" id="{985B90E6-6EF8-4155-85DA-757ABF567377}"/>
              </a:ext>
            </a:extLst>
          </p:cNvPr>
          <p:cNvGraphicFramePr/>
          <p:nvPr/>
        </p:nvGraphicFramePr>
        <p:xfrm>
          <a:off x="381000" y="1381125"/>
          <a:ext cx="10668000" cy="2305050"/>
        </p:xfrm>
        <a:graphic>
          <a:graphicData uri="http://schemas.openxmlformats.org/drawingml/2006/table">
            <a:tbl>
              <a:tblPr/>
              <a:tblGrid>
                <a:gridCol w="3714750">
                  <a:extLst>
                    <a:ext uri="{9D8B030D-6E8A-4147-A177-3AD203B41FA5}">
                      <a16:colId xmlns:a16="http://schemas.microsoft.com/office/drawing/2014/main" val="20000"/>
                    </a:ext>
                  </a:extLst>
                </a:gridCol>
                <a:gridCol w="6953250">
                  <a:extLst>
                    <a:ext uri="{9D8B030D-6E8A-4147-A177-3AD203B41FA5}">
                      <a16:colId xmlns:a16="http://schemas.microsoft.com/office/drawing/2014/main" val="20001"/>
                    </a:ext>
                  </a:extLst>
                </a:gridCol>
              </a:tblGrid>
              <a:tr h="400050">
                <a:tc>
                  <a:txBody>
                    <a:bodyPr/>
                    <a:lstStyle/>
                    <a:p>
                      <a:r>
                        <a:rPr sz="1500" b="1">
                          <a:solidFill>
                            <a:srgbClr val="FFFFFF"/>
                          </a:solidFill>
                          <a:latin typeface="맑은 고딕"/>
                          <a:ea typeface="맑은 고딕"/>
                          <a:cs typeface="맑은 고딕"/>
                        </a:rPr>
                        <a:t>오해하기 쉬운 문장</a:t>
                      </a:r>
                    </a:p>
                  </a:txBody>
                  <a:tcPr marL="95250" marR="95250" marT="47625" marB="47625" anchor="ctr">
                    <a:lnL w="5715">
                      <a:solidFill>
                        <a:srgbClr val="C5CFDA"/>
                      </a:solidFill>
                      <a:prstDash val="soli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tc>
                  <a:txBody>
                    <a:bodyPr/>
                    <a:lstStyle/>
                    <a:p>
                      <a:r>
                        <a:rPr sz="1500" b="1">
                          <a:solidFill>
                            <a:srgbClr val="FFFFFF"/>
                          </a:solidFill>
                          <a:latin typeface="맑은 고딕"/>
                          <a:ea typeface="맑은 고딕"/>
                          <a:cs typeface="맑은 고딕"/>
                        </a:rPr>
                        <a:t>정확하게 쓰는 방식</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a:solidFill>
                        <a:srgbClr val="C5CFDA"/>
                      </a:solidFill>
                      <a:prstDash val="solid"/>
                    </a:lnT>
                    <a:lnB w="5715">
                      <a:solidFill>
                        <a:srgbClr val="C5CFDA"/>
                      </a:solidFill>
                      <a:prstDash val="solid"/>
                    </a:lnB>
                    <a:solidFill>
                      <a:srgbClr val="002060"/>
                    </a:solidFill>
                  </a:tcPr>
                </a:tc>
                <a:extLst>
                  <a:ext uri="{0D108BD9-81ED-4DB2-BD59-A6C34878D82A}">
                    <a16:rowId xmlns:a16="http://schemas.microsoft.com/office/drawing/2014/main" val="10000"/>
                  </a:ext>
                </a:extLst>
              </a:tr>
              <a:tr h="381000">
                <a:tc>
                  <a:txBody>
                    <a:bodyPr/>
                    <a:lstStyle/>
                    <a:p>
                      <a:r>
                        <a:rPr sz="1500" b="1">
                          <a:solidFill>
                            <a:srgbClr val="17212D"/>
                          </a:solidFill>
                          <a:latin typeface="맑은 고딕"/>
                          <a:ea typeface="맑은 고딕"/>
                          <a:cs typeface="맑은 고딕"/>
                        </a:rPr>
                        <a:t>“정시는 모두 수능 100%다”</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학생부 합산·정시 학생부종합·면접 전형을 구분</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1"/>
                  </a:ext>
                </a:extLst>
              </a:tr>
              <a:tr h="381000">
                <a:tc>
                  <a:txBody>
                    <a:bodyPr/>
                    <a:lstStyle/>
                    <a:p>
                      <a:r>
                        <a:rPr sz="1500" b="1">
                          <a:solidFill>
                            <a:srgbClr val="17212D"/>
                          </a:solidFill>
                          <a:latin typeface="맑은 고딕"/>
                          <a:ea typeface="맑은 고딕"/>
                          <a:cs typeface="맑은 고딕"/>
                        </a:rPr>
                        <a:t>“학생부 반영이면 졸업생은 불가”</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각 전형의 졸업연도·추천·학기 조건 확인</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2"/>
                  </a:ext>
                </a:extLst>
              </a:tr>
              <a:tr h="381000">
                <a:tc>
                  <a:txBody>
                    <a:bodyPr/>
                    <a:lstStyle/>
                    <a:p>
                      <a:r>
                        <a:rPr sz="1500" b="1">
                          <a:solidFill>
                            <a:srgbClr val="17212D"/>
                          </a:solidFill>
                          <a:latin typeface="맑은 고딕"/>
                          <a:ea typeface="맑은 고딕"/>
                          <a:cs typeface="맑은 고딕"/>
                        </a:rPr>
                        <a:t>“학생부 정성평가 대학 전체 적용”</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모집군·모집단위·유형별 적용 범위 명시</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3"/>
                  </a:ext>
                </a:extLst>
              </a:tr>
              <a:tr h="381000">
                <a:tc>
                  <a:txBody>
                    <a:bodyPr/>
                    <a:lstStyle/>
                    <a:p>
                      <a:r>
                        <a:rPr sz="1500" b="1">
                          <a:solidFill>
                            <a:srgbClr val="17212D"/>
                          </a:solidFill>
                          <a:latin typeface="맑은 고딕"/>
                          <a:ea typeface="맑은 고딕"/>
                          <a:cs typeface="맑은 고딕"/>
                        </a:rPr>
                        <a:t>“탐구 1과목이면 한 과목만 응시”</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tc>
                  <a:txBody>
                    <a:bodyPr/>
                    <a:lstStyle/>
                    <a:p>
                      <a:r>
                        <a:rPr sz="1500" b="0">
                          <a:solidFill>
                            <a:srgbClr val="17212D"/>
                          </a:solidFill>
                          <a:latin typeface="맑은 고딕"/>
                          <a:ea typeface="맑은 고딕"/>
                          <a:cs typeface="맑은 고딕"/>
                        </a:rPr>
                        <a:t>응시 조건과 성적 반영 과목 수를 분리</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EFF3F8"/>
                    </a:solidFill>
                  </a:tcPr>
                </a:tc>
                <a:extLst>
                  <a:ext uri="{0D108BD9-81ED-4DB2-BD59-A6C34878D82A}">
                    <a16:rowId xmlns:a16="http://schemas.microsoft.com/office/drawing/2014/main" val="10004"/>
                  </a:ext>
                </a:extLst>
              </a:tr>
              <a:tr h="381000">
                <a:tc>
                  <a:txBody>
                    <a:bodyPr/>
                    <a:lstStyle/>
                    <a:p>
                      <a:r>
                        <a:rPr sz="1500" b="1">
                          <a:solidFill>
                            <a:srgbClr val="17212D"/>
                          </a:solidFill>
                          <a:latin typeface="맑은 고딕"/>
                          <a:ea typeface="맑은 고딕"/>
                          <a:cs typeface="맑은 고딕"/>
                        </a:rPr>
                        <a:t>“자료 간 인원이 다르면 합산”</a:t>
                      </a:r>
                    </a:p>
                  </a:txBody>
                  <a:tcPr marL="95250" marR="95250" marT="47625" marB="47625" anchor="ctr">
                    <a:lnL w="5715">
                      <a:solidFill>
                        <a:srgbClr val="C5CFDA"/>
                      </a:solidFill>
                      <a:prstDash val="soli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tc>
                  <a:txBody>
                    <a:bodyPr/>
                    <a:lstStyle/>
                    <a:p>
                      <a:r>
                        <a:rPr sz="1500" b="0">
                          <a:solidFill>
                            <a:srgbClr val="17212D"/>
                          </a:solidFill>
                          <a:latin typeface="맑은 고딕"/>
                          <a:ea typeface="맑은 고딕"/>
                          <a:cs typeface="맑은 고딕"/>
                        </a:rPr>
                        <a:t>같은 기준의 원문 확인, 불일치는 보류</a:t>
                      </a:r>
                    </a:p>
                  </a:txBody>
                  <a:tcPr marL="95250" marR="95250" marT="47625" marB="47625" anchor="ctr">
                    <a:lnL w="5715" cap="flat" cmpd="sng" algn="ctr">
                      <a:solidFill>
                        <a:srgbClr val="C5CFDA"/>
                      </a:solidFill>
                      <a:prstDash val="solid"/>
                      <a:round/>
                      <a:headEnd type="none" w="med" len="med"/>
                      <a:tailEnd type="none" w="med" len="med"/>
                    </a:lnL>
                    <a:lnR w="5715">
                      <a:solidFill>
                        <a:srgbClr val="C5CFDA"/>
                      </a:solidFill>
                      <a:prstDash val="solid"/>
                    </a:lnR>
                    <a:lnT w="5715" cap="flat" cmpd="sng" algn="ctr">
                      <a:solidFill>
                        <a:srgbClr val="C5CFDA"/>
                      </a:solidFill>
                      <a:prstDash val="solid"/>
                      <a:round/>
                      <a:headEnd type="none" w="med" len="med"/>
                      <a:tailEnd type="none" w="med" len="med"/>
                    </a:lnT>
                    <a:lnB w="5715">
                      <a:solidFill>
                        <a:srgbClr val="C5CFDA"/>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4" name="직사각형 3">
            <a:extLst>
              <a:ext uri="{FF2B5EF4-FFF2-40B4-BE49-F238E27FC236}">
                <a16:creationId xmlns:a16="http://schemas.microsoft.com/office/drawing/2014/main" id="{5CBB2F89-3C3E-4611-A94E-3E8EF4BD2F42}"/>
              </a:ext>
            </a:extLst>
          </p:cNvPr>
          <p:cNvSpPr>
            <a:spLocks noGrp="1"/>
          </p:cNvSpPr>
          <p:nvPr/>
        </p:nvSpPr>
        <p:spPr>
          <a:xfrm>
            <a:off x="381000" y="3810000"/>
            <a:ext cx="10668000" cy="257175"/>
          </a:xfrm>
          <a:prstGeom prst="rect">
            <a:avLst/>
          </a:prstGeom>
          <a:noFill/>
          <a:ln w="0">
            <a:noFill/>
          </a:ln>
        </p:spPr>
        <p:txBody>
          <a:bodyPr lIns="0" tIns="0" rIns="0" bIns="0" anchor="t"/>
          <a:lstStyle>
            <a:defPPr>
              <a:defRPr sz="1125" b="0">
                <a:solidFill>
                  <a:srgbClr val="535D69"/>
                </a:solidFill>
                <a:latin typeface="맑은 고딕"/>
                <a:ea typeface="맑은 고딕"/>
                <a:cs typeface="맑은 고딕"/>
              </a:defRPr>
            </a:defPPr>
            <a:lvl1pPr>
              <a:defRPr sz="1125" b="0">
                <a:solidFill>
                  <a:srgbClr val="535D69"/>
                </a:solidFill>
                <a:latin typeface="맑은 고딕"/>
                <a:ea typeface="맑은 고딕"/>
                <a:cs typeface="맑은 고딕"/>
              </a:defRPr>
            </a:lvl1pPr>
            <a:lvl2pPr>
              <a:defRPr sz="1125" b="0">
                <a:solidFill>
                  <a:srgbClr val="535D69"/>
                </a:solidFill>
                <a:latin typeface="맑은 고딕"/>
                <a:ea typeface="맑은 고딕"/>
                <a:cs typeface="맑은 고딕"/>
              </a:defRPr>
            </a:lvl2pPr>
            <a:lvl3pPr>
              <a:defRPr sz="1125" b="0">
                <a:solidFill>
                  <a:srgbClr val="535D69"/>
                </a:solidFill>
                <a:latin typeface="맑은 고딕"/>
                <a:ea typeface="맑은 고딕"/>
                <a:cs typeface="맑은 고딕"/>
              </a:defRPr>
            </a:lvl3pPr>
            <a:lvl4pPr>
              <a:defRPr sz="1125" b="0">
                <a:solidFill>
                  <a:srgbClr val="535D69"/>
                </a:solidFill>
                <a:latin typeface="맑은 고딕"/>
                <a:ea typeface="맑은 고딕"/>
                <a:cs typeface="맑은 고딕"/>
              </a:defRPr>
            </a:lvl4pPr>
            <a:lvl5pPr>
              <a:defRPr sz="1125" b="0">
                <a:solidFill>
                  <a:srgbClr val="535D69"/>
                </a:solidFill>
                <a:latin typeface="맑은 고딕"/>
                <a:ea typeface="맑은 고딕"/>
                <a:cs typeface="맑은 고딕"/>
              </a:defRPr>
            </a:lvl5pPr>
            <a:lvl6pPr>
              <a:defRPr sz="1125" b="0">
                <a:solidFill>
                  <a:srgbClr val="535D69"/>
                </a:solidFill>
                <a:latin typeface="맑은 고딕"/>
                <a:ea typeface="맑은 고딕"/>
                <a:cs typeface="맑은 고딕"/>
              </a:defRPr>
            </a:lvl6pPr>
            <a:lvl7pPr>
              <a:defRPr sz="1125" b="0">
                <a:solidFill>
                  <a:srgbClr val="535D69"/>
                </a:solidFill>
                <a:latin typeface="맑은 고딕"/>
                <a:ea typeface="맑은 고딕"/>
                <a:cs typeface="맑은 고딕"/>
              </a:defRPr>
            </a:lvl7pPr>
            <a:lvl8pPr>
              <a:defRPr sz="1125" b="0">
                <a:solidFill>
                  <a:srgbClr val="535D69"/>
                </a:solidFill>
                <a:latin typeface="맑은 고딕"/>
                <a:ea typeface="맑은 고딕"/>
                <a:cs typeface="맑은 고딕"/>
              </a:defRPr>
            </a:lvl8pPr>
            <a:lvl9pPr>
              <a:defRPr sz="1125" b="0">
                <a:solidFill>
                  <a:srgbClr val="535D69"/>
                </a:solidFill>
                <a:latin typeface="맑은 고딕"/>
                <a:ea typeface="맑은 고딕"/>
                <a:cs typeface="맑은 고딕"/>
              </a:defRPr>
            </a:lvl9pPr>
          </a:lstStyle>
          <a:p>
            <a:pPr>
              <a:defRPr sz="1125" b="0">
                <a:solidFill>
                  <a:srgbClr val="535D69"/>
                </a:solidFill>
                <a:latin typeface="맑은 고딕"/>
                <a:ea typeface="맑은 고딕"/>
                <a:cs typeface="맑은 고딕"/>
              </a:defRPr>
            </a:pPr>
            <a:r>
              <a:rPr sz="1125" b="0">
                <a:solidFill>
                  <a:srgbClr val="535D69"/>
                </a:solidFill>
                <a:latin typeface="맑은 고딕"/>
                <a:ea typeface="맑은 고딕"/>
                <a:cs typeface="맑은 고딕"/>
              </a:rPr>
              <a:t>자료 기준: SEN 2026. 7. 2. 및 각 시행계획 공표본. 최신 변경 공지 전체를 확인한 최종 요강판은 아님.</a:t>
            </a:r>
          </a:p>
        </p:txBody>
      </p:sp>
      <p:sp>
        <p:nvSpPr>
          <p:cNvPr id="5" name="직사각형 4">
            <a:extLst>
              <a:ext uri="{FF2B5EF4-FFF2-40B4-BE49-F238E27FC236}">
                <a16:creationId xmlns:a16="http://schemas.microsoft.com/office/drawing/2014/main" id="{36418EC2-10B3-4AB3-9A8C-88823E36D13B}"/>
              </a:ext>
            </a:extLst>
          </p:cNvPr>
          <p:cNvSpPr>
            <a:spLocks noGrp="1"/>
          </p:cNvSpPr>
          <p:nvPr/>
        </p:nvSpPr>
        <p:spPr>
          <a:xfrm>
            <a:off x="381000" y="9572625"/>
            <a:ext cx="10096500" cy="361950"/>
          </a:xfrm>
          <a:prstGeom prst="rect">
            <a:avLst/>
          </a:prstGeom>
          <a:noFill/>
          <a:ln w="0">
            <a:noFill/>
          </a:ln>
        </p:spPr>
        <p:txBody>
          <a:bodyPr lIns="0" tIns="0" rIns="0" bIns="0" anchor="t"/>
          <a:lstStyle>
            <a:defPPr>
              <a:defRPr sz="900" b="0">
                <a:solidFill>
                  <a:srgbClr val="666666"/>
                </a:solidFill>
                <a:latin typeface="맑은 고딕"/>
                <a:ea typeface="맑은 고딕"/>
                <a:cs typeface="맑은 고딕"/>
              </a:defRPr>
            </a:defPPr>
            <a:lvl1pPr>
              <a:defRPr sz="900" b="0">
                <a:solidFill>
                  <a:srgbClr val="666666"/>
                </a:solidFill>
                <a:latin typeface="맑은 고딕"/>
                <a:ea typeface="맑은 고딕"/>
                <a:cs typeface="맑은 고딕"/>
              </a:defRPr>
            </a:lvl1pPr>
            <a:lvl2pPr>
              <a:defRPr sz="900" b="0">
                <a:solidFill>
                  <a:srgbClr val="666666"/>
                </a:solidFill>
                <a:latin typeface="맑은 고딕"/>
                <a:ea typeface="맑은 고딕"/>
                <a:cs typeface="맑은 고딕"/>
              </a:defRPr>
            </a:lvl2pPr>
            <a:lvl3pPr>
              <a:defRPr sz="900" b="0">
                <a:solidFill>
                  <a:srgbClr val="666666"/>
                </a:solidFill>
                <a:latin typeface="맑은 고딕"/>
                <a:ea typeface="맑은 고딕"/>
                <a:cs typeface="맑은 고딕"/>
              </a:defRPr>
            </a:lvl3pPr>
            <a:lvl4pPr>
              <a:defRPr sz="900" b="0">
                <a:solidFill>
                  <a:srgbClr val="666666"/>
                </a:solidFill>
                <a:latin typeface="맑은 고딕"/>
                <a:ea typeface="맑은 고딕"/>
                <a:cs typeface="맑은 고딕"/>
              </a:defRPr>
            </a:lvl4pPr>
            <a:lvl5pPr>
              <a:defRPr sz="900" b="0">
                <a:solidFill>
                  <a:srgbClr val="666666"/>
                </a:solidFill>
                <a:latin typeface="맑은 고딕"/>
                <a:ea typeface="맑은 고딕"/>
                <a:cs typeface="맑은 고딕"/>
              </a:defRPr>
            </a:lvl5pPr>
            <a:lvl6pPr>
              <a:defRPr sz="900" b="0">
                <a:solidFill>
                  <a:srgbClr val="666666"/>
                </a:solidFill>
                <a:latin typeface="맑은 고딕"/>
                <a:ea typeface="맑은 고딕"/>
                <a:cs typeface="맑은 고딕"/>
              </a:defRPr>
            </a:lvl6pPr>
            <a:lvl7pPr>
              <a:defRPr sz="900" b="0">
                <a:solidFill>
                  <a:srgbClr val="666666"/>
                </a:solidFill>
                <a:latin typeface="맑은 고딕"/>
                <a:ea typeface="맑은 고딕"/>
                <a:cs typeface="맑은 고딕"/>
              </a:defRPr>
            </a:lvl7pPr>
            <a:lvl8pPr>
              <a:defRPr sz="900" b="0">
                <a:solidFill>
                  <a:srgbClr val="666666"/>
                </a:solidFill>
                <a:latin typeface="맑은 고딕"/>
                <a:ea typeface="맑은 고딕"/>
                <a:cs typeface="맑은 고딕"/>
              </a:defRPr>
            </a:lvl8pPr>
            <a:lvl9pPr>
              <a:defRPr sz="900" b="0">
                <a:solidFill>
                  <a:srgbClr val="666666"/>
                </a:solidFill>
                <a:latin typeface="맑은 고딕"/>
                <a:ea typeface="맑은 고딕"/>
                <a:cs typeface="맑은 고딕"/>
              </a:defRPr>
            </a:lvl9pPr>
          </a:lstStyle>
          <a:p>
            <a:pPr>
              <a:defRPr sz="900" b="0">
                <a:solidFill>
                  <a:srgbClr val="666666"/>
                </a:solidFill>
                <a:latin typeface="맑은 고딕"/>
                <a:ea typeface="맑은 고딕"/>
                <a:cs typeface="맑은 고딕"/>
              </a:defRPr>
            </a:pPr>
            <a:r>
              <a:rPr sz="900" b="0">
                <a:solidFill>
                  <a:srgbClr val="666666"/>
                </a:solidFill>
                <a:latin typeface="맑은 고딕"/>
                <a:ea typeface="맑은 고딕"/>
                <a:cs typeface="맑은 고딕"/>
              </a:rPr>
              <a:t>근거  첨부 PDF 2종·엑셀, 보관 시행계획 원문 / 대학별 원문 경로·페이지는 슬라이드 노트와 근거 목록 참조</a:t>
            </a:r>
          </a:p>
        </p:txBody>
      </p:sp>
      <p:sp>
        <p:nvSpPr>
          <p:cNvPr id="6" name="직사각형 5">
            <a:extLst>
              <a:ext uri="{FF2B5EF4-FFF2-40B4-BE49-F238E27FC236}">
                <a16:creationId xmlns:a16="http://schemas.microsoft.com/office/drawing/2014/main" id="{7B92B283-D7F1-4ADF-8497-EA910FBC567D}"/>
              </a:ext>
            </a:extLst>
          </p:cNvPr>
          <p:cNvSpPr>
            <a:spLocks noGrp="1"/>
          </p:cNvSpPr>
          <p:nvPr/>
        </p:nvSpPr>
        <p:spPr>
          <a:xfrm>
            <a:off x="10715625" y="9572625"/>
            <a:ext cx="333375" cy="228600"/>
          </a:xfrm>
          <a:prstGeom prst="rect">
            <a:avLst/>
          </a:prstGeom>
          <a:noFill/>
          <a:ln w="0">
            <a:noFill/>
          </a:ln>
        </p:spPr>
        <p:txBody>
          <a:bodyPr lIns="0" tIns="0" rIns="0" bIns="0" anchor="t"/>
          <a:lstStyle>
            <a:defPPr>
              <a:defRPr sz="1050" b="0">
                <a:solidFill>
                  <a:srgbClr val="002060"/>
                </a:solidFill>
                <a:latin typeface="맑은 고딕"/>
                <a:ea typeface="맑은 고딕"/>
                <a:cs typeface="맑은 고딕"/>
              </a:defRPr>
            </a:defPPr>
            <a:lvl1pPr>
              <a:defRPr sz="1050" b="0">
                <a:solidFill>
                  <a:srgbClr val="002060"/>
                </a:solidFill>
                <a:latin typeface="맑은 고딕"/>
                <a:ea typeface="맑은 고딕"/>
                <a:cs typeface="맑은 고딕"/>
              </a:defRPr>
            </a:lvl1pPr>
            <a:lvl2pPr>
              <a:defRPr sz="1050" b="0">
                <a:solidFill>
                  <a:srgbClr val="002060"/>
                </a:solidFill>
                <a:latin typeface="맑은 고딕"/>
                <a:ea typeface="맑은 고딕"/>
                <a:cs typeface="맑은 고딕"/>
              </a:defRPr>
            </a:lvl2pPr>
            <a:lvl3pPr>
              <a:defRPr sz="1050" b="0">
                <a:solidFill>
                  <a:srgbClr val="002060"/>
                </a:solidFill>
                <a:latin typeface="맑은 고딕"/>
                <a:ea typeface="맑은 고딕"/>
                <a:cs typeface="맑은 고딕"/>
              </a:defRPr>
            </a:lvl3pPr>
            <a:lvl4pPr>
              <a:defRPr sz="1050" b="0">
                <a:solidFill>
                  <a:srgbClr val="002060"/>
                </a:solidFill>
                <a:latin typeface="맑은 고딕"/>
                <a:ea typeface="맑은 고딕"/>
                <a:cs typeface="맑은 고딕"/>
              </a:defRPr>
            </a:lvl4pPr>
            <a:lvl5pPr>
              <a:defRPr sz="1050" b="0">
                <a:solidFill>
                  <a:srgbClr val="002060"/>
                </a:solidFill>
                <a:latin typeface="맑은 고딕"/>
                <a:ea typeface="맑은 고딕"/>
                <a:cs typeface="맑은 고딕"/>
              </a:defRPr>
            </a:lvl5pPr>
            <a:lvl6pPr>
              <a:defRPr sz="1050" b="0">
                <a:solidFill>
                  <a:srgbClr val="002060"/>
                </a:solidFill>
                <a:latin typeface="맑은 고딕"/>
                <a:ea typeface="맑은 고딕"/>
                <a:cs typeface="맑은 고딕"/>
              </a:defRPr>
            </a:lvl6pPr>
            <a:lvl7pPr>
              <a:defRPr sz="1050" b="0">
                <a:solidFill>
                  <a:srgbClr val="002060"/>
                </a:solidFill>
                <a:latin typeface="맑은 고딕"/>
                <a:ea typeface="맑은 고딕"/>
                <a:cs typeface="맑은 고딕"/>
              </a:defRPr>
            </a:lvl7pPr>
            <a:lvl8pPr>
              <a:defRPr sz="1050" b="0">
                <a:solidFill>
                  <a:srgbClr val="002060"/>
                </a:solidFill>
                <a:latin typeface="맑은 고딕"/>
                <a:ea typeface="맑은 고딕"/>
                <a:cs typeface="맑은 고딕"/>
              </a:defRPr>
            </a:lvl8pPr>
            <a:lvl9pPr>
              <a:defRPr sz="1050" b="0">
                <a:solidFill>
                  <a:srgbClr val="002060"/>
                </a:solidFill>
                <a:latin typeface="맑은 고딕"/>
                <a:ea typeface="맑은 고딕"/>
                <a:cs typeface="맑은 고딕"/>
              </a:defRPr>
            </a:lvl9pPr>
          </a:lstStyle>
          <a:p>
            <a:pPr>
              <a:defRPr sz="1050" b="0">
                <a:solidFill>
                  <a:srgbClr val="002060"/>
                </a:solidFill>
                <a:latin typeface="맑은 고딕"/>
                <a:ea typeface="맑은 고딕"/>
                <a:cs typeface="맑은 고딕"/>
              </a:defRPr>
            </a:pPr>
            <a:r>
              <a:rPr sz="1050" b="0">
                <a:solidFill>
                  <a:srgbClr val="002060"/>
                </a:solidFill>
                <a:latin typeface="맑은 고딕"/>
                <a:ea typeface="맑은 고딕"/>
                <a:cs typeface="맑은 고딕"/>
              </a:rPr>
              <a:t>17</a:t>
            </a:r>
          </a:p>
        </p:txBody>
      </p:sp>
    </p:spTree>
    <p:extLst>
      <p:ext uri="{BB962C8B-B14F-4D97-AF65-F5344CB8AC3E}">
        <p14:creationId xmlns:p14="http://schemas.microsoft.com/office/powerpoint/2010/main" val="103462699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8650</Words>
  <Application>Microsoft Office PowerPoint</Application>
  <DocSecurity>0</DocSecurity>
  <PresentationFormat>사용자 지정</PresentationFormat>
  <Paragraphs>1283</Paragraphs>
  <Slides>17</Slides>
  <Notes>17</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17</vt:i4>
      </vt:variant>
    </vt:vector>
  </HeadingPairs>
  <TitlesOfParts>
    <vt:vector size="20" baseType="lpstr">
      <vt:lpstr>맑은 고딕</vt:lpstr>
      <vt:lpstr>Aptos</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user</cp:lastModifiedBy>
  <cp:revision>1</cp:revision>
  <dcterms:created xsi:type="dcterms:W3CDTF">2026-10-19T01:58:01Z</dcterms:created>
  <dcterms:modified xsi:type="dcterms:W3CDTF">2026-10-19T02:11:09Z</dcterms:modified>
</cp:coreProperties>
</file>