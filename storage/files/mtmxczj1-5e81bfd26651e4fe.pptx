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7" r:id="rId2"/>
  </p:sldIdLst>
  <p:sldSz cx="8591550" cy="7578725"/>
  <p:notesSz cx="6858000" cy="9144000"/>
  <p:embeddedFontLst>
    <p:embeddedFont>
      <p:font typeface="나눔스퀘어_ac" panose="020B0600000101010101" pitchFamily="50" charset="-127"/>
      <p:regular r:id="rId3"/>
    </p:embeddedFont>
    <p:embeddedFont>
      <p:font typeface="나눔스퀘어_ac Bold" panose="020B0600000101010101" pitchFamily="50" charset="-127"/>
      <p:bold r:id="rId4"/>
    </p:embeddedFont>
    <p:embeddedFont>
      <p:font typeface="나눔스퀘어_ac ExtraBold" panose="020B0600000101010101" pitchFamily="50" charset="-127"/>
      <p:bold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27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268" y="84"/>
      </p:cViewPr>
      <p:guideLst>
        <p:guide orient="horz" pos="2387"/>
        <p:guide pos="27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366" y="1240315"/>
            <a:ext cx="7302818" cy="2638519"/>
          </a:xfrm>
        </p:spPr>
        <p:txBody>
          <a:bodyPr anchor="b"/>
          <a:lstStyle>
            <a:lvl1pPr algn="ctr">
              <a:defRPr sz="56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3944" y="3980586"/>
            <a:ext cx="6443663" cy="1829770"/>
          </a:xfrm>
        </p:spPr>
        <p:txBody>
          <a:bodyPr/>
          <a:lstStyle>
            <a:lvl1pPr marL="0" indent="0" algn="ctr">
              <a:buNone/>
              <a:defRPr sz="2255"/>
            </a:lvl1pPr>
            <a:lvl2pPr marL="429585" indent="0" algn="ctr">
              <a:buNone/>
              <a:defRPr sz="1879"/>
            </a:lvl2pPr>
            <a:lvl3pPr marL="859170" indent="0" algn="ctr">
              <a:buNone/>
              <a:defRPr sz="1691"/>
            </a:lvl3pPr>
            <a:lvl4pPr marL="1288755" indent="0" algn="ctr">
              <a:buNone/>
              <a:defRPr sz="1503"/>
            </a:lvl4pPr>
            <a:lvl5pPr marL="1718340" indent="0" algn="ctr">
              <a:buNone/>
              <a:defRPr sz="1503"/>
            </a:lvl5pPr>
            <a:lvl6pPr marL="2147926" indent="0" algn="ctr">
              <a:buNone/>
              <a:defRPr sz="1503"/>
            </a:lvl6pPr>
            <a:lvl7pPr marL="2577511" indent="0" algn="ctr">
              <a:buNone/>
              <a:defRPr sz="1503"/>
            </a:lvl7pPr>
            <a:lvl8pPr marL="3007096" indent="0" algn="ctr">
              <a:buNone/>
              <a:defRPr sz="1503"/>
            </a:lvl8pPr>
            <a:lvl9pPr marL="3436681" indent="0" algn="ctr">
              <a:buNone/>
              <a:defRPr sz="150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37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601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195" y="1889420"/>
            <a:ext cx="7410212" cy="3152539"/>
          </a:xfrm>
        </p:spPr>
        <p:txBody>
          <a:bodyPr anchor="b"/>
          <a:lstStyle>
            <a:lvl1pPr>
              <a:defRPr sz="56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195" y="5071783"/>
            <a:ext cx="7410212" cy="1657846"/>
          </a:xfrm>
        </p:spPr>
        <p:txBody>
          <a:bodyPr/>
          <a:lstStyle>
            <a:lvl1pPr marL="0" indent="0">
              <a:buNone/>
              <a:defRPr sz="2255">
                <a:solidFill>
                  <a:schemeClr val="tx1">
                    <a:tint val="82000"/>
                  </a:schemeClr>
                </a:solidFill>
              </a:defRPr>
            </a:lvl1pPr>
            <a:lvl2pPr marL="429585" indent="0">
              <a:buNone/>
              <a:defRPr sz="1879">
                <a:solidFill>
                  <a:schemeClr val="tx1">
                    <a:tint val="82000"/>
                  </a:schemeClr>
                </a:solidFill>
              </a:defRPr>
            </a:lvl2pPr>
            <a:lvl3pPr marL="859170" indent="0">
              <a:buNone/>
              <a:defRPr sz="1691">
                <a:solidFill>
                  <a:schemeClr val="tx1">
                    <a:tint val="82000"/>
                  </a:schemeClr>
                </a:solidFill>
              </a:defRPr>
            </a:lvl3pPr>
            <a:lvl4pPr marL="1288755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4pPr>
            <a:lvl5pPr marL="1718340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5pPr>
            <a:lvl6pPr marL="2147926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6pPr>
            <a:lvl7pPr marL="2577511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7pPr>
            <a:lvl8pPr marL="3007096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8pPr>
            <a:lvl9pPr marL="3436681" indent="0">
              <a:buNone/>
              <a:defRPr sz="15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34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0669" y="2017485"/>
            <a:ext cx="3651409" cy="480863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9472" y="2017485"/>
            <a:ext cx="3651409" cy="480863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811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788" y="403499"/>
            <a:ext cx="7410212" cy="146487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89" y="1857841"/>
            <a:ext cx="3634628" cy="910499"/>
          </a:xfrm>
        </p:spPr>
        <p:txBody>
          <a:bodyPr anchor="b"/>
          <a:lstStyle>
            <a:lvl1pPr marL="0" indent="0">
              <a:buNone/>
              <a:defRPr sz="2255" b="1"/>
            </a:lvl1pPr>
            <a:lvl2pPr marL="429585" indent="0">
              <a:buNone/>
              <a:defRPr sz="1879" b="1"/>
            </a:lvl2pPr>
            <a:lvl3pPr marL="859170" indent="0">
              <a:buNone/>
              <a:defRPr sz="1691" b="1"/>
            </a:lvl3pPr>
            <a:lvl4pPr marL="1288755" indent="0">
              <a:buNone/>
              <a:defRPr sz="1503" b="1"/>
            </a:lvl4pPr>
            <a:lvl5pPr marL="1718340" indent="0">
              <a:buNone/>
              <a:defRPr sz="1503" b="1"/>
            </a:lvl5pPr>
            <a:lvl6pPr marL="2147926" indent="0">
              <a:buNone/>
              <a:defRPr sz="1503" b="1"/>
            </a:lvl6pPr>
            <a:lvl7pPr marL="2577511" indent="0">
              <a:buNone/>
              <a:defRPr sz="1503" b="1"/>
            </a:lvl7pPr>
            <a:lvl8pPr marL="3007096" indent="0">
              <a:buNone/>
              <a:defRPr sz="1503" b="1"/>
            </a:lvl8pPr>
            <a:lvl9pPr marL="3436681" indent="0">
              <a:buNone/>
              <a:defRPr sz="150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1789" y="2768340"/>
            <a:ext cx="3634628" cy="407181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49473" y="1857841"/>
            <a:ext cx="3652528" cy="910499"/>
          </a:xfrm>
        </p:spPr>
        <p:txBody>
          <a:bodyPr anchor="b"/>
          <a:lstStyle>
            <a:lvl1pPr marL="0" indent="0">
              <a:buNone/>
              <a:defRPr sz="2255" b="1"/>
            </a:lvl1pPr>
            <a:lvl2pPr marL="429585" indent="0">
              <a:buNone/>
              <a:defRPr sz="1879" b="1"/>
            </a:lvl2pPr>
            <a:lvl3pPr marL="859170" indent="0">
              <a:buNone/>
              <a:defRPr sz="1691" b="1"/>
            </a:lvl3pPr>
            <a:lvl4pPr marL="1288755" indent="0">
              <a:buNone/>
              <a:defRPr sz="1503" b="1"/>
            </a:lvl4pPr>
            <a:lvl5pPr marL="1718340" indent="0">
              <a:buNone/>
              <a:defRPr sz="1503" b="1"/>
            </a:lvl5pPr>
            <a:lvl6pPr marL="2147926" indent="0">
              <a:buNone/>
              <a:defRPr sz="1503" b="1"/>
            </a:lvl6pPr>
            <a:lvl7pPr marL="2577511" indent="0">
              <a:buNone/>
              <a:defRPr sz="1503" b="1"/>
            </a:lvl7pPr>
            <a:lvl8pPr marL="3007096" indent="0">
              <a:buNone/>
              <a:defRPr sz="1503" b="1"/>
            </a:lvl8pPr>
            <a:lvl9pPr marL="3436681" indent="0">
              <a:buNone/>
              <a:defRPr sz="150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49473" y="2768340"/>
            <a:ext cx="3652528" cy="407181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78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8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71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788" y="505248"/>
            <a:ext cx="2770998" cy="1768369"/>
          </a:xfrm>
        </p:spPr>
        <p:txBody>
          <a:bodyPr anchor="b"/>
          <a:lstStyle>
            <a:lvl1pPr>
              <a:defRPr sz="300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2528" y="1091198"/>
            <a:ext cx="4349472" cy="5385807"/>
          </a:xfrm>
        </p:spPr>
        <p:txBody>
          <a:bodyPr/>
          <a:lstStyle>
            <a:lvl1pPr>
              <a:defRPr sz="3007"/>
            </a:lvl1pPr>
            <a:lvl2pPr>
              <a:defRPr sz="2631"/>
            </a:lvl2pPr>
            <a:lvl3pPr>
              <a:defRPr sz="2255"/>
            </a:lvl3pPr>
            <a:lvl4pPr>
              <a:defRPr sz="1879"/>
            </a:lvl4pPr>
            <a:lvl5pPr>
              <a:defRPr sz="1879"/>
            </a:lvl5pPr>
            <a:lvl6pPr>
              <a:defRPr sz="1879"/>
            </a:lvl6pPr>
            <a:lvl7pPr>
              <a:defRPr sz="1879"/>
            </a:lvl7pPr>
            <a:lvl8pPr>
              <a:defRPr sz="1879"/>
            </a:lvl8pPr>
            <a:lvl9pPr>
              <a:defRPr sz="187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788" y="2273617"/>
            <a:ext cx="2770998" cy="4212158"/>
          </a:xfrm>
        </p:spPr>
        <p:txBody>
          <a:bodyPr/>
          <a:lstStyle>
            <a:lvl1pPr marL="0" indent="0">
              <a:buNone/>
              <a:defRPr sz="1503"/>
            </a:lvl1pPr>
            <a:lvl2pPr marL="429585" indent="0">
              <a:buNone/>
              <a:defRPr sz="1315"/>
            </a:lvl2pPr>
            <a:lvl3pPr marL="859170" indent="0">
              <a:buNone/>
              <a:defRPr sz="1128"/>
            </a:lvl3pPr>
            <a:lvl4pPr marL="1288755" indent="0">
              <a:buNone/>
              <a:defRPr sz="940"/>
            </a:lvl4pPr>
            <a:lvl5pPr marL="1718340" indent="0">
              <a:buNone/>
              <a:defRPr sz="940"/>
            </a:lvl5pPr>
            <a:lvl6pPr marL="2147926" indent="0">
              <a:buNone/>
              <a:defRPr sz="940"/>
            </a:lvl6pPr>
            <a:lvl7pPr marL="2577511" indent="0">
              <a:buNone/>
              <a:defRPr sz="940"/>
            </a:lvl7pPr>
            <a:lvl8pPr marL="3007096" indent="0">
              <a:buNone/>
              <a:defRPr sz="940"/>
            </a:lvl8pPr>
            <a:lvl9pPr marL="3436681" indent="0">
              <a:buNone/>
              <a:defRPr sz="94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10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788" y="505248"/>
            <a:ext cx="2770998" cy="1768369"/>
          </a:xfrm>
        </p:spPr>
        <p:txBody>
          <a:bodyPr anchor="b"/>
          <a:lstStyle>
            <a:lvl1pPr>
              <a:defRPr sz="300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2528" y="1091198"/>
            <a:ext cx="4349472" cy="5385807"/>
          </a:xfrm>
        </p:spPr>
        <p:txBody>
          <a:bodyPr anchor="t"/>
          <a:lstStyle>
            <a:lvl1pPr marL="0" indent="0">
              <a:buNone/>
              <a:defRPr sz="3007"/>
            </a:lvl1pPr>
            <a:lvl2pPr marL="429585" indent="0">
              <a:buNone/>
              <a:defRPr sz="2631"/>
            </a:lvl2pPr>
            <a:lvl3pPr marL="859170" indent="0">
              <a:buNone/>
              <a:defRPr sz="2255"/>
            </a:lvl3pPr>
            <a:lvl4pPr marL="1288755" indent="0">
              <a:buNone/>
              <a:defRPr sz="1879"/>
            </a:lvl4pPr>
            <a:lvl5pPr marL="1718340" indent="0">
              <a:buNone/>
              <a:defRPr sz="1879"/>
            </a:lvl5pPr>
            <a:lvl6pPr marL="2147926" indent="0">
              <a:buNone/>
              <a:defRPr sz="1879"/>
            </a:lvl6pPr>
            <a:lvl7pPr marL="2577511" indent="0">
              <a:buNone/>
              <a:defRPr sz="1879"/>
            </a:lvl7pPr>
            <a:lvl8pPr marL="3007096" indent="0">
              <a:buNone/>
              <a:defRPr sz="1879"/>
            </a:lvl8pPr>
            <a:lvl9pPr marL="3436681" indent="0">
              <a:buNone/>
              <a:defRPr sz="187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788" y="2273617"/>
            <a:ext cx="2770998" cy="4212158"/>
          </a:xfrm>
        </p:spPr>
        <p:txBody>
          <a:bodyPr/>
          <a:lstStyle>
            <a:lvl1pPr marL="0" indent="0">
              <a:buNone/>
              <a:defRPr sz="1503"/>
            </a:lvl1pPr>
            <a:lvl2pPr marL="429585" indent="0">
              <a:buNone/>
              <a:defRPr sz="1315"/>
            </a:lvl2pPr>
            <a:lvl3pPr marL="859170" indent="0">
              <a:buNone/>
              <a:defRPr sz="1128"/>
            </a:lvl3pPr>
            <a:lvl4pPr marL="1288755" indent="0">
              <a:buNone/>
              <a:defRPr sz="940"/>
            </a:lvl4pPr>
            <a:lvl5pPr marL="1718340" indent="0">
              <a:buNone/>
              <a:defRPr sz="940"/>
            </a:lvl5pPr>
            <a:lvl6pPr marL="2147926" indent="0">
              <a:buNone/>
              <a:defRPr sz="940"/>
            </a:lvl6pPr>
            <a:lvl7pPr marL="2577511" indent="0">
              <a:buNone/>
              <a:defRPr sz="940"/>
            </a:lvl7pPr>
            <a:lvl8pPr marL="3007096" indent="0">
              <a:buNone/>
              <a:defRPr sz="940"/>
            </a:lvl8pPr>
            <a:lvl9pPr marL="3436681" indent="0">
              <a:buNone/>
              <a:defRPr sz="94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144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33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8328" y="403497"/>
            <a:ext cx="1852553" cy="642261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0669" y="403497"/>
            <a:ext cx="5450265" cy="642261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17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0669" y="403499"/>
            <a:ext cx="7410212" cy="1464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0669" y="2017485"/>
            <a:ext cx="7410212" cy="480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0669" y="7024357"/>
            <a:ext cx="1933099" cy="403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D0D4D-536F-4633-B4A0-C46BBA9F728B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951" y="7024357"/>
            <a:ext cx="2899648" cy="403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67782" y="7024357"/>
            <a:ext cx="1933099" cy="403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45827-EA7D-49DC-963B-86EC6034F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79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59170" rtl="0" eaLnBrk="1" latinLnBrk="1" hangingPunct="1">
        <a:lnSpc>
          <a:spcPct val="90000"/>
        </a:lnSpc>
        <a:spcBef>
          <a:spcPct val="0"/>
        </a:spcBef>
        <a:buNone/>
        <a:defRPr sz="41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793" indent="-214793" algn="l" defTabSz="859170" rtl="0" eaLnBrk="1" latinLnBrk="1" hangingPunct="1">
        <a:lnSpc>
          <a:spcPct val="90000"/>
        </a:lnSpc>
        <a:spcBef>
          <a:spcPts val="940"/>
        </a:spcBef>
        <a:buFont typeface="Arial" panose="020B0604020202020204" pitchFamily="34" charset="0"/>
        <a:buChar char="•"/>
        <a:defRPr sz="2631" kern="1200">
          <a:solidFill>
            <a:schemeClr val="tx1"/>
          </a:solidFill>
          <a:latin typeface="+mn-lt"/>
          <a:ea typeface="+mn-ea"/>
          <a:cs typeface="+mn-cs"/>
        </a:defRPr>
      </a:lvl1pPr>
      <a:lvl2pPr marL="644378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5" kern="1200">
          <a:solidFill>
            <a:schemeClr val="tx1"/>
          </a:solidFill>
          <a:latin typeface="+mn-lt"/>
          <a:ea typeface="+mn-ea"/>
          <a:cs typeface="+mn-cs"/>
        </a:defRPr>
      </a:lvl2pPr>
      <a:lvl3pPr marL="1073963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79" kern="1200">
          <a:solidFill>
            <a:schemeClr val="tx1"/>
          </a:solidFill>
          <a:latin typeface="+mn-lt"/>
          <a:ea typeface="+mn-ea"/>
          <a:cs typeface="+mn-cs"/>
        </a:defRPr>
      </a:lvl3pPr>
      <a:lvl4pPr marL="1503548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933133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362718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792303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221888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651474" indent="-214793" algn="l" defTabSz="859170" rtl="0" eaLnBrk="1" latinLnBrk="1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1pPr>
      <a:lvl2pPr marL="429585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2pPr>
      <a:lvl3pPr marL="859170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3pPr>
      <a:lvl4pPr marL="1288755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4pPr>
      <a:lvl5pPr marL="1718340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5pPr>
      <a:lvl6pPr marL="2147926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6pPr>
      <a:lvl7pPr marL="2577511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7pPr>
      <a:lvl8pPr marL="3007096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8pPr>
      <a:lvl9pPr marL="3436681" algn="l" defTabSz="859170" rtl="0" eaLnBrk="1" latinLnBrk="1" hangingPunct="1">
        <a:defRPr sz="16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D67132DA-82F0-E273-F64E-6E792F38ED0C}"/>
              </a:ext>
            </a:extLst>
          </p:cNvPr>
          <p:cNvSpPr/>
          <p:nvPr/>
        </p:nvSpPr>
        <p:spPr>
          <a:xfrm>
            <a:off x="-1" y="1"/>
            <a:ext cx="1748901" cy="7845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10" latinLnBrk="1">
              <a:defRPr/>
            </a:pPr>
            <a:endParaRPr lang="ko-KR" altLang="en-US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0" name="화살표: 갈매기형 수장 19">
            <a:extLst>
              <a:ext uri="{FF2B5EF4-FFF2-40B4-BE49-F238E27FC236}">
                <a16:creationId xmlns:a16="http://schemas.microsoft.com/office/drawing/2014/main" id="{4D1E6409-8903-AD96-F3F7-C4C39877DD25}"/>
              </a:ext>
            </a:extLst>
          </p:cNvPr>
          <p:cNvSpPr/>
          <p:nvPr/>
        </p:nvSpPr>
        <p:spPr>
          <a:xfrm rot="10800000">
            <a:off x="119603" y="-2"/>
            <a:ext cx="794797" cy="784592"/>
          </a:xfrm>
          <a:prstGeom prst="chevron">
            <a:avLst>
              <a:gd name="adj" fmla="val 558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10" latinLnBrk="1">
              <a:defRPr/>
            </a:pPr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30786524-BF11-5DFD-ABEF-C63E3712749E}"/>
              </a:ext>
            </a:extLst>
          </p:cNvPr>
          <p:cNvSpPr/>
          <p:nvPr/>
        </p:nvSpPr>
        <p:spPr>
          <a:xfrm rot="10800000">
            <a:off x="770636" y="-1395"/>
            <a:ext cx="7820913" cy="784594"/>
          </a:xfrm>
          <a:prstGeom prst="homePlate">
            <a:avLst>
              <a:gd name="adj" fmla="val 567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10" latinLnBrk="1">
              <a:defRPr/>
            </a:pPr>
            <a:endParaRPr lang="ko-KR" altLang="en-US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00A6D85-9D1A-45DF-38BF-00082F935210}"/>
              </a:ext>
            </a:extLst>
          </p:cNvPr>
          <p:cNvCxnSpPr>
            <a:cxnSpLocks/>
          </p:cNvCxnSpPr>
          <p:nvPr/>
        </p:nvCxnSpPr>
        <p:spPr>
          <a:xfrm>
            <a:off x="314927" y="766444"/>
            <a:ext cx="8157033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E6D6FD-8CE7-16CC-01C9-EEFC1DD7ACFB}"/>
              </a:ext>
            </a:extLst>
          </p:cNvPr>
          <p:cNvSpPr/>
          <p:nvPr/>
        </p:nvSpPr>
        <p:spPr>
          <a:xfrm>
            <a:off x="1685037" y="160070"/>
            <a:ext cx="5777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10" latinLnBrk="1">
              <a:defRPr/>
            </a:pPr>
            <a:r>
              <a:rPr lang="en-US" altLang="ko-KR" sz="2400" dirty="0">
                <a:solidFill>
                  <a:prstClr val="black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1.  2028 </a:t>
            </a:r>
            <a:r>
              <a:rPr lang="ko-KR" altLang="en-US" sz="2400" dirty="0">
                <a:solidFill>
                  <a:prstClr val="black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정시 학생부 반영</a:t>
            </a:r>
            <a:r>
              <a:rPr lang="en-US" altLang="ko-KR" sz="2400" dirty="0">
                <a:solidFill>
                  <a:prstClr val="black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sz="2400" dirty="0">
                <a:solidFill>
                  <a:prstClr val="black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대학마다 다르다</a:t>
            </a:r>
            <a:r>
              <a:rPr lang="en-US" altLang="ko-KR" sz="2400" dirty="0">
                <a:solidFill>
                  <a:prstClr val="black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  <a:endParaRPr lang="ko-KR" altLang="en-US" sz="2400" dirty="0">
              <a:solidFill>
                <a:prstClr val="black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708367-B48A-448B-C446-D23CD4C0E081}"/>
              </a:ext>
            </a:extLst>
          </p:cNvPr>
          <p:cNvSpPr txBox="1"/>
          <p:nvPr/>
        </p:nvSpPr>
        <p:spPr>
          <a:xfrm>
            <a:off x="1354626" y="6526627"/>
            <a:ext cx="6911550" cy="830997"/>
          </a:xfrm>
          <a:prstGeom prst="rect">
            <a:avLst/>
          </a:prstGeom>
          <a:solidFill>
            <a:srgbClr val="304E1A"/>
          </a:solidFill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▶️ 교과 </a:t>
            </a:r>
            <a:r>
              <a:rPr lang="ko-KR" altLang="en-US" sz="1600" b="1" dirty="0" err="1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정량ㆍ출결ㆍ서류</a:t>
            </a:r>
            <a:r>
              <a:rPr lang="ko-KR" altLang="en-US" sz="1600" b="1" dirty="0">
                <a:solidFill>
                  <a:schemeClr val="bg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정성</a:t>
            </a:r>
            <a:endParaRPr lang="ko-KR" altLang="ko-KR" sz="16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같은 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학생부 반영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＇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이라도 변별 지점이 다르다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건국대는 다군 자유전공만 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10%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이고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가ㆍ나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학과ㆍ학부는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수능 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100%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를 유지한다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  <a:endParaRPr lang="ko-KR" altLang="ko-KR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6DAC602-0586-5BF8-5A3A-0E2B5B6CA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9" y="6527893"/>
            <a:ext cx="799586" cy="799586"/>
          </a:xfrm>
          <a:prstGeom prst="rect">
            <a:avLst/>
          </a:prstGeom>
        </p:spPr>
      </p:pic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816E2AA2-47FA-381E-3546-F919BA6E6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57400"/>
              </p:ext>
            </p:extLst>
          </p:nvPr>
        </p:nvGraphicFramePr>
        <p:xfrm>
          <a:off x="310896" y="950976"/>
          <a:ext cx="7955280" cy="546423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대학</a:t>
                      </a:r>
                      <a:endParaRPr 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2028 방식</a:t>
                      </a:r>
                      <a:endParaRPr 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적용 범위</a:t>
                      </a:r>
                      <a:endParaRPr lang="en-US" sz="18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서울시립대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 80 + 교과 18 + 출결 2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인문 · 자연 일반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숙명여대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 80 + 서류(교과 위주) 20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가군 인문 · 자연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홍익대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 90 + 교과 10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다군 수능우수 인문/자연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서강대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 80 + 교과 10 + 출결 10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지균 나군 90명 신설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연세대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 900 + 서류 100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정량 50점 폐지 → 종합 100점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중앙대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수능89  89+출결11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수능67  67+서류33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서울 · 다빈치 공통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명지 · 단국 · 한경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 90 + 출결/정성 10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일반 트랙 전환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경희대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 90 + 교과·출결·봉사 10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수능·학생부형만 / 수능형은 100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이화여대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 85 + 서류 15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수능-학생부 358명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4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건국대</a:t>
                      </a:r>
                      <a:endParaRPr lang="en-US" sz="16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6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수능 90 + 교과 정성 10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맑은 고딕" pitchFamily="34" charset="-120"/>
                        </a:rPr>
                        <a:t>다군 자유전공만 · 학과는 100</a:t>
                      </a:r>
                      <a:endParaRPr lang="en-US" sz="1400" dirty="0"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맑은 고딕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64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181</Words>
  <Application>Microsoft Office PowerPoint</Application>
  <PresentationFormat>사용자 지정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맑은 고딕</vt:lpstr>
      <vt:lpstr>나눔스퀘어_ac Bold</vt:lpstr>
      <vt:lpstr>Aptos Display</vt:lpstr>
      <vt:lpstr>나눔스퀘어_ac</vt:lpstr>
      <vt:lpstr>Arial</vt:lpstr>
      <vt:lpstr>나눔스퀘어_ac ExtraBold</vt:lpstr>
      <vt:lpstr>Aptos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박진</dc:creator>
  <cp:lastModifiedBy>user</cp:lastModifiedBy>
  <cp:revision>2</cp:revision>
  <dcterms:created xsi:type="dcterms:W3CDTF">2026-08-26T15:37:56Z</dcterms:created>
  <dcterms:modified xsi:type="dcterms:W3CDTF">2026-09-04T10:33:08Z</dcterms:modified>
</cp:coreProperties>
</file>