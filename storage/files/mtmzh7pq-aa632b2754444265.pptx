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1"/>
  </p:sldMasterIdLst>
  <p:sldIdLst>
    <p:sldId id="256" r:id="rId2"/>
  </p:sldIdLst>
  <p:sldSz cx="8591550" cy="6858000"/>
  <p:notesSz cx="6858000" cy="9144000"/>
  <p:embeddedFontLst>
    <p:embeddedFont>
      <p:font typeface="나눔스퀘어_ac" panose="020B0600000101010101" pitchFamily="50" charset="-127"/>
      <p:regular r:id="rId3"/>
    </p:embeddedFont>
    <p:embeddedFont>
      <p:font typeface="나눔스퀘어_ac Bold" panose="020B0600000101010101" pitchFamily="50" charset="-127"/>
      <p:bold r:id="rId4"/>
    </p:embeddedFont>
    <p:embeddedFont>
      <p:font typeface="나눔스퀘어_ac ExtraBold" panose="020B0600000101010101" pitchFamily="50" charset="-127"/>
      <p:bold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49" d="100"/>
          <a:sy n="149" d="100"/>
        </p:scale>
        <p:origin x="2376" y="92"/>
      </p:cViewPr>
      <p:guideLst>
        <p:guide orient="horz" pos="2160"/>
        <p:guide pos="27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366" y="1122363"/>
            <a:ext cx="7302818" cy="2387600"/>
          </a:xfrm>
        </p:spPr>
        <p:txBody>
          <a:bodyPr anchor="b"/>
          <a:lstStyle>
            <a:lvl1pPr algn="ctr">
              <a:defRPr sz="56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3944" y="3602038"/>
            <a:ext cx="6443663" cy="1655762"/>
          </a:xfrm>
        </p:spPr>
        <p:txBody>
          <a:bodyPr/>
          <a:lstStyle>
            <a:lvl1pPr marL="0" indent="0" algn="ctr">
              <a:buNone/>
              <a:defRPr sz="2255"/>
            </a:lvl1pPr>
            <a:lvl2pPr marL="429585" indent="0" algn="ctr">
              <a:buNone/>
              <a:defRPr sz="1879"/>
            </a:lvl2pPr>
            <a:lvl3pPr marL="859170" indent="0" algn="ctr">
              <a:buNone/>
              <a:defRPr sz="1691"/>
            </a:lvl3pPr>
            <a:lvl4pPr marL="1288755" indent="0" algn="ctr">
              <a:buNone/>
              <a:defRPr sz="1503"/>
            </a:lvl4pPr>
            <a:lvl5pPr marL="1718340" indent="0" algn="ctr">
              <a:buNone/>
              <a:defRPr sz="1503"/>
            </a:lvl5pPr>
            <a:lvl6pPr marL="2147926" indent="0" algn="ctr">
              <a:buNone/>
              <a:defRPr sz="1503"/>
            </a:lvl6pPr>
            <a:lvl7pPr marL="2577511" indent="0" algn="ctr">
              <a:buNone/>
              <a:defRPr sz="1503"/>
            </a:lvl7pPr>
            <a:lvl8pPr marL="3007096" indent="0" algn="ctr">
              <a:buNone/>
              <a:defRPr sz="1503"/>
            </a:lvl8pPr>
            <a:lvl9pPr marL="3436681" indent="0" algn="ctr">
              <a:buNone/>
              <a:defRPr sz="150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812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9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195" y="1709740"/>
            <a:ext cx="7410212" cy="2852737"/>
          </a:xfrm>
        </p:spPr>
        <p:txBody>
          <a:bodyPr anchor="b"/>
          <a:lstStyle>
            <a:lvl1pPr>
              <a:defRPr sz="56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195" y="4589465"/>
            <a:ext cx="7410212" cy="1500187"/>
          </a:xfrm>
        </p:spPr>
        <p:txBody>
          <a:bodyPr/>
          <a:lstStyle>
            <a:lvl1pPr marL="0" indent="0">
              <a:buNone/>
              <a:defRPr sz="2255">
                <a:solidFill>
                  <a:schemeClr val="tx1">
                    <a:tint val="82000"/>
                  </a:schemeClr>
                </a:solidFill>
              </a:defRPr>
            </a:lvl1pPr>
            <a:lvl2pPr marL="429585" indent="0">
              <a:buNone/>
              <a:defRPr sz="1879">
                <a:solidFill>
                  <a:schemeClr val="tx1">
                    <a:tint val="82000"/>
                  </a:schemeClr>
                </a:solidFill>
              </a:defRPr>
            </a:lvl2pPr>
            <a:lvl3pPr marL="859170" indent="0">
              <a:buNone/>
              <a:defRPr sz="1691">
                <a:solidFill>
                  <a:schemeClr val="tx1">
                    <a:tint val="82000"/>
                  </a:schemeClr>
                </a:solidFill>
              </a:defRPr>
            </a:lvl3pPr>
            <a:lvl4pPr marL="1288755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4pPr>
            <a:lvl5pPr marL="1718340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5pPr>
            <a:lvl6pPr marL="2147926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6pPr>
            <a:lvl7pPr marL="2577511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7pPr>
            <a:lvl8pPr marL="3007096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8pPr>
            <a:lvl9pPr marL="3436681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71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669" y="1825625"/>
            <a:ext cx="3651409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9472" y="1825625"/>
            <a:ext cx="3651409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54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365127"/>
            <a:ext cx="741021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89" y="1681163"/>
            <a:ext cx="3634628" cy="823912"/>
          </a:xfrm>
        </p:spPr>
        <p:txBody>
          <a:bodyPr anchor="b"/>
          <a:lstStyle>
            <a:lvl1pPr marL="0" indent="0">
              <a:buNone/>
              <a:defRPr sz="2255" b="1"/>
            </a:lvl1pPr>
            <a:lvl2pPr marL="429585" indent="0">
              <a:buNone/>
              <a:defRPr sz="1879" b="1"/>
            </a:lvl2pPr>
            <a:lvl3pPr marL="859170" indent="0">
              <a:buNone/>
              <a:defRPr sz="1691" b="1"/>
            </a:lvl3pPr>
            <a:lvl4pPr marL="1288755" indent="0">
              <a:buNone/>
              <a:defRPr sz="1503" b="1"/>
            </a:lvl4pPr>
            <a:lvl5pPr marL="1718340" indent="0">
              <a:buNone/>
              <a:defRPr sz="1503" b="1"/>
            </a:lvl5pPr>
            <a:lvl6pPr marL="2147926" indent="0">
              <a:buNone/>
              <a:defRPr sz="1503" b="1"/>
            </a:lvl6pPr>
            <a:lvl7pPr marL="2577511" indent="0">
              <a:buNone/>
              <a:defRPr sz="1503" b="1"/>
            </a:lvl7pPr>
            <a:lvl8pPr marL="3007096" indent="0">
              <a:buNone/>
              <a:defRPr sz="1503" b="1"/>
            </a:lvl8pPr>
            <a:lvl9pPr marL="3436681" indent="0">
              <a:buNone/>
              <a:defRPr sz="150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789" y="2505075"/>
            <a:ext cx="363462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49473" y="1681163"/>
            <a:ext cx="3652528" cy="823912"/>
          </a:xfrm>
        </p:spPr>
        <p:txBody>
          <a:bodyPr anchor="b"/>
          <a:lstStyle>
            <a:lvl1pPr marL="0" indent="0">
              <a:buNone/>
              <a:defRPr sz="2255" b="1"/>
            </a:lvl1pPr>
            <a:lvl2pPr marL="429585" indent="0">
              <a:buNone/>
              <a:defRPr sz="1879" b="1"/>
            </a:lvl2pPr>
            <a:lvl3pPr marL="859170" indent="0">
              <a:buNone/>
              <a:defRPr sz="1691" b="1"/>
            </a:lvl3pPr>
            <a:lvl4pPr marL="1288755" indent="0">
              <a:buNone/>
              <a:defRPr sz="1503" b="1"/>
            </a:lvl4pPr>
            <a:lvl5pPr marL="1718340" indent="0">
              <a:buNone/>
              <a:defRPr sz="1503" b="1"/>
            </a:lvl5pPr>
            <a:lvl6pPr marL="2147926" indent="0">
              <a:buNone/>
              <a:defRPr sz="1503" b="1"/>
            </a:lvl6pPr>
            <a:lvl7pPr marL="2577511" indent="0">
              <a:buNone/>
              <a:defRPr sz="1503" b="1"/>
            </a:lvl7pPr>
            <a:lvl8pPr marL="3007096" indent="0">
              <a:buNone/>
              <a:defRPr sz="1503" b="1"/>
            </a:lvl8pPr>
            <a:lvl9pPr marL="3436681" indent="0">
              <a:buNone/>
              <a:defRPr sz="150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49473" y="2505075"/>
            <a:ext cx="365252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45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18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18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457200"/>
            <a:ext cx="2770998" cy="1600200"/>
          </a:xfrm>
        </p:spPr>
        <p:txBody>
          <a:bodyPr anchor="b"/>
          <a:lstStyle>
            <a:lvl1pPr>
              <a:defRPr sz="30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2528" y="987427"/>
            <a:ext cx="4349472" cy="4873625"/>
          </a:xfrm>
        </p:spPr>
        <p:txBody>
          <a:bodyPr/>
          <a:lstStyle>
            <a:lvl1pPr>
              <a:defRPr sz="3007"/>
            </a:lvl1pPr>
            <a:lvl2pPr>
              <a:defRPr sz="2631"/>
            </a:lvl2pPr>
            <a:lvl3pPr>
              <a:defRPr sz="2255"/>
            </a:lvl3pPr>
            <a:lvl4pPr>
              <a:defRPr sz="1879"/>
            </a:lvl4pPr>
            <a:lvl5pPr>
              <a:defRPr sz="1879"/>
            </a:lvl5pPr>
            <a:lvl6pPr>
              <a:defRPr sz="1879"/>
            </a:lvl6pPr>
            <a:lvl7pPr>
              <a:defRPr sz="1879"/>
            </a:lvl7pPr>
            <a:lvl8pPr>
              <a:defRPr sz="1879"/>
            </a:lvl8pPr>
            <a:lvl9pPr>
              <a:defRPr sz="187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788" y="2057400"/>
            <a:ext cx="2770998" cy="3811588"/>
          </a:xfrm>
        </p:spPr>
        <p:txBody>
          <a:bodyPr/>
          <a:lstStyle>
            <a:lvl1pPr marL="0" indent="0">
              <a:buNone/>
              <a:defRPr sz="1503"/>
            </a:lvl1pPr>
            <a:lvl2pPr marL="429585" indent="0">
              <a:buNone/>
              <a:defRPr sz="1315"/>
            </a:lvl2pPr>
            <a:lvl3pPr marL="859170" indent="0">
              <a:buNone/>
              <a:defRPr sz="1128"/>
            </a:lvl3pPr>
            <a:lvl4pPr marL="1288755" indent="0">
              <a:buNone/>
              <a:defRPr sz="940"/>
            </a:lvl4pPr>
            <a:lvl5pPr marL="1718340" indent="0">
              <a:buNone/>
              <a:defRPr sz="940"/>
            </a:lvl5pPr>
            <a:lvl6pPr marL="2147926" indent="0">
              <a:buNone/>
              <a:defRPr sz="940"/>
            </a:lvl6pPr>
            <a:lvl7pPr marL="2577511" indent="0">
              <a:buNone/>
              <a:defRPr sz="940"/>
            </a:lvl7pPr>
            <a:lvl8pPr marL="3007096" indent="0">
              <a:buNone/>
              <a:defRPr sz="940"/>
            </a:lvl8pPr>
            <a:lvl9pPr marL="3436681" indent="0">
              <a:buNone/>
              <a:defRPr sz="94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93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457200"/>
            <a:ext cx="2770998" cy="1600200"/>
          </a:xfrm>
        </p:spPr>
        <p:txBody>
          <a:bodyPr anchor="b"/>
          <a:lstStyle>
            <a:lvl1pPr>
              <a:defRPr sz="30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2528" y="987427"/>
            <a:ext cx="4349472" cy="4873625"/>
          </a:xfrm>
        </p:spPr>
        <p:txBody>
          <a:bodyPr anchor="t"/>
          <a:lstStyle>
            <a:lvl1pPr marL="0" indent="0">
              <a:buNone/>
              <a:defRPr sz="3007"/>
            </a:lvl1pPr>
            <a:lvl2pPr marL="429585" indent="0">
              <a:buNone/>
              <a:defRPr sz="2631"/>
            </a:lvl2pPr>
            <a:lvl3pPr marL="859170" indent="0">
              <a:buNone/>
              <a:defRPr sz="2255"/>
            </a:lvl3pPr>
            <a:lvl4pPr marL="1288755" indent="0">
              <a:buNone/>
              <a:defRPr sz="1879"/>
            </a:lvl4pPr>
            <a:lvl5pPr marL="1718340" indent="0">
              <a:buNone/>
              <a:defRPr sz="1879"/>
            </a:lvl5pPr>
            <a:lvl6pPr marL="2147926" indent="0">
              <a:buNone/>
              <a:defRPr sz="1879"/>
            </a:lvl6pPr>
            <a:lvl7pPr marL="2577511" indent="0">
              <a:buNone/>
              <a:defRPr sz="1879"/>
            </a:lvl7pPr>
            <a:lvl8pPr marL="3007096" indent="0">
              <a:buNone/>
              <a:defRPr sz="1879"/>
            </a:lvl8pPr>
            <a:lvl9pPr marL="3436681" indent="0">
              <a:buNone/>
              <a:defRPr sz="187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788" y="2057400"/>
            <a:ext cx="2770998" cy="3811588"/>
          </a:xfrm>
        </p:spPr>
        <p:txBody>
          <a:bodyPr/>
          <a:lstStyle>
            <a:lvl1pPr marL="0" indent="0">
              <a:buNone/>
              <a:defRPr sz="1503"/>
            </a:lvl1pPr>
            <a:lvl2pPr marL="429585" indent="0">
              <a:buNone/>
              <a:defRPr sz="1315"/>
            </a:lvl2pPr>
            <a:lvl3pPr marL="859170" indent="0">
              <a:buNone/>
              <a:defRPr sz="1128"/>
            </a:lvl3pPr>
            <a:lvl4pPr marL="1288755" indent="0">
              <a:buNone/>
              <a:defRPr sz="940"/>
            </a:lvl4pPr>
            <a:lvl5pPr marL="1718340" indent="0">
              <a:buNone/>
              <a:defRPr sz="940"/>
            </a:lvl5pPr>
            <a:lvl6pPr marL="2147926" indent="0">
              <a:buNone/>
              <a:defRPr sz="940"/>
            </a:lvl6pPr>
            <a:lvl7pPr marL="2577511" indent="0">
              <a:buNone/>
              <a:defRPr sz="940"/>
            </a:lvl7pPr>
            <a:lvl8pPr marL="3007096" indent="0">
              <a:buNone/>
              <a:defRPr sz="940"/>
            </a:lvl8pPr>
            <a:lvl9pPr marL="3436681" indent="0">
              <a:buNone/>
              <a:defRPr sz="94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68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3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8328" y="365125"/>
            <a:ext cx="1852553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0669" y="365125"/>
            <a:ext cx="545026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3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0669" y="365127"/>
            <a:ext cx="74102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0669" y="1825625"/>
            <a:ext cx="74102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0669" y="6356352"/>
            <a:ext cx="1933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D0D4D-536F-4633-B4A0-C46BBA9F728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951" y="6356352"/>
            <a:ext cx="2899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67782" y="6356352"/>
            <a:ext cx="1933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0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59170" rtl="0" eaLnBrk="1" latinLnBrk="1" hangingPunct="1">
        <a:lnSpc>
          <a:spcPct val="90000"/>
        </a:lnSpc>
        <a:spcBef>
          <a:spcPct val="0"/>
        </a:spcBef>
        <a:buNone/>
        <a:defRPr sz="41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793" indent="-214793" algn="l" defTabSz="859170" rtl="0" eaLnBrk="1" latinLnBrk="1" hangingPunct="1">
        <a:lnSpc>
          <a:spcPct val="90000"/>
        </a:lnSpc>
        <a:spcBef>
          <a:spcPts val="940"/>
        </a:spcBef>
        <a:buFont typeface="Arial" panose="020B0604020202020204" pitchFamily="34" charset="0"/>
        <a:buChar char="•"/>
        <a:defRPr sz="2631" kern="1200">
          <a:solidFill>
            <a:schemeClr val="tx1"/>
          </a:solidFill>
          <a:latin typeface="+mn-lt"/>
          <a:ea typeface="+mn-ea"/>
          <a:cs typeface="+mn-cs"/>
        </a:defRPr>
      </a:lvl1pPr>
      <a:lvl2pPr marL="64437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5" kern="1200">
          <a:solidFill>
            <a:schemeClr val="tx1"/>
          </a:solidFill>
          <a:latin typeface="+mn-lt"/>
          <a:ea typeface="+mn-ea"/>
          <a:cs typeface="+mn-cs"/>
        </a:defRPr>
      </a:lvl2pPr>
      <a:lvl3pPr marL="1073963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79" kern="1200">
          <a:solidFill>
            <a:schemeClr val="tx1"/>
          </a:solidFill>
          <a:latin typeface="+mn-lt"/>
          <a:ea typeface="+mn-ea"/>
          <a:cs typeface="+mn-cs"/>
        </a:defRPr>
      </a:lvl3pPr>
      <a:lvl4pPr marL="150354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933133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36271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792303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22188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651474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585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9170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755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8340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926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7511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7096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6681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9749525-3A24-DC56-C2F2-B9172FC15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048883"/>
              </p:ext>
            </p:extLst>
          </p:nvPr>
        </p:nvGraphicFramePr>
        <p:xfrm>
          <a:off x="317961" y="241086"/>
          <a:ext cx="7955628" cy="464220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29302">
                  <a:extLst>
                    <a:ext uri="{9D8B030D-6E8A-4147-A177-3AD203B41FA5}">
                      <a16:colId xmlns:a16="http://schemas.microsoft.com/office/drawing/2014/main" val="1175535382"/>
                    </a:ext>
                  </a:extLst>
                </a:gridCol>
                <a:gridCol w="3031195">
                  <a:extLst>
                    <a:ext uri="{9D8B030D-6E8A-4147-A177-3AD203B41FA5}">
                      <a16:colId xmlns:a16="http://schemas.microsoft.com/office/drawing/2014/main" val="3532443216"/>
                    </a:ext>
                  </a:extLst>
                </a:gridCol>
                <a:gridCol w="3295131">
                  <a:extLst>
                    <a:ext uri="{9D8B030D-6E8A-4147-A177-3AD203B41FA5}">
                      <a16:colId xmlns:a16="http://schemas.microsoft.com/office/drawing/2014/main" val="1730177221"/>
                    </a:ext>
                  </a:extLst>
                </a:gridCol>
              </a:tblGrid>
              <a:tr h="4320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구분</a:t>
                      </a:r>
                      <a:endParaRPr lang="ko-KR" alt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졸업생</a:t>
                      </a:r>
                      <a:endParaRPr lang="en-US" altLang="ko-KR" sz="1800" b="0" i="0" u="none" strike="noStrike" dirty="0">
                        <a:solidFill>
                          <a:schemeClr val="bg1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고</a:t>
                      </a:r>
                      <a:r>
                        <a:rPr lang="en-US" altLang="ko-KR" sz="18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3</a:t>
                      </a:r>
                      <a:endParaRPr lang="en-US" altLang="ko-KR" sz="1800" b="0" i="0" u="none" strike="noStrike" dirty="0">
                        <a:solidFill>
                          <a:schemeClr val="bg1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52416"/>
                  </a:ext>
                </a:extLst>
              </a:tr>
              <a:tr h="627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성적산출방식</a:t>
                      </a:r>
                      <a:endParaRPr lang="ko-KR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상대평가</a:t>
                      </a: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(9</a:t>
                      </a:r>
                      <a:r>
                        <a:rPr lang="ko-KR" altLang="en-US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등급</a:t>
                      </a: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) + </a:t>
                      </a:r>
                      <a:r>
                        <a:rPr lang="ko-KR" altLang="en-US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성취도평가</a:t>
                      </a: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(3</a:t>
                      </a:r>
                      <a:r>
                        <a:rPr lang="ko-KR" altLang="en-US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단계</a:t>
                      </a: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상대평가</a:t>
                      </a: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(5</a:t>
                      </a: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등급</a:t>
                      </a: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) + </a:t>
                      </a: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성취도평가</a:t>
                      </a: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(5</a:t>
                      </a: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단계</a:t>
                      </a: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424869"/>
                  </a:ext>
                </a:extLst>
              </a:tr>
              <a:tr h="8911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등급산출과목 비율</a:t>
                      </a:r>
                      <a:endParaRPr lang="ko-KR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9</a:t>
                      </a:r>
                      <a:r>
                        <a:rPr lang="ko-KR" altLang="en-US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등급 산출과목  </a:t>
                      </a:r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49.3%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5</a:t>
                      </a: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등급 산출과목 </a:t>
                      </a: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91.9%</a:t>
                      </a: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로 확대</a:t>
                      </a:r>
                      <a:endParaRPr lang="en-US" altLang="ko-KR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603669"/>
                  </a:ext>
                </a:extLst>
              </a:tr>
              <a:tr h="12880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소인수과목 조건</a:t>
                      </a:r>
                      <a:endParaRPr lang="ko-KR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9</a:t>
                      </a:r>
                      <a:r>
                        <a:rPr lang="ko-KR" altLang="en-US" sz="1400" u="none" strike="noStrike" dirty="0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명 이하 시 등급 </a:t>
                      </a:r>
                      <a:r>
                        <a:rPr lang="ko-KR" altLang="en-US" sz="1400" u="none" strike="noStrike" dirty="0" err="1"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미산출</a:t>
                      </a:r>
                      <a:endParaRPr lang="en-US" altLang="ko-KR" sz="1400" u="none" strike="noStrike" dirty="0"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4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5</a:t>
                      </a: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명 이하 시 등급 </a:t>
                      </a:r>
                      <a:r>
                        <a:rPr lang="ko-KR" altLang="en-US" sz="1600" b="1" dirty="0" err="1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미산출</a:t>
                      </a:r>
                      <a:endParaRPr lang="en-US" altLang="ko-KR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16835"/>
                  </a:ext>
                </a:extLst>
              </a:tr>
              <a:tr h="627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이수단위 비율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ko-KR" sz="1300" b="0" i="0" dirty="0">
                          <a:solidFill>
                            <a:schemeClr val="tx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공통 46.1% | 자율 42.2% | </a:t>
                      </a:r>
                      <a:r>
                        <a:rPr lang="ko-KR" sz="1300" b="0" i="0" dirty="0" err="1">
                          <a:solidFill>
                            <a:schemeClr val="tx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창체</a:t>
                      </a:r>
                      <a:r>
                        <a:rPr lang="ko-KR" sz="1300" b="0" i="0" dirty="0">
                          <a:solidFill>
                            <a:schemeClr val="tx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11.8%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ko-KR" sz="1300" b="1" i="0" dirty="0">
                          <a:solidFill>
                            <a:schemeClr val="tx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공통 43.8% | 자율 46.9% ↑ | </a:t>
                      </a:r>
                      <a:r>
                        <a:rPr lang="ko-KR" sz="1300" b="1" i="0" dirty="0" err="1">
                          <a:solidFill>
                            <a:schemeClr val="tx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창체</a:t>
                      </a:r>
                      <a:r>
                        <a:rPr lang="ko-KR" sz="1300" b="1" i="0" dirty="0">
                          <a:solidFill>
                            <a:schemeClr val="tx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 9.4%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154478"/>
                  </a:ext>
                </a:extLst>
              </a:tr>
              <a:tr h="7758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성적표기방식</a:t>
                      </a:r>
                      <a:endParaRPr lang="ko-KR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과목별 </a:t>
                      </a:r>
                      <a:r>
                        <a:rPr lang="ko-KR" altLang="en-US" sz="1400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원점수</a:t>
                      </a:r>
                      <a:r>
                        <a:rPr lang="en-US" altLang="ko-KR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평균</a:t>
                      </a:r>
                      <a:r>
                        <a:rPr lang="en-US" altLang="ko-KR" sz="1400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9A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표준편차 제공</a:t>
                      </a:r>
                      <a:endParaRPr lang="ko-KR" altLang="en-US" sz="1400" b="0" i="0" u="none" strike="noStrike" dirty="0">
                        <a:solidFill>
                          <a:srgbClr val="9A0000"/>
                        </a:solidFill>
                        <a:effectLst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표준편차 </a:t>
                      </a:r>
                      <a:r>
                        <a:rPr lang="ko-KR" altLang="en-US" sz="1600" b="1" dirty="0" err="1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미제공</a:t>
                      </a:r>
                      <a:endParaRPr lang="en-US" altLang="ko-KR" sz="1600" b="1" dirty="0">
                        <a:solidFill>
                          <a:srgbClr val="960000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성취도</a:t>
                      </a: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(A~E), </a:t>
                      </a: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성취도 분포비율</a:t>
                      </a:r>
                      <a:r>
                        <a:rPr lang="en-US" altLang="ko-KR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, </a:t>
                      </a:r>
                    </a:p>
                    <a:p>
                      <a:pPr marL="0" marR="0" lvl="0" indent="0" algn="ctr" defTabSz="8591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과목 평균 등 제공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87536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5022A31-E0F9-4018-C4F9-988B7BF1D247}"/>
              </a:ext>
            </a:extLst>
          </p:cNvPr>
          <p:cNvSpPr txBox="1"/>
          <p:nvPr/>
        </p:nvSpPr>
        <p:spPr>
          <a:xfrm>
            <a:off x="5762405" y="2562074"/>
            <a:ext cx="1897039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일반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:10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명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2.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진로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:7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명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2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학운위승인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명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융합전문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5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명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4.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공동교육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인원제한 없음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07651-149B-B7D7-F414-D9400104B5EF}"/>
              </a:ext>
            </a:extLst>
          </p:cNvPr>
          <p:cNvSpPr txBox="1"/>
          <p:nvPr/>
        </p:nvSpPr>
        <p:spPr>
          <a:xfrm>
            <a:off x="5523577" y="1770549"/>
            <a:ext cx="2374711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과탐실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사회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과학 융합 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11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과목 제외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FB04D2-1A46-91AD-4F30-C950A4A99DE9}"/>
              </a:ext>
            </a:extLst>
          </p:cNvPr>
          <p:cNvSpPr txBox="1"/>
          <p:nvPr/>
        </p:nvSpPr>
        <p:spPr>
          <a:xfrm>
            <a:off x="6622992" y="812710"/>
            <a:ext cx="1650612" cy="369332"/>
          </a:xfrm>
          <a:prstGeom prst="rect">
            <a:avLst/>
          </a:prstGeom>
          <a:solidFill>
            <a:srgbClr val="FFC000">
              <a:alpha val="24000"/>
            </a:srgbClr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9FE4B69-BD71-8749-781B-BD44BB195162}"/>
              </a:ext>
            </a:extLst>
          </p:cNvPr>
          <p:cNvCxnSpPr>
            <a:cxnSpLocks/>
          </p:cNvCxnSpPr>
          <p:nvPr/>
        </p:nvCxnSpPr>
        <p:spPr>
          <a:xfrm rot="5400000">
            <a:off x="4158241" y="1707951"/>
            <a:ext cx="3859927" cy="2808130"/>
          </a:xfrm>
          <a:prstGeom prst="bentConnector3">
            <a:avLst>
              <a:gd name="adj1" fmla="val 5756"/>
            </a:avLst>
          </a:prstGeom>
          <a:ln w="31750">
            <a:solidFill>
              <a:srgbClr val="96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1D47151-6915-C5A6-47BD-C34AC43D6346}"/>
              </a:ext>
            </a:extLst>
          </p:cNvPr>
          <p:cNvSpPr txBox="1"/>
          <p:nvPr/>
        </p:nvSpPr>
        <p:spPr>
          <a:xfrm>
            <a:off x="1263531" y="5094842"/>
            <a:ext cx="6841214" cy="830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성취도 평가 5단계 확대의 의미</a:t>
            </a:r>
          </a:p>
          <a:p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내신 등급 변별력은 완화되나, 성취도별 분포비율로 학생의 실제 학업 수준을 정밀 검증합니다.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05DB5F-E358-43FF-A460-C813B3C9E50B}"/>
              </a:ext>
            </a:extLst>
          </p:cNvPr>
          <p:cNvSpPr txBox="1"/>
          <p:nvPr/>
        </p:nvSpPr>
        <p:spPr>
          <a:xfrm>
            <a:off x="5929590" y="4071943"/>
            <a:ext cx="1562671" cy="369332"/>
          </a:xfrm>
          <a:prstGeom prst="rect">
            <a:avLst/>
          </a:prstGeom>
          <a:solidFill>
            <a:srgbClr val="FFC000">
              <a:alpha val="24000"/>
            </a:srgbClr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708367-B48A-448B-C446-D23CD4C0E081}"/>
              </a:ext>
            </a:extLst>
          </p:cNvPr>
          <p:cNvSpPr txBox="1"/>
          <p:nvPr/>
        </p:nvSpPr>
        <p:spPr>
          <a:xfrm>
            <a:off x="1263531" y="6004867"/>
            <a:ext cx="6841214" cy="584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표준편차 </a:t>
            </a:r>
            <a:r>
              <a:rPr lang="ko-KR" altLang="ko-KR" sz="1600" b="1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미제공</a:t>
            </a:r>
            <a:r>
              <a:rPr lang="ko-KR" altLang="ko-KR" sz="1600" b="1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시 대학의 평가 방식</a:t>
            </a:r>
          </a:p>
          <a:p>
            <a:r>
              <a:rPr lang="ko-KR" altLang="ko-KR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과목평균·수강자수·수행평가</a:t>
            </a:r>
            <a:r>
              <a:rPr lang="ko-KR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세부 영역을 조합하여 입체적인 정성평가를 진행합니다.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D5102EA-D2F8-E8FB-3C63-9750426E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98" y="5094842"/>
            <a:ext cx="670073" cy="67007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6DAC602-0586-5BF8-5A3A-0E2B5B6CA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18" y="5883980"/>
            <a:ext cx="751354" cy="75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53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179</Words>
  <Application>Microsoft Office PowerPoint</Application>
  <PresentationFormat>사용자 지정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나눔스퀘어_ac Bold</vt:lpstr>
      <vt:lpstr>나눔스퀘어_ac ExtraBold</vt:lpstr>
      <vt:lpstr>Arial</vt:lpstr>
      <vt:lpstr>Aptos Display</vt:lpstr>
      <vt:lpstr>나눔스퀘어_ac</vt:lpstr>
      <vt:lpstr>Aptos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박진</dc:creator>
  <cp:lastModifiedBy>박진</cp:lastModifiedBy>
  <cp:revision>2</cp:revision>
  <dcterms:created xsi:type="dcterms:W3CDTF">2026-08-26T15:37:56Z</dcterms:created>
  <dcterms:modified xsi:type="dcterms:W3CDTF">2026-09-01T02:11:47Z</dcterms:modified>
</cp:coreProperties>
</file>