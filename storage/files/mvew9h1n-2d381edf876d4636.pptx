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6cd455b8b42d0" /><Relationship Type="http://schemas.openxmlformats.org/officeDocument/2006/relationships/extended-properties" Target="/docProps/app.xml" Id="R6a3de5ce3a094289" /><Relationship Type="http://schemas.openxmlformats.org/officeDocument/2006/relationships/officeDocument" Target="/ppt/presentation.xml" Id="Rae16ead1f198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57eca91f9409b"/>
  </p:sldMasterIdLst>
  <p:notesMasterIdLst>
    <p:notesMasterId xmlns:r="http://schemas.openxmlformats.org/officeDocument/2006/relationships" r:id="R528fa759c8a34547"/>
  </p:notesMasterIdLst>
  <p:sldIdLst>
    <p:sldId xmlns:r="http://schemas.openxmlformats.org/officeDocument/2006/relationships" id="256" r:id="Rcd0ff4842ffa4b62"/>
    <p:sldId xmlns:r="http://schemas.openxmlformats.org/officeDocument/2006/relationships" id="257" r:id="R0125ce51bc4d438b"/>
    <p:sldId xmlns:r="http://schemas.openxmlformats.org/officeDocument/2006/relationships" id="258" r:id="R83a5fc2ddb7243a3"/>
    <p:sldId xmlns:r="http://schemas.openxmlformats.org/officeDocument/2006/relationships" id="259" r:id="R4d0da63eec0e4592"/>
    <p:sldId xmlns:r="http://schemas.openxmlformats.org/officeDocument/2006/relationships" id="260" r:id="Refbac771f0ac48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ebe3780e44dfe" /><Relationship Type="http://schemas.openxmlformats.org/officeDocument/2006/relationships/slideMaster" Target="/ppt/slideMasters/slideMaster1.xml" Id="Rfd457eca91f9409b" /><Relationship Type="http://schemas.openxmlformats.org/officeDocument/2006/relationships/notesMaster" Target="/ppt/notesMasters/notesMaster1.xml" Id="R528fa759c8a34547" /><Relationship Type="http://schemas.openxmlformats.org/officeDocument/2006/relationships/presProps" Target="/ppt/presProps.xml" Id="R6d5fb45b4ceb4ec6" /><Relationship Type="http://schemas.openxmlformats.org/officeDocument/2006/relationships/tableStyles" Target="/ppt/tableStyles.xml" Id="R8e1d96d0f86c40f1" /><Relationship Type="http://schemas.openxmlformats.org/officeDocument/2006/relationships/slide" Target="/ppt/slides/slide1.xml" Id="Rcd0ff4842ffa4b62" /><Relationship Type="http://schemas.openxmlformats.org/officeDocument/2006/relationships/slide" Target="/ppt/slides/slide2.xml" Id="R0125ce51bc4d438b" /><Relationship Type="http://schemas.openxmlformats.org/officeDocument/2006/relationships/slide" Target="/ppt/slides/slide3.xml" Id="R83a5fc2ddb7243a3" /><Relationship Type="http://schemas.openxmlformats.org/officeDocument/2006/relationships/slide" Target="/ppt/slides/slide4.xml" Id="R4d0da63eec0e4592" /><Relationship Type="http://schemas.openxmlformats.org/officeDocument/2006/relationships/slide" Target="/ppt/slides/slide5.xml" Id="Refbac771f0ac48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3519bcee2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33428bbbb496d" /><Relationship Type="http://schemas.openxmlformats.org/officeDocument/2006/relationships/notesMaster" Target="/ppt/notesMasters/notesMaster1.xml" Id="R0beef6b1f069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c2caf125746cc" /><Relationship Type="http://schemas.openxmlformats.org/officeDocument/2006/relationships/notesMaster" Target="/ppt/notesMasters/notesMaster1.xml" Id="R4765d92830db4c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64acc389c84636" /><Relationship Type="http://schemas.openxmlformats.org/officeDocument/2006/relationships/notesMaster" Target="/ppt/notesMasters/notesMaster1.xml" Id="R08ff82743d2f46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485388471d4018" /><Relationship Type="http://schemas.openxmlformats.org/officeDocument/2006/relationships/notesMaster" Target="/ppt/notesMasters/notesMaster1.xml" Id="Re46edcc6732147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95f48eea548a0" /><Relationship Type="http://schemas.openxmlformats.org/officeDocument/2006/relationships/notesMaster" Target="/ppt/notesMasters/notesMaster1.xml" Id="Rcc569c979e6a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[교육부 05-01(금) 조간보도자료] (대교협) 2028학년도 대학입학전형시행계획 발표.pdf 3쪽. 기준 2026.4.29. 09시. 원문 정시 항목만 발췌·재구성. 비율은 원문의 소수 첫째 자리 표시를 유지. 반올림으로 비율 합계가 100.0%와 다를 수 있음. 전형기간 자율화 전형은 원문 기준에 따라 수능위주를 정시 인원에 포함함.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[교육부 05-01(금) 조간보도자료] (대교협) 2028학년도 대학입학전형시행계획 발표.pdf 3~4쪽. 기준 2026.4.29. 09시. 원문 정시 항목만 발췌·재구성. 비율은 원문의 소수 첫째 자리 표시를 유지. 반올림으로 비율 합계가 100.0%와 다를 수 있음. 전형기간 자율화 전형은 원문 기준에 따라 수능위주를 정시 인원에 포함함.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[교육부 05-01(금) 조간보도자료] (대교협) 2028학년도 대학입학전형시행계획 발표.pdf 4쪽. 기준 2026.4.29. 09시. 원문 정시 항목만 발췌·재구성. 비율은 원문의 소수 첫째 자리 표시를 유지. 반올림으로 비율 합계가 100.0%와 다를 수 있음. 전형기간 자율화 전형은 원문 기준에 따라 수능위주를 정시 인원에 포함함.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[교육부 05-01(금) 조간보도자료] (대교협) 2028학년도 대학입학전형시행계획 발표.pdf 4쪽. 기준 2026.4.29. 09시. 원문 정시 항목만 발췌·재구성. 비율은 원문의 소수 첫째 자리 표시를 유지. 반올림으로 비율 합계가 100.0%와 다를 수 있음. 전형기간 자율화 전형은 원문 기준에 따라 수능위주를 정시 인원에 포함함.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[교육부 05-01(금) 조간보도자료] (대교협) 2028학년도 대학입학전형시행계획 발표.pdf 3~4쪽. 기준 2026.4.29. 09시. 원문 정시 항목만 발췌·재구성. 비율은 원문의 소수 첫째 자리 표시를 유지. 반올림으로 비율 합계가 100.0%와 다를 수 있음. 전형기간 자율화 전형은 원문 기준에 따라 수능위주를 정시 인원에 포함함.</a:t>
            </a:r>
          </a:p>
          <a:p xmlns:a="http://schemas.openxmlformats.org/drawingml/2006/main">
            <a:r>
              <a:t>강의 설명: -1,416-90+282-15-1=-1,240. 수도권 -961-32-3+0+2=-994. 비수도권 -455-58+285-15-3=-246. 전형기간 자율화 전형은 재외국민 및 외국인, 재직자, 성인학습자 대상. 원문은 학생부위주·실기/실적위주·기타를 수시, 수능위주를 정시 인원에 분리 반영함. 전체 모집인원은 348,789명, 수능위주 61,779명으로 전체 대비 17.7%, 정시 전체 66,894명 대비 92.4%.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3b4b242ea4c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9e19db4b34e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a9ca9d1224e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9cca350de4d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d4c54346046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43f22313141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D4C0E2-C7CC-43C7-B396-DC9B1D550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1D8C29-53EE-4925-B2D4-0F2AE9DBBE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22CC5-DCB2-4B68-B04F-DA372046F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629F82-43F8-4977-9FC5-5C94E388B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A1BE8E-F408-4B10-92CA-92D03EB66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06AD66-A9F6-41F8-8357-BB319E8E6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BEA56B-575E-4FE1-90CE-BF81574DB7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09585E-D329-40C2-893D-0E8BFC01EE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F19A2C-2878-4A43-8B64-153082932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96A60F-FA82-4EB4-8A29-7DFE1B6712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299dbcce144e27" /><Relationship Type="http://schemas.openxmlformats.org/officeDocument/2006/relationships/slideLayout" Target="/ppt/slideLayouts/slideLayout1.xml" Id="Rcbd6d79d1e714930" /><Relationship Type="http://schemas.openxmlformats.org/officeDocument/2006/relationships/slideLayout" Target="/ppt/slideLayouts/slideLayout2.xml" Id="R232d8bc422b34a8d" /><Relationship Type="http://schemas.openxmlformats.org/officeDocument/2006/relationships/slideLayout" Target="/ppt/slideLayouts/slideLayout3.xml" Id="Rcca23393f31f47ee" /><Relationship Type="http://schemas.openxmlformats.org/officeDocument/2006/relationships/slideLayout" Target="/ppt/slideLayouts/slideLayout4.xml" Id="R65e26760a43d44d7" /><Relationship Type="http://schemas.openxmlformats.org/officeDocument/2006/relationships/slideLayout" Target="/ppt/slideLayouts/slideLayout5.xml" Id="R714918c8fd82470c" /><Relationship Type="http://schemas.openxmlformats.org/officeDocument/2006/relationships/slideLayout" Target="/ppt/slideLayouts/slideLayout6.xml" Id="R872aca90ae214a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6d79d1e714930"/>
    <p:sldLayoutId xmlns:r="http://schemas.openxmlformats.org/officeDocument/2006/relationships" id="2147483650" r:id="R232d8bc422b34a8d"/>
    <p:sldLayoutId xmlns:r="http://schemas.openxmlformats.org/officeDocument/2006/relationships" id="2147483651" r:id="Rcca23393f31f47ee"/>
    <p:sldLayoutId xmlns:r="http://schemas.openxmlformats.org/officeDocument/2006/relationships" id="2147483652" r:id="R65e26760a43d44d7"/>
    <p:sldLayoutId xmlns:r="http://schemas.openxmlformats.org/officeDocument/2006/relationships" id="2147483653" r:id="R714918c8fd82470c"/>
    <p:sldLayoutId xmlns:r="http://schemas.openxmlformats.org/officeDocument/2006/relationships" id="2147483654" r:id="R872aca90ae21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03714fb63498f" /><Relationship Type="http://schemas.openxmlformats.org/officeDocument/2006/relationships/notesSlide" Target="/ppt/notesSlides/notesSlide1.xml" Id="R972e7e6115ed47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87fd35a0144e7" /><Relationship Type="http://schemas.openxmlformats.org/officeDocument/2006/relationships/notesSlide" Target="/ppt/notesSlides/notesSlide2.xml" Id="Rff27866e681f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e8131ee204531" /><Relationship Type="http://schemas.openxmlformats.org/officeDocument/2006/relationships/notesSlide" Target="/ppt/notesSlides/notesSlide3.xml" Id="Raf59f39e4cd548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9a1f96c864111" /><Relationship Type="http://schemas.openxmlformats.org/officeDocument/2006/relationships/notesSlide" Target="/ppt/notesSlides/notesSlide4.xml" Id="R202187a5e2a3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e2d0d008f488d" /><Relationship Type="http://schemas.openxmlformats.org/officeDocument/2006/relationships/notesSlide" Target="/ppt/notesSlides/notesSlide5.xml" Id="R6171d317678246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76A1D-4425-4066-97BA-178AA2D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2028학년도 정시 66,894명  수능위주 92.4%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A26F-5B18-41C7-853D-B2F47853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전국 정시 전형유형별 비교  /  인원 단위 명, 비율은 전국 정시 전체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41185-5510-4FA2-A691-E5E7A9E6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한국대학교육협의회  2028학년도 대학입학전형시행계획 발표  3~4쪽  |  2026. 4. 29. 09시 기준  |  3쪽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8954E-3570-4B16-B797-FF50B92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8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3021-DF98-4601-A3BD-4499D3B91428}"/>
              </a:ext>
            </a:extLst>
          </p:cNvPr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048000"/>
                <a:gridCol w="3048000"/>
                <a:gridCol w="200025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2027학년도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2028학년도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증감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63,195 (92.8%)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61,779 (92.4%)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-1,416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4,574 (6.7%)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4,484 (6.7%)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-90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228 (0.3%)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510 (0.8%)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+282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 (0.2%)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 (0.2%)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 (0.0%)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 (0.0%)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정시 합계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68,134 (100.0%)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66,894 (100.0%)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-1,240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0E2BD-4270-427A-B48B-8CA1C10B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수능위주 선발 기조 유지  ·  비율은 전년보다 0.4%p 하락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01F0F-92B0-4117-B613-EDFDEEA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1123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수능위주는 전형유형의 분류입니다. 대학별 학생부·면접 등의 반영 여부는 별도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962935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847CB-7370-4536-AF6C-DAECBC45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정시 감소인원 1,240명 중 수도권 994명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DD648-B88C-4420-9896-F60B79F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권역별 정시 전체와 수능위주 전형 비교  /  인원 단위 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BCB8E-B0F7-4D69-8BC9-F80D5E45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한국대학교육협의회  2028학년도 대학입학전형시행계획 발표  3~4쪽  |  2026. 4. 29. 09시 기준  |  3~4쪽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3BC25-2EA4-44B9-B0EA-F86B0EA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8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A5D21-C157-437A-9511-DAD77697B2B1}"/>
              </a:ext>
            </a:extLst>
          </p:cNvPr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381375"/>
                <a:gridCol w="3381375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항목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수도권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비수도권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정시 전체 2027학년도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46,031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22,103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정시 전체 2028학년도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45,037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21,857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정시 전체 인원 증감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-994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-246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 인원 증감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-961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-455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 수능위주 비율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94.0%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89.1%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67A2F-DF50-4398-A214-CD144246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두 권역 모두 수능위주 인원 감소  ·  수도권 감소폭이 더 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0087D-92EA-4289-BF97-84FFF56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1123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비율은 각 권역의 정시 전체 기준입니다. 두 권역의 정시 감소인원 합계는 1,240명입니다.</a:t>
            </a:r>
          </a:p>
        </p:txBody>
      </p:sp>
    </p:spTree>
    <p:extLst>
      <p:ext uri="{BB962C8B-B14F-4D97-AF65-F5344CB8AC3E}">
        <p14:creationId xmlns:p14="http://schemas.microsoft.com/office/powerpoint/2010/main" val="304808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37034-5E25-417A-98E3-30F79B9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수도권 정시 45,037명  수능위주 94.0%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92424-AFA2-4E15-9FF3-F03EC8D2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수도권 정시 전형유형별 비교  /  인원 단위 명, 비율은 수도권 정시 전체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B41BE-ECB4-4862-BF81-D410C717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한국대학교육협의회  2028학년도 대학입학전형시행계획 발표  3~4쪽  |  2026. 4. 29. 09시 기준  |  4쪽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04FB1-431F-489B-8900-EDF57651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8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63DD9-7AEE-4AE9-B9C3-A4B287A42A41}"/>
              </a:ext>
            </a:extLst>
          </p:cNvPr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048000"/>
                <a:gridCol w="3048000"/>
                <a:gridCol w="200025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2027학년도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2028학년도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증감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43,275 (94.0%)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42,314 (94.0%)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-961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2,612 (5.7%)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2,580 (5.7%)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-32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 (0.2%)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 (0.2%)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 (0.1%)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 (0.1%)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 (0.0%)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 (0.0%)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수도권 정시 합계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46,031 (100.0%)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45,037 (100.0%)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-994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59C74-6A1D-4BC8-9879-DA71CF79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수도권 정시 감소 994명 중 수능위주 감소가 961명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E3C7F-3003-4E95-9771-F287EAF0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1123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수능위주 비율은 원문 표시 기준으로 두 학년도 모두 94.0%입니다.</a:t>
            </a:r>
          </a:p>
        </p:txBody>
      </p:sp>
    </p:spTree>
    <p:extLst>
      <p:ext uri="{BB962C8B-B14F-4D97-AF65-F5344CB8AC3E}">
        <p14:creationId xmlns:p14="http://schemas.microsoft.com/office/powerpoint/2010/main" val="416876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06294-DCB9-4EF9-9F81-2CF060AE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비수도권 정시 21,857명  교과전형 285명 증가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9E08-14A7-4A2F-93AB-F90F1D2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비수도권 정시 전형유형별 비교  /  인원 단위 명, 비율은 비수도권 정시 전체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0088A-7ABB-48B8-9075-094990EC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한국대학교육협의회  2028학년도 대학입학전형시행계획 발표  3~4쪽  |  2026. 4. 29. 09시 기준  |  4쪽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BB3F5-AA42-4220-BD0F-52A5419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8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D9056-25E4-487E-99FE-53C4A5FD5B1F}"/>
              </a:ext>
            </a:extLst>
          </p:cNvPr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048000"/>
                <a:gridCol w="3048000"/>
                <a:gridCol w="200025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2027학년도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2028학년도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증감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19,920 (90.1%)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19,465 (89.1%)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-455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1,962 (8.9%)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1,904 (8.7%)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-58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 (0.7%)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442 (2.0%)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+285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 (0.3%)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 (0.2%)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 (0.0%)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(0.0%)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비수도권 정시 합계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22,103 (100.0%)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21,857 (100.0%)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-246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312F9-08F9-43B6-B2AC-A1166E54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수능위주 455명 감소  ·  교과전형 증가가 감소분 일부 상쇄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69147-4BFD-43BB-AD18-3669E49C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1123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수능위주 비율은 90.1%에서 89.1%로 1.0%p 하락했습니다.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46184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5F3CB-DC37-4E1B-89CC-4EDB8C45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정시 감소폭과 수능위주 감소폭이 다른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49594-2A58-4F9E-9093-D51B6C37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전국 정시 전형별 증감 합산  /  인원 단위 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6E4C-D76F-4C30-BD46-69D9007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한국대학교육협의회  2028학년도 대학입학전형시행계획 발표  3~4쪽  |  2026. 4. 29. 09시 기준  |  3~4쪽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20225-4E65-45C6-B748-88A6D67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8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4EC67-F13A-4E59-9F00-31B692D2E972}"/>
              </a:ext>
            </a:extLst>
          </p:cNvPr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476500"/>
                <a:gridCol w="2476500"/>
                <a:gridCol w="24765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전국 인원 증감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수도권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비수도권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T w="7620">
                      <a:solidFill>
                        <a:srgbClr val="B8C1CC"/>
                      </a:solidFill>
                      <a:prstDash val="solid"/>
                    </a:lnT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-1,416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-961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-455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-90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-32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-58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+282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+285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정시 전체</a:t>
                      </a:r>
                    </a:p>
                  </a:txBody>
                  <a:tcPr marL="114300" marR="114300" marT="47625" marB="47625" anchor="ctr">
                    <a:lnL w="7620">
                      <a:solidFill>
                        <a:srgbClr val="B8C1CC"/>
                      </a:solidFill>
                      <a:prstDash val="solid"/>
                    </a:lnL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-1,240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-994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-246</a:t>
                      </a:r>
                    </a:p>
                  </a:txBody>
                  <a:tcPr marL="114300" marR="114300" marT="47625" marB="47625" anchor="ctr">
                    <a:lnR w="7620">
                      <a:solidFill>
                        <a:srgbClr val="B8C1CC"/>
                      </a:solidFill>
                      <a:prstDash val="solid"/>
                    </a:lnR>
                    <a:lnB w="7620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0CCA-8F52-4087-8B40-69CC0D8B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00650"/>
            <a:ext cx="1123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전국 정시 교과전형 증가 282명은 비수도권의 285명 증가에서 비롯됩니다.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B68C6-093A-4524-BBB3-A023857E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9595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92.4%는 정시 전체 중 수능위주 비율  /  17.7%는 전체 모집인원 중 수능위주 비율</a:t>
            </a:r>
          </a:p>
        </p:txBody>
      </p:sp>
    </p:spTree>
    <p:extLst>
      <p:ext uri="{BB962C8B-B14F-4D97-AF65-F5344CB8AC3E}">
        <p14:creationId xmlns:p14="http://schemas.microsoft.com/office/powerpoint/2010/main" val="724432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2026-10-19T00:26:18.6220000Z</dcterms:created>
  <dcterms:modified xsi:type="dcterms:W3CDTF">2026-10-19T00:26:18.6220000Z</dcterms:modified>
</coreProperties>
</file>