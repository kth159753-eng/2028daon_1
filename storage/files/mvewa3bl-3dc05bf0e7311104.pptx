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6b292e747d449c" /><Relationship Type="http://schemas.openxmlformats.org/officeDocument/2006/relationships/extended-properties" Target="/docProps/app.xml" Id="R60e1c68702924f33" /><Relationship Type="http://schemas.openxmlformats.org/officeDocument/2006/relationships/officeDocument" Target="/ppt/presentation.xml" Id="R55fddc4a601d4db3" /></Relationships>
</file>

<file path=ppt/presentation.xml><?xml version="1.0" encoding="utf-8"?>
<p:presentation xmlns:p="http://schemas.openxmlformats.org/presentationml/2006/main">
  <p:sldMasterIdLst>
    <p:sldMasterId xmlns:r="http://schemas.openxmlformats.org/officeDocument/2006/relationships" id="2147483648" r:id="Re739b13108f74774"/>
  </p:sldMasterIdLst>
  <p:notesMasterIdLst>
    <p:notesMasterId xmlns:r="http://schemas.openxmlformats.org/officeDocument/2006/relationships" r:id="R1fa97b72ee334f93"/>
  </p:notesMasterIdLst>
  <p:sldIdLst>
    <p:sldId xmlns:r="http://schemas.openxmlformats.org/officeDocument/2006/relationships" id="256" r:id="R09252b45610647a4"/>
    <p:sldId xmlns:r="http://schemas.openxmlformats.org/officeDocument/2006/relationships" id="257" r:id="R436c4dbeda024391"/>
    <p:sldId xmlns:r="http://schemas.openxmlformats.org/officeDocument/2006/relationships" id="258" r:id="Ra605d9d669f745ae"/>
    <p:sldId xmlns:r="http://schemas.openxmlformats.org/officeDocument/2006/relationships" id="259" r:id="R84a3c790acce4fff"/>
    <p:sldId xmlns:r="http://schemas.openxmlformats.org/officeDocument/2006/relationships" id="260" r:id="R908e434f83204f87"/>
    <p:sldId xmlns:r="http://schemas.openxmlformats.org/officeDocument/2006/relationships" id="261" r:id="R67fcc8f3e238451f"/>
    <p:sldId xmlns:r="http://schemas.openxmlformats.org/officeDocument/2006/relationships" id="262" r:id="R1d017cb4a5ad4cff"/>
    <p:sldId xmlns:r="http://schemas.openxmlformats.org/officeDocument/2006/relationships" id="263" r:id="Rc2568b50f84541cb"/>
    <p:sldId xmlns:r="http://schemas.openxmlformats.org/officeDocument/2006/relationships" id="264" r:id="Re15d3caf318744bb"/>
    <p:sldId xmlns:r="http://schemas.openxmlformats.org/officeDocument/2006/relationships" id="265" r:id="Rcbf63f80e71540bd"/>
    <p:sldId xmlns:r="http://schemas.openxmlformats.org/officeDocument/2006/relationships" id="266" r:id="Ra25da21b17e54e37"/>
    <p:sldId xmlns:r="http://schemas.openxmlformats.org/officeDocument/2006/relationships" id="267" r:id="R3b932fbfb44648ca"/>
    <p:sldId xmlns:r="http://schemas.openxmlformats.org/officeDocument/2006/relationships" id="268" r:id="Rea293a2a14a9446f"/>
    <p:sldId xmlns:r="http://schemas.openxmlformats.org/officeDocument/2006/relationships" id="269" r:id="R4cd053b2afc74149"/>
    <p:sldId xmlns:r="http://schemas.openxmlformats.org/officeDocument/2006/relationships" id="270" r:id="Rd0c1593f6ddd454a"/>
    <p:sldId xmlns:r="http://schemas.openxmlformats.org/officeDocument/2006/relationships" id="271" r:id="R75559d2720394ca9"/>
    <p:sldId xmlns:r="http://schemas.openxmlformats.org/officeDocument/2006/relationships" id="272" r:id="R53661a5c61fd4e78"/>
    <p:sldId xmlns:r="http://schemas.openxmlformats.org/officeDocument/2006/relationships" id="273" r:id="R55ba1779c47a4d69"/>
    <p:sldId xmlns:r="http://schemas.openxmlformats.org/officeDocument/2006/relationships" id="274" r:id="R77bba3888e0d4ab9"/>
    <p:sldId xmlns:r="http://schemas.openxmlformats.org/officeDocument/2006/relationships" id="275" r:id="R169f3344a86b430d"/>
    <p:sldId xmlns:r="http://schemas.openxmlformats.org/officeDocument/2006/relationships" id="276" r:id="R8ce5cfefbce64314"/>
    <p:sldId xmlns:r="http://schemas.openxmlformats.org/officeDocument/2006/relationships" id="277" r:id="Re3fc8d55b24c40cf"/>
    <p:sldId xmlns:r="http://schemas.openxmlformats.org/officeDocument/2006/relationships" id="278" r:id="R9061c629b57d4b3b"/>
    <p:sldId xmlns:r="http://schemas.openxmlformats.org/officeDocument/2006/relationships" id="279" r:id="Ra60f87d2c31d45ba"/>
    <p:sldId xmlns:r="http://schemas.openxmlformats.org/officeDocument/2006/relationships" id="280" r:id="R13a93ba5d47e418a"/>
    <p:sldId xmlns:r="http://schemas.openxmlformats.org/officeDocument/2006/relationships" id="281" r:id="R115fedabb3aa43cd"/>
    <p:sldId xmlns:r="http://schemas.openxmlformats.org/officeDocument/2006/relationships" id="282" r:id="R7bf9feaef2b74d8c"/>
    <p:sldId xmlns:r="http://schemas.openxmlformats.org/officeDocument/2006/relationships" id="283" r:id="R0dacaab439964938"/>
    <p:sldId xmlns:r="http://schemas.openxmlformats.org/officeDocument/2006/relationships" id="284" r:id="R646240ae49ff4a74"/>
    <p:sldId xmlns:r="http://schemas.openxmlformats.org/officeDocument/2006/relationships" id="285" r:id="R1659bd23783a4559"/>
    <p:sldId xmlns:r="http://schemas.openxmlformats.org/officeDocument/2006/relationships" id="286" r:id="R542bcd37ef5342f8"/>
    <p:sldId xmlns:r="http://schemas.openxmlformats.org/officeDocument/2006/relationships" id="287" r:id="Rc162d346bda54a49"/>
  </p:sldIdLst>
  <p:sldSz cx="8591550" cy="75787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c312b1f874418e" /><Relationship Type="http://schemas.openxmlformats.org/officeDocument/2006/relationships/slideMaster" Target="/ppt/slideMasters/slideMaster1.xml" Id="Re739b13108f74774" /><Relationship Type="http://schemas.openxmlformats.org/officeDocument/2006/relationships/notesMaster" Target="/ppt/notesMasters/notesMaster1.xml" Id="R1fa97b72ee334f93" /><Relationship Type="http://schemas.openxmlformats.org/officeDocument/2006/relationships/presProps" Target="/ppt/presProps.xml" Id="R6dd85eaf1d23403e" /><Relationship Type="http://schemas.openxmlformats.org/officeDocument/2006/relationships/tableStyles" Target="/ppt/tableStyles.xml" Id="Rfaab236d9dc14f47" /><Relationship Type="http://schemas.openxmlformats.org/officeDocument/2006/relationships/slide" Target="/ppt/slides/slide1.xml" Id="R09252b45610647a4" /><Relationship Type="http://schemas.openxmlformats.org/officeDocument/2006/relationships/slide" Target="/ppt/slides/slide2.xml" Id="R436c4dbeda024391" /><Relationship Type="http://schemas.openxmlformats.org/officeDocument/2006/relationships/slide" Target="/ppt/slides/slide3.xml" Id="Ra605d9d669f745ae" /><Relationship Type="http://schemas.openxmlformats.org/officeDocument/2006/relationships/slide" Target="/ppt/slides/slide4.xml" Id="R84a3c790acce4fff" /><Relationship Type="http://schemas.openxmlformats.org/officeDocument/2006/relationships/slide" Target="/ppt/slides/slide5.xml" Id="R908e434f83204f87" /><Relationship Type="http://schemas.openxmlformats.org/officeDocument/2006/relationships/slide" Target="/ppt/slides/slide6.xml" Id="R67fcc8f3e238451f" /><Relationship Type="http://schemas.openxmlformats.org/officeDocument/2006/relationships/slide" Target="/ppt/slides/slide7.xml" Id="R1d017cb4a5ad4cff" /><Relationship Type="http://schemas.openxmlformats.org/officeDocument/2006/relationships/slide" Target="/ppt/slides/slide8.xml" Id="Rc2568b50f84541cb" /><Relationship Type="http://schemas.openxmlformats.org/officeDocument/2006/relationships/slide" Target="/ppt/slides/slide9.xml" Id="Re15d3caf318744bb" /><Relationship Type="http://schemas.openxmlformats.org/officeDocument/2006/relationships/slide" Target="/ppt/slides/slide10.xml" Id="Rcbf63f80e71540bd" /><Relationship Type="http://schemas.openxmlformats.org/officeDocument/2006/relationships/slide" Target="/ppt/slides/slide11.xml" Id="Ra25da21b17e54e37" /><Relationship Type="http://schemas.openxmlformats.org/officeDocument/2006/relationships/slide" Target="/ppt/slides/slide12.xml" Id="R3b932fbfb44648ca" /><Relationship Type="http://schemas.openxmlformats.org/officeDocument/2006/relationships/slide" Target="/ppt/slides/slide13.xml" Id="Rea293a2a14a9446f" /><Relationship Type="http://schemas.openxmlformats.org/officeDocument/2006/relationships/slide" Target="/ppt/slides/slide14.xml" Id="R4cd053b2afc74149" /><Relationship Type="http://schemas.openxmlformats.org/officeDocument/2006/relationships/slide" Target="/ppt/slides/slide15.xml" Id="Rd0c1593f6ddd454a" /><Relationship Type="http://schemas.openxmlformats.org/officeDocument/2006/relationships/slide" Target="/ppt/slides/slide16.xml" Id="R75559d2720394ca9" /><Relationship Type="http://schemas.openxmlformats.org/officeDocument/2006/relationships/slide" Target="/ppt/slides/slide17.xml" Id="R53661a5c61fd4e78" /><Relationship Type="http://schemas.openxmlformats.org/officeDocument/2006/relationships/slide" Target="/ppt/slides/slide18.xml" Id="R55ba1779c47a4d69" /><Relationship Type="http://schemas.openxmlformats.org/officeDocument/2006/relationships/slide" Target="/ppt/slides/slide19.xml" Id="R77bba3888e0d4ab9" /><Relationship Type="http://schemas.openxmlformats.org/officeDocument/2006/relationships/slide" Target="/ppt/slides/slide20.xml" Id="R169f3344a86b430d" /><Relationship Type="http://schemas.openxmlformats.org/officeDocument/2006/relationships/slide" Target="/ppt/slides/slide21.xml" Id="R8ce5cfefbce64314" /><Relationship Type="http://schemas.openxmlformats.org/officeDocument/2006/relationships/slide" Target="/ppt/slides/slide22.xml" Id="Re3fc8d55b24c40cf" /><Relationship Type="http://schemas.openxmlformats.org/officeDocument/2006/relationships/slide" Target="/ppt/slides/slide23.xml" Id="R9061c629b57d4b3b" /><Relationship Type="http://schemas.openxmlformats.org/officeDocument/2006/relationships/slide" Target="/ppt/slides/slide24.xml" Id="Ra60f87d2c31d45ba" /><Relationship Type="http://schemas.openxmlformats.org/officeDocument/2006/relationships/slide" Target="/ppt/slides/slide25.xml" Id="R13a93ba5d47e418a" /><Relationship Type="http://schemas.openxmlformats.org/officeDocument/2006/relationships/slide" Target="/ppt/slides/slide26.xml" Id="R115fedabb3aa43cd" /><Relationship Type="http://schemas.openxmlformats.org/officeDocument/2006/relationships/slide" Target="/ppt/slides/slide27.xml" Id="R7bf9feaef2b74d8c" /><Relationship Type="http://schemas.openxmlformats.org/officeDocument/2006/relationships/slide" Target="/ppt/slides/slide28.xml" Id="R0dacaab439964938" /><Relationship Type="http://schemas.openxmlformats.org/officeDocument/2006/relationships/slide" Target="/ppt/slides/slide29.xml" Id="R646240ae49ff4a74" /><Relationship Type="http://schemas.openxmlformats.org/officeDocument/2006/relationships/slide" Target="/ppt/slides/slide30.xml" Id="R1659bd23783a4559" /><Relationship Type="http://schemas.openxmlformats.org/officeDocument/2006/relationships/slide" Target="/ppt/slides/slide31.xml" Id="R542bcd37ef5342f8" /><Relationship Type="http://schemas.openxmlformats.org/officeDocument/2006/relationships/slide" Target="/ppt/slides/slide32.xml" Id="Rc162d346bda54a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004ec138f44d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e915b76889424d" /><Relationship Type="http://schemas.openxmlformats.org/officeDocument/2006/relationships/notesMaster" Target="/ppt/notesMasters/notesMaster1.xml" Id="R74daabb09c3043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78c8c3965d4bce" /><Relationship Type="http://schemas.openxmlformats.org/officeDocument/2006/relationships/notesMaster" Target="/ppt/notesMasters/notesMaster1.xml" Id="R9eb1ab6775fa45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ef310e1fe54b6b" /><Relationship Type="http://schemas.openxmlformats.org/officeDocument/2006/relationships/notesMaster" Target="/ppt/notesMasters/notesMaster1.xml" Id="R921066bfaf304d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9eb28e10394ea7" /><Relationship Type="http://schemas.openxmlformats.org/officeDocument/2006/relationships/notesMaster" Target="/ppt/notesMasters/notesMaster1.xml" Id="R9f12ef56a9ea4e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154038b6404710" /><Relationship Type="http://schemas.openxmlformats.org/officeDocument/2006/relationships/notesMaster" Target="/ppt/notesMasters/notesMaster1.xml" Id="Rb7e8f67e3b0b47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cd2fd2c09c47ae" /><Relationship Type="http://schemas.openxmlformats.org/officeDocument/2006/relationships/notesMaster" Target="/ppt/notesMasters/notesMaster1.xml" Id="Rd45b526dd42249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c94943cce149a9" /><Relationship Type="http://schemas.openxmlformats.org/officeDocument/2006/relationships/notesMaster" Target="/ppt/notesMasters/notesMaster1.xml" Id="Rcf42e66d12e843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14d142490b45f1" /><Relationship Type="http://schemas.openxmlformats.org/officeDocument/2006/relationships/notesMaster" Target="/ppt/notesMasters/notesMaster1.xml" Id="R08be1a983b3a42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4b6d7d7c8149e6" /><Relationship Type="http://schemas.openxmlformats.org/officeDocument/2006/relationships/notesMaster" Target="/ppt/notesMasters/notesMaster1.xml" Id="R9f4a66607e4e43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b6f4d00f2d447e" /><Relationship Type="http://schemas.openxmlformats.org/officeDocument/2006/relationships/notesMaster" Target="/ppt/notesMasters/notesMaster1.xml" Id="R592180804b9348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8cb15ca5b24749" /><Relationship Type="http://schemas.openxmlformats.org/officeDocument/2006/relationships/notesMaster" Target="/ppt/notesMasters/notesMaster1.xml" Id="R919a2e7f4fe342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cd91f80da2444a" /><Relationship Type="http://schemas.openxmlformats.org/officeDocument/2006/relationships/notesMaster" Target="/ppt/notesMasters/notesMaster1.xml" Id="R2d3b570b16144b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6f14aa191847ea" /><Relationship Type="http://schemas.openxmlformats.org/officeDocument/2006/relationships/notesMaster" Target="/ppt/notesMasters/notesMaster1.xml" Id="Rb30d1d1d47944f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f49cc7c6174ccb" /><Relationship Type="http://schemas.openxmlformats.org/officeDocument/2006/relationships/notesMaster" Target="/ppt/notesMasters/notesMaster1.xml" Id="Re268d0fbfe3445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c44001b3a7443a" /><Relationship Type="http://schemas.openxmlformats.org/officeDocument/2006/relationships/notesMaster" Target="/ppt/notesMasters/notesMaster1.xml" Id="R4fd4dc1b884840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a45ca677b4432b" /><Relationship Type="http://schemas.openxmlformats.org/officeDocument/2006/relationships/notesMaster" Target="/ppt/notesMasters/notesMaster1.xml" Id="R48df3bd22e004e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676a12dfb54b15" /><Relationship Type="http://schemas.openxmlformats.org/officeDocument/2006/relationships/notesMaster" Target="/ppt/notesMasters/notesMaster1.xml" Id="Ref2dce74243047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c8bbdb36db4db2" /><Relationship Type="http://schemas.openxmlformats.org/officeDocument/2006/relationships/notesMaster" Target="/ppt/notesMasters/notesMaster1.xml" Id="R6929534d87c94a4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01ff02c8554892" /><Relationship Type="http://schemas.openxmlformats.org/officeDocument/2006/relationships/notesMaster" Target="/ppt/notesMasters/notesMaster1.xml" Id="R4d56d58fd08246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91e3e29ae7143dd" /><Relationship Type="http://schemas.openxmlformats.org/officeDocument/2006/relationships/notesMaster" Target="/ppt/notesMasters/notesMaster1.xml" Id="Rfb6d376df4ed465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8c671e17754cce" /><Relationship Type="http://schemas.openxmlformats.org/officeDocument/2006/relationships/notesMaster" Target="/ppt/notesMasters/notesMaster1.xml" Id="R65100802fa5348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95fc12073274f4a" /><Relationship Type="http://schemas.openxmlformats.org/officeDocument/2006/relationships/notesMaster" Target="/ppt/notesMasters/notesMaster1.xml" Id="Rabd3b23e709a45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1e401273584c88" /><Relationship Type="http://schemas.openxmlformats.org/officeDocument/2006/relationships/notesMaster" Target="/ppt/notesMasters/notesMaster1.xml" Id="R6281d9430f2347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38a3c7d905e411e" /><Relationship Type="http://schemas.openxmlformats.org/officeDocument/2006/relationships/notesMaster" Target="/ppt/notesMasters/notesMaster1.xml" Id="R20c6b14af83540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2dfaa319c7475e" /><Relationship Type="http://schemas.openxmlformats.org/officeDocument/2006/relationships/notesMaster" Target="/ppt/notesMasters/notesMaster1.xml" Id="Rc59adf82a462424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ff0a86381274745" /><Relationship Type="http://schemas.openxmlformats.org/officeDocument/2006/relationships/notesMaster" Target="/ppt/notesMasters/notesMaster1.xml" Id="R553b47c4001d4a7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2451ce7a00f4e7c" /><Relationship Type="http://schemas.openxmlformats.org/officeDocument/2006/relationships/notesMaster" Target="/ppt/notesMasters/notesMaster1.xml" Id="Rfb30c9be8ff84eb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a3b7f3e81154305" /><Relationship Type="http://schemas.openxmlformats.org/officeDocument/2006/relationships/notesMaster" Target="/ppt/notesMasters/notesMaster1.xml" Id="R4099a22c937b46a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67a83dd87b54592" /><Relationship Type="http://schemas.openxmlformats.org/officeDocument/2006/relationships/notesMaster" Target="/ppt/notesMasters/notesMaster1.xml" Id="R3a13fdfb73e143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63bec710543444d" /><Relationship Type="http://schemas.openxmlformats.org/officeDocument/2006/relationships/notesMaster" Target="/ppt/notesMasters/notesMaster1.xml" Id="R72004ce0ea7a4a5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e36a87024ff48d4" /><Relationship Type="http://schemas.openxmlformats.org/officeDocument/2006/relationships/notesMaster" Target="/ppt/notesMasters/notesMaster1.xml" Id="R66ce4eb7e4d9468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95d0f989bd4aa3" /><Relationship Type="http://schemas.openxmlformats.org/officeDocument/2006/relationships/notesMaster" Target="/ppt/notesMasters/notesMaster1.xml" Id="Rdb83318318e34d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2028 정시의 특징</a:t>
            </a:r>
          </a:p>
          <a:p xmlns:a="http://schemas.openxmlformats.org/drawingml/2006/main">
            <a:r>
              <a:t>수능 성적과 전형의 조건을 함께 읽는다</a:t>
            </a:r>
          </a:p>
          <a:p xmlns:a="http://schemas.openxmlformats.org/drawingml/2006/main">
            <a:r>
              <a:t/>
            </a:r>
          </a:p>
          <a:p xmlns:a="http://schemas.openxmlformats.org/drawingml/2006/main">
            <a:r>
              <a:t>SEN 183·204·211·257쪽</a:t>
            </a:r>
          </a:p>
          <a:p xmlns:a="http://schemas.openxmlformats.org/drawingml/2006/main">
            <a:r>
              <a:t>인천 18~20쪽</a:t>
            </a:r>
          </a:p>
          <a:p xmlns:a="http://schemas.openxmlformats.org/drawingml/2006/main">
            <a:r>
              <a:t/>
            </a:r>
          </a:p>
          <a:p xmlns:a="http://schemas.openxmlformats.org/drawingml/2006/main">
            <a:r>
              <a:t/>
            </a:r>
          </a:p>
          <a:p xmlns:a="http://schemas.openxmlformats.org/drawingml/2006/main">
            <a:r>
              <a:t/>
            </a:r>
          </a:p>
          <a:p xmlns:a="http://schemas.openxmlformats.org/drawingml/2006/main">
            <a:r>
              <a:t>2028학년도 정시는 하나의 선발 방식으로 설명하기 어렵다. 수능 100% 전형이 유지되는 한편, 학생부를 함께 반영하거나 수능을 최저학력기준으로 활용하는 전형도 운영된다. 같은 대학의 전형이라도 지원자격과 평가방식이 달라질 수 있다.</a:t>
            </a:r>
          </a:p>
          <a:p xmlns:a="http://schemas.openxmlformats.org/drawingml/2006/main">
            <a:r>
              <a:t/>
            </a:r>
          </a:p>
          <a:p xmlns:a="http://schemas.openxmlformats.org/drawingml/2006/main">
            <a:r>
              <a:t>따라서 대학 이름을 고르기 전에 전형을 구분해야 한다. 지원자격, 선발 단계, 학생부 평가방법, 수능 활용지표, 탐구 반영방식의 순서로 확인하면 대학별 차이를 구체적으로 파악할 수 있다.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2028 정시의 특징</a:t>
            </a:r>
          </a:p>
          <a:p xmlns:a="http://schemas.openxmlformats.org/drawingml/2006/main">
            <a:r>
              <a:t>전형 수를 세기 전에 비교 기준을 정한다</a:t>
            </a:r>
          </a:p>
          <a:p xmlns:a="http://schemas.openxmlformats.org/drawingml/2006/main">
            <a:r>
              <a:t/>
            </a:r>
          </a:p>
          <a:p xmlns:a="http://schemas.openxmlformats.org/drawingml/2006/main">
            <a:r>
              <a:t>첨부 엑셀 00_기준·01_군별합계·02_전형상세</a:t>
            </a:r>
          </a:p>
          <a:p xmlns:a="http://schemas.openxmlformats.org/drawingml/2006/main">
            <a:r>
              <a:t>각 대학 2028 시행계획</a:t>
            </a:r>
          </a:p>
          <a:p xmlns:a="http://schemas.openxmlformats.org/drawingml/2006/main">
            <a:r>
              <a:t/>
            </a:r>
          </a:p>
          <a:p xmlns:a="http://schemas.openxmlformats.org/drawingml/2006/main">
            <a:r>
              <a:t>주력 구조 수는 대학 전체의 공식 정시 전형 총개수가 아님. 숙명여대는 동일 전형 안에서 모집군별 방법이 다름.</a:t>
            </a:r>
          </a:p>
          <a:p xmlns:a="http://schemas.openxmlformats.org/drawingml/2006/main">
            <a:r>
              <a:t/>
            </a:r>
          </a:p>
          <a:p xmlns:a="http://schemas.openxmlformats.org/drawingml/2006/main">
            <a:r>
              <a:t>뒤의 숫자는 대학이 운영하는 모든 정시 전형의 총개수가 아니라 주력 선발구조의 수이다. 동일한 일반전형이 여러 모집군에서 운영되면 하나로 묶고, 대학이 별도 명칭으로 구분한 주력 유형은 나누었다. 전형유형의 수와 지원 가능한 원서 수는 같지 않다.</a:t>
            </a:r>
          </a:p>
          <a:p xmlns:a="http://schemas.openxmlformats.org/drawingml/2006/main">
            <a:r>
              <a:t/>
            </a:r>
          </a:p>
          <a:p xmlns:a="http://schemas.openxmlformats.org/drawingml/2006/main">
            <a:r>
              <a:t>지원 가능 표시는 국내 고교의 일반적인 졸업(예정)자 기준이다. 고교 유형, 성적 기재 학기, 추천, 성별 등 세부 조건은 해당 전형의 자격을 충족해야 한다. 인원은 시행계획 단계의 계획치이므로 최종 모집인원과 구분한다.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수도권 주력 선발구조</a:t>
            </a:r>
          </a:p>
          <a:p xmlns:a="http://schemas.openxmlformats.org/drawingml/2006/main">
            <a:r>
              <a:t>수도권 전형과 지원자격 1</a:t>
            </a:r>
          </a:p>
          <a:p xmlns:a="http://schemas.openxmlformats.org/drawingml/2006/main">
            <a:r>
              <a:t/>
            </a:r>
          </a:p>
          <a:p xmlns:a="http://schemas.openxmlformats.org/drawingml/2006/main">
            <a:r>
              <a:t>첨부 엑셀 01·02 시트</a:t>
            </a:r>
          </a:p>
          <a:p xmlns:a="http://schemas.openxmlformats.org/drawingml/2006/main">
            <a:r>
              <a:t>SEN 대학별 전형방법</a:t>
            </a:r>
          </a:p>
          <a:p xmlns:a="http://schemas.openxmlformats.org/drawingml/2006/main">
            <a:r>
              <a:t>대학별 2028 시행계획 지원자격</a:t>
            </a:r>
          </a:p>
          <a:p xmlns:a="http://schemas.openxmlformats.org/drawingml/2006/main">
            <a:r>
              <a:t>경희 PDF 46쪽(책자 44쪽)</a:t>
            </a:r>
          </a:p>
          <a:p xmlns:a="http://schemas.openxmlformats.org/drawingml/2006/main">
            <a:r>
              <a:t/>
            </a:r>
          </a:p>
          <a:p xmlns:a="http://schemas.openxmlformats.org/drawingml/2006/main">
            <a:r>
              <a:t>여대는 성별 지원자격 적용. 군사·의학·예체능 모집단위는 면접·실기·신체검사 등의 예외 확인.</a:t>
            </a:r>
          </a:p>
          <a:p xmlns:a="http://schemas.openxmlformats.org/drawingml/2006/main">
            <a:r>
              <a:t/>
            </a:r>
          </a:p>
          <a:p xmlns:a="http://schemas.openxmlformats.org/drawingml/2006/main">
            <a: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a:p xmlns:a="http://schemas.openxmlformats.org/drawingml/2006/main">
            <a:r>
              <a:t/>
            </a:r>
          </a:p>
          <a:p xmlns:a="http://schemas.openxmlformats.org/drawingml/2006/main">
            <a:r>
              <a:t>서울대: 단계형, 교과역량평가 반영 / 연세대: 일반계열 수능 90+서류 10 / 고려대(안암): 교과우수는 국내고 6학기 성적 필요 / 서강대: 지역균형은 학교장 추천 필요 / 성균관대: 융합인재는 학생부 100+수능최저</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수도권 주력 선발구조</a:t>
            </a:r>
          </a:p>
          <a:p xmlns:a="http://schemas.openxmlformats.org/drawingml/2006/main">
            <a:r>
              <a:t>수도권 전형과 지원자격 2</a:t>
            </a:r>
          </a:p>
          <a:p xmlns:a="http://schemas.openxmlformats.org/drawingml/2006/main">
            <a:r>
              <a:t/>
            </a:r>
          </a:p>
          <a:p xmlns:a="http://schemas.openxmlformats.org/drawingml/2006/main">
            <a:r>
              <a:t>첨부 엑셀 01·02 시트</a:t>
            </a:r>
          </a:p>
          <a:p xmlns:a="http://schemas.openxmlformats.org/drawingml/2006/main">
            <a:r>
              <a:t>SEN 대학별 전형방법</a:t>
            </a:r>
          </a:p>
          <a:p xmlns:a="http://schemas.openxmlformats.org/drawingml/2006/main">
            <a:r>
              <a:t>대학별 2028 시행계획 지원자격</a:t>
            </a:r>
          </a:p>
          <a:p xmlns:a="http://schemas.openxmlformats.org/drawingml/2006/main">
            <a:r>
              <a:t>경희 PDF 46쪽(책자 44쪽)</a:t>
            </a:r>
          </a:p>
          <a:p xmlns:a="http://schemas.openxmlformats.org/drawingml/2006/main">
            <a:r>
              <a:t/>
            </a:r>
          </a:p>
          <a:p xmlns:a="http://schemas.openxmlformats.org/drawingml/2006/main">
            <a:r>
              <a:t>여대는 성별 지원자격 적용. 군사·의학·예체능 모집단위는 면접·실기·신체검사 등의 예외 확인.</a:t>
            </a:r>
          </a:p>
          <a:p xmlns:a="http://schemas.openxmlformats.org/drawingml/2006/main">
            <a:r>
              <a:t/>
            </a:r>
          </a:p>
          <a:p xmlns:a="http://schemas.openxmlformats.org/drawingml/2006/main">
            <a: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a:p xmlns:a="http://schemas.openxmlformats.org/drawingml/2006/main">
            <a:r>
              <a:t/>
            </a:r>
          </a:p>
          <a:p xmlns:a="http://schemas.openxmlformats.org/drawingml/2006/main">
            <a:r>
              <a:t>한양대(서울): 수능 90+학생부종합평가 10 / 중앙대: 수능67은 서류 33+수능최저 / 경희대(서울): 수능·학생부형 90+5+2.5+2.5 / 경희대(국제): 자연계열 교과 이수 가산점 확인 / 한국외대(서울): A·B 환산점수 중 높은 점수</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수도권 주력 선발구조</a:t>
            </a:r>
          </a:p>
          <a:p xmlns:a="http://schemas.openxmlformats.org/drawingml/2006/main">
            <a:r>
              <a:t>수도권 전형과 지원자격 3</a:t>
            </a:r>
          </a:p>
          <a:p xmlns:a="http://schemas.openxmlformats.org/drawingml/2006/main">
            <a:r>
              <a:t/>
            </a:r>
          </a:p>
          <a:p xmlns:a="http://schemas.openxmlformats.org/drawingml/2006/main">
            <a:r>
              <a:t>첨부 엑셀 01·02 시트</a:t>
            </a:r>
          </a:p>
          <a:p xmlns:a="http://schemas.openxmlformats.org/drawingml/2006/main">
            <a:r>
              <a:t>SEN 대학별 전형방법</a:t>
            </a:r>
          </a:p>
          <a:p xmlns:a="http://schemas.openxmlformats.org/drawingml/2006/main">
            <a:r>
              <a:t>대학별 2028 시행계획 지원자격</a:t>
            </a:r>
          </a:p>
          <a:p xmlns:a="http://schemas.openxmlformats.org/drawingml/2006/main">
            <a:r>
              <a:t>경희 PDF 46쪽(책자 44쪽)</a:t>
            </a:r>
          </a:p>
          <a:p xmlns:a="http://schemas.openxmlformats.org/drawingml/2006/main">
            <a:r>
              <a:t/>
            </a:r>
          </a:p>
          <a:p xmlns:a="http://schemas.openxmlformats.org/drawingml/2006/main">
            <a:r>
              <a:t>여대는 성별 지원자격 적용. 군사·의학·예체능 모집단위는 면접·실기·신체검사 등의 예외 확인.</a:t>
            </a:r>
          </a:p>
          <a:p xmlns:a="http://schemas.openxmlformats.org/drawingml/2006/main">
            <a:r>
              <a:t/>
            </a:r>
          </a:p>
          <a:p xmlns:a="http://schemas.openxmlformats.org/drawingml/2006/main">
            <a: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a:p xmlns:a="http://schemas.openxmlformats.org/drawingml/2006/main">
            <a:r>
              <a:t/>
            </a:r>
          </a:p>
          <a:p xmlns:a="http://schemas.openxmlformats.org/drawingml/2006/main">
            <a:r>
              <a:t>한국외대(글로벌): 탐구 상위 1과목 반영 / 서울시립대: 인문·자연 수능 80+교과 18+출결 2 / 건국대(서울): 다군 단과대학 자유전공만 교과정성 10 / 동국대(서울): 일반 인문·자연 수능 80+학생부평가 20 / 홍익대(서울): 다군 인문·자연 수능 90+교과 10</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수도권 주력 선발구조</a:t>
            </a:r>
          </a:p>
          <a:p xmlns:a="http://schemas.openxmlformats.org/drawingml/2006/main">
            <a:r>
              <a:t>수도권 전형과 지원자격 4</a:t>
            </a:r>
          </a:p>
          <a:p xmlns:a="http://schemas.openxmlformats.org/drawingml/2006/main">
            <a:r>
              <a:t/>
            </a:r>
          </a:p>
          <a:p xmlns:a="http://schemas.openxmlformats.org/drawingml/2006/main">
            <a:r>
              <a:t>첨부 엑셀 01·02 시트</a:t>
            </a:r>
          </a:p>
          <a:p xmlns:a="http://schemas.openxmlformats.org/drawingml/2006/main">
            <a:r>
              <a:t>SEN 대학별 전형방법</a:t>
            </a:r>
          </a:p>
          <a:p xmlns:a="http://schemas.openxmlformats.org/drawingml/2006/main">
            <a:r>
              <a:t>대학별 2028 시행계획 지원자격</a:t>
            </a:r>
          </a:p>
          <a:p xmlns:a="http://schemas.openxmlformats.org/drawingml/2006/main">
            <a:r>
              <a:t>경희 PDF 46쪽(책자 44쪽)</a:t>
            </a:r>
          </a:p>
          <a:p xmlns:a="http://schemas.openxmlformats.org/drawingml/2006/main">
            <a:r>
              <a:t/>
            </a:r>
          </a:p>
          <a:p xmlns:a="http://schemas.openxmlformats.org/drawingml/2006/main">
            <a:r>
              <a:t>여대는 성별 지원자격 적용. 군사·의학·예체능 모집단위는 면접·실기·신체검사 등의 예외 확인.</a:t>
            </a:r>
          </a:p>
          <a:p xmlns:a="http://schemas.openxmlformats.org/drawingml/2006/main">
            <a:r>
              <a:t/>
            </a:r>
          </a:p>
          <a:p xmlns:a="http://schemas.openxmlformats.org/drawingml/2006/main">
            <a: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a:p xmlns:a="http://schemas.openxmlformats.org/drawingml/2006/main">
            <a:r>
              <a:t/>
            </a:r>
          </a:p>
          <a:p xmlns:a="http://schemas.openxmlformats.org/drawingml/2006/main">
            <a:r>
              <a:t>이화여대: 수능-학생부는 수능 85+서류 15 / 숙명여대: 가군 인문·자연 80+20, 나·다군 100 / 광운대: 일반 인문·자연 수능 100 / 숭실대: 일반 인문·자연 수능 100 / 상명대(서울): 일반 인문·자연 수능 100</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수도권 주력 선발구조</a:t>
            </a:r>
          </a:p>
          <a:p xmlns:a="http://schemas.openxmlformats.org/drawingml/2006/main">
            <a:r>
              <a:t>수도권 전형과 지원자격 5</a:t>
            </a:r>
          </a:p>
          <a:p xmlns:a="http://schemas.openxmlformats.org/drawingml/2006/main">
            <a:r>
              <a:t/>
            </a:r>
          </a:p>
          <a:p xmlns:a="http://schemas.openxmlformats.org/drawingml/2006/main">
            <a:r>
              <a:t>첨부 엑셀 01·02 시트</a:t>
            </a:r>
          </a:p>
          <a:p xmlns:a="http://schemas.openxmlformats.org/drawingml/2006/main">
            <a:r>
              <a:t>SEN 대학별 전형방법</a:t>
            </a:r>
          </a:p>
          <a:p xmlns:a="http://schemas.openxmlformats.org/drawingml/2006/main">
            <a:r>
              <a:t>대학별 2028 시행계획 지원자격</a:t>
            </a:r>
          </a:p>
          <a:p xmlns:a="http://schemas.openxmlformats.org/drawingml/2006/main">
            <a:r>
              <a:t>경희 PDF 46쪽(책자 44쪽)</a:t>
            </a:r>
          </a:p>
          <a:p xmlns:a="http://schemas.openxmlformats.org/drawingml/2006/main">
            <a:r>
              <a:t/>
            </a:r>
          </a:p>
          <a:p xmlns:a="http://schemas.openxmlformats.org/drawingml/2006/main">
            <a:r>
              <a:t>여대는 성별 지원자격 적용. 군사·의학·예체능 모집단위는 면접·실기·신체검사 등의 예외 확인.</a:t>
            </a:r>
          </a:p>
          <a:p xmlns:a="http://schemas.openxmlformats.org/drawingml/2006/main">
            <a:r>
              <a:t/>
            </a:r>
          </a:p>
          <a:p xmlns:a="http://schemas.openxmlformats.org/drawingml/2006/main">
            <a: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a:p xmlns:a="http://schemas.openxmlformats.org/drawingml/2006/main">
            <a:r>
              <a:t/>
            </a:r>
          </a:p>
          <a:p xmlns:a="http://schemas.openxmlformats.org/drawingml/2006/main">
            <a:r>
              <a:t>서울여대: 우수 영역 순 반영, 수학과 수학 필수 / 국민대: 일반 인문·자연 수능 100, 탐구 1 / 성신여대: 일반 인문·자연 수능 100 / 서울과학기술대: 일반 인문·자연 수능 100 / 세종대: 수능형 100, 융합형 90+교과정성 10</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수도권 주력 선발구조</a:t>
            </a:r>
          </a:p>
          <a:p xmlns:a="http://schemas.openxmlformats.org/drawingml/2006/main">
            <a:r>
              <a:t>수도권 전형과 지원자격 6</a:t>
            </a:r>
          </a:p>
          <a:p xmlns:a="http://schemas.openxmlformats.org/drawingml/2006/main">
            <a:r>
              <a:t/>
            </a:r>
          </a:p>
          <a:p xmlns:a="http://schemas.openxmlformats.org/drawingml/2006/main">
            <a:r>
              <a:t>첨부 엑셀 01·02 시트</a:t>
            </a:r>
          </a:p>
          <a:p xmlns:a="http://schemas.openxmlformats.org/drawingml/2006/main">
            <a:r>
              <a:t>SEN 대학별 전형방법</a:t>
            </a:r>
          </a:p>
          <a:p xmlns:a="http://schemas.openxmlformats.org/drawingml/2006/main">
            <a:r>
              <a:t>대학별 2028 시행계획 지원자격</a:t>
            </a:r>
          </a:p>
          <a:p xmlns:a="http://schemas.openxmlformats.org/drawingml/2006/main">
            <a:r>
              <a:t>경희 PDF 46쪽(책자 44쪽)</a:t>
            </a:r>
          </a:p>
          <a:p xmlns:a="http://schemas.openxmlformats.org/drawingml/2006/main">
            <a:r>
              <a:t/>
            </a:r>
          </a:p>
          <a:p xmlns:a="http://schemas.openxmlformats.org/drawingml/2006/main">
            <a:r>
              <a:t>여대는 성별 지원자격 적용. 군사·의학·예체능 모집단위는 면접·실기·신체검사 등의 예외 확인.</a:t>
            </a:r>
          </a:p>
          <a:p xmlns:a="http://schemas.openxmlformats.org/drawingml/2006/main">
            <a:r>
              <a:t/>
            </a:r>
          </a:p>
          <a:p xmlns:a="http://schemas.openxmlformats.org/drawingml/2006/main">
            <a: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a:p xmlns:a="http://schemas.openxmlformats.org/drawingml/2006/main">
            <a:r>
              <a:t/>
            </a:r>
          </a:p>
          <a:p xmlns:a="http://schemas.openxmlformats.org/drawingml/2006/main">
            <a:r>
              <a:t>한성대: 일반 인문·자연 수능 100 / 가천대: 일반1 백분위, 일반2 표준점수 / 아주대: 1: 의학, 2: 자유전공, 3: 일반, 4: 간호교차 / 단국대(죽전): 일반 인문·자연 수능 90+학생부정성 10 / 한국항공대: 수능 100, 항공운항 신체검사 별도</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수도권 주력 선발구조</a:t>
            </a:r>
          </a:p>
          <a:p xmlns:a="http://schemas.openxmlformats.org/drawingml/2006/main">
            <a:r>
              <a:t>수도권 전형과 지원자격 7</a:t>
            </a:r>
          </a:p>
          <a:p xmlns:a="http://schemas.openxmlformats.org/drawingml/2006/main">
            <a:r>
              <a:t/>
            </a:r>
          </a:p>
          <a:p xmlns:a="http://schemas.openxmlformats.org/drawingml/2006/main">
            <a:r>
              <a:t>첨부 엑셀 01·02 시트</a:t>
            </a:r>
          </a:p>
          <a:p xmlns:a="http://schemas.openxmlformats.org/drawingml/2006/main">
            <a:r>
              <a:t>SEN 대학별 전형방법</a:t>
            </a:r>
          </a:p>
          <a:p xmlns:a="http://schemas.openxmlformats.org/drawingml/2006/main">
            <a:r>
              <a:t>대학별 2028 시행계획 지원자격</a:t>
            </a:r>
          </a:p>
          <a:p xmlns:a="http://schemas.openxmlformats.org/drawingml/2006/main">
            <a:r>
              <a:t>경희 PDF 46쪽(책자 44쪽)</a:t>
            </a:r>
          </a:p>
          <a:p xmlns:a="http://schemas.openxmlformats.org/drawingml/2006/main">
            <a:r>
              <a:t/>
            </a:r>
          </a:p>
          <a:p xmlns:a="http://schemas.openxmlformats.org/drawingml/2006/main">
            <a:r>
              <a:t>여대는 성별 지원자격 적용. 군사·의학·예체능 모집단위는 면접·실기·신체검사 등의 예외 확인.</a:t>
            </a:r>
          </a:p>
          <a:p xmlns:a="http://schemas.openxmlformats.org/drawingml/2006/main">
            <a:r>
              <a:t/>
            </a:r>
          </a:p>
          <a:p xmlns:a="http://schemas.openxmlformats.org/drawingml/2006/main">
            <a: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a:p xmlns:a="http://schemas.openxmlformats.org/drawingml/2006/main">
            <a:r>
              <a:t/>
            </a:r>
          </a:p>
          <a:p xmlns:a="http://schemas.openxmlformats.org/drawingml/2006/main">
            <a:r>
              <a:t>한양대(ERICA): 일반 인문·자연 수능 100 / 인하대: 일반 인문·자연 수능 100</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지방거점국립대</a:t>
            </a:r>
          </a:p>
          <a:p xmlns:a="http://schemas.openxmlformats.org/drawingml/2006/main">
            <a:r>
              <a:t>거점국립대도 학생부 반영 여부가 다르다</a:t>
            </a:r>
          </a:p>
          <a:p xmlns:a="http://schemas.openxmlformats.org/drawingml/2006/main">
            <a:r>
              <a:t/>
            </a:r>
          </a:p>
          <a:p xmlns:a="http://schemas.openxmlformats.org/drawingml/2006/main">
            <a:r>
              <a:t>SEN 108·123·127·172·245쪽</a:t>
            </a:r>
          </a:p>
          <a:p xmlns:a="http://schemas.openxmlformats.org/drawingml/2006/main">
            <a:r>
              <a:t>강원(춘천) PDF 27쪽, 경북 43쪽, 경상 16쪽, 부산 29~30쪽, 전남 22쪽</a:t>
            </a:r>
          </a:p>
          <a:p xmlns:a="http://schemas.openxmlformats.org/drawingml/2006/main">
            <a:r>
              <a:t/>
            </a:r>
          </a:p>
          <a:p xmlns:a="http://schemas.openxmlformats.org/drawingml/2006/main">
            <a:r>
              <a:t>예체능 실기 운영 모집단위 제외. 강원대는 캠퍼스별 세부 방식 구분.</a:t>
            </a:r>
          </a:p>
          <a:p xmlns:a="http://schemas.openxmlformats.org/drawingml/2006/main">
            <a:r>
              <a:t/>
            </a:r>
          </a:p>
          <a:p xmlns:a="http://schemas.openxmlformats.org/drawingml/2006/main">
            <a:r>
              <a:t>지방거점국립대의 정시 역시 수능 100%로 일괄 설명할 수 없다. 경북대는 학생부교과를 10% 반영하고, 부산대는 학업충실도평가를 20% 반영한다. 같은 학생부 반영이라도 정량 산출인지 정성평가인지 구분해서 읽어야 한다.</a:t>
            </a:r>
          </a:p>
          <a:p xmlns:a="http://schemas.openxmlformats.org/drawingml/2006/main">
            <a:r>
              <a:t/>
            </a:r>
          </a:p>
          <a:p xmlns:a="http://schemas.openxmlformats.org/drawingml/2006/main">
            <a:r>
              <a:t>이 표는 일반 지원자를 대상으로 하는 주력 전형만 비교한 것이다. 강원인재·지역인재·수능지역 등 지역 자격이 필요한 전형은 별도로 운영되므로, 일반전형의 지원 가능 여부를 해당 전형에 그대로 적용할 수 없다.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지방거점국립대</a:t>
            </a:r>
          </a:p>
          <a:p xmlns:a="http://schemas.openxmlformats.org/drawingml/2006/main">
            <a:r>
              <a:t>일반전형과 지역 자격 전형을 분리해서 읽는다</a:t>
            </a:r>
          </a:p>
          <a:p xmlns:a="http://schemas.openxmlformats.org/drawingml/2006/main">
            <a:r>
              <a:t/>
            </a:r>
          </a:p>
          <a:p xmlns:a="http://schemas.openxmlformats.org/drawingml/2006/main">
            <a:r>
              <a:t>SEN 249·252·265·269쪽</a:t>
            </a:r>
          </a:p>
          <a:p xmlns:a="http://schemas.openxmlformats.org/drawingml/2006/main">
            <a:r>
              <a:t>전북 PDF 43쪽, 제주 38쪽, 충남 32쪽, 충북 17쪽</a:t>
            </a:r>
          </a:p>
          <a:p xmlns:a="http://schemas.openxmlformats.org/drawingml/2006/main">
            <a:r>
              <a:t/>
            </a:r>
          </a:p>
          <a:p xmlns:a="http://schemas.openxmlformats.org/drawingml/2006/main">
            <a:r>
              <a:t>지역인재·지역의사·경제배려·농어촌·이월 전형은 위 구조 수에서 제외.</a:t>
            </a:r>
          </a:p>
          <a:p xmlns:a="http://schemas.openxmlformats.org/drawingml/2006/main">
            <a:r>
              <a:t/>
            </a:r>
          </a:p>
          <a:p xmlns:a="http://schemas.openxmlformats.org/drawingml/2006/main">
            <a:r>
              <a:t>전북대와 제주대, 충북대는 일반 인문·자연계의 수능 100% 구조를 확인할 수 있다. 충남대는 수능과 학교생활기록부를 함께 반영하며, 시행계획에 제시된 80·15·5는 실질반영비율이라는 점에 유의해야 한다.</a:t>
            </a:r>
          </a:p>
          <a:p xmlns:a="http://schemas.openxmlformats.org/drawingml/2006/main">
            <a:r>
              <a:t/>
            </a:r>
          </a:p>
          <a:p xmlns:a="http://schemas.openxmlformats.org/drawingml/2006/main">
            <a:r>
              <a:t>졸업생이라는 이유만으로 일반전형 지원이 제한되는 것은 아니다. 다만 지역인재 전형은 고교 소재지와 이수기간을 확인해야 하며, 일부 의약학·간호 모집단위는 중학교 이수 및 거주 요건도 적용된다.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지방거점국립대</a:t>
            </a:r>
          </a:p>
          <a:p xmlns:a="http://schemas.openxmlformats.org/drawingml/2006/main">
            <a:r>
              <a:t>지역인재는 졸업연도보다 이수·거주 요건이 중요하다</a:t>
            </a:r>
          </a:p>
          <a:p xmlns:a="http://schemas.openxmlformats.org/drawingml/2006/main">
            <a:r>
              <a:t/>
            </a:r>
          </a:p>
          <a:p xmlns:a="http://schemas.openxmlformats.org/drawingml/2006/main">
            <a:r>
              <a:t>경북 PDF 43쪽, 경상 16쪽, 부산 30쪽, 전남 22쪽, 제주 38쪽</a:t>
            </a:r>
          </a:p>
          <a:p xmlns:a="http://schemas.openxmlformats.org/drawingml/2006/main">
            <a:r>
              <a:t/>
            </a:r>
          </a:p>
          <a:p xmlns:a="http://schemas.openxmlformats.org/drawingml/2006/main">
            <a:r>
              <a:t>수의예과를 의·치·약·간호의 강화 요건과 일괄적으로 묶지 않음.</a:t>
            </a:r>
          </a:p>
          <a:p xmlns:a="http://schemas.openxmlformats.org/drawingml/2006/main">
            <a:r>
              <a:t/>
            </a:r>
          </a:p>
          <a:p xmlns:a="http://schemas.openxmlformats.org/drawingml/2006/main">
            <a:r>
              <a:t>지역인재 전형은 해당 지역의 고교 교육과정을 이수했는지가 출발점이다. 같은 지역에 현재 거주하고 있다는 사실만으로 지원자격이 성립하는 것은 아니며, 입학일부터 졸업일까지의 이수 조건을 살펴야 한다.</a:t>
            </a:r>
          </a:p>
          <a:p xmlns:a="http://schemas.openxmlformats.org/drawingml/2006/main">
            <a:r>
              <a:t/>
            </a:r>
          </a:p>
          <a:p xmlns:a="http://schemas.openxmlformats.org/drawingml/2006/main">
            <a:r>
              <a:t>2022학년도 이후 중학교 입학자 중 대학이 지정한 의약학·간호 모집단위 지원자는 비수도권 중학교와 해당 지역 고교 이수, 재학기간 중 거주 요건을 추가로 확인해야 한다. 적용 모집단위가 대학마다 다르므로 하나의 조건으로 일반화해서는 안 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신설과 변경</a:t>
            </a:r>
          </a:p>
          <a:p xmlns:a="http://schemas.openxmlformats.org/drawingml/2006/main">
            <a:r>
              <a:t>신설·이원화·방법 변경을 구분한다</a:t>
            </a:r>
          </a:p>
          <a:p xmlns:a="http://schemas.openxmlformats.org/drawingml/2006/main">
            <a:r>
              <a:t/>
            </a:r>
          </a:p>
          <a:p xmlns:a="http://schemas.openxmlformats.org/drawingml/2006/main">
            <a:r>
              <a:t>SEN 131·183·204·211쪽</a:t>
            </a:r>
          </a:p>
          <a:p xmlns:a="http://schemas.openxmlformats.org/drawingml/2006/main">
            <a:r>
              <a:t>이화 PDF 3·15~16쪽</a:t>
            </a:r>
          </a:p>
          <a:p xmlns:a="http://schemas.openxmlformats.org/drawingml/2006/main">
            <a:r>
              <a:t>서강 PDF 19쪽</a:t>
            </a:r>
          </a:p>
          <a:p xmlns:a="http://schemas.openxmlformats.org/drawingml/2006/main">
            <a:r>
              <a:t/>
            </a:r>
          </a:p>
          <a:p xmlns:a="http://schemas.openxmlformats.org/drawingml/2006/main">
            <a:r>
              <a:t>성균관대 융합인재는 존재·방법을 확인했으며, 이 표에서 신설로 단정하지 않음.</a:t>
            </a:r>
          </a:p>
          <a:p xmlns:a="http://schemas.openxmlformats.org/drawingml/2006/main">
            <a:r>
              <a:t/>
            </a:r>
          </a:p>
          <a:p xmlns:a="http://schemas.openxmlformats.org/drawingml/2006/main">
            <a:r>
              <a:t>신설 전형의 등장은 지원 경로가 달라졌다는 뜻이지만, 모든 변화가 신설에 해당하는 것은 아니다. 기존 전형을 유형별로 나눈 경우와 같은 전형 안에서 평가요소를 바꾼 경우를 구분해야 전년 결과를 정확히 해석할 수 있다.</a:t>
            </a:r>
          </a:p>
          <a:p xmlns:a="http://schemas.openxmlformats.org/drawingml/2006/main">
            <a:r>
              <a:t/>
            </a:r>
          </a:p>
          <a:p xmlns:a="http://schemas.openxmlformats.org/drawingml/2006/main">
            <a:r>
              <a:t>서강대 지역균형은 지원자격 자체가 다른 신설 전형이다. 경희대·성균관대·세종대는 세부 유형별 평가방식과 수능 산출 구조를 비교해야 하며, 이화여대는 수능전형과 수능-학생부전형의 차이를 함께 살펴야 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신설과 변경</a:t>
            </a:r>
          </a:p>
          <a:p xmlns:a="http://schemas.openxmlformats.org/drawingml/2006/main">
            <a:r>
              <a:t>학생부 반영의 범위와 비율이 바뀐다</a:t>
            </a:r>
          </a:p>
          <a:p xmlns:a="http://schemas.openxmlformats.org/drawingml/2006/main">
            <a:r>
              <a:t/>
            </a:r>
          </a:p>
          <a:p xmlns:a="http://schemas.openxmlformats.org/drawingml/2006/main">
            <a:r>
              <a:t>SEN 160·195·307쪽</a:t>
            </a:r>
          </a:p>
          <a:p xmlns:a="http://schemas.openxmlformats.org/drawingml/2006/main">
            <a:r>
              <a:t>단국 시행계획 주요 변경사항</a:t>
            </a:r>
          </a:p>
          <a:p xmlns:a="http://schemas.openxmlformats.org/drawingml/2006/main">
            <a:r>
              <a:t>부산 시행계획 4·29쪽</a:t>
            </a:r>
          </a:p>
          <a:p xmlns:a="http://schemas.openxmlformats.org/drawingml/2006/main">
            <a:r>
              <a:t/>
            </a:r>
          </a:p>
          <a:p xmlns:a="http://schemas.openxmlformats.org/drawingml/2006/main">
            <a:r>
              <a:t>반영비율은 별도 표시가 없는 한 시행계획의 명목비율. 충남대 실질비율과 혼용하지 않음.</a:t>
            </a:r>
          </a:p>
          <a:p xmlns:a="http://schemas.openxmlformats.org/drawingml/2006/main">
            <a:r>
              <a:t/>
            </a:r>
          </a:p>
          <a:p xmlns:a="http://schemas.openxmlformats.org/drawingml/2006/main">
            <a:r>
              <a:t>학생부를 반영한다는 사실보다 어디에, 어떤 방식으로 반영하는지가 중요하다. 교과성적을 정해진 산식으로 환산하는 방식과 학교생활기록부의 내용을 종합적으로 평가하는 방식은 준비 방향이 다르다.</a:t>
            </a:r>
          </a:p>
          <a:p xmlns:a="http://schemas.openxmlformats.org/drawingml/2006/main">
            <a:r>
              <a:t/>
            </a:r>
          </a:p>
          <a:p xmlns:a="http://schemas.openxmlformats.org/drawingml/2006/main">
            <a:r>
              <a:t>대학 전체로 확대해서 해석하지 않는 것도 중요하다. 이 표는 기재된 적용 범위의 변화를 설명한다. 예체능 실기 모집단위, 군사학과, 별도 특별전형은 해당 모집단위의 전형방법을 따로 확인해야 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신설과 변경</a:t>
            </a:r>
          </a:p>
          <a:p xmlns:a="http://schemas.openxmlformats.org/drawingml/2006/main">
            <a:r>
              <a:t>지표 변경과 군 이동도 전년 비교를 바꾼다</a:t>
            </a:r>
          </a:p>
          <a:p xmlns:a="http://schemas.openxmlformats.org/drawingml/2006/main">
            <a:r>
              <a:t/>
            </a:r>
          </a:p>
          <a:p xmlns:a="http://schemas.openxmlformats.org/drawingml/2006/main">
            <a:r>
              <a:t>고려 PDF 4쪽, 연세 주요 변경사항</a:t>
            </a:r>
          </a:p>
          <a:p xmlns:a="http://schemas.openxmlformats.org/drawingml/2006/main">
            <a:r>
              <a:t>SEN 211·242·252·298쪽</a:t>
            </a:r>
          </a:p>
          <a:p xmlns:a="http://schemas.openxmlformats.org/drawingml/2006/main">
            <a:r>
              <a:t/>
            </a:r>
          </a:p>
          <a:p xmlns:a="http://schemas.openxmlformats.org/drawingml/2006/main">
            <a:r>
              <a:t/>
            </a:r>
          </a:p>
          <a:p xmlns:a="http://schemas.openxmlformats.org/drawingml/2006/main">
            <a:r>
              <a:t/>
            </a:r>
          </a:p>
          <a:p xmlns:a="http://schemas.openxmlformats.org/drawingml/2006/main">
            <a:r>
              <a:t>전년도 결과를 참고할 때에는 모집인원뿐 아니라 모집군, 지원자격, 활용지표가 같은지도 확인해야 한다. 전형명이 같아도 계산에 사용하는 점수가 달라지면 같은 수능 성적의 환산 결과가 달라질 수 있다.</a:t>
            </a:r>
          </a:p>
          <a:p xmlns:a="http://schemas.openxmlformats.org/drawingml/2006/main">
            <a:r>
              <a:t/>
            </a:r>
          </a:p>
          <a:p xmlns:a="http://schemas.openxmlformats.org/drawingml/2006/main">
            <a:r>
              <a:t>선택과목 가산점의 폐지를 사회·과학탐구 반영비율의 동일화로 해석해서는 안 된다. 가산점과 영역별 가중치는 다른 장치이므로, 대학이 공표한 2028학년도 반영표를 기준으로 구분해야 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지원자격</a:t>
            </a:r>
          </a:p>
          <a:p xmlns:a="http://schemas.openxmlformats.org/drawingml/2006/main">
            <a:r>
              <a:t>학생부 반영 전형이라고 졸업생이 모두 배제되지는 않는다</a:t>
            </a:r>
          </a:p>
          <a:p xmlns:a="http://schemas.openxmlformats.org/drawingml/2006/main">
            <a:r>
              <a:t/>
            </a:r>
          </a:p>
          <a:p xmlns:a="http://schemas.openxmlformats.org/drawingml/2006/main">
            <a:r>
              <a:t>고려 PDF 24·26쪽</a:t>
            </a:r>
          </a:p>
          <a:p xmlns:a="http://schemas.openxmlformats.org/drawingml/2006/main">
            <a:r>
              <a:t>서강 PDF 18~19쪽</a:t>
            </a:r>
          </a:p>
          <a:p xmlns:a="http://schemas.openxmlformats.org/drawingml/2006/main">
            <a:r>
              <a:t>성균관 PDF 42쪽</a:t>
            </a:r>
          </a:p>
          <a:p xmlns:a="http://schemas.openxmlformats.org/drawingml/2006/main">
            <a:r>
              <a:t/>
            </a:r>
          </a:p>
          <a:p xmlns:a="http://schemas.openxmlformats.org/drawingml/2006/main">
            <a:r>
              <a:t>고려 교과우수는 지원 불가 학교 유형이 별도로 규정됨. 서강은 졸업기준의 연말·1월 졸업 포함 규정 확인.</a:t>
            </a:r>
          </a:p>
          <a:p xmlns:a="http://schemas.openxmlformats.org/drawingml/2006/main">
            <a:r>
              <a:t/>
            </a:r>
          </a:p>
          <a:p xmlns:a="http://schemas.openxmlformats.org/drawingml/2006/main">
            <a:r>
              <a:t>졸업생 지원 가능 여부는 학생부 반영 비율만으로 판단할 수 없다. 고려대 교과우수와 서강대 지역균형은 졸업예정자 제한이 있지만, 성균관대 정시 융합인재는 고교 졸업(예정)자와 동등 학력 인정자에게 지원자격을 부여한다.</a:t>
            </a:r>
          </a:p>
          <a:p xmlns:a="http://schemas.openxmlformats.org/drawingml/2006/main">
            <a:r>
              <a:t/>
            </a:r>
          </a:p>
          <a:p xmlns:a="http://schemas.openxmlformats.org/drawingml/2006/main">
            <a:r>
              <a:t>‘현역 가능’도 모든 재학생에게 지원자격이 있다는 뜻은 아니다. 해당 학년도 졸업예정 여부와 학교 유형, 성적 기재 학기, 학교장 추천 등 각 전형의 조건을 함께 충족해야 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학생부 정성평가</a:t>
            </a:r>
          </a:p>
          <a:p xmlns:a="http://schemas.openxmlformats.org/drawingml/2006/main">
            <a:r>
              <a:t>정성평가는 점수보다 평가 대상부터 읽는다</a:t>
            </a:r>
          </a:p>
          <a:p xmlns:a="http://schemas.openxmlformats.org/drawingml/2006/main">
            <a:r>
              <a:t/>
            </a:r>
          </a:p>
          <a:p xmlns:a="http://schemas.openxmlformats.org/drawingml/2006/main">
            <a:r>
              <a:t>인천 18~20쪽</a:t>
            </a:r>
          </a:p>
          <a:p xmlns:a="http://schemas.openxmlformats.org/drawingml/2006/main">
            <a:r>
              <a:t>서울 PDF 17~20·36쪽</a:t>
            </a:r>
          </a:p>
          <a:p xmlns:a="http://schemas.openxmlformats.org/drawingml/2006/main">
            <a:r>
              <a:t>동국 학생부 평가 안내</a:t>
            </a:r>
          </a:p>
          <a:p xmlns:a="http://schemas.openxmlformats.org/drawingml/2006/main">
            <a:r>
              <a:t/>
            </a:r>
          </a:p>
          <a:p xmlns:a="http://schemas.openxmlformats.org/drawingml/2006/main">
            <a:r>
              <a:t>서울대 의·수의는 60+20+면접 20. 연세대 의예는 단계형으로 별도.</a:t>
            </a:r>
          </a:p>
          <a:p xmlns:a="http://schemas.openxmlformats.org/drawingml/2006/main">
            <a:r>
              <a:t/>
            </a:r>
          </a:p>
          <a:p xmlns:a="http://schemas.openxmlformats.org/drawingml/2006/main">
            <a:r>
              <a:t>정성평가는 학생부의 한 항목을 수치로 바꾸는 데 그치지 않는다. 지원자가 어떤 과목을 선택하고 어떻게 학습했는지, 학교생활을 얼마나 충실하게 수행했는지를 대학이 제시한 기준에 따라 평가한다.</a:t>
            </a:r>
          </a:p>
          <a:p xmlns:a="http://schemas.openxmlformats.org/drawingml/2006/main">
            <a:r>
              <a:t/>
            </a:r>
          </a:p>
          <a:p xmlns:a="http://schemas.openxmlformats.org/drawingml/2006/main">
            <a:r>
              <a:t>다만 평가 대상이 모든 대학에서 동일하지는 않다. 교과학습발달상황을 중심으로 보는지, 출결과 행동특성까지 포함하는지 구분해야 한다. 반영비율만 비교하면 실제 평가의 차이를 놓칠 수 있다.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학생부 정성평가</a:t>
            </a:r>
          </a:p>
          <a:p xmlns:a="http://schemas.openxmlformats.org/drawingml/2006/main">
            <a:r>
              <a:t>서류 반영 비율이 같아도 내용은 다르다</a:t>
            </a:r>
          </a:p>
          <a:p xmlns:a="http://schemas.openxmlformats.org/drawingml/2006/main">
            <a:r>
              <a:t/>
            </a:r>
          </a:p>
          <a:p xmlns:a="http://schemas.openxmlformats.org/drawingml/2006/main">
            <a:r>
              <a:t>중앙 PDF 32쪽</a:t>
            </a:r>
          </a:p>
          <a:p xmlns:a="http://schemas.openxmlformats.org/drawingml/2006/main">
            <a:r>
              <a:t>이화 PDF 15~16쪽</a:t>
            </a:r>
          </a:p>
          <a:p xmlns:a="http://schemas.openxmlformats.org/drawingml/2006/main">
            <a:r>
              <a:t>성균관 PDF 42쪽</a:t>
            </a:r>
          </a:p>
          <a:p xmlns:a="http://schemas.openxmlformats.org/drawingml/2006/main">
            <a:r>
              <a:t>인천 20쪽</a:t>
            </a:r>
          </a:p>
          <a:p xmlns:a="http://schemas.openxmlformats.org/drawingml/2006/main">
            <a:r>
              <a:t/>
            </a:r>
          </a:p>
          <a:p xmlns:a="http://schemas.openxmlformats.org/drawingml/2006/main">
            <a:r>
              <a:t/>
            </a:r>
          </a:p>
          <a:p xmlns:a="http://schemas.openxmlformats.org/drawingml/2006/main">
            <a:r>
              <a:t/>
            </a:r>
          </a:p>
          <a:p xmlns:a="http://schemas.openxmlformats.org/drawingml/2006/main">
            <a:r>
              <a:t>중앙대 수능67은 수능 등급을 전형점수로 활용하면서 서류평가와 수능최저학력기준을 함께 적용한다. 성균관대 정시 융합인재는 학생부 100%로 선발하되 수능최저를 충족해야 하므로, 일반적인 수능 100% 전형과는 구조가 다르다.</a:t>
            </a:r>
          </a:p>
          <a:p xmlns:a="http://schemas.openxmlformats.org/drawingml/2006/main">
            <a:r>
              <a:t/>
            </a:r>
          </a:p>
          <a:p xmlns:a="http://schemas.openxmlformats.org/drawingml/2006/main">
            <a:r>
              <a:t>숙명여대는 모집군별 적용 범위에 특히 주의해야 한다. 가군 인문·자연의 서류 20%를 나·다군 수능 100% 모집단위에까지 확대해서 해석해서는 안 된다. 이화여대 역시 수능전형과 수능-학생부전형을 구분해야 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학생부 정성평가</a:t>
            </a:r>
          </a:p>
          <a:p xmlns:a="http://schemas.openxmlformats.org/drawingml/2006/main">
            <a:r>
              <a:t>일부 모집단위에만 적용되는 정성평가도 있다</a:t>
            </a:r>
          </a:p>
          <a:p xmlns:a="http://schemas.openxmlformats.org/drawingml/2006/main">
            <a:r>
              <a:t/>
            </a:r>
          </a:p>
          <a:p xmlns:a="http://schemas.openxmlformats.org/drawingml/2006/main">
            <a:r>
              <a:t>건국 PDF 36쪽</a:t>
            </a:r>
          </a:p>
          <a:p xmlns:a="http://schemas.openxmlformats.org/drawingml/2006/main">
            <a:r>
              <a:t>단국 PDF 25·35쪽</a:t>
            </a:r>
          </a:p>
          <a:p xmlns:a="http://schemas.openxmlformats.org/drawingml/2006/main">
            <a:r>
              <a:t>인천 18~19쪽</a:t>
            </a:r>
          </a:p>
          <a:p xmlns:a="http://schemas.openxmlformats.org/drawingml/2006/main">
            <a:r>
              <a:t>부산 PDF 29~30쪽</a:t>
            </a:r>
          </a:p>
          <a:p xmlns:a="http://schemas.openxmlformats.org/drawingml/2006/main">
            <a:r>
              <a:t/>
            </a:r>
          </a:p>
          <a:p xmlns:a="http://schemas.openxmlformats.org/drawingml/2006/main">
            <a:r>
              <a:t>원고의 “자유전공”은 KU자유전공학부와 단과대학 자유전공학부를 구분하여 사용.</a:t>
            </a:r>
          </a:p>
          <a:p xmlns:a="http://schemas.openxmlformats.org/drawingml/2006/main">
            <a:r>
              <a:t/>
            </a:r>
          </a:p>
          <a:p xmlns:a="http://schemas.openxmlformats.org/drawingml/2006/main">
            <a:r>
              <a:t>건국대는 대학 전체의 KU일반을 90+10으로 묶어 설명하면 오류가 생긴다. 교과정성 10%는 다군 단과대학 자유전공학부에 적용되며, 가·나군의 학과·학부와 다른 자유전공 모집단위는 해당 시행계획의 구분을 따라야 한다.</a:t>
            </a:r>
          </a:p>
          <a:p xmlns:a="http://schemas.openxmlformats.org/drawingml/2006/main">
            <a:r>
              <a:t/>
            </a:r>
          </a:p>
          <a:p xmlns:a="http://schemas.openxmlformats.org/drawingml/2006/main">
            <a:r>
              <a:t>세종대는 수능형과 융합형을 나누어 비교하고, 단국대와 부산대는 예체능·군사 등 별도 평가방법이 있는 모집단위를 분리해야 한다. 일부 적용 사례를 대학 전체의 특성으로 일반화하지 않는 것이 정확한 집필의 출발점이다.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학생부 정량평가</a:t>
            </a:r>
          </a:p>
          <a:p xmlns:a="http://schemas.openxmlformats.org/drawingml/2006/main">
            <a:r>
              <a:t>정량평가는 반영 과목과 환산표를 확인한다</a:t>
            </a:r>
          </a:p>
          <a:p xmlns:a="http://schemas.openxmlformats.org/drawingml/2006/main">
            <a:r>
              <a:t/>
            </a:r>
          </a:p>
          <a:p xmlns:a="http://schemas.openxmlformats.org/drawingml/2006/main">
            <a:r>
              <a:t>인천 18~20쪽</a:t>
            </a:r>
          </a:p>
          <a:p xmlns:a="http://schemas.openxmlformats.org/drawingml/2006/main">
            <a:r>
              <a:t>고려 PDF 26쪽</a:t>
            </a:r>
          </a:p>
          <a:p xmlns:a="http://schemas.openxmlformats.org/drawingml/2006/main">
            <a:r>
              <a:t>서강 PDF 31~32쪽</a:t>
            </a:r>
          </a:p>
          <a:p xmlns:a="http://schemas.openxmlformats.org/drawingml/2006/main">
            <a:r>
              <a:t/>
            </a:r>
          </a:p>
          <a:p xmlns:a="http://schemas.openxmlformats.org/drawingml/2006/main">
            <a:r>
              <a:t>홍익대는 다군 인문·자연 기준. 미술계열 단계별 전형과 구분.</a:t>
            </a:r>
          </a:p>
          <a:p xmlns:a="http://schemas.openxmlformats.org/drawingml/2006/main">
            <a:r>
              <a:t/>
            </a:r>
          </a:p>
          <a:p xmlns:a="http://schemas.openxmlformats.org/drawingml/2006/main">
            <a:r>
              <a:t>정량평가에서는 대학의 반영 대상 과목과 성적 산출식이 핵심이다. 전 과목을 반영하는 대학과 상위 과목을 골라 반영하는 대학은 같은 내신 평균을 사용하더라도 결과가 달라질 수 있다.</a:t>
            </a:r>
          </a:p>
          <a:p xmlns:a="http://schemas.openxmlformats.org/drawingml/2006/main">
            <a:r>
              <a:t/>
            </a:r>
          </a:p>
          <a:p xmlns:a="http://schemas.openxmlformats.org/drawingml/2006/main">
            <a:r>
              <a:t>석차등급과 성취도를 어떻게 연결하는지, 이수학점을 가중하는지, 출결을 별도 점수로 반영하는지를 확인해야 한다. 대학별 환산점수를 계산하지 않고 학생부 반영비율만으로 유불리를 단정하기는 어렵다.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학생부 정량평가</a:t>
            </a:r>
          </a:p>
          <a:p xmlns:a="http://schemas.openxmlformats.org/drawingml/2006/main">
            <a:r>
              <a:t>교과 반영과 출결 반영은 다른 요소다</a:t>
            </a:r>
          </a:p>
          <a:p xmlns:a="http://schemas.openxmlformats.org/drawingml/2006/main">
            <a:r>
              <a:t/>
            </a:r>
          </a:p>
          <a:p xmlns:a="http://schemas.openxmlformats.org/drawingml/2006/main">
            <a:r>
              <a:t>SEN 131·123·265쪽</a:t>
            </a:r>
          </a:p>
          <a:p xmlns:a="http://schemas.openxmlformats.org/drawingml/2006/main">
            <a:r>
              <a:t>중앙 PDF 30쪽</a:t>
            </a:r>
          </a:p>
          <a:p xmlns:a="http://schemas.openxmlformats.org/drawingml/2006/main">
            <a:r>
              <a:t>충남 PDF 32쪽</a:t>
            </a:r>
          </a:p>
          <a:p xmlns:a="http://schemas.openxmlformats.org/drawingml/2006/main">
            <a:r>
              <a:t/>
            </a:r>
          </a:p>
          <a:p xmlns:a="http://schemas.openxmlformats.org/drawingml/2006/main">
            <a:r>
              <a:t>충남대 전형 배점 수능 300·교과 100·출결 100, 시행계획에 실질반영비율 별도 표기.</a:t>
            </a:r>
          </a:p>
          <a:p xmlns:a="http://schemas.openxmlformats.org/drawingml/2006/main">
            <a:r>
              <a:t/>
            </a:r>
          </a:p>
          <a:p xmlns:a="http://schemas.openxmlformats.org/drawingml/2006/main">
            <a:r>
              <a:t>학생부를 반영하는 대학을 모두 내신등급 반영 대학으로 묶어서는 안 된다. 중앙대 수능89는 출결을 반영하며, 경희대 수능·학생부형은 교과·출결·봉사를 나누어 적용한다. 무엇을 평가하는지부터 구분해야 한다.</a:t>
            </a:r>
          </a:p>
          <a:p xmlns:a="http://schemas.openxmlformats.org/drawingml/2006/main">
            <a:r>
              <a:t/>
            </a:r>
          </a:p>
          <a:p xmlns:a="http://schemas.openxmlformats.org/drawingml/2006/main">
            <a:r>
              <a:t>충남대는 명목 배점과 실질반영비율이 다르다. 시행계획의 80·15·5를 사용할 때에는 반드시 실질반영비율이라고 밝혀야 한다. 경북대도 수시의 교과이수충실도 평가를 정시 교과 10%에 그대로 대입해서는 안 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 수능 반영지표</a:t>
            </a:r>
          </a:p>
          <a:p xmlns:a="http://schemas.openxmlformats.org/drawingml/2006/main">
            <a:r>
              <a:t>표준점수·백분위·등급은 서로 다른 지표다</a:t>
            </a:r>
          </a:p>
          <a:p xmlns:a="http://schemas.openxmlformats.org/drawingml/2006/main">
            <a:r>
              <a:t/>
            </a:r>
          </a:p>
          <a:p xmlns:a="http://schemas.openxmlformats.org/drawingml/2006/main">
            <a:r>
              <a:t>인천 18~20쪽</a:t>
            </a:r>
          </a:p>
          <a:p xmlns:a="http://schemas.openxmlformats.org/drawingml/2006/main">
            <a:r>
              <a:t>SEN 109·124·250·253·258·299쪽</a:t>
            </a:r>
          </a:p>
          <a:p xmlns:a="http://schemas.openxmlformats.org/drawingml/2006/main">
            <a:r>
              <a:t/>
            </a:r>
          </a:p>
          <a:p xmlns:a="http://schemas.openxmlformats.org/drawingml/2006/main">
            <a:r>
              <a:t>영어·한국사 처리까지 모든 영역이 동일한 지표를 사용한다는 뜻은 아님.</a:t>
            </a:r>
          </a:p>
          <a:p xmlns:a="http://schemas.openxmlformats.org/drawingml/2006/main">
            <a:r>
              <a:t/>
            </a:r>
          </a:p>
          <a:p xmlns:a="http://schemas.openxmlformats.org/drawingml/2006/main">
            <a:r>
              <a:t>수능 활용지표는 단순한 표기의 차이가 아니다. 같은 성적표라도 표준점수와 백분위 중 무엇을 사용하는지에 따라 대학별 환산 결과가 달라진다. 영어·한국사는 등급을 별도 환산하거나 가감점으로 적용하는 경우가 많다.</a:t>
            </a:r>
          </a:p>
          <a:p xmlns:a="http://schemas.openxmlformats.org/drawingml/2006/main">
            <a:r>
              <a:t/>
            </a:r>
          </a:p>
          <a:p xmlns:a="http://schemas.openxmlformats.org/drawingml/2006/main">
            <a:r>
              <a:t>‘혼합’이나 ‘표준점수’라는 요약 표기만으로 세부 계산을 끝내서는 안 된다. 국어·수학·탐구의 원자료와 대학 자체 변환 여부를 나누어 확인해야 하며, 확정되지 않은 변환점수는 임의로 산출해서는 안 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 수능 반영지표</a:t>
            </a:r>
          </a:p>
          <a:p xmlns:a="http://schemas.openxmlformats.org/drawingml/2006/main">
            <a:r>
              <a:t>같은 대학에서도 전형별 활용지표가 다르다</a:t>
            </a:r>
          </a:p>
          <a:p xmlns:a="http://schemas.openxmlformats.org/drawingml/2006/main">
            <a:r>
              <a:t/>
            </a:r>
          </a:p>
          <a:p xmlns:a="http://schemas.openxmlformats.org/drawingml/2006/main">
            <a:r>
              <a:t>가천 시행계획 정시 반영방법</a:t>
            </a:r>
          </a:p>
          <a:p xmlns:a="http://schemas.openxmlformats.org/drawingml/2006/main">
            <a:r>
              <a:t>고려 PDF 4·24~26쪽</a:t>
            </a:r>
          </a:p>
          <a:p xmlns:a="http://schemas.openxmlformats.org/drawingml/2006/main">
            <a:r>
              <a:t>서강 PDF 31~32쪽</a:t>
            </a:r>
          </a:p>
          <a:p xmlns:a="http://schemas.openxmlformats.org/drawingml/2006/main">
            <a:r>
              <a:t>서울 PDF 17~18쪽</a:t>
            </a:r>
          </a:p>
          <a:p xmlns:a="http://schemas.openxmlformats.org/drawingml/2006/main">
            <a:r>
              <a:t>중앙 PDF 30·32쪽</a:t>
            </a:r>
          </a:p>
          <a:p xmlns:a="http://schemas.openxmlformats.org/drawingml/2006/main">
            <a:r>
              <a:t/>
            </a:r>
          </a:p>
          <a:p xmlns:a="http://schemas.openxmlformats.org/drawingml/2006/main">
            <a:r>
              <a:t/>
            </a:r>
          </a:p>
          <a:p xmlns:a="http://schemas.openxmlformats.org/drawingml/2006/main">
            <a:r>
              <a:t/>
            </a:r>
          </a:p>
          <a:p xmlns:a="http://schemas.openxmlformats.org/drawingml/2006/main">
            <a:r>
              <a:t>전형별 비교에서는 학생부 비율뿐 아니라 수능 성적의 산출 방식도 함께 바뀌는지 확인해야 한다. 고려대 일반과 교과우수, 서강대 일반과 지역균형은 수능 활용지표가 달라 단순히 학생부 점수만 더해 비교할 수 없다.</a:t>
            </a:r>
          </a:p>
          <a:p xmlns:a="http://schemas.openxmlformats.org/drawingml/2006/main">
            <a:r>
              <a:t/>
            </a:r>
          </a:p>
          <a:p xmlns:a="http://schemas.openxmlformats.org/drawingml/2006/main">
            <a:r>
              <a:t>서울대는 단계별로 수능 지표 자체가 바뀐다. 1단계 통과 가능성과 2단계 최종 선발 가능성을 나누어 판단해야 한다. 중앙대 수능67도 수능최저 충족 여부와 등급의 전형점수 환산을 서로 구분해야 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 단계형 선발</a:t>
            </a:r>
          </a:p>
          <a:p xmlns:a="http://schemas.openxmlformats.org/drawingml/2006/main">
            <a:r>
              <a:t>단계형은 1단계와 최종 선발을 따로 읽는다</a:t>
            </a:r>
          </a:p>
          <a:p xmlns:a="http://schemas.openxmlformats.org/drawingml/2006/main">
            <a:r>
              <a:t/>
            </a:r>
          </a:p>
          <a:p xmlns:a="http://schemas.openxmlformats.org/drawingml/2006/main">
            <a:r>
              <a:t>서울 PDF 17·20쪽</a:t>
            </a:r>
          </a:p>
          <a:p xmlns:a="http://schemas.openxmlformats.org/drawingml/2006/main">
            <a:r>
              <a:t>연세 PDF 24쪽</a:t>
            </a:r>
          </a:p>
          <a:p xmlns:a="http://schemas.openxmlformats.org/drawingml/2006/main">
            <a:r>
              <a:t>홍익 시행계획 정시 미술</a:t>
            </a:r>
          </a:p>
          <a:p xmlns:a="http://schemas.openxmlformats.org/drawingml/2006/main">
            <a:r>
              <a:t>아주 시행계획 정시 일반1</a:t>
            </a:r>
          </a:p>
          <a:p xmlns:a="http://schemas.openxmlformats.org/drawingml/2006/main">
            <a:r>
              <a:t>고려 PDF 24·26쪽</a:t>
            </a:r>
          </a:p>
          <a:p xmlns:a="http://schemas.openxmlformats.org/drawingml/2006/main">
            <a:r>
              <a:t/>
            </a:r>
          </a:p>
          <a:p xmlns:a="http://schemas.openxmlformats.org/drawingml/2006/main">
            <a:r>
              <a:t>예체능·군사·의학 특수 모집단위를 일반 인문·자연 전형에 일반화하지 않음.</a:t>
            </a:r>
          </a:p>
          <a:p xmlns:a="http://schemas.openxmlformats.org/drawingml/2006/main">
            <a:r>
              <a:t/>
            </a:r>
          </a:p>
          <a:p xmlns:a="http://schemas.openxmlformats.org/drawingml/2006/main">
            <a:r>
              <a:t>단계형 전형에서는 1단계 선발기준과 최종 합격기준이 다르다. 먼저 수능으로 일정 배수를 선발한 뒤 학생부·면접·실기 등을 합산하는 구조라면, 각 단계의 평가요소를 분리해서 읽어야 한다.</a:t>
            </a:r>
          </a:p>
          <a:p xmlns:a="http://schemas.openxmlformats.org/drawingml/2006/main">
            <a:r>
              <a:t/>
            </a:r>
          </a:p>
          <a:p xmlns:a="http://schemas.openxmlformats.org/drawingml/2006/main">
            <a:r>
              <a:t>면접이 있다는 이유만으로 단계형이라고 판단해서도 안 된다. 아주대 의학 일반1은 수능과 면접을 일괄합산한다. 고려대 의학 일반·교과우수의 적성·인성면접처럼 별도 배점 없이 활용하는 방식도 구분할 필요가 있다.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탐구 반영방식</a:t>
            </a:r>
          </a:p>
          <a:p xmlns:a="http://schemas.openxmlformats.org/drawingml/2006/main">
            <a:r>
              <a:t>응시 과목 수와 반영 과목 수는 다르다</a:t>
            </a:r>
          </a:p>
          <a:p xmlns:a="http://schemas.openxmlformats.org/drawingml/2006/main">
            <a:r>
              <a:t/>
            </a:r>
          </a:p>
          <a:p xmlns:a="http://schemas.openxmlformats.org/drawingml/2006/main">
            <a:r>
              <a:t>인천 18~20·24쪽</a:t>
            </a:r>
          </a:p>
          <a:p xmlns:a="http://schemas.openxmlformats.org/drawingml/2006/main">
            <a:r>
              <a:t>성균관 PDF 38쪽</a:t>
            </a:r>
          </a:p>
          <a:p xmlns:a="http://schemas.openxmlformats.org/drawingml/2006/main">
            <a:r>
              <a:t>이화 PDF 15~16쪽</a:t>
            </a:r>
          </a:p>
          <a:p xmlns:a="http://schemas.openxmlformats.org/drawingml/2006/main">
            <a:r>
              <a:t/>
            </a:r>
          </a:p>
          <a:p xmlns:a="http://schemas.openxmlformats.org/drawingml/2006/main">
            <a:r>
              <a:t/>
            </a:r>
          </a:p>
          <a:p xmlns:a="http://schemas.openxmlformats.org/drawingml/2006/main">
            <a:r>
              <a:t/>
            </a:r>
          </a:p>
          <a:p xmlns:a="http://schemas.openxmlformats.org/drawingml/2006/main">
            <a:r>
              <a:t>탐구 1과목 반영은 수능에서 한 과목만 응시해도 된다는 뜻과 다르다. 수능 응시 체제와 대학이 성적을 계산하는 방식을 구분해야 한다. 대학별 필수 응시영역을 먼저 확인하고, 그다음 실제 반영 과목 수를 살펴야 한다.</a:t>
            </a:r>
          </a:p>
          <a:p xmlns:a="http://schemas.openxmlformats.org/drawingml/2006/main">
            <a:r>
              <a:t/>
            </a:r>
          </a:p>
          <a:p xmlns:a="http://schemas.openxmlformats.org/drawingml/2006/main">
            <a:r>
              <a:t>두 과목을 반영하는 경우에도 단순 평균인지, 사회·과학을 고정 가중하는지, 높은 점수에 더 큰 비중을 주는지에 따라 결과가 달라진다. ‘탐구 2’라는 한 줄 표기로는 이 차이를 충분히 설명할 수 없다.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탐구 반영방식</a:t>
            </a:r>
          </a:p>
          <a:p xmlns:a="http://schemas.openxmlformats.org/drawingml/2006/main">
            <a:r>
              <a:t>상위 1과목 반영 대학은 적용 범위를 확인한다</a:t>
            </a:r>
          </a:p>
          <a:p xmlns:a="http://schemas.openxmlformats.org/drawingml/2006/main">
            <a:r>
              <a:t/>
            </a:r>
          </a:p>
          <a:p xmlns:a="http://schemas.openxmlformats.org/drawingml/2006/main">
            <a:r>
              <a:t>SEN 114·132쪽</a:t>
            </a:r>
          </a:p>
          <a:p xmlns:a="http://schemas.openxmlformats.org/drawingml/2006/main">
            <a:r>
              <a:t>인천 18·20쪽</a:t>
            </a:r>
          </a:p>
          <a:p xmlns:a="http://schemas.openxmlformats.org/drawingml/2006/main">
            <a:r>
              <a:t>한국항공 시행계획 수능 반영</a:t>
            </a:r>
          </a:p>
          <a:p xmlns:a="http://schemas.openxmlformats.org/drawingml/2006/main">
            <a:r>
              <a:t/>
            </a:r>
          </a:p>
          <a:p xmlns:a="http://schemas.openxmlformats.org/drawingml/2006/main">
            <a:r>
              <a:t/>
            </a:r>
          </a:p>
          <a:p xmlns:a="http://schemas.openxmlformats.org/drawingml/2006/main">
            <a:r>
              <a:t/>
            </a:r>
          </a:p>
          <a:p xmlns:a="http://schemas.openxmlformats.org/drawingml/2006/main">
            <a:r>
              <a:t>상위 1과목 반영은 탐구 두 점수의 차이가 큰 수험생에게 중요한 비교 항목이 된다. 다만 유리한 탐구 한 과목만으로 지원 유불리를 판단할 수는 없으며, 다른 영역의 가중치와 가산점까지 합친 환산점수를 비교해야 한다.</a:t>
            </a:r>
          </a:p>
          <a:p xmlns:a="http://schemas.openxmlformats.org/drawingml/2006/main">
            <a:r>
              <a:t/>
            </a:r>
          </a:p>
          <a:p xmlns:a="http://schemas.openxmlformats.org/drawingml/2006/main">
            <a:r>
              <a:t>특히 경희대는 인문·사회와 자연의 방식이 다르다. 건국대도 일반 인문·자연과 예체능을 같은 표기로 묶지 않아야 한다. 대학명 옆에 적용 계열과 전형 범위를 함께 적는 편이 정확하다.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탐구 반영방식</a:t>
            </a:r>
          </a:p>
          <a:p xmlns:a="http://schemas.openxmlformats.org/drawingml/2006/main">
            <a:r>
              <a:t>두 과목 반영도 가중 방식에 따라 달라진다</a:t>
            </a:r>
          </a:p>
          <a:p xmlns:a="http://schemas.openxmlformats.org/drawingml/2006/main">
            <a:r>
              <a:t/>
            </a:r>
          </a:p>
          <a:p xmlns:a="http://schemas.openxmlformats.org/drawingml/2006/main">
            <a:r>
              <a:t>성균관 PDF 38쪽</a:t>
            </a:r>
          </a:p>
          <a:p xmlns:a="http://schemas.openxmlformats.org/drawingml/2006/main">
            <a:r>
              <a:t>이화 PDF 15~16쪽</a:t>
            </a:r>
          </a:p>
          <a:p xmlns:a="http://schemas.openxmlformats.org/drawingml/2006/main">
            <a:r>
              <a:t>서울 PDF 18쪽</a:t>
            </a:r>
          </a:p>
          <a:p xmlns:a="http://schemas.openxmlformats.org/drawingml/2006/main">
            <a:r>
              <a:t>SEN 132쪽</a:t>
            </a:r>
          </a:p>
          <a:p xmlns:a="http://schemas.openxmlformats.org/drawingml/2006/main">
            <a:r>
              <a:t/>
            </a:r>
          </a:p>
          <a:p xmlns:a="http://schemas.openxmlformats.org/drawingml/2006/main">
            <a:r>
              <a:t>서울대의 상대비율은 모집단위군별로 다름. 이화 다군 일부 수능전형은 탐구 우수 1개 영역.</a:t>
            </a:r>
          </a:p>
          <a:p xmlns:a="http://schemas.openxmlformats.org/drawingml/2006/main">
            <a:r>
              <a:t/>
            </a:r>
          </a:p>
          <a:p xmlns:a="http://schemas.openxmlformats.org/drawingml/2006/main">
            <a:r>
              <a:t>탐구 두 과목을 반영한다는 공통점만으로 대학들을 같은 방식으로 분류해서는 안 된다. 성균관대의 상위 순 70:30, 이화여대의 우수 영역 순 반영, 사회·과학 고정 가중은 서로 다른 계산 방식이다.</a:t>
            </a:r>
          </a:p>
          <a:p xmlns:a="http://schemas.openxmlformats.org/drawingml/2006/main">
            <a:r>
              <a:t/>
            </a:r>
          </a:p>
          <a:p xmlns:a="http://schemas.openxmlformats.org/drawingml/2006/main">
            <a:r>
              <a:t>서울대의 국어 100·수학 120·사회 50·과학 30은 상대 반영비율이다. 이를 그대로 퍼센트로 적으면 오류가 된다. 표에 반영비율의 단위와 기준을 밝히면 독자가 계산의 의미를 오해하지 않는다.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거점국립대의 수능 반영</a:t>
            </a:r>
          </a:p>
          <a:p xmlns:a="http://schemas.openxmlformats.org/drawingml/2006/main">
            <a:r>
              <a:t>거점국립대 활용지표와 탐구 비교 1</a:t>
            </a:r>
          </a:p>
          <a:p xmlns:a="http://schemas.openxmlformats.org/drawingml/2006/main">
            <a:r>
              <a:t/>
            </a:r>
          </a:p>
          <a:p xmlns:a="http://schemas.openxmlformats.org/drawingml/2006/main">
            <a:r>
              <a:t>SEN 109·124·128쪽</a:t>
            </a:r>
          </a:p>
          <a:p xmlns:a="http://schemas.openxmlformats.org/drawingml/2006/main">
            <a:r>
              <a:t>강원·경북·경상 시행계획 수능 반영방법</a:t>
            </a:r>
          </a:p>
          <a:p xmlns:a="http://schemas.openxmlformats.org/drawingml/2006/main">
            <a:r>
              <a:t/>
            </a:r>
          </a:p>
          <a:p xmlns:a="http://schemas.openxmlformats.org/drawingml/2006/main">
            <a:r>
              <a:t>강원대 캠퍼스별 모집단위 예외·가산점은 해당 캠퍼스 시행계획 기준.</a:t>
            </a:r>
          </a:p>
          <a:p xmlns:a="http://schemas.openxmlformats.org/drawingml/2006/main">
            <a:r>
              <a:t/>
            </a:r>
          </a:p>
          <a:p xmlns:a="http://schemas.openxmlformats.org/drawingml/2006/main">
            <a:r>
              <a:t>강원대는 캠퍼스별 반영방식을 하나로 묶지 않는 것이 중요하다. 춘천의 계열별 반영비율과 삼척·도계의 우수 영역 선택 방식, 강릉·원주의 우수 영역 선택 방식을 나누어 정리해야 한다.</a:t>
            </a:r>
          </a:p>
          <a:p xmlns:a="http://schemas.openxmlformats.org/drawingml/2006/main">
            <a:r>
              <a:t/>
            </a:r>
          </a:p>
          <a:p xmlns:a="http://schemas.openxmlformats.org/drawingml/2006/main">
            <a:r>
              <a:t>경북대와 경상국립대는 표준점수를 활용하지만 영역별 반영비율은 같지 않다. 인문·자연계열의 사회·과학 가중치를 확인하고, 영어와 한국사의 별도 처리까지 포함해 환산 구조를 읽어야 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거점국립대의 수능 반영</a:t>
            </a:r>
          </a:p>
          <a:p xmlns:a="http://schemas.openxmlformats.org/drawingml/2006/main">
            <a:r>
              <a:t>거점국립대 활용지표와 탐구 비교 2</a:t>
            </a:r>
          </a:p>
          <a:p xmlns:a="http://schemas.openxmlformats.org/drawingml/2006/main">
            <a:r>
              <a:t/>
            </a:r>
          </a:p>
          <a:p xmlns:a="http://schemas.openxmlformats.org/drawingml/2006/main">
            <a:r>
              <a:t>SEN 173·246·250·253·266·270쪽</a:t>
            </a:r>
          </a:p>
          <a:p xmlns:a="http://schemas.openxmlformats.org/drawingml/2006/main">
            <a:r>
              <a:t>각 대학 시행계획 수능 반영방법</a:t>
            </a:r>
          </a:p>
          <a:p xmlns:a="http://schemas.openxmlformats.org/drawingml/2006/main">
            <a:r>
              <a:t/>
            </a:r>
          </a:p>
          <a:p xmlns:a="http://schemas.openxmlformats.org/drawingml/2006/main">
            <a:r>
              <a:t>부산대는 요약자료의 지표 명칭보다 시행계획의 영역별 산출식을 우선 확인.</a:t>
            </a:r>
          </a:p>
          <a:p xmlns:a="http://schemas.openxmlformats.org/drawingml/2006/main">
            <a:r>
              <a:t/>
            </a:r>
          </a:p>
          <a:p xmlns:a="http://schemas.openxmlformats.org/drawingml/2006/main">
            <a:r>
              <a:t>지방거점국립대의 탐구 반영 과목 수도 동일하지 않다. 전남대는 일반 모집단위와 의약학계열의 반영방식이 다르고, 제주대는 1과목을 반영한다. 다른 대학의 기준을 그대로 옮겨 쓰지 않아야 한다.</a:t>
            </a:r>
          </a:p>
          <a:p xmlns:a="http://schemas.openxmlformats.org/drawingml/2006/main">
            <a:r>
              <a:t/>
            </a:r>
          </a:p>
          <a:p xmlns:a="http://schemas.openxmlformats.org/drawingml/2006/main">
            <a:r>
              <a:t>전북대는 백분위를, 충남대와 충북대는 표준점수를 활용한다. 같은 탐구 2과목 반영이라도 활용지표와 계열별 가중치가 다르므로, 대학별 환산식에 따라 비교해야 한다.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주요 대학 심화</a:t>
            </a:r>
          </a:p>
          <a:p xmlns:a="http://schemas.openxmlformats.org/drawingml/2006/main">
            <a:r>
              <a:t>서울대는 단계와 평가점수 범위를 함께 본다</a:t>
            </a:r>
          </a:p>
          <a:p xmlns:a="http://schemas.openxmlformats.org/drawingml/2006/main">
            <a:r>
              <a:t/>
            </a:r>
          </a:p>
          <a:p xmlns:a="http://schemas.openxmlformats.org/drawingml/2006/main">
            <a:r>
              <a:t>서울 PDF 17~20·35~36쪽</a:t>
            </a:r>
          </a:p>
          <a:p xmlns:a="http://schemas.openxmlformats.org/drawingml/2006/main">
            <a:r>
              <a:t/>
            </a:r>
          </a:p>
          <a:p xmlns:a="http://schemas.openxmlformats.org/drawingml/2006/main">
            <a:r>
              <a:t>미술·체육·음악 등은 별도 전형방법. 교과역량 2인 평가점수 평균, 결격 사유 규정 별도.</a:t>
            </a:r>
          </a:p>
          <a:p xmlns:a="http://schemas.openxmlformats.org/drawingml/2006/main">
            <a:r>
              <a:t/>
            </a:r>
          </a:p>
          <a:p xmlns:a="http://schemas.openxmlformats.org/drawingml/2006/main">
            <a:r>
              <a:t>서울대 정시 일반전형은 1단계와 2단계에서 수능 지표와 평가요소가 달라진다. 대부분 모집단위는 수능 등급으로 3배수를 선발한 뒤 수능 백분위와 교과역량평가를 합산한다. 의과대학과 수의과대학은 면접 20점을 별도로 반영한다.</a:t>
            </a:r>
          </a:p>
          <a:p xmlns:a="http://schemas.openxmlformats.org/drawingml/2006/main">
            <a:r>
              <a:t/>
            </a:r>
          </a:p>
          <a:p xmlns:a="http://schemas.openxmlformats.org/drawingml/2006/main">
            <a:r>
              <a:t>교과역량평가 40점이라는 배점을 곧바로 40점의 변별폭으로 해석해서는 안 된다. 제시된 평가등급 점수는 35~40점이다. 또 일부 인문 모집단위는 수능 제2외국어/한문 응시가 필수이며, 고교 과목 이수 권장과는 다른 조건이다.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주요 대학 심화</a:t>
            </a:r>
          </a:p>
          <a:p xmlns:a="http://schemas.openxmlformats.org/drawingml/2006/main">
            <a:r>
              <a:t>성균관대는 수능 유형과 학생부형을 구분한다</a:t>
            </a:r>
          </a:p>
          <a:p xmlns:a="http://schemas.openxmlformats.org/drawingml/2006/main">
            <a:r>
              <a:t/>
            </a:r>
          </a:p>
          <a:p xmlns:a="http://schemas.openxmlformats.org/drawingml/2006/main">
            <a:r>
              <a:t>성균관 PDF 34~42쪽</a:t>
            </a:r>
          </a:p>
          <a:p xmlns:a="http://schemas.openxmlformats.org/drawingml/2006/main">
            <a:r>
              <a:t/>
            </a:r>
          </a:p>
          <a:p xmlns:a="http://schemas.openxmlformats.org/drawingml/2006/main">
            <a:r>
              <a:t>정시 융합인재 모집단위: 교육학·한문교육·수학교육·컴퓨터교육. 일반형 정원내·계약학과 인원 구분.</a:t>
            </a:r>
          </a:p>
          <a:p xmlns:a="http://schemas.openxmlformats.org/drawingml/2006/main">
            <a:r>
              <a:t/>
            </a:r>
          </a:p>
          <a:p xmlns:a="http://schemas.openxmlformats.org/drawingml/2006/main">
            <a:r>
              <a:t>성균관대 정시는 일반형과 특화형의 수능 산출방식을 구분하는 것이 먼저다. 특화형도 수능 100% 전형이지만, 특정 영역을 강조하는 가중 구조와 대학 자체 변환점수를 활용한다. 수능 100%라는 공통점만으로 두 유형을 동일하게 볼 수 없다.</a:t>
            </a:r>
          </a:p>
          <a:p xmlns:a="http://schemas.openxmlformats.org/drawingml/2006/main">
            <a:r>
              <a:t/>
            </a:r>
          </a:p>
          <a:p xmlns:a="http://schemas.openxmlformats.org/drawingml/2006/main">
            <a:r>
              <a:t>다군 융합인재는 학생부 100%로 선발하며 수능최저학력기준을 적용한다. 국어·수학·영어·사회·과학의 5개 영역(과목) 중 3개 등급 합 6 이내가 기준이다. 해당 전형은 졸업생도 지원할 수 있다.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집필의 정확성을 지키는 기준</a:t>
            </a:r>
          </a:p>
          <a:p xmlns:a="http://schemas.openxmlformats.org/drawingml/2006/main">
            <a:r>
              <a:t>전형 이름보다 적용 범위와 근거가 먼저다</a:t>
            </a:r>
          </a:p>
          <a:p xmlns:a="http://schemas.openxmlformats.org/drawingml/2006/main">
            <a:r>
              <a:t/>
            </a:r>
          </a:p>
          <a:p xmlns:a="http://schemas.openxmlformats.org/drawingml/2006/main">
            <a:r>
              <a:t>첨부 PDF 2종·엑셀, 보관 시행계획 원문</a:t>
            </a:r>
          </a:p>
          <a:p xmlns:a="http://schemas.openxmlformats.org/drawingml/2006/main">
            <a:r>
              <a:t>대학별 원문 경로·페이지는 슬라이드 노트와 근거 목록 참조</a:t>
            </a:r>
          </a:p>
          <a:p xmlns:a="http://schemas.openxmlformats.org/drawingml/2006/main">
            <a:r>
              <a:t/>
            </a:r>
          </a:p>
          <a:p xmlns:a="http://schemas.openxmlformats.org/drawingml/2006/main">
            <a:r>
              <a:t>자료 기준: SEN 2026. 7. 2. 및 각 시행계획 공표본. 최신 변경 공지 전체를 확인한 최종 요강판은 아님.</a:t>
            </a:r>
          </a:p>
          <a:p xmlns:a="http://schemas.openxmlformats.org/drawingml/2006/main">
            <a:r>
              <a:t/>
            </a:r>
          </a:p>
          <a:p xmlns:a="http://schemas.openxmlformats.org/drawingml/2006/main">
            <a:r>
              <a:t>이 자료는 대학별 시행계획을 기준으로 전형의 구조를 비교한 집필용 원고이다. 원문에 명시된 사실과 준비 방향에 대한 해석을 구분하고, 적용 범위가 있는 사례에는 모집군·전형·모집단위를 함께 표기하였다.</a:t>
            </a:r>
          </a:p>
          <a:p xmlns:a="http://schemas.openxmlformats.org/drawingml/2006/main">
            <a:r>
              <a:t/>
            </a:r>
          </a:p>
          <a:p xmlns:a="http://schemas.openxmlformats.org/drawingml/2006/main">
            <a:r>
              <a:t>최종 모집요강이 발표되면 지원자격, 모집단위, 모집군, 수시 이월, 학생부 및 수능 산출식을 다시 대조해야 한다. 시행계획에 없는 비교내신이나 미확정 변환점수는 수치로 가정해 제시하지 않았다.</a:t>
            </a:r>
          </a:p>
          <a:p xmlns:a="http://schemas.openxmlformats.org/drawingml/2006/main">
            <a:r>
              <a:t/>
            </a:r>
          </a:p>
          <a:p xmlns:a="http://schemas.openxmlformats.org/drawingml/2006/main">
            <a:r>
              <a:t>개별 원문 경로 목록</a:t>
            </a:r>
          </a:p>
          <a:p xmlns:a="http://schemas.openxmlformats.org/drawingml/2006/main">
            <a:r>
              <a:t>건국대(서울): C:\Users\user\Documents\GitHub\다온 집필 2028 정시\2028\..\source\pdfs\1qmPQ4VHT19WVgr6aA8E51b_jNKVjJYAy.pdf</a:t>
            </a:r>
          </a:p>
          <a:p xmlns:a="http://schemas.openxmlformats.org/drawingml/2006/main">
            <a:r>
              <a:t>경기대(서울): C:\Users\user\Documents\GitHub\다온 집필 2028 정시\2028\..\source\pdfs\1zKujBjUt9AVyDwXCncGqXbhOFeLCzsex.pdf</a:t>
            </a:r>
          </a:p>
          <a:p xmlns:a="http://schemas.openxmlformats.org/drawingml/2006/main">
            <a:r>
              <a:t>경희대(서울): C:\Users\user\Documents\GitHub\다온 집필 2028 정시\2028\..\source\pdfs\1u3SEqPTEYU9fEjwXxA28pAHjzZRNKLuH.pdf</a:t>
            </a:r>
          </a:p>
          <a:p xmlns:a="http://schemas.openxmlformats.org/drawingml/2006/main">
            <a:r>
              <a:t>고려대(안암): C:\Users\user\Documents\GitHub\다온 집필 2028 정시\2028\..\source\pdfs\1srikpCZO6TOR1TUxvZFj9DZf1Kbq6kTk.pdf</a:t>
            </a:r>
          </a:p>
          <a:p xmlns:a="http://schemas.openxmlformats.org/drawingml/2006/main">
            <a:r>
              <a:t>광운대: C:\Users\user\Documents\GitHub\다온 집필 2028 정시\2028\..\source\pdfs\11kgwTgVWSzjl6bFzx1jihjk011Q3Hdr9.pdf</a:t>
            </a:r>
          </a:p>
          <a:p xmlns:a="http://schemas.openxmlformats.org/drawingml/2006/main">
            <a:r>
              <a:t>국민대: C:\Users\user\Documents\GitHub\다온 집필 2028 정시\2028\..\source\pdfs\1n2GiYaCPJgx1fNiZTI92mDdiVwJNSqoA.pdf</a:t>
            </a:r>
          </a:p>
          <a:p xmlns:a="http://schemas.openxmlformats.org/drawingml/2006/main">
            <a:r>
              <a:t>덕성여대: C:\Users\user\Documents\GitHub\다온 집필 2028 정시\2028\..\source\pdfs\1Agqp-qqGjQ9fiD_TVlMoGGJvp0Em5eco.pdf</a:t>
            </a:r>
          </a:p>
          <a:p xmlns:a="http://schemas.openxmlformats.org/drawingml/2006/main">
            <a:r>
              <a:t>동국대(서울): C:\Users\user\Documents\GitHub\다온 집필 2028 정시\2028\..\source\pdfs\194wzZdsfrtglfO_SgQJ0eMNam6K3dOp3.pdf</a:t>
            </a:r>
          </a:p>
          <a:p xmlns:a="http://schemas.openxmlformats.org/drawingml/2006/main">
            <a:r>
              <a:t>동덕여대: C:\Users\user\Documents\GitHub\다온 집필 2028 정시\2028\..\source\pdfs\1CH4x2_u7Uqwkn7Ovv4OrBhnlAJtm8D2G.pdf</a:t>
            </a:r>
          </a:p>
          <a:p xmlns:a="http://schemas.openxmlformats.org/drawingml/2006/main">
            <a:r>
              <a:t>명지대(서울): C:\Users\user\Documents\GitHub\다온 집필 2028 정시\2028\..\source\pdfs\1E4XkjXf0sy8DtskoWzgto_nyDvJh0ILo.pdf</a:t>
            </a:r>
          </a:p>
          <a:p xmlns:a="http://schemas.openxmlformats.org/drawingml/2006/main">
            <a:r>
              <a:t>상명대(서울): C:\Users\user\Documents\GitHub\다온 집필 2028 정시\2028\..\source\pdfs\14s7e-IV7Z7PuXztch48cOTh3n5rpIFEC.pdf</a:t>
            </a:r>
          </a:p>
          <a:p xmlns:a="http://schemas.openxmlformats.org/drawingml/2006/main">
            <a:r>
              <a:t>서강대: C:\Users\user\Documents\GitHub\다온 집필 2028 정시\2028\..\source\pdfs\14TL09YRM4r3d3mj2dGsXzezpe3Ch8gIH.pdf</a:t>
            </a:r>
          </a:p>
          <a:p xmlns:a="http://schemas.openxmlformats.org/drawingml/2006/main">
            <a:r>
              <a:t>서경대: C:\Users\user\Documents\GitHub\다온 집필 2028 정시\2028\..\source\pdfs\1Wrn6QCx1bcXDS0aYuL-CE1682Tiyo_UV.pdf</a:t>
            </a:r>
          </a:p>
          <a:p xmlns:a="http://schemas.openxmlformats.org/drawingml/2006/main">
            <a:r>
              <a:t>서울과학기술대: C:\Users\user\Documents\GitHub\다온 집필 2028 정시\2028\..\source\pdfs\1PCKYh886PqFnKAyB33Fa-RStnmOo4mWy.pdf</a:t>
            </a:r>
          </a:p>
          <a:p xmlns:a="http://schemas.openxmlformats.org/drawingml/2006/main">
            <a:r>
              <a:t>서울대: C:\Users\user\Documents\GitHub\다온 집필 2028 정시\2028\..\source\pdfs\13y0knsiaFbBiOLU1jW3RGjF_2epka4ky.pdf</a:t>
            </a:r>
          </a:p>
          <a:p xmlns:a="http://schemas.openxmlformats.org/drawingml/2006/main">
            <a:r>
              <a:t>서울시립대: C:\Users\user\Documents\GitHub\다온 집필 2028 정시\2028\..\source\pdfs\1-PRrCPRDHSIfvfoqnmMqyPKNXjrW1ozf.pdf</a:t>
            </a:r>
          </a:p>
          <a:p xmlns:a="http://schemas.openxmlformats.org/drawingml/2006/main">
            <a:r>
              <a:t>서울여대: C:\Users\user\Documents\GitHub\다온 집필 2028 정시\2028\..\source\pdfs\1Ip5kMaDA9PwCkSJHMz1xsyMSvSerjeYF.pdf</a:t>
            </a:r>
          </a:p>
          <a:p xmlns:a="http://schemas.openxmlformats.org/drawingml/2006/main">
            <a:r>
              <a:t>성균관대: C:\Users\user\Documents\GitHub\다온 집필 2028 정시\2028\..\source\pdfs\1b3XXVPLGNf60WSHAl7WTvS_YbNh8VauL.pdf</a:t>
            </a:r>
          </a:p>
          <a:p xmlns:a="http://schemas.openxmlformats.org/drawingml/2006/main">
            <a:r>
              <a:t>성신여대: C:\Users\user\Documents\GitHub\다온 집필 2028 정시\2028\..\source\pdfs\1rU8HypzIrshozPX_g0OaQbZQqKl9vYGZ.pdf</a:t>
            </a:r>
          </a:p>
          <a:p xmlns:a="http://schemas.openxmlformats.org/drawingml/2006/main">
            <a:r>
              <a:t>세종대: C:\Users\user\Documents\GitHub\다온 집필 2028 정시\2028\..\source\pdfs\1erCirC69VqEp5s8NkltFXVjrw6z3x_Cx.pdf</a:t>
            </a:r>
          </a:p>
          <a:p xmlns:a="http://schemas.openxmlformats.org/drawingml/2006/main">
            <a:r>
              <a:t>숙명여대: C:\Users\user\Documents\GitHub\다온 집필 2028 정시\2028\..\source\pdfs\173L30bcbaRFuj57Ol_4E0Zd4sXOz_rmE.pdf</a:t>
            </a:r>
          </a:p>
          <a:p xmlns:a="http://schemas.openxmlformats.org/drawingml/2006/main">
            <a:r>
              <a:t>숭실대: C:\Users\user\Documents\GitHub\다온 집필 2028 정시\2028\..\source\pdfs\172dmn19Ex448WnlOS5ZHs6jH98M5AK3e.pdf</a:t>
            </a:r>
          </a:p>
          <a:p xmlns:a="http://schemas.openxmlformats.org/drawingml/2006/main">
            <a:r>
              <a:t>연세대: C:\Users\user\Documents\GitHub\다온 집필 2028 정시\2028\..\source\pdfs\1hLAAC8wNCqZRpfG6OI_10CSmPZ4K6X5x.pdf</a:t>
            </a:r>
          </a:p>
          <a:p xmlns:a="http://schemas.openxmlformats.org/drawingml/2006/main">
            <a:r>
              <a:t>이화여대: C:\Users\user\Documents\GitHub\다온 집필 2028 정시\2028\..\source\pdfs\1JRCjjzetW8IArQyYcInmsoJFDHwnoql8.pdf</a:t>
            </a:r>
          </a:p>
          <a:p xmlns:a="http://schemas.openxmlformats.org/drawingml/2006/main">
            <a:r>
              <a:t>중앙대(서울): C:\Users\user\Documents\GitHub\다온 집필 2028 정시\2028\..\source\pdfs\1RlQUAQWxxumOkbhKc8QH_SrDjMFyZnJz.pdf</a:t>
            </a:r>
          </a:p>
          <a:p xmlns:a="http://schemas.openxmlformats.org/drawingml/2006/main">
            <a:r>
              <a:t>한국외대(서울): C:\Users\user\Documents\GitHub\다온 집필 2028 정시\2028\..\source\pdfs\1Or5GM7sGvOdvM10QK7W9BOpAUGXHIb_p.pdf</a:t>
            </a:r>
          </a:p>
          <a:p xmlns:a="http://schemas.openxmlformats.org/drawingml/2006/main">
            <a:r>
              <a:t>한성대: C:\Users\user\Documents\GitHub\다온 집필 2028 정시\2028\..\source\pdfs\1XuwKBmomTjrdFt6LD_Z1uBobWe7XiHvO.pdf</a:t>
            </a:r>
          </a:p>
          <a:p xmlns:a="http://schemas.openxmlformats.org/drawingml/2006/main">
            <a:r>
              <a:t>한양대(서울): C:\Users\user\Documents\GitHub\다온 집필 2028 정시\2028\..\source\pdfs\1nvj1V5v_rB8gfxDB_VELV-nPcaV0Y2Nj.pdf</a:t>
            </a:r>
          </a:p>
          <a:p xmlns:a="http://schemas.openxmlformats.org/drawingml/2006/main">
            <a:r>
              <a:t>홍익대(서울): C:\Users\user\Documents\GitHub\다온 집필 2028 정시\2028\..\source\pdfs\1RCAf869-ziWhjwgjC7uCH70mCyDi_Ace.pdf</a:t>
            </a:r>
          </a:p>
          <a:p xmlns:a="http://schemas.openxmlformats.org/drawingml/2006/main">
            <a:r>
              <a:t>가천대(글로벌): C:\Users\user\Documents\GitHub\다온 집필 2028 정시\2028\..\source\pdfs\1pVuhiwokvRutP9IL-Q7gl7Zfbz7TmUjP.pdf</a:t>
            </a:r>
          </a:p>
          <a:p xmlns:a="http://schemas.openxmlformats.org/drawingml/2006/main">
            <a:r>
              <a:t>가톨릭대(성심): C:\Users\user\Documents\GitHub\다온 집필 2028 정시\2028\..\source\pdfs\1LFdVFqDjKFD9aRuHNDUumyjmjBC6wjeq.pdf</a:t>
            </a:r>
          </a:p>
          <a:p xmlns:a="http://schemas.openxmlformats.org/drawingml/2006/main">
            <a:r>
              <a:t>단국대(죽전): C:\Users\user\Documents\GitHub\다온 집필 2028 정시\2028\..\source\pdfs\1Rj5rRdBKyOep1Q32itoDsKHdek0yBCBE.pdf</a:t>
            </a:r>
          </a:p>
          <a:p xmlns:a="http://schemas.openxmlformats.org/drawingml/2006/main">
            <a:r>
              <a:t>수원대: C:\Users\user\Documents\GitHub\다온 집필 2028 정시\2028\..\source\pdfs\1CuKwZ1qY6FNTzPoRxbekaMyI99TsvfOS.pdf</a:t>
            </a:r>
          </a:p>
          <a:p xmlns:a="http://schemas.openxmlformats.org/drawingml/2006/main">
            <a:r>
              <a:t>아주대: C:\Users\user\Documents\GitHub\다온 집필 2028 정시\2028\..\source\pdfs\1ozlQNstd865lDvTY7m9cnnMukGwVhrHf.pdf</a:t>
            </a:r>
          </a:p>
          <a:p xmlns:a="http://schemas.openxmlformats.org/drawingml/2006/main">
            <a:r>
              <a:t>한경국립대: C:\Users\user\Documents\GitHub\다온 집필 2028 정시\2028\..\source\pdfs\16M4YcBjN9pd937a_T3V7oBDABVeBRG9C.pdf</a:t>
            </a:r>
          </a:p>
          <a:p xmlns:a="http://schemas.openxmlformats.org/drawingml/2006/main">
            <a:r>
              <a:t>전)산기대 / 한국공학대: C:\Users\user\Documents\GitHub\다온 집필 2028 정시\2028\..\source\pdfs\1oXwYEAim-zpkMTKBu4NrXoI2IZRgLqhp.pdf</a:t>
            </a:r>
          </a:p>
          <a:p xmlns:a="http://schemas.openxmlformats.org/drawingml/2006/main">
            <a:r>
              <a:t>한국항공대: C:\Users\user\Documents\GitHub\다온 집필 2028 정시\2028\..\source\pdfs\1mUVh1_ln9Qfk0ZL_4qTVDLjdiJ3eL5VA.pdf</a:t>
            </a:r>
          </a:p>
          <a:p xmlns:a="http://schemas.openxmlformats.org/drawingml/2006/main">
            <a:r>
              <a:t>한양대(에리카): C:\Users\user\Documents\GitHub\다온 집필 2028 정시\2028\..\source\pdfs\16FOqXPUhvhTzXEZ_I7C43xQOJ92g4L4m.pdf</a:t>
            </a:r>
          </a:p>
          <a:p xmlns:a="http://schemas.openxmlformats.org/drawingml/2006/main">
            <a:r>
              <a:t>인천대: C:\Users\user\Documents\GitHub\다온 집필 2028 정시\2028\..\source\pdfs\1hBtELN_PB3oaVGVXb9XHTNJQ0snj8dbq.pdf</a:t>
            </a:r>
          </a:p>
          <a:p xmlns:a="http://schemas.openxmlformats.org/drawingml/2006/main">
            <a:r>
              <a:t>인하대: C:\Users\user\Documents\GitHub\다온 집필 2028 정시\2028\..\source\pdfs\119VpKkSPLHid9xWGG5436Nklhpx8L6y3.pdf</a:t>
            </a:r>
          </a:p>
          <a:p xmlns:a="http://schemas.openxmlformats.org/drawingml/2006/main">
            <a:r>
              <a:t>경북대학교: C:\Users\user\Documents\GitHub\다온 집필 2028 정시\2028\tmp\features\경북대학교.pdf</a:t>
            </a:r>
          </a:p>
          <a:p xmlns:a="http://schemas.openxmlformats.org/drawingml/2006/main">
            <a:r>
              <a:t>https://drive.google.com/file/d/1j6mR6tLCQN4agpMZl3Ootr1-PQ1zM4Mb/view?usp=drive_link</a:t>
            </a:r>
          </a:p>
          <a:p xmlns:a="http://schemas.openxmlformats.org/drawingml/2006/main">
            <a:r>
              <a:t>강원대학교: C:\Users\user\Documents\GitHub\다온 집필 2028 정시\2028\tmp\features\강원대학교.pdf</a:t>
            </a:r>
          </a:p>
          <a:p xmlns:a="http://schemas.openxmlformats.org/drawingml/2006/main">
            <a:r>
              <a:t>https://drive.google.com/file/d/1-PRD9pRl7Rdx39glgHqTH0iBm7TVvW6E/view?usp=sharing</a:t>
            </a:r>
          </a:p>
          <a:p xmlns:a="http://schemas.openxmlformats.org/drawingml/2006/main">
            <a:r>
              <a:t>강원대학교(강릉): C:\Users\user\Documents\GitHub\다온 집필 2028 정시\2028\tmp\features\강원대학교(강릉).pdf</a:t>
            </a:r>
          </a:p>
          <a:p xmlns:a="http://schemas.openxmlformats.org/drawingml/2006/main">
            <a:r>
              <a:t>https://drive.google.com/file/d/1DfvofrQtXOY2iPy1HDQu5ZNP2UUqAnQR/view?usp=sharing</a:t>
            </a:r>
          </a:p>
          <a:p xmlns:a="http://schemas.openxmlformats.org/drawingml/2006/main">
            <a:r>
              <a:t>전남대학교: C:\Users\user\Documents\GitHub\다온 집필 2028 정시\2028\tmp\features\전남대학교.pdf</a:t>
            </a:r>
          </a:p>
          <a:p xmlns:a="http://schemas.openxmlformats.org/drawingml/2006/main">
            <a:r>
              <a:t>https://drive.google.com/file/d/1DPeCaEwzBkRkK57uvLAmEi1LunL4haw9/view?usp=drive_link</a:t>
            </a:r>
          </a:p>
          <a:p xmlns:a="http://schemas.openxmlformats.org/drawingml/2006/main">
            <a:r>
              <a:t>부산대학교: C:\Users\user\Documents\GitHub\다온 집필 2028 정시\2028\tmp\features\부산대학교.pdf</a:t>
            </a:r>
          </a:p>
          <a:p xmlns:a="http://schemas.openxmlformats.org/drawingml/2006/main">
            <a:r>
              <a:t>https://drive.google.com/file/d/1t4VyOpT4gywm33DOAO-VnDO_SfoULFlp/view?usp=drive_link</a:t>
            </a:r>
          </a:p>
          <a:p xmlns:a="http://schemas.openxmlformats.org/drawingml/2006/main">
            <a:r>
              <a:t>충북대학교: C:\Users\user\Documents\GitHub\다온 집필 2028 정시\2028\tmp\features\충북대학교.pdf</a:t>
            </a:r>
          </a:p>
          <a:p xmlns:a="http://schemas.openxmlformats.org/drawingml/2006/main">
            <a:r>
              <a:t>https://drive.google.com/file/d/1fSRHswXs2k3EcHWD_70wCK_nkdhOzXAT/view?usp=drive_link</a:t>
            </a:r>
          </a:p>
          <a:p xmlns:a="http://schemas.openxmlformats.org/drawingml/2006/main">
            <a:r>
              <a:t>제주대학교: C:\Users\user\Documents\GitHub\다온 집필 2028 정시\2028\tmp\features\제주대학교.pdf</a:t>
            </a:r>
          </a:p>
          <a:p xmlns:a="http://schemas.openxmlformats.org/drawingml/2006/main">
            <a:r>
              <a:t>https://drive.google.com/file/d/1C-raZ6GXpxnwwOhfq0ojVEob8qp5jR1l/view?usp=drive_link</a:t>
            </a:r>
          </a:p>
          <a:p xmlns:a="http://schemas.openxmlformats.org/drawingml/2006/main">
            <a:r>
              <a:t>충남대학교: C:\Users\user\Documents\GitHub\다온 집필 2028 정시\2028\tmp\features\충남대학교.pdf</a:t>
            </a:r>
          </a:p>
          <a:p xmlns:a="http://schemas.openxmlformats.org/drawingml/2006/main">
            <a:r>
              <a:t>https://drive.google.com/file/d/1gL-aSxq5KUyX1ALkUw-8G9sThlinVpJQ/view?usp=drive_link</a:t>
            </a:r>
          </a:p>
          <a:p xmlns:a="http://schemas.openxmlformats.org/drawingml/2006/main">
            <a:r>
              <a:t>경상국립대학교: C:\Users\user\Documents\GitHub\다온 집필 2028 정시\2028\tmp\features\경상국립대학교.pdf</a:t>
            </a:r>
          </a:p>
          <a:p xmlns:a="http://schemas.openxmlformats.org/drawingml/2006/main">
            <a:r>
              <a:t>https://drive.google.com/file/d/1wyBRDvcZ-ZFNbUNcRLySfQjSCSz029kB/view?usp=drive_link</a:t>
            </a:r>
          </a:p>
          <a:p xmlns:a="http://schemas.openxmlformats.org/drawingml/2006/main">
            <a:r>
              <a:t>전북대학교: C:\Users\user\Documents\GitHub\다온 집필 2028 정시\2028\tmp\features\전북대학교.pdf</a:t>
            </a:r>
          </a:p>
          <a:p xmlns:a="http://schemas.openxmlformats.org/drawingml/2006/main">
            <a:r>
              <a:t>https://drive.google.com/file/d/1uRqYEnYiSVvUSDNJcV9ywwdRr9BfMo13/view?usp=drive_link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55e3bf236540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02f79bd5e24d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eb7b1d8cdf4f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e681bf36a343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7b536cd81348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9e7458ec4e48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CD0DE2-E703-4B08-9068-F3DE968B25D3}"/>
              </a:ext>
            </a:extLst>
          </p:cNvPr>
          <p:cNvSpPr>
            <a:spLocks xmlns:a="http://schemas.openxmlformats.org/drawingml/2006/main" noGrp="1"/>
          </p:cNvSpPr>
          <p:nvPr>
            <p:ph type="title" idx="0"/>
          </p:nvPr>
        </p:nvSpPr>
        <p:spPr>
          <a:xfrm xmlns:a="http://schemas.openxmlformats.org/drawingml/2006/main">
            <a:off x="859155" y="2863074"/>
            <a:ext cx="6873240" cy="109470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383" b="1">
                <a:solidFill>
                  <a:schemeClr val="tx1"/>
                </a:solidFill>
                <a:latin typeface="+mj-lt"/>
                <a:ea typeface="+mj-lt"/>
                <a:cs typeface="+mj-lt"/>
              </a:defRPr>
            </a:defPPr>
            <a:lvl1pPr marL="0" indent="0" algn="ctr">
              <a:lnSpc>
                <a:spcPct val="110000"/>
              </a:lnSpc>
              <a:spcBef>
                <a:spcPts val="0"/>
              </a:spcBef>
              <a:spcAft>
                <a:spcPts val="0"/>
              </a:spcAft>
              <a:buNone/>
              <a:defRPr sz="3383" b="1">
                <a:solidFill>
                  <a:schemeClr val="tx1"/>
                </a:solidFill>
                <a:latin typeface="+mj-lt"/>
                <a:ea typeface="+mj-lt"/>
                <a:cs typeface="+mj-lt"/>
              </a:defRPr>
            </a:lvl1pPr>
            <a:lvl2pPr marL="0" indent="0" algn="ctr">
              <a:lnSpc>
                <a:spcPct val="110000"/>
              </a:lnSpc>
              <a:spcBef>
                <a:spcPts val="0"/>
              </a:spcBef>
              <a:spcAft>
                <a:spcPts val="0"/>
              </a:spcAft>
              <a:buNone/>
              <a:defRPr sz="3383" b="1">
                <a:solidFill>
                  <a:schemeClr val="tx1"/>
                </a:solidFill>
                <a:latin typeface="+mj-lt"/>
                <a:ea typeface="+mj-lt"/>
                <a:cs typeface="+mj-lt"/>
              </a:defRPr>
            </a:lvl2pPr>
            <a:lvl3pPr marL="0" indent="0" algn="ctr">
              <a:lnSpc>
                <a:spcPct val="110000"/>
              </a:lnSpc>
              <a:spcBef>
                <a:spcPts val="0"/>
              </a:spcBef>
              <a:spcAft>
                <a:spcPts val="0"/>
              </a:spcAft>
              <a:buNone/>
              <a:defRPr sz="3383" b="1">
                <a:solidFill>
                  <a:schemeClr val="tx1"/>
                </a:solidFill>
                <a:latin typeface="+mj-lt"/>
                <a:ea typeface="+mj-lt"/>
                <a:cs typeface="+mj-lt"/>
              </a:defRPr>
            </a:lvl3pPr>
            <a:lvl4pPr marL="0" indent="0" algn="ctr">
              <a:lnSpc>
                <a:spcPct val="110000"/>
              </a:lnSpc>
              <a:spcBef>
                <a:spcPts val="0"/>
              </a:spcBef>
              <a:spcAft>
                <a:spcPts val="0"/>
              </a:spcAft>
              <a:buNone/>
              <a:defRPr sz="3383" b="1">
                <a:solidFill>
                  <a:schemeClr val="tx1"/>
                </a:solidFill>
                <a:latin typeface="+mj-lt"/>
                <a:ea typeface="+mj-lt"/>
                <a:cs typeface="+mj-lt"/>
              </a:defRPr>
            </a:lvl4pPr>
            <a:lvl5pPr marL="0" indent="0" algn="ctr">
              <a:lnSpc>
                <a:spcPct val="110000"/>
              </a:lnSpc>
              <a:spcBef>
                <a:spcPts val="0"/>
              </a:spcBef>
              <a:spcAft>
                <a:spcPts val="0"/>
              </a:spcAft>
              <a:buNone/>
              <a:defRPr sz="3383" b="1">
                <a:solidFill>
                  <a:schemeClr val="tx1"/>
                </a:solidFill>
                <a:latin typeface="+mj-lt"/>
                <a:ea typeface="+mj-lt"/>
                <a:cs typeface="+mj-lt"/>
              </a:defRPr>
            </a:lvl5pPr>
            <a:lvl6pPr marL="0" indent="0" algn="ctr">
              <a:lnSpc>
                <a:spcPct val="110000"/>
              </a:lnSpc>
              <a:spcBef>
                <a:spcPts val="0"/>
              </a:spcBef>
              <a:spcAft>
                <a:spcPts val="0"/>
              </a:spcAft>
              <a:buNone/>
              <a:defRPr sz="3383" b="1">
                <a:solidFill>
                  <a:schemeClr val="tx1"/>
                </a:solidFill>
                <a:latin typeface="+mj-lt"/>
                <a:ea typeface="+mj-lt"/>
                <a:cs typeface="+mj-lt"/>
              </a:defRPr>
            </a:lvl6pPr>
            <a:lvl7pPr marL="0" indent="0" algn="ctr">
              <a:lnSpc>
                <a:spcPct val="110000"/>
              </a:lnSpc>
              <a:spcBef>
                <a:spcPts val="0"/>
              </a:spcBef>
              <a:spcAft>
                <a:spcPts val="0"/>
              </a:spcAft>
              <a:buNone/>
              <a:defRPr sz="3383" b="1">
                <a:solidFill>
                  <a:schemeClr val="tx1"/>
                </a:solidFill>
                <a:latin typeface="+mj-lt"/>
                <a:ea typeface="+mj-lt"/>
                <a:cs typeface="+mj-lt"/>
              </a:defRPr>
            </a:lvl7pPr>
            <a:lvl8pPr marL="0" indent="0" algn="ctr">
              <a:lnSpc>
                <a:spcPct val="110000"/>
              </a:lnSpc>
              <a:spcBef>
                <a:spcPts val="0"/>
              </a:spcBef>
              <a:spcAft>
                <a:spcPts val="0"/>
              </a:spcAft>
              <a:buNone/>
              <a:defRPr sz="3383" b="1">
                <a:solidFill>
                  <a:schemeClr val="tx1"/>
                </a:solidFill>
                <a:latin typeface="+mj-lt"/>
                <a:ea typeface="+mj-lt"/>
                <a:cs typeface="+mj-lt"/>
              </a:defRPr>
            </a:lvl8pPr>
            <a:lvl9pPr marL="0" indent="0" algn="ctr">
              <a:lnSpc>
                <a:spcPct val="110000"/>
              </a:lnSpc>
              <a:spcBef>
                <a:spcPts val="0"/>
              </a:spcBef>
              <a:spcAft>
                <a:spcPts val="0"/>
              </a:spcAft>
              <a:buNone/>
              <a:defRPr sz="3383"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0786E0-97DF-4B73-BC78-871FDF10D094}"/>
              </a:ext>
            </a:extLst>
          </p:cNvPr>
          <p:cNvSpPr>
            <a:spLocks xmlns:a="http://schemas.openxmlformats.org/drawingml/2006/main" noGrp="1"/>
          </p:cNvSpPr>
          <p:nvPr>
            <p:ph type="subTitle" idx="1"/>
          </p:nvPr>
        </p:nvSpPr>
        <p:spPr>
          <a:xfrm xmlns:a="http://schemas.openxmlformats.org/drawingml/2006/main">
            <a:off x="1288733" y="4168299"/>
            <a:ext cx="6014085" cy="8420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80" b="0">
                <a:solidFill>
                  <a:schemeClr val="tx1"/>
                </a:solidFill>
                <a:latin typeface="+mn-lt"/>
                <a:ea typeface="+mn-lt"/>
                <a:cs typeface="+mn-lt"/>
              </a:defRPr>
            </a:defPPr>
            <a:lvl1pPr marL="0" indent="0" algn="ctr">
              <a:lnSpc>
                <a:spcPct val="110000"/>
              </a:lnSpc>
              <a:spcBef>
                <a:spcPts val="0"/>
              </a:spcBef>
              <a:spcAft>
                <a:spcPts val="0"/>
              </a:spcAft>
              <a:buNone/>
              <a:defRPr sz="1480" b="0">
                <a:solidFill>
                  <a:schemeClr val="tx1"/>
                </a:solidFill>
                <a:latin typeface="+mn-lt"/>
                <a:ea typeface="+mn-lt"/>
                <a:cs typeface="+mn-lt"/>
              </a:defRPr>
            </a:lvl1pPr>
            <a:lvl2pPr marL="0" indent="0" algn="ctr">
              <a:lnSpc>
                <a:spcPct val="110000"/>
              </a:lnSpc>
              <a:spcBef>
                <a:spcPts val="0"/>
              </a:spcBef>
              <a:spcAft>
                <a:spcPts val="0"/>
              </a:spcAft>
              <a:buNone/>
              <a:defRPr sz="1480" b="0">
                <a:solidFill>
                  <a:schemeClr val="tx1"/>
                </a:solidFill>
                <a:latin typeface="+mn-lt"/>
                <a:ea typeface="+mn-lt"/>
                <a:cs typeface="+mn-lt"/>
              </a:defRPr>
            </a:lvl2pPr>
            <a:lvl3pPr marL="0" indent="0" algn="ctr">
              <a:lnSpc>
                <a:spcPct val="110000"/>
              </a:lnSpc>
              <a:spcBef>
                <a:spcPts val="0"/>
              </a:spcBef>
              <a:spcAft>
                <a:spcPts val="0"/>
              </a:spcAft>
              <a:buNone/>
              <a:defRPr sz="1480" b="0">
                <a:solidFill>
                  <a:schemeClr val="tx1"/>
                </a:solidFill>
                <a:latin typeface="+mn-lt"/>
                <a:ea typeface="+mn-lt"/>
                <a:cs typeface="+mn-lt"/>
              </a:defRPr>
            </a:lvl3pPr>
            <a:lvl4pPr marL="0" indent="0" algn="ctr">
              <a:lnSpc>
                <a:spcPct val="110000"/>
              </a:lnSpc>
              <a:spcBef>
                <a:spcPts val="0"/>
              </a:spcBef>
              <a:spcAft>
                <a:spcPts val="0"/>
              </a:spcAft>
              <a:buNone/>
              <a:defRPr sz="1480" b="0">
                <a:solidFill>
                  <a:schemeClr val="tx1"/>
                </a:solidFill>
                <a:latin typeface="+mn-lt"/>
                <a:ea typeface="+mn-lt"/>
                <a:cs typeface="+mn-lt"/>
              </a:defRPr>
            </a:lvl4pPr>
            <a:lvl5pPr marL="0" indent="0" algn="ctr">
              <a:lnSpc>
                <a:spcPct val="110000"/>
              </a:lnSpc>
              <a:spcBef>
                <a:spcPts val="0"/>
              </a:spcBef>
              <a:spcAft>
                <a:spcPts val="0"/>
              </a:spcAft>
              <a:buNone/>
              <a:defRPr sz="1480" b="0">
                <a:solidFill>
                  <a:schemeClr val="tx1"/>
                </a:solidFill>
                <a:latin typeface="+mn-lt"/>
                <a:ea typeface="+mn-lt"/>
                <a:cs typeface="+mn-lt"/>
              </a:defRPr>
            </a:lvl5pPr>
            <a:lvl6pPr marL="0" indent="0" algn="ctr">
              <a:lnSpc>
                <a:spcPct val="110000"/>
              </a:lnSpc>
              <a:spcBef>
                <a:spcPts val="0"/>
              </a:spcBef>
              <a:spcAft>
                <a:spcPts val="0"/>
              </a:spcAft>
              <a:buNone/>
              <a:defRPr sz="1480" b="0">
                <a:solidFill>
                  <a:schemeClr val="tx1"/>
                </a:solidFill>
                <a:latin typeface="+mn-lt"/>
                <a:ea typeface="+mn-lt"/>
                <a:cs typeface="+mn-lt"/>
              </a:defRPr>
            </a:lvl6pPr>
            <a:lvl7pPr marL="0" indent="0" algn="ctr">
              <a:lnSpc>
                <a:spcPct val="110000"/>
              </a:lnSpc>
              <a:spcBef>
                <a:spcPts val="0"/>
              </a:spcBef>
              <a:spcAft>
                <a:spcPts val="0"/>
              </a:spcAft>
              <a:buNone/>
              <a:defRPr sz="1480" b="0">
                <a:solidFill>
                  <a:schemeClr val="tx1"/>
                </a:solidFill>
                <a:latin typeface="+mn-lt"/>
                <a:ea typeface="+mn-lt"/>
                <a:cs typeface="+mn-lt"/>
              </a:defRPr>
            </a:lvl7pPr>
            <a:lvl8pPr marL="0" indent="0" algn="ctr">
              <a:lnSpc>
                <a:spcPct val="110000"/>
              </a:lnSpc>
              <a:spcBef>
                <a:spcPts val="0"/>
              </a:spcBef>
              <a:spcAft>
                <a:spcPts val="0"/>
              </a:spcAft>
              <a:buNone/>
              <a:defRPr sz="1480" b="0">
                <a:solidFill>
                  <a:schemeClr val="tx1"/>
                </a:solidFill>
                <a:latin typeface="+mn-lt"/>
                <a:ea typeface="+mn-lt"/>
                <a:cs typeface="+mn-lt"/>
              </a:defRPr>
            </a:lvl8pPr>
            <a:lvl9pPr marL="0" indent="0" algn="ctr">
              <a:lnSpc>
                <a:spcPct val="110000"/>
              </a:lnSpc>
              <a:spcBef>
                <a:spcPts val="0"/>
              </a:spcBef>
              <a:spcAft>
                <a:spcPts val="0"/>
              </a:spcAft>
              <a:buNone/>
              <a:defRPr sz="148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B5436A-B4C2-4EA8-A964-2C17E8CB64ED}"/>
              </a:ext>
            </a:extLst>
          </p:cNvPr>
          <p:cNvSpPr>
            <a:spLocks xmlns:a="http://schemas.openxmlformats.org/drawingml/2006/main" noGrp="1"/>
          </p:cNvSpPr>
          <p:nvPr>
            <p:ph type="title" idx="0"/>
          </p:nvPr>
        </p:nvSpPr>
        <p:spPr>
          <a:xfrm xmlns:a="http://schemas.openxmlformats.org/drawingml/2006/main">
            <a:off x="859155" y="3157802"/>
            <a:ext cx="6873240" cy="12631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60" b="1">
                <a:solidFill>
                  <a:schemeClr val="tx1"/>
                </a:solidFill>
                <a:latin typeface="+mj-lt"/>
                <a:ea typeface="+mj-lt"/>
                <a:cs typeface="+mj-lt"/>
              </a:defRPr>
            </a:defPPr>
            <a:lvl1pPr marL="0" indent="0" algn="ctr">
              <a:lnSpc>
                <a:spcPct val="110000"/>
              </a:lnSpc>
              <a:spcBef>
                <a:spcPts val="0"/>
              </a:spcBef>
              <a:spcAft>
                <a:spcPts val="0"/>
              </a:spcAft>
              <a:buNone/>
              <a:defRPr sz="2960" b="1">
                <a:solidFill>
                  <a:schemeClr val="tx1"/>
                </a:solidFill>
                <a:latin typeface="+mj-lt"/>
                <a:ea typeface="+mj-lt"/>
                <a:cs typeface="+mj-lt"/>
              </a:defRPr>
            </a:lvl1pPr>
            <a:lvl2pPr marL="0" indent="0" algn="ctr">
              <a:lnSpc>
                <a:spcPct val="110000"/>
              </a:lnSpc>
              <a:spcBef>
                <a:spcPts val="0"/>
              </a:spcBef>
              <a:spcAft>
                <a:spcPts val="0"/>
              </a:spcAft>
              <a:buNone/>
              <a:defRPr sz="2960" b="1">
                <a:solidFill>
                  <a:schemeClr val="tx1"/>
                </a:solidFill>
                <a:latin typeface="+mj-lt"/>
                <a:ea typeface="+mj-lt"/>
                <a:cs typeface="+mj-lt"/>
              </a:defRPr>
            </a:lvl2pPr>
            <a:lvl3pPr marL="0" indent="0" algn="ctr">
              <a:lnSpc>
                <a:spcPct val="110000"/>
              </a:lnSpc>
              <a:spcBef>
                <a:spcPts val="0"/>
              </a:spcBef>
              <a:spcAft>
                <a:spcPts val="0"/>
              </a:spcAft>
              <a:buNone/>
              <a:defRPr sz="2960" b="1">
                <a:solidFill>
                  <a:schemeClr val="tx1"/>
                </a:solidFill>
                <a:latin typeface="+mj-lt"/>
                <a:ea typeface="+mj-lt"/>
                <a:cs typeface="+mj-lt"/>
              </a:defRPr>
            </a:lvl3pPr>
            <a:lvl4pPr marL="0" indent="0" algn="ctr">
              <a:lnSpc>
                <a:spcPct val="110000"/>
              </a:lnSpc>
              <a:spcBef>
                <a:spcPts val="0"/>
              </a:spcBef>
              <a:spcAft>
                <a:spcPts val="0"/>
              </a:spcAft>
              <a:buNone/>
              <a:defRPr sz="2960" b="1">
                <a:solidFill>
                  <a:schemeClr val="tx1"/>
                </a:solidFill>
                <a:latin typeface="+mj-lt"/>
                <a:ea typeface="+mj-lt"/>
                <a:cs typeface="+mj-lt"/>
              </a:defRPr>
            </a:lvl4pPr>
            <a:lvl5pPr marL="0" indent="0" algn="ctr">
              <a:lnSpc>
                <a:spcPct val="110000"/>
              </a:lnSpc>
              <a:spcBef>
                <a:spcPts val="0"/>
              </a:spcBef>
              <a:spcAft>
                <a:spcPts val="0"/>
              </a:spcAft>
              <a:buNone/>
              <a:defRPr sz="2960" b="1">
                <a:solidFill>
                  <a:schemeClr val="tx1"/>
                </a:solidFill>
                <a:latin typeface="+mj-lt"/>
                <a:ea typeface="+mj-lt"/>
                <a:cs typeface="+mj-lt"/>
              </a:defRPr>
            </a:lvl5pPr>
            <a:lvl6pPr marL="0" indent="0" algn="ctr">
              <a:lnSpc>
                <a:spcPct val="110000"/>
              </a:lnSpc>
              <a:spcBef>
                <a:spcPts val="0"/>
              </a:spcBef>
              <a:spcAft>
                <a:spcPts val="0"/>
              </a:spcAft>
              <a:buNone/>
              <a:defRPr sz="2960" b="1">
                <a:solidFill>
                  <a:schemeClr val="tx1"/>
                </a:solidFill>
                <a:latin typeface="+mj-lt"/>
                <a:ea typeface="+mj-lt"/>
                <a:cs typeface="+mj-lt"/>
              </a:defRPr>
            </a:lvl6pPr>
            <a:lvl7pPr marL="0" indent="0" algn="ctr">
              <a:lnSpc>
                <a:spcPct val="110000"/>
              </a:lnSpc>
              <a:spcBef>
                <a:spcPts val="0"/>
              </a:spcBef>
              <a:spcAft>
                <a:spcPts val="0"/>
              </a:spcAft>
              <a:buNone/>
              <a:defRPr sz="2960" b="1">
                <a:solidFill>
                  <a:schemeClr val="tx1"/>
                </a:solidFill>
                <a:latin typeface="+mj-lt"/>
                <a:ea typeface="+mj-lt"/>
                <a:cs typeface="+mj-lt"/>
              </a:defRPr>
            </a:lvl7pPr>
            <a:lvl8pPr marL="0" indent="0" algn="ctr">
              <a:lnSpc>
                <a:spcPct val="110000"/>
              </a:lnSpc>
              <a:spcBef>
                <a:spcPts val="0"/>
              </a:spcBef>
              <a:spcAft>
                <a:spcPts val="0"/>
              </a:spcAft>
              <a:buNone/>
              <a:defRPr sz="2960" b="1">
                <a:solidFill>
                  <a:schemeClr val="tx1"/>
                </a:solidFill>
                <a:latin typeface="+mj-lt"/>
                <a:ea typeface="+mj-lt"/>
                <a:cs typeface="+mj-lt"/>
              </a:defRPr>
            </a:lvl8pPr>
            <a:lvl9pPr marL="0" indent="0" algn="ctr">
              <a:lnSpc>
                <a:spcPct val="110000"/>
              </a:lnSpc>
              <a:spcBef>
                <a:spcPts val="0"/>
              </a:spcBef>
              <a:spcAft>
                <a:spcPts val="0"/>
              </a:spcAft>
              <a:buNone/>
              <a:defRPr sz="29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0CE5BC-977E-47F3-8072-428D6220176A}"/>
              </a:ext>
            </a:extLst>
          </p:cNvPr>
          <p:cNvSpPr>
            <a:spLocks xmlns:a="http://schemas.openxmlformats.org/drawingml/2006/main" noGrp="1"/>
          </p:cNvSpPr>
          <p:nvPr>
            <p:ph type="title" idx="0"/>
          </p:nvPr>
        </p:nvSpPr>
        <p:spPr>
          <a:xfrm xmlns:a="http://schemas.openxmlformats.org/drawingml/2006/main">
            <a:off x="483275" y="589456"/>
            <a:ext cx="7625001" cy="9262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25" b="1">
                <a:solidFill>
                  <a:schemeClr val="tx1"/>
                </a:solidFill>
                <a:latin typeface="+mj-lt"/>
                <a:ea typeface="+mj-lt"/>
                <a:cs typeface="+mj-lt"/>
              </a:defRPr>
            </a:defPPr>
            <a:lvl1pPr marL="0" indent="0" algn="l">
              <a:lnSpc>
                <a:spcPct val="110000"/>
              </a:lnSpc>
              <a:spcBef>
                <a:spcPts val="0"/>
              </a:spcBef>
              <a:spcAft>
                <a:spcPts val="0"/>
              </a:spcAft>
              <a:buNone/>
              <a:defRPr sz="2325" b="1">
                <a:solidFill>
                  <a:schemeClr val="tx1"/>
                </a:solidFill>
                <a:latin typeface="+mj-lt"/>
                <a:ea typeface="+mj-lt"/>
                <a:cs typeface="+mj-lt"/>
              </a:defRPr>
            </a:lvl1pPr>
            <a:lvl2pPr marL="0" indent="0" algn="l">
              <a:lnSpc>
                <a:spcPct val="110000"/>
              </a:lnSpc>
              <a:spcBef>
                <a:spcPts val="0"/>
              </a:spcBef>
              <a:spcAft>
                <a:spcPts val="0"/>
              </a:spcAft>
              <a:buNone/>
              <a:defRPr sz="2325" b="1">
                <a:solidFill>
                  <a:schemeClr val="tx1"/>
                </a:solidFill>
                <a:latin typeface="+mj-lt"/>
                <a:ea typeface="+mj-lt"/>
                <a:cs typeface="+mj-lt"/>
              </a:defRPr>
            </a:lvl2pPr>
            <a:lvl3pPr marL="0" indent="0" algn="l">
              <a:lnSpc>
                <a:spcPct val="110000"/>
              </a:lnSpc>
              <a:spcBef>
                <a:spcPts val="0"/>
              </a:spcBef>
              <a:spcAft>
                <a:spcPts val="0"/>
              </a:spcAft>
              <a:buNone/>
              <a:defRPr sz="2325" b="1">
                <a:solidFill>
                  <a:schemeClr val="tx1"/>
                </a:solidFill>
                <a:latin typeface="+mj-lt"/>
                <a:ea typeface="+mj-lt"/>
                <a:cs typeface="+mj-lt"/>
              </a:defRPr>
            </a:lvl3pPr>
            <a:lvl4pPr marL="0" indent="0" algn="l">
              <a:lnSpc>
                <a:spcPct val="110000"/>
              </a:lnSpc>
              <a:spcBef>
                <a:spcPts val="0"/>
              </a:spcBef>
              <a:spcAft>
                <a:spcPts val="0"/>
              </a:spcAft>
              <a:buNone/>
              <a:defRPr sz="2325" b="1">
                <a:solidFill>
                  <a:schemeClr val="tx1"/>
                </a:solidFill>
                <a:latin typeface="+mj-lt"/>
                <a:ea typeface="+mj-lt"/>
                <a:cs typeface="+mj-lt"/>
              </a:defRPr>
            </a:lvl4pPr>
            <a:lvl5pPr marL="0" indent="0" algn="l">
              <a:lnSpc>
                <a:spcPct val="110000"/>
              </a:lnSpc>
              <a:spcBef>
                <a:spcPts val="0"/>
              </a:spcBef>
              <a:spcAft>
                <a:spcPts val="0"/>
              </a:spcAft>
              <a:buNone/>
              <a:defRPr sz="2325" b="1">
                <a:solidFill>
                  <a:schemeClr val="tx1"/>
                </a:solidFill>
                <a:latin typeface="+mj-lt"/>
                <a:ea typeface="+mj-lt"/>
                <a:cs typeface="+mj-lt"/>
              </a:defRPr>
            </a:lvl5pPr>
            <a:lvl6pPr marL="0" indent="0" algn="l">
              <a:lnSpc>
                <a:spcPct val="110000"/>
              </a:lnSpc>
              <a:spcBef>
                <a:spcPts val="0"/>
              </a:spcBef>
              <a:spcAft>
                <a:spcPts val="0"/>
              </a:spcAft>
              <a:buNone/>
              <a:defRPr sz="2325" b="1">
                <a:solidFill>
                  <a:schemeClr val="tx1"/>
                </a:solidFill>
                <a:latin typeface="+mj-lt"/>
                <a:ea typeface="+mj-lt"/>
                <a:cs typeface="+mj-lt"/>
              </a:defRPr>
            </a:lvl6pPr>
            <a:lvl7pPr marL="0" indent="0" algn="l">
              <a:lnSpc>
                <a:spcPct val="110000"/>
              </a:lnSpc>
              <a:spcBef>
                <a:spcPts val="0"/>
              </a:spcBef>
              <a:spcAft>
                <a:spcPts val="0"/>
              </a:spcAft>
              <a:buNone/>
              <a:defRPr sz="2325" b="1">
                <a:solidFill>
                  <a:schemeClr val="tx1"/>
                </a:solidFill>
                <a:latin typeface="+mj-lt"/>
                <a:ea typeface="+mj-lt"/>
                <a:cs typeface="+mj-lt"/>
              </a:defRPr>
            </a:lvl7pPr>
            <a:lvl8pPr marL="0" indent="0" algn="l">
              <a:lnSpc>
                <a:spcPct val="110000"/>
              </a:lnSpc>
              <a:spcBef>
                <a:spcPts val="0"/>
              </a:spcBef>
              <a:spcAft>
                <a:spcPts val="0"/>
              </a:spcAft>
              <a:buNone/>
              <a:defRPr sz="2325" b="1">
                <a:solidFill>
                  <a:schemeClr val="tx1"/>
                </a:solidFill>
                <a:latin typeface="+mj-lt"/>
                <a:ea typeface="+mj-lt"/>
                <a:cs typeface="+mj-lt"/>
              </a:defRPr>
            </a:lvl8pPr>
            <a:lvl9pPr marL="0" indent="0" algn="l">
              <a:lnSpc>
                <a:spcPct val="110000"/>
              </a:lnSpc>
              <a:spcBef>
                <a:spcPts val="0"/>
              </a:spcBef>
              <a:spcAft>
                <a:spcPts val="0"/>
              </a:spcAft>
              <a:buNone/>
              <a:defRPr sz="23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53E90C-C46E-40CB-841C-23B7BF7F4024}"/>
              </a:ext>
            </a:extLst>
          </p:cNvPr>
          <p:cNvSpPr>
            <a:spLocks xmlns:a="http://schemas.openxmlformats.org/drawingml/2006/main" noGrp="1"/>
          </p:cNvSpPr>
          <p:nvPr>
            <p:ph type="body" idx="1"/>
          </p:nvPr>
        </p:nvSpPr>
        <p:spPr>
          <a:xfrm xmlns:a="http://schemas.openxmlformats.org/drawingml/2006/main">
            <a:off x="483275" y="2105201"/>
            <a:ext cx="7625001" cy="471565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86" b="0">
                <a:solidFill>
                  <a:schemeClr val="tx1"/>
                </a:solidFill>
                <a:latin typeface="+mn-lt"/>
                <a:ea typeface="+mn-lt"/>
                <a:cs typeface="+mn-lt"/>
              </a:defRPr>
            </a:defPPr>
            <a:lvl1pPr marL="161092" indent="-161092" algn="l">
              <a:lnSpc>
                <a:spcPct val="110000"/>
              </a:lnSpc>
              <a:spcBef>
                <a:spcPts val="0"/>
              </a:spcBef>
              <a:spcAft>
                <a:spcPts val="846"/>
              </a:spcAft>
              <a:buChar char="•"/>
              <a:defRPr sz="1586" b="0">
                <a:solidFill>
                  <a:schemeClr val="tx1"/>
                </a:solidFill>
                <a:latin typeface="+mn-lt"/>
                <a:ea typeface="+mn-lt"/>
                <a:cs typeface="+mn-lt"/>
              </a:defRPr>
            </a:lvl1pPr>
            <a:lvl2pPr marL="375880" indent="-161092" algn="l">
              <a:lnSpc>
                <a:spcPct val="110000"/>
              </a:lnSpc>
              <a:spcBef>
                <a:spcPts val="0"/>
              </a:spcBef>
              <a:spcAft>
                <a:spcPts val="846"/>
              </a:spcAft>
              <a:buChar char="•"/>
              <a:defRPr sz="1586" b="0">
                <a:solidFill>
                  <a:schemeClr val="tx1"/>
                </a:solidFill>
                <a:latin typeface="+mn-lt"/>
                <a:ea typeface="+mn-lt"/>
                <a:cs typeface="+mn-lt"/>
              </a:defRPr>
            </a:lvl2pPr>
            <a:lvl3pPr marL="590669" indent="-161092" algn="l">
              <a:lnSpc>
                <a:spcPct val="110000"/>
              </a:lnSpc>
              <a:spcBef>
                <a:spcPts val="0"/>
              </a:spcBef>
              <a:spcAft>
                <a:spcPts val="846"/>
              </a:spcAft>
              <a:buChar char="•"/>
              <a:defRPr sz="1586" b="0">
                <a:solidFill>
                  <a:schemeClr val="tx1"/>
                </a:solidFill>
                <a:latin typeface="+mn-lt"/>
                <a:ea typeface="+mn-lt"/>
                <a:cs typeface="+mn-lt"/>
              </a:defRPr>
            </a:lvl3pPr>
            <a:lvl4pPr marL="805458" indent="-161092" algn="l">
              <a:lnSpc>
                <a:spcPct val="110000"/>
              </a:lnSpc>
              <a:spcBef>
                <a:spcPts val="0"/>
              </a:spcBef>
              <a:spcAft>
                <a:spcPts val="846"/>
              </a:spcAft>
              <a:buChar char="•"/>
              <a:defRPr sz="1586" b="0">
                <a:solidFill>
                  <a:schemeClr val="tx1"/>
                </a:solidFill>
                <a:latin typeface="+mn-lt"/>
                <a:ea typeface="+mn-lt"/>
                <a:cs typeface="+mn-lt"/>
              </a:defRPr>
            </a:lvl4pPr>
            <a:lvl5pPr marL="1020247" indent="-161092" algn="l">
              <a:lnSpc>
                <a:spcPct val="110000"/>
              </a:lnSpc>
              <a:spcBef>
                <a:spcPts val="0"/>
              </a:spcBef>
              <a:spcAft>
                <a:spcPts val="846"/>
              </a:spcAft>
              <a:buChar char="•"/>
              <a:defRPr sz="1586" b="0">
                <a:solidFill>
                  <a:schemeClr val="tx1"/>
                </a:solidFill>
                <a:latin typeface="+mn-lt"/>
                <a:ea typeface="+mn-lt"/>
                <a:cs typeface="+mn-lt"/>
              </a:defRPr>
            </a:lvl5pPr>
            <a:lvl6pPr marL="1235035" indent="-161092" algn="l">
              <a:lnSpc>
                <a:spcPct val="110000"/>
              </a:lnSpc>
              <a:spcBef>
                <a:spcPts val="0"/>
              </a:spcBef>
              <a:spcAft>
                <a:spcPts val="846"/>
              </a:spcAft>
              <a:buChar char="•"/>
              <a:defRPr sz="1586" b="0">
                <a:solidFill>
                  <a:schemeClr val="tx1"/>
                </a:solidFill>
                <a:latin typeface="+mn-lt"/>
                <a:ea typeface="+mn-lt"/>
                <a:cs typeface="+mn-lt"/>
              </a:defRPr>
            </a:lvl6pPr>
            <a:lvl7pPr marL="1449824" indent="-161092" algn="l">
              <a:lnSpc>
                <a:spcPct val="110000"/>
              </a:lnSpc>
              <a:spcBef>
                <a:spcPts val="0"/>
              </a:spcBef>
              <a:spcAft>
                <a:spcPts val="846"/>
              </a:spcAft>
              <a:buChar char="•"/>
              <a:defRPr sz="1586" b="0">
                <a:solidFill>
                  <a:schemeClr val="tx1"/>
                </a:solidFill>
                <a:latin typeface="+mn-lt"/>
                <a:ea typeface="+mn-lt"/>
                <a:cs typeface="+mn-lt"/>
              </a:defRPr>
            </a:lvl7pPr>
            <a:lvl8pPr marL="1664613" indent="-161092" algn="l">
              <a:lnSpc>
                <a:spcPct val="110000"/>
              </a:lnSpc>
              <a:spcBef>
                <a:spcPts val="0"/>
              </a:spcBef>
              <a:spcAft>
                <a:spcPts val="846"/>
              </a:spcAft>
              <a:buChar char="•"/>
              <a:defRPr sz="1586" b="0">
                <a:solidFill>
                  <a:schemeClr val="tx1"/>
                </a:solidFill>
                <a:latin typeface="+mn-lt"/>
                <a:ea typeface="+mn-lt"/>
                <a:cs typeface="+mn-lt"/>
              </a:defRPr>
            </a:lvl8pPr>
            <a:lvl9pPr marL="1879402" indent="-161092" algn="l">
              <a:lnSpc>
                <a:spcPct val="110000"/>
              </a:lnSpc>
              <a:spcBef>
                <a:spcPts val="0"/>
              </a:spcBef>
              <a:spcAft>
                <a:spcPts val="846"/>
              </a:spcAft>
              <a:buChar char="•"/>
              <a:defRPr sz="1586"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51E5C0-E95A-4069-B1C2-6A09B05E08FA}"/>
              </a:ext>
            </a:extLst>
          </p:cNvPr>
          <p:cNvSpPr>
            <a:spLocks xmlns:a="http://schemas.openxmlformats.org/drawingml/2006/main" noGrp="1"/>
          </p:cNvSpPr>
          <p:nvPr>
            <p:ph type="title" idx="0"/>
          </p:nvPr>
        </p:nvSpPr>
        <p:spPr>
          <a:xfrm xmlns:a="http://schemas.openxmlformats.org/drawingml/2006/main">
            <a:off x="483275" y="589456"/>
            <a:ext cx="7625001" cy="9262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25" b="1">
                <a:solidFill>
                  <a:schemeClr val="tx1"/>
                </a:solidFill>
                <a:latin typeface="+mj-lt"/>
                <a:ea typeface="+mj-lt"/>
                <a:cs typeface="+mj-lt"/>
              </a:defRPr>
            </a:defPPr>
            <a:lvl1pPr marL="0" indent="0" algn="l">
              <a:lnSpc>
                <a:spcPct val="110000"/>
              </a:lnSpc>
              <a:spcBef>
                <a:spcPts val="0"/>
              </a:spcBef>
              <a:spcAft>
                <a:spcPts val="0"/>
              </a:spcAft>
              <a:buNone/>
              <a:defRPr sz="2325" b="1">
                <a:solidFill>
                  <a:schemeClr val="tx1"/>
                </a:solidFill>
                <a:latin typeface="+mj-lt"/>
                <a:ea typeface="+mj-lt"/>
                <a:cs typeface="+mj-lt"/>
              </a:defRPr>
            </a:lvl1pPr>
            <a:lvl2pPr marL="0" indent="0" algn="l">
              <a:lnSpc>
                <a:spcPct val="110000"/>
              </a:lnSpc>
              <a:spcBef>
                <a:spcPts val="0"/>
              </a:spcBef>
              <a:spcAft>
                <a:spcPts val="0"/>
              </a:spcAft>
              <a:buNone/>
              <a:defRPr sz="2325" b="1">
                <a:solidFill>
                  <a:schemeClr val="tx1"/>
                </a:solidFill>
                <a:latin typeface="+mj-lt"/>
                <a:ea typeface="+mj-lt"/>
                <a:cs typeface="+mj-lt"/>
              </a:defRPr>
            </a:lvl2pPr>
            <a:lvl3pPr marL="0" indent="0" algn="l">
              <a:lnSpc>
                <a:spcPct val="110000"/>
              </a:lnSpc>
              <a:spcBef>
                <a:spcPts val="0"/>
              </a:spcBef>
              <a:spcAft>
                <a:spcPts val="0"/>
              </a:spcAft>
              <a:buNone/>
              <a:defRPr sz="2325" b="1">
                <a:solidFill>
                  <a:schemeClr val="tx1"/>
                </a:solidFill>
                <a:latin typeface="+mj-lt"/>
                <a:ea typeface="+mj-lt"/>
                <a:cs typeface="+mj-lt"/>
              </a:defRPr>
            </a:lvl3pPr>
            <a:lvl4pPr marL="0" indent="0" algn="l">
              <a:lnSpc>
                <a:spcPct val="110000"/>
              </a:lnSpc>
              <a:spcBef>
                <a:spcPts val="0"/>
              </a:spcBef>
              <a:spcAft>
                <a:spcPts val="0"/>
              </a:spcAft>
              <a:buNone/>
              <a:defRPr sz="2325" b="1">
                <a:solidFill>
                  <a:schemeClr val="tx1"/>
                </a:solidFill>
                <a:latin typeface="+mj-lt"/>
                <a:ea typeface="+mj-lt"/>
                <a:cs typeface="+mj-lt"/>
              </a:defRPr>
            </a:lvl4pPr>
            <a:lvl5pPr marL="0" indent="0" algn="l">
              <a:lnSpc>
                <a:spcPct val="110000"/>
              </a:lnSpc>
              <a:spcBef>
                <a:spcPts val="0"/>
              </a:spcBef>
              <a:spcAft>
                <a:spcPts val="0"/>
              </a:spcAft>
              <a:buNone/>
              <a:defRPr sz="2325" b="1">
                <a:solidFill>
                  <a:schemeClr val="tx1"/>
                </a:solidFill>
                <a:latin typeface="+mj-lt"/>
                <a:ea typeface="+mj-lt"/>
                <a:cs typeface="+mj-lt"/>
              </a:defRPr>
            </a:lvl5pPr>
            <a:lvl6pPr marL="0" indent="0" algn="l">
              <a:lnSpc>
                <a:spcPct val="110000"/>
              </a:lnSpc>
              <a:spcBef>
                <a:spcPts val="0"/>
              </a:spcBef>
              <a:spcAft>
                <a:spcPts val="0"/>
              </a:spcAft>
              <a:buNone/>
              <a:defRPr sz="2325" b="1">
                <a:solidFill>
                  <a:schemeClr val="tx1"/>
                </a:solidFill>
                <a:latin typeface="+mj-lt"/>
                <a:ea typeface="+mj-lt"/>
                <a:cs typeface="+mj-lt"/>
              </a:defRPr>
            </a:lvl6pPr>
            <a:lvl7pPr marL="0" indent="0" algn="l">
              <a:lnSpc>
                <a:spcPct val="110000"/>
              </a:lnSpc>
              <a:spcBef>
                <a:spcPts val="0"/>
              </a:spcBef>
              <a:spcAft>
                <a:spcPts val="0"/>
              </a:spcAft>
              <a:buNone/>
              <a:defRPr sz="2325" b="1">
                <a:solidFill>
                  <a:schemeClr val="tx1"/>
                </a:solidFill>
                <a:latin typeface="+mj-lt"/>
                <a:ea typeface="+mj-lt"/>
                <a:cs typeface="+mj-lt"/>
              </a:defRPr>
            </a:lvl7pPr>
            <a:lvl8pPr marL="0" indent="0" algn="l">
              <a:lnSpc>
                <a:spcPct val="110000"/>
              </a:lnSpc>
              <a:spcBef>
                <a:spcPts val="0"/>
              </a:spcBef>
              <a:spcAft>
                <a:spcPts val="0"/>
              </a:spcAft>
              <a:buNone/>
              <a:defRPr sz="2325" b="1">
                <a:solidFill>
                  <a:schemeClr val="tx1"/>
                </a:solidFill>
                <a:latin typeface="+mj-lt"/>
                <a:ea typeface="+mj-lt"/>
                <a:cs typeface="+mj-lt"/>
              </a:defRPr>
            </a:lvl8pPr>
            <a:lvl9pPr marL="0" indent="0" algn="l">
              <a:lnSpc>
                <a:spcPct val="110000"/>
              </a:lnSpc>
              <a:spcBef>
                <a:spcPts val="0"/>
              </a:spcBef>
              <a:spcAft>
                <a:spcPts val="0"/>
              </a:spcAft>
              <a:buNone/>
              <a:defRPr sz="23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1630CF-2F4D-4AA6-BBE5-46CE893EF170}"/>
              </a:ext>
            </a:extLst>
          </p:cNvPr>
          <p:cNvSpPr>
            <a:spLocks xmlns:a="http://schemas.openxmlformats.org/drawingml/2006/main" noGrp="1"/>
          </p:cNvSpPr>
          <p:nvPr>
            <p:ph type="body" idx="1"/>
          </p:nvPr>
        </p:nvSpPr>
        <p:spPr>
          <a:xfrm xmlns:a="http://schemas.openxmlformats.org/drawingml/2006/main">
            <a:off x="483275" y="2105201"/>
            <a:ext cx="3544014" cy="471565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80" b="0">
                <a:solidFill>
                  <a:schemeClr val="tx1"/>
                </a:solidFill>
                <a:latin typeface="+mn-lt"/>
                <a:ea typeface="+mn-lt"/>
                <a:cs typeface="+mn-lt"/>
              </a:defRPr>
            </a:defPPr>
            <a:lvl1pPr marL="161092" indent="-161092" algn="l">
              <a:lnSpc>
                <a:spcPct val="110000"/>
              </a:lnSpc>
              <a:spcBef>
                <a:spcPts val="0"/>
              </a:spcBef>
              <a:spcAft>
                <a:spcPts val="846"/>
              </a:spcAft>
              <a:buChar char="•"/>
              <a:defRPr sz="1480" b="0">
                <a:solidFill>
                  <a:schemeClr val="tx1"/>
                </a:solidFill>
                <a:latin typeface="+mn-lt"/>
                <a:ea typeface="+mn-lt"/>
                <a:cs typeface="+mn-lt"/>
              </a:defRPr>
            </a:lvl1pPr>
            <a:lvl2pPr marL="375880" indent="-161092" algn="l">
              <a:lnSpc>
                <a:spcPct val="110000"/>
              </a:lnSpc>
              <a:spcBef>
                <a:spcPts val="0"/>
              </a:spcBef>
              <a:spcAft>
                <a:spcPts val="846"/>
              </a:spcAft>
              <a:buChar char="•"/>
              <a:defRPr sz="1480" b="0">
                <a:solidFill>
                  <a:schemeClr val="tx1"/>
                </a:solidFill>
                <a:latin typeface="+mn-lt"/>
                <a:ea typeface="+mn-lt"/>
                <a:cs typeface="+mn-lt"/>
              </a:defRPr>
            </a:lvl2pPr>
            <a:lvl3pPr marL="590669" indent="-161092" algn="l">
              <a:lnSpc>
                <a:spcPct val="110000"/>
              </a:lnSpc>
              <a:spcBef>
                <a:spcPts val="0"/>
              </a:spcBef>
              <a:spcAft>
                <a:spcPts val="846"/>
              </a:spcAft>
              <a:buChar char="•"/>
              <a:defRPr sz="1480" b="0">
                <a:solidFill>
                  <a:schemeClr val="tx1"/>
                </a:solidFill>
                <a:latin typeface="+mn-lt"/>
                <a:ea typeface="+mn-lt"/>
                <a:cs typeface="+mn-lt"/>
              </a:defRPr>
            </a:lvl3pPr>
            <a:lvl4pPr marL="805458" indent="-161092" algn="l">
              <a:lnSpc>
                <a:spcPct val="110000"/>
              </a:lnSpc>
              <a:spcBef>
                <a:spcPts val="0"/>
              </a:spcBef>
              <a:spcAft>
                <a:spcPts val="846"/>
              </a:spcAft>
              <a:buChar char="•"/>
              <a:defRPr sz="1480" b="0">
                <a:solidFill>
                  <a:schemeClr val="tx1"/>
                </a:solidFill>
                <a:latin typeface="+mn-lt"/>
                <a:ea typeface="+mn-lt"/>
                <a:cs typeface="+mn-lt"/>
              </a:defRPr>
            </a:lvl4pPr>
            <a:lvl5pPr marL="1020247" indent="-161092" algn="l">
              <a:lnSpc>
                <a:spcPct val="110000"/>
              </a:lnSpc>
              <a:spcBef>
                <a:spcPts val="0"/>
              </a:spcBef>
              <a:spcAft>
                <a:spcPts val="846"/>
              </a:spcAft>
              <a:buChar char="•"/>
              <a:defRPr sz="1480" b="0">
                <a:solidFill>
                  <a:schemeClr val="tx1"/>
                </a:solidFill>
                <a:latin typeface="+mn-lt"/>
                <a:ea typeface="+mn-lt"/>
                <a:cs typeface="+mn-lt"/>
              </a:defRPr>
            </a:lvl5pPr>
            <a:lvl6pPr marL="1235035" indent="-161092" algn="l">
              <a:lnSpc>
                <a:spcPct val="110000"/>
              </a:lnSpc>
              <a:spcBef>
                <a:spcPts val="0"/>
              </a:spcBef>
              <a:spcAft>
                <a:spcPts val="846"/>
              </a:spcAft>
              <a:buChar char="•"/>
              <a:defRPr sz="1480" b="0">
                <a:solidFill>
                  <a:schemeClr val="tx1"/>
                </a:solidFill>
                <a:latin typeface="+mn-lt"/>
                <a:ea typeface="+mn-lt"/>
                <a:cs typeface="+mn-lt"/>
              </a:defRPr>
            </a:lvl6pPr>
            <a:lvl7pPr marL="1449824" indent="-161092" algn="l">
              <a:lnSpc>
                <a:spcPct val="110000"/>
              </a:lnSpc>
              <a:spcBef>
                <a:spcPts val="0"/>
              </a:spcBef>
              <a:spcAft>
                <a:spcPts val="846"/>
              </a:spcAft>
              <a:buChar char="•"/>
              <a:defRPr sz="1480" b="0">
                <a:solidFill>
                  <a:schemeClr val="tx1"/>
                </a:solidFill>
                <a:latin typeface="+mn-lt"/>
                <a:ea typeface="+mn-lt"/>
                <a:cs typeface="+mn-lt"/>
              </a:defRPr>
            </a:lvl7pPr>
            <a:lvl8pPr marL="1664613" indent="-161092" algn="l">
              <a:lnSpc>
                <a:spcPct val="110000"/>
              </a:lnSpc>
              <a:spcBef>
                <a:spcPts val="0"/>
              </a:spcBef>
              <a:spcAft>
                <a:spcPts val="846"/>
              </a:spcAft>
              <a:buChar char="•"/>
              <a:defRPr sz="1480" b="0">
                <a:solidFill>
                  <a:schemeClr val="tx1"/>
                </a:solidFill>
                <a:latin typeface="+mn-lt"/>
                <a:ea typeface="+mn-lt"/>
                <a:cs typeface="+mn-lt"/>
              </a:defRPr>
            </a:lvl8pPr>
            <a:lvl9pPr marL="1879402" indent="-161092" algn="l">
              <a:lnSpc>
                <a:spcPct val="110000"/>
              </a:lnSpc>
              <a:spcBef>
                <a:spcPts val="0"/>
              </a:spcBef>
              <a:spcAft>
                <a:spcPts val="846"/>
              </a:spcAft>
              <a:buChar char="•"/>
              <a:defRPr sz="148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AFE3CA-7630-46FA-BCF7-CF57E5D0F05E}"/>
              </a:ext>
            </a:extLst>
          </p:cNvPr>
          <p:cNvSpPr>
            <a:spLocks xmlns:a="http://schemas.openxmlformats.org/drawingml/2006/main" noGrp="1"/>
          </p:cNvSpPr>
          <p:nvPr>
            <p:ph type="body" idx="2"/>
          </p:nvPr>
        </p:nvSpPr>
        <p:spPr>
          <a:xfrm xmlns:a="http://schemas.openxmlformats.org/drawingml/2006/main">
            <a:off x="4564261" y="2105201"/>
            <a:ext cx="3544014" cy="471565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80" b="0">
                <a:solidFill>
                  <a:schemeClr val="tx1"/>
                </a:solidFill>
                <a:latin typeface="+mn-lt"/>
                <a:ea typeface="+mn-lt"/>
                <a:cs typeface="+mn-lt"/>
              </a:defRPr>
            </a:defPPr>
            <a:lvl1pPr marL="161092" indent="-161092" algn="l">
              <a:lnSpc>
                <a:spcPct val="110000"/>
              </a:lnSpc>
              <a:spcBef>
                <a:spcPts val="0"/>
              </a:spcBef>
              <a:spcAft>
                <a:spcPts val="846"/>
              </a:spcAft>
              <a:buChar char="•"/>
              <a:defRPr sz="1480" b="0">
                <a:solidFill>
                  <a:schemeClr val="tx1"/>
                </a:solidFill>
                <a:latin typeface="+mn-lt"/>
                <a:ea typeface="+mn-lt"/>
                <a:cs typeface="+mn-lt"/>
              </a:defRPr>
            </a:lvl1pPr>
            <a:lvl2pPr marL="375880" indent="-161092" algn="l">
              <a:lnSpc>
                <a:spcPct val="110000"/>
              </a:lnSpc>
              <a:spcBef>
                <a:spcPts val="0"/>
              </a:spcBef>
              <a:spcAft>
                <a:spcPts val="846"/>
              </a:spcAft>
              <a:buChar char="•"/>
              <a:defRPr sz="1480" b="0">
                <a:solidFill>
                  <a:schemeClr val="tx1"/>
                </a:solidFill>
                <a:latin typeface="+mn-lt"/>
                <a:ea typeface="+mn-lt"/>
                <a:cs typeface="+mn-lt"/>
              </a:defRPr>
            </a:lvl2pPr>
            <a:lvl3pPr marL="590669" indent="-161092" algn="l">
              <a:lnSpc>
                <a:spcPct val="110000"/>
              </a:lnSpc>
              <a:spcBef>
                <a:spcPts val="0"/>
              </a:spcBef>
              <a:spcAft>
                <a:spcPts val="846"/>
              </a:spcAft>
              <a:buChar char="•"/>
              <a:defRPr sz="1480" b="0">
                <a:solidFill>
                  <a:schemeClr val="tx1"/>
                </a:solidFill>
                <a:latin typeface="+mn-lt"/>
                <a:ea typeface="+mn-lt"/>
                <a:cs typeface="+mn-lt"/>
              </a:defRPr>
            </a:lvl3pPr>
            <a:lvl4pPr marL="805458" indent="-161092" algn="l">
              <a:lnSpc>
                <a:spcPct val="110000"/>
              </a:lnSpc>
              <a:spcBef>
                <a:spcPts val="0"/>
              </a:spcBef>
              <a:spcAft>
                <a:spcPts val="846"/>
              </a:spcAft>
              <a:buChar char="•"/>
              <a:defRPr sz="1480" b="0">
                <a:solidFill>
                  <a:schemeClr val="tx1"/>
                </a:solidFill>
                <a:latin typeface="+mn-lt"/>
                <a:ea typeface="+mn-lt"/>
                <a:cs typeface="+mn-lt"/>
              </a:defRPr>
            </a:lvl4pPr>
            <a:lvl5pPr marL="1020247" indent="-161092" algn="l">
              <a:lnSpc>
                <a:spcPct val="110000"/>
              </a:lnSpc>
              <a:spcBef>
                <a:spcPts val="0"/>
              </a:spcBef>
              <a:spcAft>
                <a:spcPts val="846"/>
              </a:spcAft>
              <a:buChar char="•"/>
              <a:defRPr sz="1480" b="0">
                <a:solidFill>
                  <a:schemeClr val="tx1"/>
                </a:solidFill>
                <a:latin typeface="+mn-lt"/>
                <a:ea typeface="+mn-lt"/>
                <a:cs typeface="+mn-lt"/>
              </a:defRPr>
            </a:lvl5pPr>
            <a:lvl6pPr marL="1235035" indent="-161092" algn="l">
              <a:lnSpc>
                <a:spcPct val="110000"/>
              </a:lnSpc>
              <a:spcBef>
                <a:spcPts val="0"/>
              </a:spcBef>
              <a:spcAft>
                <a:spcPts val="846"/>
              </a:spcAft>
              <a:buChar char="•"/>
              <a:defRPr sz="1480" b="0">
                <a:solidFill>
                  <a:schemeClr val="tx1"/>
                </a:solidFill>
                <a:latin typeface="+mn-lt"/>
                <a:ea typeface="+mn-lt"/>
                <a:cs typeface="+mn-lt"/>
              </a:defRPr>
            </a:lvl6pPr>
            <a:lvl7pPr marL="1449824" indent="-161092" algn="l">
              <a:lnSpc>
                <a:spcPct val="110000"/>
              </a:lnSpc>
              <a:spcBef>
                <a:spcPts val="0"/>
              </a:spcBef>
              <a:spcAft>
                <a:spcPts val="846"/>
              </a:spcAft>
              <a:buChar char="•"/>
              <a:defRPr sz="1480" b="0">
                <a:solidFill>
                  <a:schemeClr val="tx1"/>
                </a:solidFill>
                <a:latin typeface="+mn-lt"/>
                <a:ea typeface="+mn-lt"/>
                <a:cs typeface="+mn-lt"/>
              </a:defRPr>
            </a:lvl7pPr>
            <a:lvl8pPr marL="1664613" indent="-161092" algn="l">
              <a:lnSpc>
                <a:spcPct val="110000"/>
              </a:lnSpc>
              <a:spcBef>
                <a:spcPts val="0"/>
              </a:spcBef>
              <a:spcAft>
                <a:spcPts val="846"/>
              </a:spcAft>
              <a:buChar char="•"/>
              <a:defRPr sz="1480" b="0">
                <a:solidFill>
                  <a:schemeClr val="tx1"/>
                </a:solidFill>
                <a:latin typeface="+mn-lt"/>
                <a:ea typeface="+mn-lt"/>
                <a:cs typeface="+mn-lt"/>
              </a:defRPr>
            </a:lvl8pPr>
            <a:lvl9pPr marL="1879402" indent="-161092" algn="l">
              <a:lnSpc>
                <a:spcPct val="110000"/>
              </a:lnSpc>
              <a:spcBef>
                <a:spcPts val="0"/>
              </a:spcBef>
              <a:spcAft>
                <a:spcPts val="846"/>
              </a:spcAft>
              <a:buChar char="•"/>
              <a:defRPr sz="148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64C331-DA7A-4FF5-B8DB-D5ECB17E5D38}"/>
              </a:ext>
            </a:extLst>
          </p:cNvPr>
          <p:cNvSpPr>
            <a:spLocks xmlns:a="http://schemas.openxmlformats.org/drawingml/2006/main" noGrp="1"/>
          </p:cNvSpPr>
          <p:nvPr>
            <p:ph type="title" idx="0"/>
          </p:nvPr>
        </p:nvSpPr>
        <p:spPr>
          <a:xfrm xmlns:a="http://schemas.openxmlformats.org/drawingml/2006/main">
            <a:off x="483275" y="589456"/>
            <a:ext cx="7625001" cy="92628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25" b="1">
                <a:solidFill>
                  <a:schemeClr val="tx1"/>
                </a:solidFill>
                <a:latin typeface="+mj-lt"/>
                <a:ea typeface="+mj-lt"/>
                <a:cs typeface="+mj-lt"/>
              </a:defRPr>
            </a:defPPr>
            <a:lvl1pPr marL="0" indent="0" algn="l">
              <a:lnSpc>
                <a:spcPct val="110000"/>
              </a:lnSpc>
              <a:spcBef>
                <a:spcPts val="0"/>
              </a:spcBef>
              <a:spcAft>
                <a:spcPts val="0"/>
              </a:spcAft>
              <a:buNone/>
              <a:defRPr sz="2325" b="1">
                <a:solidFill>
                  <a:schemeClr val="tx1"/>
                </a:solidFill>
                <a:latin typeface="+mj-lt"/>
                <a:ea typeface="+mj-lt"/>
                <a:cs typeface="+mj-lt"/>
              </a:defRPr>
            </a:lvl1pPr>
            <a:lvl2pPr marL="0" indent="0" algn="l">
              <a:lnSpc>
                <a:spcPct val="110000"/>
              </a:lnSpc>
              <a:spcBef>
                <a:spcPts val="0"/>
              </a:spcBef>
              <a:spcAft>
                <a:spcPts val="0"/>
              </a:spcAft>
              <a:buNone/>
              <a:defRPr sz="2325" b="1">
                <a:solidFill>
                  <a:schemeClr val="tx1"/>
                </a:solidFill>
                <a:latin typeface="+mj-lt"/>
                <a:ea typeface="+mj-lt"/>
                <a:cs typeface="+mj-lt"/>
              </a:defRPr>
            </a:lvl2pPr>
            <a:lvl3pPr marL="0" indent="0" algn="l">
              <a:lnSpc>
                <a:spcPct val="110000"/>
              </a:lnSpc>
              <a:spcBef>
                <a:spcPts val="0"/>
              </a:spcBef>
              <a:spcAft>
                <a:spcPts val="0"/>
              </a:spcAft>
              <a:buNone/>
              <a:defRPr sz="2325" b="1">
                <a:solidFill>
                  <a:schemeClr val="tx1"/>
                </a:solidFill>
                <a:latin typeface="+mj-lt"/>
                <a:ea typeface="+mj-lt"/>
                <a:cs typeface="+mj-lt"/>
              </a:defRPr>
            </a:lvl3pPr>
            <a:lvl4pPr marL="0" indent="0" algn="l">
              <a:lnSpc>
                <a:spcPct val="110000"/>
              </a:lnSpc>
              <a:spcBef>
                <a:spcPts val="0"/>
              </a:spcBef>
              <a:spcAft>
                <a:spcPts val="0"/>
              </a:spcAft>
              <a:buNone/>
              <a:defRPr sz="2325" b="1">
                <a:solidFill>
                  <a:schemeClr val="tx1"/>
                </a:solidFill>
                <a:latin typeface="+mj-lt"/>
                <a:ea typeface="+mj-lt"/>
                <a:cs typeface="+mj-lt"/>
              </a:defRPr>
            </a:lvl4pPr>
            <a:lvl5pPr marL="0" indent="0" algn="l">
              <a:lnSpc>
                <a:spcPct val="110000"/>
              </a:lnSpc>
              <a:spcBef>
                <a:spcPts val="0"/>
              </a:spcBef>
              <a:spcAft>
                <a:spcPts val="0"/>
              </a:spcAft>
              <a:buNone/>
              <a:defRPr sz="2325" b="1">
                <a:solidFill>
                  <a:schemeClr val="tx1"/>
                </a:solidFill>
                <a:latin typeface="+mj-lt"/>
                <a:ea typeface="+mj-lt"/>
                <a:cs typeface="+mj-lt"/>
              </a:defRPr>
            </a:lvl5pPr>
            <a:lvl6pPr marL="0" indent="0" algn="l">
              <a:lnSpc>
                <a:spcPct val="110000"/>
              </a:lnSpc>
              <a:spcBef>
                <a:spcPts val="0"/>
              </a:spcBef>
              <a:spcAft>
                <a:spcPts val="0"/>
              </a:spcAft>
              <a:buNone/>
              <a:defRPr sz="2325" b="1">
                <a:solidFill>
                  <a:schemeClr val="tx1"/>
                </a:solidFill>
                <a:latin typeface="+mj-lt"/>
                <a:ea typeface="+mj-lt"/>
                <a:cs typeface="+mj-lt"/>
              </a:defRPr>
            </a:lvl6pPr>
            <a:lvl7pPr marL="0" indent="0" algn="l">
              <a:lnSpc>
                <a:spcPct val="110000"/>
              </a:lnSpc>
              <a:spcBef>
                <a:spcPts val="0"/>
              </a:spcBef>
              <a:spcAft>
                <a:spcPts val="0"/>
              </a:spcAft>
              <a:buNone/>
              <a:defRPr sz="2325" b="1">
                <a:solidFill>
                  <a:schemeClr val="tx1"/>
                </a:solidFill>
                <a:latin typeface="+mj-lt"/>
                <a:ea typeface="+mj-lt"/>
                <a:cs typeface="+mj-lt"/>
              </a:defRPr>
            </a:lvl7pPr>
            <a:lvl8pPr marL="0" indent="0" algn="l">
              <a:lnSpc>
                <a:spcPct val="110000"/>
              </a:lnSpc>
              <a:spcBef>
                <a:spcPts val="0"/>
              </a:spcBef>
              <a:spcAft>
                <a:spcPts val="0"/>
              </a:spcAft>
              <a:buNone/>
              <a:defRPr sz="2325" b="1">
                <a:solidFill>
                  <a:schemeClr val="tx1"/>
                </a:solidFill>
                <a:latin typeface="+mj-lt"/>
                <a:ea typeface="+mj-lt"/>
                <a:cs typeface="+mj-lt"/>
              </a:defRPr>
            </a:lvl8pPr>
            <a:lvl9pPr marL="0" indent="0" algn="l">
              <a:lnSpc>
                <a:spcPct val="110000"/>
              </a:lnSpc>
              <a:spcBef>
                <a:spcPts val="0"/>
              </a:spcBef>
              <a:spcAft>
                <a:spcPts val="0"/>
              </a:spcAft>
              <a:buNone/>
              <a:defRPr sz="23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F2D874-84EC-402F-9B90-7F43004A8FE8}"/>
              </a:ext>
            </a:extLst>
          </p:cNvPr>
          <p:cNvSpPr>
            <a:spLocks xmlns:a="http://schemas.openxmlformats.org/drawingml/2006/main" noGrp="1"/>
          </p:cNvSpPr>
          <p:nvPr>
            <p:ph type="body" idx="1"/>
          </p:nvPr>
        </p:nvSpPr>
        <p:spPr>
          <a:xfrm xmlns:a="http://schemas.openxmlformats.org/drawingml/2006/main">
            <a:off x="483275" y="2105201"/>
            <a:ext cx="3544014" cy="471565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86" b="0">
                <a:solidFill>
                  <a:schemeClr val="tx1"/>
                </a:solidFill>
                <a:latin typeface="+mn-lt"/>
                <a:ea typeface="+mn-lt"/>
                <a:cs typeface="+mn-lt"/>
              </a:defRPr>
            </a:defPPr>
            <a:lvl1pPr marL="161092" indent="-161092" algn="l">
              <a:lnSpc>
                <a:spcPct val="110000"/>
              </a:lnSpc>
              <a:spcBef>
                <a:spcPts val="0"/>
              </a:spcBef>
              <a:spcAft>
                <a:spcPts val="846"/>
              </a:spcAft>
              <a:buChar char="•"/>
              <a:defRPr sz="1586" b="0">
                <a:solidFill>
                  <a:schemeClr val="tx1"/>
                </a:solidFill>
                <a:latin typeface="+mn-lt"/>
                <a:ea typeface="+mn-lt"/>
                <a:cs typeface="+mn-lt"/>
              </a:defRPr>
            </a:lvl1pPr>
            <a:lvl2pPr marL="375880" indent="-161092" algn="l">
              <a:lnSpc>
                <a:spcPct val="110000"/>
              </a:lnSpc>
              <a:spcBef>
                <a:spcPts val="0"/>
              </a:spcBef>
              <a:spcAft>
                <a:spcPts val="846"/>
              </a:spcAft>
              <a:buChar char="•"/>
              <a:defRPr sz="1586" b="0">
                <a:solidFill>
                  <a:schemeClr val="tx1"/>
                </a:solidFill>
                <a:latin typeface="+mn-lt"/>
                <a:ea typeface="+mn-lt"/>
                <a:cs typeface="+mn-lt"/>
              </a:defRPr>
            </a:lvl2pPr>
            <a:lvl3pPr marL="590669" indent="-161092" algn="l">
              <a:lnSpc>
                <a:spcPct val="110000"/>
              </a:lnSpc>
              <a:spcBef>
                <a:spcPts val="0"/>
              </a:spcBef>
              <a:spcAft>
                <a:spcPts val="846"/>
              </a:spcAft>
              <a:buChar char="•"/>
              <a:defRPr sz="1586" b="0">
                <a:solidFill>
                  <a:schemeClr val="tx1"/>
                </a:solidFill>
                <a:latin typeface="+mn-lt"/>
                <a:ea typeface="+mn-lt"/>
                <a:cs typeface="+mn-lt"/>
              </a:defRPr>
            </a:lvl3pPr>
            <a:lvl4pPr marL="805458" indent="-161092" algn="l">
              <a:lnSpc>
                <a:spcPct val="110000"/>
              </a:lnSpc>
              <a:spcBef>
                <a:spcPts val="0"/>
              </a:spcBef>
              <a:spcAft>
                <a:spcPts val="846"/>
              </a:spcAft>
              <a:buChar char="•"/>
              <a:defRPr sz="1586" b="0">
                <a:solidFill>
                  <a:schemeClr val="tx1"/>
                </a:solidFill>
                <a:latin typeface="+mn-lt"/>
                <a:ea typeface="+mn-lt"/>
                <a:cs typeface="+mn-lt"/>
              </a:defRPr>
            </a:lvl4pPr>
            <a:lvl5pPr marL="1020247" indent="-161092" algn="l">
              <a:lnSpc>
                <a:spcPct val="110000"/>
              </a:lnSpc>
              <a:spcBef>
                <a:spcPts val="0"/>
              </a:spcBef>
              <a:spcAft>
                <a:spcPts val="846"/>
              </a:spcAft>
              <a:buChar char="•"/>
              <a:defRPr sz="1586" b="0">
                <a:solidFill>
                  <a:schemeClr val="tx1"/>
                </a:solidFill>
                <a:latin typeface="+mn-lt"/>
                <a:ea typeface="+mn-lt"/>
                <a:cs typeface="+mn-lt"/>
              </a:defRPr>
            </a:lvl5pPr>
            <a:lvl6pPr marL="1235035" indent="-161092" algn="l">
              <a:lnSpc>
                <a:spcPct val="110000"/>
              </a:lnSpc>
              <a:spcBef>
                <a:spcPts val="0"/>
              </a:spcBef>
              <a:spcAft>
                <a:spcPts val="846"/>
              </a:spcAft>
              <a:buChar char="•"/>
              <a:defRPr sz="1586" b="0">
                <a:solidFill>
                  <a:schemeClr val="tx1"/>
                </a:solidFill>
                <a:latin typeface="+mn-lt"/>
                <a:ea typeface="+mn-lt"/>
                <a:cs typeface="+mn-lt"/>
              </a:defRPr>
            </a:lvl6pPr>
            <a:lvl7pPr marL="1449824" indent="-161092" algn="l">
              <a:lnSpc>
                <a:spcPct val="110000"/>
              </a:lnSpc>
              <a:spcBef>
                <a:spcPts val="0"/>
              </a:spcBef>
              <a:spcAft>
                <a:spcPts val="846"/>
              </a:spcAft>
              <a:buChar char="•"/>
              <a:defRPr sz="1586" b="0">
                <a:solidFill>
                  <a:schemeClr val="tx1"/>
                </a:solidFill>
                <a:latin typeface="+mn-lt"/>
                <a:ea typeface="+mn-lt"/>
                <a:cs typeface="+mn-lt"/>
              </a:defRPr>
            </a:lvl7pPr>
            <a:lvl8pPr marL="1664613" indent="-161092" algn="l">
              <a:lnSpc>
                <a:spcPct val="110000"/>
              </a:lnSpc>
              <a:spcBef>
                <a:spcPts val="0"/>
              </a:spcBef>
              <a:spcAft>
                <a:spcPts val="846"/>
              </a:spcAft>
              <a:buChar char="•"/>
              <a:defRPr sz="1586" b="0">
                <a:solidFill>
                  <a:schemeClr val="tx1"/>
                </a:solidFill>
                <a:latin typeface="+mn-lt"/>
                <a:ea typeface="+mn-lt"/>
                <a:cs typeface="+mn-lt"/>
              </a:defRPr>
            </a:lvl8pPr>
            <a:lvl9pPr marL="1879402" indent="-161092" algn="l">
              <a:lnSpc>
                <a:spcPct val="110000"/>
              </a:lnSpc>
              <a:spcBef>
                <a:spcPts val="0"/>
              </a:spcBef>
              <a:spcAft>
                <a:spcPts val="846"/>
              </a:spcAft>
              <a:buChar char="•"/>
              <a:defRPr sz="1586"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9da31c5e7c48c2" /><Relationship Type="http://schemas.openxmlformats.org/officeDocument/2006/relationships/slideLayout" Target="/ppt/slideLayouts/slideLayout1.xml" Id="Rf8b54530b9664133" /><Relationship Type="http://schemas.openxmlformats.org/officeDocument/2006/relationships/slideLayout" Target="/ppt/slideLayouts/slideLayout2.xml" Id="R49f9307061e24460" /><Relationship Type="http://schemas.openxmlformats.org/officeDocument/2006/relationships/slideLayout" Target="/ppt/slideLayouts/slideLayout3.xml" Id="Rcbc5e239513c4147" /><Relationship Type="http://schemas.openxmlformats.org/officeDocument/2006/relationships/slideLayout" Target="/ppt/slideLayouts/slideLayout4.xml" Id="R7f533527b93a4be9" /><Relationship Type="http://schemas.openxmlformats.org/officeDocument/2006/relationships/slideLayout" Target="/ppt/slideLayouts/slideLayout5.xml" Id="R9b4ff653893b4ef4" /><Relationship Type="http://schemas.openxmlformats.org/officeDocument/2006/relationships/slideLayout" Target="/ppt/slideLayouts/slideLayout6.xml" Id="R51a22e87da6647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b54530b9664133"/>
    <p:sldLayoutId xmlns:r="http://schemas.openxmlformats.org/officeDocument/2006/relationships" id="2147483650" r:id="R49f9307061e24460"/>
    <p:sldLayoutId xmlns:r="http://schemas.openxmlformats.org/officeDocument/2006/relationships" id="2147483651" r:id="Rcbc5e239513c4147"/>
    <p:sldLayoutId xmlns:r="http://schemas.openxmlformats.org/officeDocument/2006/relationships" id="2147483652" r:id="R7f533527b93a4be9"/>
    <p:sldLayoutId xmlns:r="http://schemas.openxmlformats.org/officeDocument/2006/relationships" id="2147483653" r:id="R9b4ff653893b4ef4"/>
    <p:sldLayoutId xmlns:r="http://schemas.openxmlformats.org/officeDocument/2006/relationships" id="2147483654" r:id="R51a22e87da6647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27e6678ce54313" /><Relationship Type="http://schemas.openxmlformats.org/officeDocument/2006/relationships/notesSlide" Target="/ppt/notesSlides/notesSlide1.xml" Id="Rcafd1215ed0b4d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1b77a6ce804247" /><Relationship Type="http://schemas.openxmlformats.org/officeDocument/2006/relationships/notesSlide" Target="/ppt/notesSlides/notesSlide2.xml" Id="R67b0e4a3755e4f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5778ff8b2c4538" /><Relationship Type="http://schemas.openxmlformats.org/officeDocument/2006/relationships/notesSlide" Target="/ppt/notesSlides/notesSlide3.xml" Id="Rc2f6075e335c48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c99bac1a284005" /><Relationship Type="http://schemas.openxmlformats.org/officeDocument/2006/relationships/notesSlide" Target="/ppt/notesSlides/notesSlide4.xml" Id="R342bb677984647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2c5818b78144be" /><Relationship Type="http://schemas.openxmlformats.org/officeDocument/2006/relationships/notesSlide" Target="/ppt/notesSlides/notesSlide5.xml" Id="R2aaaa98032f44b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222f2dbbfb74f23" /><Relationship Type="http://schemas.openxmlformats.org/officeDocument/2006/relationships/notesSlide" Target="/ppt/notesSlides/notesSlide6.xml" Id="Rcfaae68292fa40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e659b4c915482b" /><Relationship Type="http://schemas.openxmlformats.org/officeDocument/2006/relationships/notesSlide" Target="/ppt/notesSlides/notesSlide7.xml" Id="R0a3ddf249b9a42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eaae2a3c7304e48" /><Relationship Type="http://schemas.openxmlformats.org/officeDocument/2006/relationships/notesSlide" Target="/ppt/notesSlides/notesSlide8.xml" Id="R6e6a21de11274c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34206888d445aa" /><Relationship Type="http://schemas.openxmlformats.org/officeDocument/2006/relationships/notesSlide" Target="/ppt/notesSlides/notesSlide9.xml" Id="Rcbb970cd5b8248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be3b6de8f7406a" /><Relationship Type="http://schemas.openxmlformats.org/officeDocument/2006/relationships/notesSlide" Target="/ppt/notesSlides/notesSlide10.xml" Id="R90704726945b42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4205419e76943dc" /><Relationship Type="http://schemas.openxmlformats.org/officeDocument/2006/relationships/notesSlide" Target="/ppt/notesSlides/notesSlide11.xml" Id="Ra1c8804d0a5f4c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6ae934c3d624f0d" /><Relationship Type="http://schemas.openxmlformats.org/officeDocument/2006/relationships/notesSlide" Target="/ppt/notesSlides/notesSlide12.xml" Id="R3cb05d9e1ece4d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f33e5e699c40b6" /><Relationship Type="http://schemas.openxmlformats.org/officeDocument/2006/relationships/notesSlide" Target="/ppt/notesSlides/notesSlide13.xml" Id="R2a4f7247fee54a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2ca411907e14706" /><Relationship Type="http://schemas.openxmlformats.org/officeDocument/2006/relationships/notesSlide" Target="/ppt/notesSlides/notesSlide14.xml" Id="R846bed25f36041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a7fedddae9b46b0" /><Relationship Type="http://schemas.openxmlformats.org/officeDocument/2006/relationships/notesSlide" Target="/ppt/notesSlides/notesSlide15.xml" Id="Rf5207f05245a4f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d305b7ec4b4404c" /><Relationship Type="http://schemas.openxmlformats.org/officeDocument/2006/relationships/notesSlide" Target="/ppt/notesSlides/notesSlide16.xml" Id="Rb1925478643341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66cdafd1c99455a" /><Relationship Type="http://schemas.openxmlformats.org/officeDocument/2006/relationships/notesSlide" Target="/ppt/notesSlides/notesSlide17.xml" Id="R962cb5f5223047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bfb814f837349ae" /><Relationship Type="http://schemas.openxmlformats.org/officeDocument/2006/relationships/notesSlide" Target="/ppt/notesSlides/notesSlide18.xml" Id="R407617949d144a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101e2586d424d2c" /><Relationship Type="http://schemas.openxmlformats.org/officeDocument/2006/relationships/notesSlide" Target="/ppt/notesSlides/notesSlide19.xml" Id="R57d27d1bd9f9425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c0d70a2761345e5" /><Relationship Type="http://schemas.openxmlformats.org/officeDocument/2006/relationships/notesSlide" Target="/ppt/notesSlides/notesSlide20.xml" Id="R145e6019dc8b4a6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e9e725fd06c483e" /><Relationship Type="http://schemas.openxmlformats.org/officeDocument/2006/relationships/notesSlide" Target="/ppt/notesSlides/notesSlide21.xml" Id="Rb973e23e85b7432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197ad71fee149fb" /><Relationship Type="http://schemas.openxmlformats.org/officeDocument/2006/relationships/notesSlide" Target="/ppt/notesSlides/notesSlide22.xml" Id="R9bd1f10ccc0542e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0d015e7183942c3" /><Relationship Type="http://schemas.openxmlformats.org/officeDocument/2006/relationships/notesSlide" Target="/ppt/notesSlides/notesSlide23.xml" Id="R277165ab00df4de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50499b4d1b14a13" /><Relationship Type="http://schemas.openxmlformats.org/officeDocument/2006/relationships/notesSlide" Target="/ppt/notesSlides/notesSlide24.xml" Id="R98d21d9f6bbf483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59c73d3f72b473b" /><Relationship Type="http://schemas.openxmlformats.org/officeDocument/2006/relationships/notesSlide" Target="/ppt/notesSlides/notesSlide25.xml" Id="R990ff3647c094fc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697ce5cfc0b41d9" /><Relationship Type="http://schemas.openxmlformats.org/officeDocument/2006/relationships/notesSlide" Target="/ppt/notesSlides/notesSlide26.xml" Id="Rb7d39c8acfda4ec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5202ee57703484e" /><Relationship Type="http://schemas.openxmlformats.org/officeDocument/2006/relationships/notesSlide" Target="/ppt/notesSlides/notesSlide27.xml" Id="Rbfb2b8e964ce4e0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aaae35236bb48e4" /><Relationship Type="http://schemas.openxmlformats.org/officeDocument/2006/relationships/notesSlide" Target="/ppt/notesSlides/notesSlide28.xml" Id="R9deca7a827ca411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3b30e4a5f264017" /><Relationship Type="http://schemas.openxmlformats.org/officeDocument/2006/relationships/notesSlide" Target="/ppt/notesSlides/notesSlide29.xml" Id="R8cb97a34f5c94ea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74ab2287649448a" /><Relationship Type="http://schemas.openxmlformats.org/officeDocument/2006/relationships/notesSlide" Target="/ppt/notesSlides/notesSlide30.xml" Id="R129a311e1bc44be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a29785c4201455d" /><Relationship Type="http://schemas.openxmlformats.org/officeDocument/2006/relationships/notesSlide" Target="/ppt/notesSlides/notesSlide31.xml" Id="Re64bf75430ee42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26d8867438a438f" /><Relationship Type="http://schemas.openxmlformats.org/officeDocument/2006/relationships/notesSlide" Target="/ppt/notesSlides/notesSlide32.xml" Id="R61957ab47d6746b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BF540E-A0F3-413F-B1D2-0FC511AE48F7}"/>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01 2028 정시의 특징</a:t>
            </a:r>
          </a:p>
        </p:txBody>
      </p:sp>
      <p:sp>
        <p:nvSpPr>
          <p:cNvPr id="2" name="">
            <a:extLst xmlns:a="http://schemas.openxmlformats.org/drawingml/2006/main">
              <a:ext uri="{FF2B5EF4-FFF2-40B4-BE49-F238E27FC236}">
                <a16:creationId xmlns:a16="http://schemas.microsoft.com/office/drawing/2014/main" id="{91DE16D6-5A76-4D89-8B40-56FA9062CAD8}"/>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수능 성적과 전형의 조건을 함께 읽는다</a:t>
            </a:r>
          </a:p>
        </p:txBody>
      </p:sp>
      <p:graphicFrame>
        <p:nvGraphicFramePr>
          <p:cNvPr id="3" name="">
            <a:extLst xmlns:a="http://schemas.openxmlformats.org/drawingml/2006/main">
              <a:ext uri="{FF2B5EF4-FFF2-40B4-BE49-F238E27FC236}">
                <a16:creationId xmlns:a16="http://schemas.microsoft.com/office/drawing/2014/main" id="{02095856-C845-4F18-84DB-1854E40DBD10}"/>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2143125"/>
                <a:gridCol w="5810250"/>
              </a:tblGrid>
              <a:tr h="400050">
                <a:tc>
                  <a:txBody>
                    <a:bodyPr/>
                    <a:lstStyle/>
                    <a:p>
                      <a:pPr algn="l"/>
                      <a:r>
                        <a:rPr sz="1275" b="1">
                          <a:solidFill>
                            <a:srgbClr val="FFFFFF"/>
                          </a:solidFill>
                          <a:latin typeface="맑은 고딕"/>
                          <a:ea typeface="맑은 고딕"/>
                          <a:cs typeface="맑은 고딕"/>
                        </a:rPr>
                        <a:t>변화의 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2028학년도에서 확인할 내용</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전형의 분화</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100%, 학생부 합산, 서류 중심 전형이 병존</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지원자격의 차이</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같은 대학에서도 졸업예정자 한정 전형과 졸업생 가능 전형 구분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학생부 평가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교과·출결의 정량 반영과 교과·서류의 정성평가 구분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수능 산출 방식</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표준점수·백분위·등급·대학 자체 변환점수 확인</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탐구 반영</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1과목 선택, 2과목 반영, 두 과목 차등 가중을 구분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4A5B233-D0DF-4910-93B6-9C544CC64625}"/>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2028학년도 정시는 하나의 선발 방식으로 설명하기 어렵다. 수능 100% 전형이 유지되는 한편, 학생부를 함께 반영하거나 수능을 최저학력기준으로 활용하는 전형도 운영된다. 같은 대학의 전형이라도 지원자격과 평가방식이 달라질 수 있다.</a:t>
            </a:r>
          </a:p>
        </p:txBody>
      </p:sp>
      <p:sp>
        <p:nvSpPr>
          <p:cNvPr id="5" name="">
            <a:extLst xmlns:a="http://schemas.openxmlformats.org/drawingml/2006/main">
              <a:ext uri="{FF2B5EF4-FFF2-40B4-BE49-F238E27FC236}">
                <a16:creationId xmlns:a16="http://schemas.microsoft.com/office/drawing/2014/main" id="{A0737C86-13DC-4620-99E6-8DDAADE5913C}"/>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따라서 대학 이름을 고르기 전에 전형을 구분해야 한다. 지원자격, 선발 단계, 학생부 평가방법, 수능 활용지표, 탐구 반영방식의 순서로 확인하면 대학별 차이를 구체적으로 파악할 수 있다.</a:t>
            </a:r>
          </a:p>
        </p:txBody>
      </p:sp>
      <p:sp>
        <p:nvSpPr>
          <p:cNvPr id="6" name="">
            <a:extLst xmlns:a="http://schemas.openxmlformats.org/drawingml/2006/main">
              <a:ext uri="{FF2B5EF4-FFF2-40B4-BE49-F238E27FC236}">
                <a16:creationId xmlns:a16="http://schemas.microsoft.com/office/drawing/2014/main" id="{403E314E-EFA2-4577-9321-E688A1B16AE5}"/>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183·204·211·257쪽 / 인천 18~20쪽</a:t>
            </a:r>
          </a:p>
        </p:txBody>
      </p:sp>
      <p:sp>
        <p:nvSpPr>
          <p:cNvPr id="7" name="">
            <a:extLst xmlns:a="http://schemas.openxmlformats.org/drawingml/2006/main">
              <a:ext uri="{FF2B5EF4-FFF2-40B4-BE49-F238E27FC236}">
                <a16:creationId xmlns:a16="http://schemas.microsoft.com/office/drawing/2014/main" id="{63C0437E-0AC8-46D8-A44B-BD211D06E66B}"/>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01</a:t>
            </a:r>
          </a:p>
        </p:txBody>
      </p:sp>
    </p:spTree>
    <p:extLst>
      <p:ext uri="{BB962C8B-B14F-4D97-AF65-F5344CB8AC3E}">
        <p14:creationId xmlns:p14="http://schemas.microsoft.com/office/powerpoint/2010/main" val="8723358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5E8D1C-3938-4CC2-ADF3-3A3CE2ACD9AC}"/>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01 2028 정시의 특징</a:t>
            </a:r>
          </a:p>
        </p:txBody>
      </p:sp>
      <p:sp>
        <p:nvSpPr>
          <p:cNvPr id="2" name="">
            <a:extLst xmlns:a="http://schemas.openxmlformats.org/drawingml/2006/main">
              <a:ext uri="{FF2B5EF4-FFF2-40B4-BE49-F238E27FC236}">
                <a16:creationId xmlns:a16="http://schemas.microsoft.com/office/drawing/2014/main" id="{97211561-7890-4B8B-9860-7E4B2E98CA95}"/>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전형 수를 세기 전에 비교 기준을 정한다</a:t>
            </a:r>
          </a:p>
        </p:txBody>
      </p:sp>
      <p:graphicFrame>
        <p:nvGraphicFramePr>
          <p:cNvPr id="3" name="">
            <a:extLst xmlns:a="http://schemas.openxmlformats.org/drawingml/2006/main">
              <a:ext uri="{FF2B5EF4-FFF2-40B4-BE49-F238E27FC236}">
                <a16:creationId xmlns:a16="http://schemas.microsoft.com/office/drawing/2014/main" id="{FE50FB79-8211-4E53-8757-AC668BB5E6DE}"/>
              </a:ext>
            </a:extLst>
          </p:cNvPr>
          <p:cNvGraphicFramePr/>
          <p:nvPr/>
        </p:nvGraphicFramePr>
        <p:xfrm>
          <a:off xmlns:a="http://schemas.openxmlformats.org/drawingml/2006/main" x="314325" y="1362075"/>
          <a:ext xmlns:a="http://schemas.openxmlformats.org/drawingml/2006/main" cx="7953375" cy="2649093"/>
        </p:xfrm>
        <a:graphic xmlns:a="http://schemas.openxmlformats.org/drawingml/2006/main">
          <a:graphicData uri="http://schemas.openxmlformats.org/drawingml/2006/table">
            <a:tbl>
              <a:tblPr/>
              <a:tblGrid>
                <a:gridCol w="2143125"/>
                <a:gridCol w="5810250"/>
              </a:tblGrid>
              <a:tr h="400050">
                <a:tc>
                  <a:txBody>
                    <a:bodyPr/>
                    <a:lstStyle/>
                    <a:p>
                      <a:pPr algn="l"/>
                      <a:r>
                        <a:rPr sz="1275" b="1">
                          <a:solidFill>
                            <a:srgbClr val="FFFFFF"/>
                          </a:solidFill>
                          <a:latin typeface="맑은 고딕"/>
                          <a:ea typeface="맑은 고딕"/>
                          <a:cs typeface="맑은 고딕"/>
                        </a:rPr>
                        <a:t>구분</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이 자료의 집계·표기 기준</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수도권 범위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첨부 엑셀의 주요 32개 대학·캠퍼스 항목</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지방거점국립대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강원·경북·경상국립·부산·전남·전북·제주·충남·충북</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주력 구조 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대학이 구분한 정원내 주력 전형·유형의 명칭 기준(일반전형의 모집군별 구분은 묶음)</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수에 포함하지 않음</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예체능·군사·계약·정원외·지역인재·이월 전용 전형</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현역·졸업생</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현역은 해당 학년도 고교 졸업예정자, 졸업생은 기졸업자</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F29FA8F-4A04-4093-B943-489B613B81D7}"/>
              </a:ext>
            </a:extLst>
          </p:cNvPr>
          <p:cNvSpPr>
            <a:spLocks xmlns:a="http://schemas.openxmlformats.org/drawingml/2006/main" noGrp="1"/>
          </p:cNvSpPr>
          <p:nvPr/>
        </p:nvSpPr>
        <p:spPr>
          <a:xfrm xmlns:a="http://schemas.openxmlformats.org/drawingml/2006/main">
            <a:off x="314325" y="4106418"/>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주력 구조 수는 대학 전체의 공식 정시 전형 총개수가 아님. 숙명여대는 동일 전형 안에서 모집군별 방법이 다름.</a:t>
            </a:r>
          </a:p>
        </p:txBody>
      </p:sp>
      <p:sp>
        <p:nvSpPr>
          <p:cNvPr id="5" name="">
            <a:extLst xmlns:a="http://schemas.openxmlformats.org/drawingml/2006/main">
              <a:ext uri="{FF2B5EF4-FFF2-40B4-BE49-F238E27FC236}">
                <a16:creationId xmlns:a16="http://schemas.microsoft.com/office/drawing/2014/main" id="{3FAF0DCD-3FA2-4966-AB26-F664F703953C}"/>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뒤의 숫자는 대학이 운영하는 모든 정시 전형의 총개수가 아니라 주력 선발구조의 수이다. 동일한 일반전형이 여러 모집군에서 운영되면 하나로 묶고, 대학이 별도 명칭으로 구분한 주력 유형은 나누었다. 전형유형의 수와 지원 가능한 원서 수는 같지 않다.</a:t>
            </a:r>
          </a:p>
        </p:txBody>
      </p:sp>
      <p:sp>
        <p:nvSpPr>
          <p:cNvPr id="6" name="">
            <a:extLst xmlns:a="http://schemas.openxmlformats.org/drawingml/2006/main">
              <a:ext uri="{FF2B5EF4-FFF2-40B4-BE49-F238E27FC236}">
                <a16:creationId xmlns:a16="http://schemas.microsoft.com/office/drawing/2014/main" id="{A89A9215-D8D8-45FF-BB34-9230E9CCAE4F}"/>
              </a:ext>
            </a:extLst>
          </p:cNvPr>
          <p:cNvSpPr>
            <a:spLocks xmlns:a="http://schemas.openxmlformats.org/drawingml/2006/main" noGrp="1"/>
          </p:cNvSpPr>
          <p:nvPr/>
        </p:nvSpPr>
        <p:spPr>
          <a:xfrm xmlns:a="http://schemas.openxmlformats.org/drawingml/2006/main">
            <a:off x="314325" y="5829071"/>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지원 가능 표시는 국내 고교의 일반적인 졸업(예정)자 기준이다. 고교 유형, 성적 기재 학기, 추천, 성별 등 세부 조건은 해당 전형의 자격을 충족해야 한다. 인원은 시행계획 단계의 계획치이므로 최종 모집인원과 구분한다.</a:t>
            </a:r>
          </a:p>
        </p:txBody>
      </p:sp>
      <p:sp>
        <p:nvSpPr>
          <p:cNvPr id="7" name="">
            <a:extLst xmlns:a="http://schemas.openxmlformats.org/drawingml/2006/main">
              <a:ext uri="{FF2B5EF4-FFF2-40B4-BE49-F238E27FC236}">
                <a16:creationId xmlns:a16="http://schemas.microsoft.com/office/drawing/2014/main" id="{048933BE-B6F4-487A-BCA4-B8CA7D48ABAC}"/>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엑셀 00_기준·01_군별합계·02_전형상세 / 각 대학 2028 시행계획</a:t>
            </a:r>
          </a:p>
        </p:txBody>
      </p:sp>
      <p:sp>
        <p:nvSpPr>
          <p:cNvPr id="8" name="">
            <a:extLst xmlns:a="http://schemas.openxmlformats.org/drawingml/2006/main">
              <a:ext uri="{FF2B5EF4-FFF2-40B4-BE49-F238E27FC236}">
                <a16:creationId xmlns:a16="http://schemas.microsoft.com/office/drawing/2014/main" id="{93001B83-58C7-48E0-8EE6-0B93379D0012}"/>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02</a:t>
            </a:r>
          </a:p>
        </p:txBody>
      </p:sp>
    </p:spTree>
    <p:extLst>
      <p:ext uri="{BB962C8B-B14F-4D97-AF65-F5344CB8AC3E}">
        <p14:creationId xmlns:p14="http://schemas.microsoft.com/office/powerpoint/2010/main" val="17715112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A2207E-9A9F-4D7E-8F5F-C79F54EF2ACB}"/>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02 수도권 주력 선발구조</a:t>
            </a:r>
          </a:p>
        </p:txBody>
      </p:sp>
      <p:sp>
        <p:nvSpPr>
          <p:cNvPr id="2" name="">
            <a:extLst xmlns:a="http://schemas.openxmlformats.org/drawingml/2006/main">
              <a:ext uri="{FF2B5EF4-FFF2-40B4-BE49-F238E27FC236}">
                <a16:creationId xmlns:a16="http://schemas.microsoft.com/office/drawing/2014/main" id="{65B433E2-6F51-4A1E-82EE-040B95ABB84E}"/>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수도권 전형과 지원자격 1</a:t>
            </a:r>
          </a:p>
        </p:txBody>
      </p:sp>
      <p:graphicFrame>
        <p:nvGraphicFramePr>
          <p:cNvPr id="3" name="">
            <a:extLst xmlns:a="http://schemas.openxmlformats.org/drawingml/2006/main">
              <a:ext uri="{FF2B5EF4-FFF2-40B4-BE49-F238E27FC236}">
                <a16:creationId xmlns:a16="http://schemas.microsoft.com/office/drawing/2014/main" id="{6FB6C089-68AB-4CCB-BF14-0AD247851E37}"/>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1524000"/>
                <a:gridCol w="685800"/>
                <a:gridCol w="2686050"/>
                <a:gridCol w="3057525"/>
              </a:tblGrid>
              <a:tr h="400050">
                <a:tc>
                  <a:txBody>
                    <a:bodyPr/>
                    <a:lstStyle/>
                    <a:p>
                      <a:pPr algn="l"/>
                      <a:r>
                        <a:rPr sz="1275" b="1">
                          <a:solidFill>
                            <a:srgbClr val="FFFFFF"/>
                          </a:solidFill>
                          <a:latin typeface="맑은 고딕"/>
                          <a:ea typeface="맑은 고딕"/>
                          <a:cs typeface="맑은 고딕"/>
                        </a:rPr>
                        <a:t>대학·캠퍼스</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구조 수</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주력 전형·유형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현역·졸업생 지원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서울대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연세대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고려대(안암)</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2</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 교과우수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둘 다 / 교과우수: 현역만</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서강대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2</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 / 지역균형</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 둘 다 / 지역균형: 현역만</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성균관대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3</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일반형 / 특화형 / 융합인재</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세 유형 모두 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9854E4F-4A15-45D5-8086-C29BECE3E4A7}"/>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여대는 성별 지원자격 적용. 군사·의학·예체능 모집단위는 면접·실기·신체검사 등의 예외 확인.</a:t>
            </a:r>
          </a:p>
        </p:txBody>
      </p:sp>
      <p:sp>
        <p:nvSpPr>
          <p:cNvPr id="5" name="">
            <a:extLst xmlns:a="http://schemas.openxmlformats.org/drawingml/2006/main">
              <a:ext uri="{FF2B5EF4-FFF2-40B4-BE49-F238E27FC236}">
                <a16:creationId xmlns:a16="http://schemas.microsoft.com/office/drawing/2014/main" id="{CE9AEA20-A5B2-4B92-9D5C-510364B1EFE7}"/>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p:txBody>
      </p:sp>
      <p:sp>
        <p:nvSpPr>
          <p:cNvPr id="6" name="">
            <a:extLst xmlns:a="http://schemas.openxmlformats.org/drawingml/2006/main">
              <a:ext uri="{FF2B5EF4-FFF2-40B4-BE49-F238E27FC236}">
                <a16:creationId xmlns:a16="http://schemas.microsoft.com/office/drawing/2014/main" id="{F0FC2E72-BDBD-448E-86C8-87A005F74045}"/>
              </a:ext>
            </a:extLst>
          </p:cNvPr>
          <p:cNvSpPr>
            <a:spLocks xmlns:a="http://schemas.openxmlformats.org/drawingml/2006/main" noGrp="1"/>
          </p:cNvSpPr>
          <p:nvPr/>
        </p:nvSpPr>
        <p:spPr>
          <a:xfrm xmlns:a="http://schemas.openxmlformats.org/drawingml/2006/main">
            <a:off x="314325" y="5829071"/>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서울대: 단계형, 교과역량평가 반영 / 연세대: 일반계열 수능 90+서류 10 / 고려대(안암): 교과우수는 국내고 6학기 성적 필요 / 서강대: 지역균형은 학교장 추천 필요 / 성균관대: 융합인재는 학생부 100+수능최저</a:t>
            </a:r>
          </a:p>
        </p:txBody>
      </p:sp>
      <p:sp>
        <p:nvSpPr>
          <p:cNvPr id="7" name="">
            <a:extLst xmlns:a="http://schemas.openxmlformats.org/drawingml/2006/main">
              <a:ext uri="{FF2B5EF4-FFF2-40B4-BE49-F238E27FC236}">
                <a16:creationId xmlns:a16="http://schemas.microsoft.com/office/drawing/2014/main" id="{6CD3917A-ABAA-41D7-BE03-29FC6D0C98B0}"/>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엑셀 01·02 시트 / SEN 대학별 전형방법</a:t>
            </a:r>
          </a:p>
        </p:txBody>
      </p:sp>
      <p:sp>
        <p:nvSpPr>
          <p:cNvPr id="8" name="">
            <a:extLst xmlns:a="http://schemas.openxmlformats.org/drawingml/2006/main">
              <a:ext uri="{FF2B5EF4-FFF2-40B4-BE49-F238E27FC236}">
                <a16:creationId xmlns:a16="http://schemas.microsoft.com/office/drawing/2014/main" id="{440B11A6-7F70-4C79-9EB6-CC01234D3B50}"/>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03</a:t>
            </a:r>
          </a:p>
        </p:txBody>
      </p:sp>
    </p:spTree>
    <p:extLst>
      <p:ext uri="{BB962C8B-B14F-4D97-AF65-F5344CB8AC3E}">
        <p14:creationId xmlns:p14="http://schemas.microsoft.com/office/powerpoint/2010/main" val="18781215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843D62-B4A6-454D-92D7-0FE4E88E6E94}"/>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02 수도권 주력 선발구조</a:t>
            </a:r>
          </a:p>
        </p:txBody>
      </p:sp>
      <p:sp>
        <p:nvSpPr>
          <p:cNvPr id="2" name="">
            <a:extLst xmlns:a="http://schemas.openxmlformats.org/drawingml/2006/main">
              <a:ext uri="{FF2B5EF4-FFF2-40B4-BE49-F238E27FC236}">
                <a16:creationId xmlns:a16="http://schemas.microsoft.com/office/drawing/2014/main" id="{882E78A9-167A-43C2-B7B1-BBFA92E2E279}"/>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수도권 전형과 지원자격 2</a:t>
            </a:r>
          </a:p>
        </p:txBody>
      </p:sp>
      <p:graphicFrame>
        <p:nvGraphicFramePr>
          <p:cNvPr id="3" name="">
            <a:extLst xmlns:a="http://schemas.openxmlformats.org/drawingml/2006/main">
              <a:ext uri="{FF2B5EF4-FFF2-40B4-BE49-F238E27FC236}">
                <a16:creationId xmlns:a16="http://schemas.microsoft.com/office/drawing/2014/main" id="{7CBA7AFD-020D-4D12-B583-FB4F8AF32584}"/>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1524000"/>
                <a:gridCol w="685800"/>
                <a:gridCol w="2686050"/>
                <a:gridCol w="3057525"/>
              </a:tblGrid>
              <a:tr h="400050">
                <a:tc>
                  <a:txBody>
                    <a:bodyPr/>
                    <a:lstStyle/>
                    <a:p>
                      <a:pPr algn="l"/>
                      <a:r>
                        <a:rPr sz="1275" b="1">
                          <a:solidFill>
                            <a:srgbClr val="FFFFFF"/>
                          </a:solidFill>
                          <a:latin typeface="맑은 고딕"/>
                          <a:ea typeface="맑은 고딕"/>
                          <a:cs typeface="맑은 고딕"/>
                        </a:rPr>
                        <a:t>대학·캠퍼스</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구조 수</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주력 전형·유형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현역·졸업생 지원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한양대(서울)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 일반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중앙대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2</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수능89 / 수능67</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두 전형 모두 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경희대(서울)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2</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수능·학생부형 / 수능형</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두 유형 모두 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경희대(국제)</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2</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수능·학생부형 / 수능형</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두 유형 모두 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한국외대(서울)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864C80D-676F-43C7-B4E4-8C91F109318D}"/>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여대는 성별 지원자격 적용. 군사·의학·예체능 모집단위는 면접·실기·신체검사 등의 예외 확인.</a:t>
            </a:r>
          </a:p>
        </p:txBody>
      </p:sp>
      <p:sp>
        <p:nvSpPr>
          <p:cNvPr id="5" name="">
            <a:extLst xmlns:a="http://schemas.openxmlformats.org/drawingml/2006/main">
              <a:ext uri="{FF2B5EF4-FFF2-40B4-BE49-F238E27FC236}">
                <a16:creationId xmlns:a16="http://schemas.microsoft.com/office/drawing/2014/main" id="{166B9C25-7244-4550-93FC-E350DA21DFAC}"/>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p:txBody>
      </p:sp>
      <p:sp>
        <p:nvSpPr>
          <p:cNvPr id="6" name="">
            <a:extLst xmlns:a="http://schemas.openxmlformats.org/drawingml/2006/main">
              <a:ext uri="{FF2B5EF4-FFF2-40B4-BE49-F238E27FC236}">
                <a16:creationId xmlns:a16="http://schemas.microsoft.com/office/drawing/2014/main" id="{432FE79E-A8D2-40FD-AADD-BE21E7A65FF6}"/>
              </a:ext>
            </a:extLst>
          </p:cNvPr>
          <p:cNvSpPr>
            <a:spLocks xmlns:a="http://schemas.openxmlformats.org/drawingml/2006/main" noGrp="1"/>
          </p:cNvSpPr>
          <p:nvPr/>
        </p:nvSpPr>
        <p:spPr>
          <a:xfrm xmlns:a="http://schemas.openxmlformats.org/drawingml/2006/main">
            <a:off x="314325" y="5829071"/>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한양대(서울): 수능 90+학생부종합평가 10 / 중앙대: 수능67은 서류 33+수능최저 / 경희대(서울): 수능·학생부형 90+5+2.5+2.5 / 경희대(국제): 자연계열 교과 이수 가산점 확인 / 한국외대(서울): A·B 환산점수 중 높은 점수</a:t>
            </a:r>
          </a:p>
        </p:txBody>
      </p:sp>
      <p:sp>
        <p:nvSpPr>
          <p:cNvPr id="7" name="">
            <a:extLst xmlns:a="http://schemas.openxmlformats.org/drawingml/2006/main">
              <a:ext uri="{FF2B5EF4-FFF2-40B4-BE49-F238E27FC236}">
                <a16:creationId xmlns:a16="http://schemas.microsoft.com/office/drawing/2014/main" id="{AB9E9F76-9762-45DA-A967-3AEED2B84599}"/>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엑셀 01·02 시트 / SEN 대학별 전형방법</a:t>
            </a:r>
          </a:p>
        </p:txBody>
      </p:sp>
      <p:sp>
        <p:nvSpPr>
          <p:cNvPr id="8" name="">
            <a:extLst xmlns:a="http://schemas.openxmlformats.org/drawingml/2006/main">
              <a:ext uri="{FF2B5EF4-FFF2-40B4-BE49-F238E27FC236}">
                <a16:creationId xmlns:a16="http://schemas.microsoft.com/office/drawing/2014/main" id="{35A6A54E-44EF-4318-BF56-DCC1AFDE7578}"/>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04</a:t>
            </a:r>
          </a:p>
        </p:txBody>
      </p:sp>
    </p:spTree>
    <p:extLst>
      <p:ext uri="{BB962C8B-B14F-4D97-AF65-F5344CB8AC3E}">
        <p14:creationId xmlns:p14="http://schemas.microsoft.com/office/powerpoint/2010/main" val="4260792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270F86-4008-4763-A81E-04A84FEB73E6}"/>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02 수도권 주력 선발구조</a:t>
            </a:r>
          </a:p>
        </p:txBody>
      </p:sp>
      <p:sp>
        <p:nvSpPr>
          <p:cNvPr id="2" name="">
            <a:extLst xmlns:a="http://schemas.openxmlformats.org/drawingml/2006/main">
              <a:ext uri="{FF2B5EF4-FFF2-40B4-BE49-F238E27FC236}">
                <a16:creationId xmlns:a16="http://schemas.microsoft.com/office/drawing/2014/main" id="{D46DA6B5-FF0F-4D1C-A842-225CFA524A01}"/>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수도권 전형과 지원자격 3</a:t>
            </a:r>
          </a:p>
        </p:txBody>
      </p:sp>
      <p:graphicFrame>
        <p:nvGraphicFramePr>
          <p:cNvPr id="3" name="">
            <a:extLst xmlns:a="http://schemas.openxmlformats.org/drawingml/2006/main">
              <a:ext uri="{FF2B5EF4-FFF2-40B4-BE49-F238E27FC236}">
                <a16:creationId xmlns:a16="http://schemas.microsoft.com/office/drawing/2014/main" id="{03B68659-E324-4A48-B6F9-D50FBF83C6DB}"/>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1524000"/>
                <a:gridCol w="685800"/>
                <a:gridCol w="2686050"/>
                <a:gridCol w="3057525"/>
              </a:tblGrid>
              <a:tr h="400050">
                <a:tc>
                  <a:txBody>
                    <a:bodyPr/>
                    <a:lstStyle/>
                    <a:p>
                      <a:pPr algn="l"/>
                      <a:r>
                        <a:rPr sz="1275" b="1">
                          <a:solidFill>
                            <a:srgbClr val="FFFFFF"/>
                          </a:solidFill>
                          <a:latin typeface="맑은 고딕"/>
                          <a:ea typeface="맑은 고딕"/>
                          <a:cs typeface="맑은 고딕"/>
                        </a:rPr>
                        <a:t>대학·캠퍼스</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구조 수</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주력 전형·유형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현역·졸업생 지원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한국외대(글로벌)</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서울시립대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건국대(서울)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KU일반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동국대(서울)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홍익대(서울)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수능우수자</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908CA0C-983C-4CF0-98FF-D2E4BB16245A}"/>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여대는 성별 지원자격 적용. 군사·의학·예체능 모집단위는 면접·실기·신체검사 등의 예외 확인.</a:t>
            </a:r>
          </a:p>
        </p:txBody>
      </p:sp>
      <p:sp>
        <p:nvSpPr>
          <p:cNvPr id="5" name="">
            <a:extLst xmlns:a="http://schemas.openxmlformats.org/drawingml/2006/main">
              <a:ext uri="{FF2B5EF4-FFF2-40B4-BE49-F238E27FC236}">
                <a16:creationId xmlns:a16="http://schemas.microsoft.com/office/drawing/2014/main" id="{AE7646F4-FD48-4A67-814A-5988889A5F18}"/>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p:txBody>
      </p:sp>
      <p:sp>
        <p:nvSpPr>
          <p:cNvPr id="6" name="">
            <a:extLst xmlns:a="http://schemas.openxmlformats.org/drawingml/2006/main">
              <a:ext uri="{FF2B5EF4-FFF2-40B4-BE49-F238E27FC236}">
                <a16:creationId xmlns:a16="http://schemas.microsoft.com/office/drawing/2014/main" id="{6D412979-BBC6-4719-B54B-46B689B57981}"/>
              </a:ext>
            </a:extLst>
          </p:cNvPr>
          <p:cNvSpPr>
            <a:spLocks xmlns:a="http://schemas.openxmlformats.org/drawingml/2006/main" noGrp="1"/>
          </p:cNvSpPr>
          <p:nvPr/>
        </p:nvSpPr>
        <p:spPr>
          <a:xfrm xmlns:a="http://schemas.openxmlformats.org/drawingml/2006/main">
            <a:off x="314325" y="5829071"/>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한국외대(글로벌): 탐구 상위 1과목 반영 / 서울시립대: 인문·자연 수능 80+교과 18+출결 2 / 건국대(서울): 다군 단과대학 자유전공만 교과정성 10 / 동국대(서울): 일반 인문·자연 수능 80+학생부평가 20 / 홍익대(서울): 다군 인문·자연 수능 90+교과 10</a:t>
            </a:r>
          </a:p>
        </p:txBody>
      </p:sp>
      <p:sp>
        <p:nvSpPr>
          <p:cNvPr id="7" name="">
            <a:extLst xmlns:a="http://schemas.openxmlformats.org/drawingml/2006/main">
              <a:ext uri="{FF2B5EF4-FFF2-40B4-BE49-F238E27FC236}">
                <a16:creationId xmlns:a16="http://schemas.microsoft.com/office/drawing/2014/main" id="{8A1AA5A0-B372-4E99-AF5C-01C6D5671100}"/>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엑셀 01·02 시트 / SEN 대학별 전형방법</a:t>
            </a:r>
          </a:p>
        </p:txBody>
      </p:sp>
      <p:sp>
        <p:nvSpPr>
          <p:cNvPr id="8" name="">
            <a:extLst xmlns:a="http://schemas.openxmlformats.org/drawingml/2006/main">
              <a:ext uri="{FF2B5EF4-FFF2-40B4-BE49-F238E27FC236}">
                <a16:creationId xmlns:a16="http://schemas.microsoft.com/office/drawing/2014/main" id="{48554A9F-2CF3-45AB-BDCE-4C00FDD249B6}"/>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05</a:t>
            </a:r>
          </a:p>
        </p:txBody>
      </p:sp>
    </p:spTree>
    <p:extLst>
      <p:ext uri="{BB962C8B-B14F-4D97-AF65-F5344CB8AC3E}">
        <p14:creationId xmlns:p14="http://schemas.microsoft.com/office/powerpoint/2010/main" val="19019468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945F34-818E-42F2-B2EA-873168BA601E}"/>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02 수도권 주력 선발구조</a:t>
            </a:r>
          </a:p>
        </p:txBody>
      </p:sp>
      <p:sp>
        <p:nvSpPr>
          <p:cNvPr id="2" name="">
            <a:extLst xmlns:a="http://schemas.openxmlformats.org/drawingml/2006/main">
              <a:ext uri="{FF2B5EF4-FFF2-40B4-BE49-F238E27FC236}">
                <a16:creationId xmlns:a16="http://schemas.microsoft.com/office/drawing/2014/main" id="{74707629-2CEE-4263-B26A-37B8321E9023}"/>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수도권 전형과 지원자격 4</a:t>
            </a:r>
          </a:p>
        </p:txBody>
      </p:sp>
      <p:graphicFrame>
        <p:nvGraphicFramePr>
          <p:cNvPr id="3" name="">
            <a:extLst xmlns:a="http://schemas.openxmlformats.org/drawingml/2006/main">
              <a:ext uri="{FF2B5EF4-FFF2-40B4-BE49-F238E27FC236}">
                <a16:creationId xmlns:a16="http://schemas.microsoft.com/office/drawing/2014/main" id="{E325FA1E-D033-47FE-863B-1308CC8AF6C7}"/>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1524000"/>
                <a:gridCol w="685800"/>
                <a:gridCol w="2686050"/>
                <a:gridCol w="3057525"/>
              </a:tblGrid>
              <a:tr h="400050">
                <a:tc>
                  <a:txBody>
                    <a:bodyPr/>
                    <a:lstStyle/>
                    <a:p>
                      <a:pPr algn="l"/>
                      <a:r>
                        <a:rPr sz="1275" b="1">
                          <a:solidFill>
                            <a:srgbClr val="FFFFFF"/>
                          </a:solidFill>
                          <a:latin typeface="맑은 고딕"/>
                          <a:ea typeface="맑은 고딕"/>
                          <a:cs typeface="맑은 고딕"/>
                        </a:rPr>
                        <a:t>대학·캠퍼스</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구조 수</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주력 전형·유형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현역·졸업생 지원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이화여대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2</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 / 수능-학생부</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두 전형 모두 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숙명여대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일반학생</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광운대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일반학생</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숭실대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상명대(서울)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6C6FAF-9BD0-4D95-BDCC-C02FC8AF9A00}"/>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여대는 성별 지원자격 적용. 군사·의학·예체능 모집단위는 면접·실기·신체검사 등의 예외 확인.</a:t>
            </a:r>
          </a:p>
        </p:txBody>
      </p:sp>
      <p:sp>
        <p:nvSpPr>
          <p:cNvPr id="5" name="">
            <a:extLst xmlns:a="http://schemas.openxmlformats.org/drawingml/2006/main">
              <a:ext uri="{FF2B5EF4-FFF2-40B4-BE49-F238E27FC236}">
                <a16:creationId xmlns:a16="http://schemas.microsoft.com/office/drawing/2014/main" id="{8B06AAFD-6C20-4726-9A60-CD2BEA3106E6}"/>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p:txBody>
      </p:sp>
      <p:sp>
        <p:nvSpPr>
          <p:cNvPr id="6" name="">
            <a:extLst xmlns:a="http://schemas.openxmlformats.org/drawingml/2006/main">
              <a:ext uri="{FF2B5EF4-FFF2-40B4-BE49-F238E27FC236}">
                <a16:creationId xmlns:a16="http://schemas.microsoft.com/office/drawing/2014/main" id="{2901AF66-553E-466A-AF11-9A9D56494CF7}"/>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이화여대: 수능-학생부는 수능 85+서류 15 / 숙명여대: 가군 인문·자연 80+20, 나·다군 100 / 광운대: 일반 인문·자연 수능 100 / 숭실대: 일반 인문·자연 수능 100 / 상명대(서울): 일반 인문·자연 수능 100</a:t>
            </a:r>
          </a:p>
        </p:txBody>
      </p:sp>
      <p:sp>
        <p:nvSpPr>
          <p:cNvPr id="7" name="">
            <a:extLst xmlns:a="http://schemas.openxmlformats.org/drawingml/2006/main">
              <a:ext uri="{FF2B5EF4-FFF2-40B4-BE49-F238E27FC236}">
                <a16:creationId xmlns:a16="http://schemas.microsoft.com/office/drawing/2014/main" id="{0B4C1EB0-4737-4B7B-926A-9CFF1AC494E4}"/>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엑셀 01·02 시트 / SEN 대학별 전형방법</a:t>
            </a:r>
          </a:p>
        </p:txBody>
      </p:sp>
      <p:sp>
        <p:nvSpPr>
          <p:cNvPr id="8" name="">
            <a:extLst xmlns:a="http://schemas.openxmlformats.org/drawingml/2006/main">
              <a:ext uri="{FF2B5EF4-FFF2-40B4-BE49-F238E27FC236}">
                <a16:creationId xmlns:a16="http://schemas.microsoft.com/office/drawing/2014/main" id="{484A1ED1-2D2F-4429-B17B-6DB2F51F9318}"/>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06</a:t>
            </a:r>
          </a:p>
        </p:txBody>
      </p:sp>
    </p:spTree>
    <p:extLst>
      <p:ext uri="{BB962C8B-B14F-4D97-AF65-F5344CB8AC3E}">
        <p14:creationId xmlns:p14="http://schemas.microsoft.com/office/powerpoint/2010/main" val="3069391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DFBF99-E0FD-42DD-9EB5-EAD3D20EC192}"/>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02 수도권 주력 선발구조</a:t>
            </a:r>
          </a:p>
        </p:txBody>
      </p:sp>
      <p:sp>
        <p:nvSpPr>
          <p:cNvPr id="2" name="">
            <a:extLst xmlns:a="http://schemas.openxmlformats.org/drawingml/2006/main">
              <a:ext uri="{FF2B5EF4-FFF2-40B4-BE49-F238E27FC236}">
                <a16:creationId xmlns:a16="http://schemas.microsoft.com/office/drawing/2014/main" id="{7C9216CB-00E0-4A97-9F98-47B7590EFA1D}"/>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수도권 전형과 지원자격 5</a:t>
            </a:r>
          </a:p>
        </p:txBody>
      </p:sp>
      <p:graphicFrame>
        <p:nvGraphicFramePr>
          <p:cNvPr id="3" name="">
            <a:extLst xmlns:a="http://schemas.openxmlformats.org/drawingml/2006/main">
              <a:ext uri="{FF2B5EF4-FFF2-40B4-BE49-F238E27FC236}">
                <a16:creationId xmlns:a16="http://schemas.microsoft.com/office/drawing/2014/main" id="{DB01A8D1-587D-4F93-9DA4-61373C7D9CFD}"/>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1524000"/>
                <a:gridCol w="685800"/>
                <a:gridCol w="2686050"/>
                <a:gridCol w="3057525"/>
              </a:tblGrid>
              <a:tr h="400050">
                <a:tc>
                  <a:txBody>
                    <a:bodyPr/>
                    <a:lstStyle/>
                    <a:p>
                      <a:pPr algn="l"/>
                      <a:r>
                        <a:rPr sz="1275" b="1">
                          <a:solidFill>
                            <a:srgbClr val="FFFFFF"/>
                          </a:solidFill>
                          <a:latin typeface="맑은 고딕"/>
                          <a:ea typeface="맑은 고딕"/>
                          <a:cs typeface="맑은 고딕"/>
                        </a:rPr>
                        <a:t>대학·캠퍼스</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구조 수</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주력 전형·유형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현역·졸업생 지원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서울여대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국민대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성신여대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일반학생</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서울과학기술대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세종대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2</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수능형 / 융합형</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두 유형 모두 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C8CD5C6-7A8D-40A6-B240-2444DF0D5064}"/>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여대는 성별 지원자격 적용. 군사·의학·예체능 모집단위는 면접·실기·신체검사 등의 예외 확인.</a:t>
            </a:r>
          </a:p>
        </p:txBody>
      </p:sp>
      <p:sp>
        <p:nvSpPr>
          <p:cNvPr id="5" name="">
            <a:extLst xmlns:a="http://schemas.openxmlformats.org/drawingml/2006/main">
              <a:ext uri="{FF2B5EF4-FFF2-40B4-BE49-F238E27FC236}">
                <a16:creationId xmlns:a16="http://schemas.microsoft.com/office/drawing/2014/main" id="{21A518E5-A0F0-4147-A7DB-BE11CE73F183}"/>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p:txBody>
      </p:sp>
      <p:sp>
        <p:nvSpPr>
          <p:cNvPr id="6" name="">
            <a:extLst xmlns:a="http://schemas.openxmlformats.org/drawingml/2006/main">
              <a:ext uri="{FF2B5EF4-FFF2-40B4-BE49-F238E27FC236}">
                <a16:creationId xmlns:a16="http://schemas.microsoft.com/office/drawing/2014/main" id="{A08DD908-E599-4B28-A271-25B1C2DF9802}"/>
              </a:ext>
            </a:extLst>
          </p:cNvPr>
          <p:cNvSpPr>
            <a:spLocks xmlns:a="http://schemas.openxmlformats.org/drawingml/2006/main" noGrp="1"/>
          </p:cNvSpPr>
          <p:nvPr/>
        </p:nvSpPr>
        <p:spPr>
          <a:xfrm xmlns:a="http://schemas.openxmlformats.org/drawingml/2006/main">
            <a:off x="314325" y="5829071"/>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서울여대: 우수 영역 순 반영, 수학과 수학 필수 / 국민대: 일반 인문·자연 수능 100, 탐구 1 / 성신여대: 일반 인문·자연 수능 100 / 서울과학기술대: 일반 인문·자연 수능 100 / 세종대: 수능형 100, 융합형 90+교과정성 10</a:t>
            </a:r>
          </a:p>
        </p:txBody>
      </p:sp>
      <p:sp>
        <p:nvSpPr>
          <p:cNvPr id="7" name="">
            <a:extLst xmlns:a="http://schemas.openxmlformats.org/drawingml/2006/main">
              <a:ext uri="{FF2B5EF4-FFF2-40B4-BE49-F238E27FC236}">
                <a16:creationId xmlns:a16="http://schemas.microsoft.com/office/drawing/2014/main" id="{650756D5-4DBF-4B87-874A-9296B8D1E0E2}"/>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엑셀 01·02 시트 / SEN 대학별 전형방법</a:t>
            </a:r>
          </a:p>
        </p:txBody>
      </p:sp>
      <p:sp>
        <p:nvSpPr>
          <p:cNvPr id="8" name="">
            <a:extLst xmlns:a="http://schemas.openxmlformats.org/drawingml/2006/main">
              <a:ext uri="{FF2B5EF4-FFF2-40B4-BE49-F238E27FC236}">
                <a16:creationId xmlns:a16="http://schemas.microsoft.com/office/drawing/2014/main" id="{A6C2A032-B0CD-4026-BD1A-410833E16F6B}"/>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07</a:t>
            </a:r>
          </a:p>
        </p:txBody>
      </p:sp>
    </p:spTree>
    <p:extLst>
      <p:ext uri="{BB962C8B-B14F-4D97-AF65-F5344CB8AC3E}">
        <p14:creationId xmlns:p14="http://schemas.microsoft.com/office/powerpoint/2010/main" val="18580784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5C4DF1-CF99-4EEF-88AD-106A135D38C0}"/>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02 수도권 주력 선발구조</a:t>
            </a:r>
          </a:p>
        </p:txBody>
      </p:sp>
      <p:sp>
        <p:nvSpPr>
          <p:cNvPr id="2" name="">
            <a:extLst xmlns:a="http://schemas.openxmlformats.org/drawingml/2006/main">
              <a:ext uri="{FF2B5EF4-FFF2-40B4-BE49-F238E27FC236}">
                <a16:creationId xmlns:a16="http://schemas.microsoft.com/office/drawing/2014/main" id="{CD718592-1083-4FF4-9FE4-84139CD9EEC3}"/>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수도권 전형과 지원자격 6</a:t>
            </a:r>
          </a:p>
        </p:txBody>
      </p:sp>
      <p:graphicFrame>
        <p:nvGraphicFramePr>
          <p:cNvPr id="3" name="">
            <a:extLst xmlns:a="http://schemas.openxmlformats.org/drawingml/2006/main">
              <a:ext uri="{FF2B5EF4-FFF2-40B4-BE49-F238E27FC236}">
                <a16:creationId xmlns:a16="http://schemas.microsoft.com/office/drawing/2014/main" id="{6F35F6A2-549D-488C-8A5C-E2F308B7106E}"/>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1524000"/>
                <a:gridCol w="685800"/>
                <a:gridCol w="2686050"/>
                <a:gridCol w="3057525"/>
              </a:tblGrid>
              <a:tr h="400050">
                <a:tc>
                  <a:txBody>
                    <a:bodyPr/>
                    <a:lstStyle/>
                    <a:p>
                      <a:pPr algn="l"/>
                      <a:r>
                        <a:rPr sz="1275" b="1">
                          <a:solidFill>
                            <a:srgbClr val="FFFFFF"/>
                          </a:solidFill>
                          <a:latin typeface="맑은 고딕"/>
                          <a:ea typeface="맑은 고딕"/>
                          <a:cs typeface="맑은 고딕"/>
                        </a:rPr>
                        <a:t>대학·캠퍼스</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구조 수</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주력 전형·유형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현역·졸업생 지원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한성대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수능위주</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가천대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2</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일반1 / 일반2</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두 전형 모두 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아주대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4</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일반1 / 2 / 3 / 4</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네 전형 모두 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단국대(죽전)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일반학생</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한국항공대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23AF06B-C397-4C0C-8CFD-92D5135D7227}"/>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여대는 성별 지원자격 적용. 군사·의학·예체능 모집단위는 면접·실기·신체검사 등의 예외 확인.</a:t>
            </a:r>
          </a:p>
        </p:txBody>
      </p:sp>
      <p:sp>
        <p:nvSpPr>
          <p:cNvPr id="5" name="">
            <a:extLst xmlns:a="http://schemas.openxmlformats.org/drawingml/2006/main">
              <a:ext uri="{FF2B5EF4-FFF2-40B4-BE49-F238E27FC236}">
                <a16:creationId xmlns:a16="http://schemas.microsoft.com/office/drawing/2014/main" id="{8674B901-0581-469C-B228-C003773346F9}"/>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p:txBody>
      </p:sp>
      <p:sp>
        <p:nvSpPr>
          <p:cNvPr id="6" name="">
            <a:extLst xmlns:a="http://schemas.openxmlformats.org/drawingml/2006/main">
              <a:ext uri="{FF2B5EF4-FFF2-40B4-BE49-F238E27FC236}">
                <a16:creationId xmlns:a16="http://schemas.microsoft.com/office/drawing/2014/main" id="{04A8FFC8-16F9-4293-A2E6-2C846F9903F9}"/>
              </a:ext>
            </a:extLst>
          </p:cNvPr>
          <p:cNvSpPr>
            <a:spLocks xmlns:a="http://schemas.openxmlformats.org/drawingml/2006/main" noGrp="1"/>
          </p:cNvSpPr>
          <p:nvPr/>
        </p:nvSpPr>
        <p:spPr>
          <a:xfrm xmlns:a="http://schemas.openxmlformats.org/drawingml/2006/main">
            <a:off x="314325" y="5829071"/>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한성대: 일반 인문·자연 수능 100 / 가천대: 일반1 백분위, 일반2 표준점수 / 아주대: 1: 의학, 2: 자유전공, 3: 일반, 4: 간호교차 / 단국대(죽전): 일반 인문·자연 수능 90+학생부정성 10 / 한국항공대: 수능 100, 항공운항 신체검사 별도</a:t>
            </a:r>
          </a:p>
        </p:txBody>
      </p:sp>
      <p:sp>
        <p:nvSpPr>
          <p:cNvPr id="7" name="">
            <a:extLst xmlns:a="http://schemas.openxmlformats.org/drawingml/2006/main">
              <a:ext uri="{FF2B5EF4-FFF2-40B4-BE49-F238E27FC236}">
                <a16:creationId xmlns:a16="http://schemas.microsoft.com/office/drawing/2014/main" id="{43F305E6-0CEF-4B35-A13B-BFC07DCB6743}"/>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엑셀 01·02 시트 / SEN 대학별 전형방법</a:t>
            </a:r>
          </a:p>
        </p:txBody>
      </p:sp>
      <p:sp>
        <p:nvSpPr>
          <p:cNvPr id="8" name="">
            <a:extLst xmlns:a="http://schemas.openxmlformats.org/drawingml/2006/main">
              <a:ext uri="{FF2B5EF4-FFF2-40B4-BE49-F238E27FC236}">
                <a16:creationId xmlns:a16="http://schemas.microsoft.com/office/drawing/2014/main" id="{DAEC4B5E-B6DA-4111-BA08-617BC2A5FC95}"/>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08</a:t>
            </a:r>
          </a:p>
        </p:txBody>
      </p:sp>
    </p:spTree>
    <p:extLst>
      <p:ext uri="{BB962C8B-B14F-4D97-AF65-F5344CB8AC3E}">
        <p14:creationId xmlns:p14="http://schemas.microsoft.com/office/powerpoint/2010/main" val="6070619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4794F3-AF53-4770-9CCA-104C39BE20EA}"/>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02 수도권 주력 선발구조</a:t>
            </a:r>
          </a:p>
        </p:txBody>
      </p:sp>
      <p:sp>
        <p:nvSpPr>
          <p:cNvPr id="2" name="">
            <a:extLst xmlns:a="http://schemas.openxmlformats.org/drawingml/2006/main">
              <a:ext uri="{FF2B5EF4-FFF2-40B4-BE49-F238E27FC236}">
                <a16:creationId xmlns:a16="http://schemas.microsoft.com/office/drawing/2014/main" id="{2ACB269E-91C0-4B7D-A5D8-C93ABDE9EE70}"/>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수도권 전형과 지원자격 7</a:t>
            </a:r>
          </a:p>
        </p:txBody>
      </p:sp>
      <p:graphicFrame>
        <p:nvGraphicFramePr>
          <p:cNvPr id="3" name="">
            <a:extLst xmlns:a="http://schemas.openxmlformats.org/drawingml/2006/main">
              <a:ext uri="{FF2B5EF4-FFF2-40B4-BE49-F238E27FC236}">
                <a16:creationId xmlns:a16="http://schemas.microsoft.com/office/drawing/2014/main" id="{08329644-8FD1-4A79-9BB2-C21FD95A4E8A}"/>
              </a:ext>
            </a:extLst>
          </p:cNvPr>
          <p:cNvGraphicFramePr/>
          <p:nvPr/>
        </p:nvGraphicFramePr>
        <p:xfrm>
          <a:off xmlns:a="http://schemas.openxmlformats.org/drawingml/2006/main" x="314325" y="1362075"/>
          <a:ext xmlns:a="http://schemas.openxmlformats.org/drawingml/2006/main" cx="7953375" cy="1276350"/>
        </p:xfrm>
        <a:graphic xmlns:a="http://schemas.openxmlformats.org/drawingml/2006/main">
          <a:graphicData uri="http://schemas.openxmlformats.org/drawingml/2006/table">
            <a:tbl>
              <a:tblPr/>
              <a:tblGrid>
                <a:gridCol w="1524000"/>
                <a:gridCol w="685800"/>
                <a:gridCol w="2686050"/>
                <a:gridCol w="3057525"/>
              </a:tblGrid>
              <a:tr h="400050">
                <a:tc>
                  <a:txBody>
                    <a:bodyPr/>
                    <a:lstStyle/>
                    <a:p>
                      <a:pPr algn="l"/>
                      <a:r>
                        <a:rPr sz="1275" b="1">
                          <a:solidFill>
                            <a:srgbClr val="FFFFFF"/>
                          </a:solidFill>
                          <a:latin typeface="맑은 고딕"/>
                          <a:ea typeface="맑은 고딕"/>
                          <a:cs typeface="맑은 고딕"/>
                        </a:rPr>
                        <a:t>대학·캠퍼스</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구조 수</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주력 전형·유형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현역·졸업생 지원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한양대(ERICA)</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인하대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E0AA8321-3920-4F67-BC2C-99928997E909}"/>
              </a:ext>
            </a:extLst>
          </p:cNvPr>
          <p:cNvSpPr>
            <a:spLocks xmlns:a="http://schemas.openxmlformats.org/drawingml/2006/main" noGrp="1"/>
          </p:cNvSpPr>
          <p:nvPr/>
        </p:nvSpPr>
        <p:spPr>
          <a:xfrm xmlns:a="http://schemas.openxmlformats.org/drawingml/2006/main">
            <a:off x="314325" y="273367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여대는 성별 지원자격 적용. 군사·의학·예체능 모집단위는 면접·실기·신체검사 등의 예외 확인.</a:t>
            </a:r>
          </a:p>
        </p:txBody>
      </p:sp>
      <p:sp>
        <p:nvSpPr>
          <p:cNvPr id="5" name="">
            <a:extLst xmlns:a="http://schemas.openxmlformats.org/drawingml/2006/main">
              <a:ext uri="{FF2B5EF4-FFF2-40B4-BE49-F238E27FC236}">
                <a16:creationId xmlns:a16="http://schemas.microsoft.com/office/drawing/2014/main" id="{BF52BD10-5D25-46C1-9270-8F2E8B447EE4}"/>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같은 대학에서도 수능 성적만으로 선발하는 유형과 학생부를 함께 평가하는 유형을 구분해야 한다. 표의 구조 수는 모집군별 중복을 묶은 비교용 숫자이며, 예체능과 특별전형을 포함한 대학 전체 정시 전형 수는 아니다.</a:t>
            </a:r>
          </a:p>
        </p:txBody>
      </p:sp>
      <p:sp>
        <p:nvSpPr>
          <p:cNvPr id="6" name="">
            <a:extLst xmlns:a="http://schemas.openxmlformats.org/drawingml/2006/main">
              <a:ext uri="{FF2B5EF4-FFF2-40B4-BE49-F238E27FC236}">
                <a16:creationId xmlns:a16="http://schemas.microsoft.com/office/drawing/2014/main" id="{1BF5D613-4ABB-45B7-A9BF-188578E9CC59}"/>
              </a:ext>
            </a:extLst>
          </p:cNvPr>
          <p:cNvSpPr>
            <a:spLocks xmlns:a="http://schemas.openxmlformats.org/drawingml/2006/main" noGrp="1"/>
          </p:cNvSpPr>
          <p:nvPr/>
        </p:nvSpPr>
        <p:spPr>
          <a:xfrm xmlns:a="http://schemas.openxmlformats.org/drawingml/2006/main">
            <a:off x="314325" y="5829071"/>
            <a:ext cx="7953375" cy="2570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한양대(ERICA): 일반 인문·자연 수능 100 / 인하대: 일반 인문·자연 수능 100</a:t>
            </a:r>
          </a:p>
        </p:txBody>
      </p:sp>
      <p:sp>
        <p:nvSpPr>
          <p:cNvPr id="7" name="">
            <a:extLst xmlns:a="http://schemas.openxmlformats.org/drawingml/2006/main">
              <a:ext uri="{FF2B5EF4-FFF2-40B4-BE49-F238E27FC236}">
                <a16:creationId xmlns:a16="http://schemas.microsoft.com/office/drawing/2014/main" id="{4E1A3221-50DF-4504-86E6-C10A3F2D30CB}"/>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엑셀 01·02 시트 / SEN 대학별 전형방법</a:t>
            </a:r>
          </a:p>
        </p:txBody>
      </p:sp>
      <p:sp>
        <p:nvSpPr>
          <p:cNvPr id="8" name="">
            <a:extLst xmlns:a="http://schemas.openxmlformats.org/drawingml/2006/main">
              <a:ext uri="{FF2B5EF4-FFF2-40B4-BE49-F238E27FC236}">
                <a16:creationId xmlns:a16="http://schemas.microsoft.com/office/drawing/2014/main" id="{1733565E-1EA7-4BFE-B300-7C64D643E36D}"/>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09</a:t>
            </a:r>
          </a:p>
        </p:txBody>
      </p:sp>
    </p:spTree>
    <p:extLst>
      <p:ext uri="{BB962C8B-B14F-4D97-AF65-F5344CB8AC3E}">
        <p14:creationId xmlns:p14="http://schemas.microsoft.com/office/powerpoint/2010/main" val="16753746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F9CE1B-23FA-495A-9A6E-D77B0E36DF9E}"/>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03 지방거점국립대</a:t>
            </a:r>
          </a:p>
        </p:txBody>
      </p:sp>
      <p:sp>
        <p:nvSpPr>
          <p:cNvPr id="2" name="">
            <a:extLst xmlns:a="http://schemas.openxmlformats.org/drawingml/2006/main">
              <a:ext uri="{FF2B5EF4-FFF2-40B4-BE49-F238E27FC236}">
                <a16:creationId xmlns:a16="http://schemas.microsoft.com/office/drawing/2014/main" id="{52D6E781-D042-4DB7-89B2-59BBB9C9B245}"/>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거점국립대도 학생부 반영 여부가 다르다</a:t>
            </a:r>
          </a:p>
        </p:txBody>
      </p:sp>
      <p:graphicFrame>
        <p:nvGraphicFramePr>
          <p:cNvPr id="3" name="">
            <a:extLst xmlns:a="http://schemas.openxmlformats.org/drawingml/2006/main">
              <a:ext uri="{FF2B5EF4-FFF2-40B4-BE49-F238E27FC236}">
                <a16:creationId xmlns:a16="http://schemas.microsoft.com/office/drawing/2014/main" id="{343E7B1E-12EC-4DB1-9703-C857AA1FF973}"/>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1828800"/>
                <a:gridCol w="1619250"/>
                <a:gridCol w="2381250"/>
                <a:gridCol w="2124075"/>
              </a:tblGrid>
              <a:tr h="400050">
                <a:tc>
                  <a:txBody>
                    <a:bodyPr/>
                    <a:lstStyle/>
                    <a:p>
                      <a:pPr algn="l"/>
                      <a:r>
                        <a:rPr sz="1275" b="1">
                          <a:solidFill>
                            <a:srgbClr val="FFFFFF"/>
                          </a:solidFill>
                          <a:latin typeface="맑은 고딕"/>
                          <a:ea typeface="맑은 고딕"/>
                          <a:cs typeface="맑은 고딕"/>
                        </a:rPr>
                        <a:t>대학</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일반 주력 구조</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전형방법의 핵심</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일반 지원자격</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강원대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모집단위 수능 100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경북대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 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수능 90+학생부교과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경상국립대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모집단위 수능 100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부산대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수능우수 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수능 80+학업충실도 20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전남대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모집단위 수능 100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C3831D9-9CB7-4A93-AF01-B7F1C2BB9973}"/>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예체능 실기 운영 모집단위 제외. 강원대는 캠퍼스별 세부 방식 구분.</a:t>
            </a:r>
          </a:p>
        </p:txBody>
      </p:sp>
      <p:sp>
        <p:nvSpPr>
          <p:cNvPr id="5" name="">
            <a:extLst xmlns:a="http://schemas.openxmlformats.org/drawingml/2006/main">
              <a:ext uri="{FF2B5EF4-FFF2-40B4-BE49-F238E27FC236}">
                <a16:creationId xmlns:a16="http://schemas.microsoft.com/office/drawing/2014/main" id="{749C82F5-9B12-4E98-AD5A-C9DB27E04CF9}"/>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지방거점국립대의 정시 역시 수능 100%로 일괄 설명할 수 없다. 경북대는 학생부교과를 10% 반영하고, 부산대는 학업충실도평가를 20% 반영한다. 같은 학생부 반영이라도 정량 산출인지 정성평가인지 구분해서 읽어야 한다.</a:t>
            </a:r>
          </a:p>
        </p:txBody>
      </p:sp>
      <p:sp>
        <p:nvSpPr>
          <p:cNvPr id="6" name="">
            <a:extLst xmlns:a="http://schemas.openxmlformats.org/drawingml/2006/main">
              <a:ext uri="{FF2B5EF4-FFF2-40B4-BE49-F238E27FC236}">
                <a16:creationId xmlns:a16="http://schemas.microsoft.com/office/drawing/2014/main" id="{3E12F8C5-F398-42A0-8996-A9ADF474DB35}"/>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이 표는 일반 지원자를 대상으로 하는 주력 전형만 비교한 것이다. 강원인재·지역인재·수능지역 등 지역 자격이 필요한 전형은 별도로 운영되므로, 일반전형의 지원 가능 여부를 해당 전형에 그대로 적용할 수 없다.</a:t>
            </a:r>
          </a:p>
        </p:txBody>
      </p:sp>
      <p:sp>
        <p:nvSpPr>
          <p:cNvPr id="7" name="">
            <a:extLst xmlns:a="http://schemas.openxmlformats.org/drawingml/2006/main">
              <a:ext uri="{FF2B5EF4-FFF2-40B4-BE49-F238E27FC236}">
                <a16:creationId xmlns:a16="http://schemas.microsoft.com/office/drawing/2014/main" id="{C54FAF1A-7B1C-4749-BECF-07C76C5F9CA4}"/>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108·123·127·172·245쪽 / 강원(춘천) PDF 27쪽, 경북 43쪽, 경상 16쪽, 부산 29~30쪽, 전남 22쪽</a:t>
            </a:r>
          </a:p>
        </p:txBody>
      </p:sp>
      <p:sp>
        <p:nvSpPr>
          <p:cNvPr id="8" name="">
            <a:extLst xmlns:a="http://schemas.openxmlformats.org/drawingml/2006/main">
              <a:ext uri="{FF2B5EF4-FFF2-40B4-BE49-F238E27FC236}">
                <a16:creationId xmlns:a16="http://schemas.microsoft.com/office/drawing/2014/main" id="{4F4DAB6B-01F4-4951-B2C8-4159CCEFBD95}"/>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10</a:t>
            </a:r>
          </a:p>
        </p:txBody>
      </p:sp>
    </p:spTree>
    <p:extLst>
      <p:ext uri="{BB962C8B-B14F-4D97-AF65-F5344CB8AC3E}">
        <p14:creationId xmlns:p14="http://schemas.microsoft.com/office/powerpoint/2010/main" val="12507783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24666E-823F-4FDB-B5F8-6F7926C0D593}"/>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03 지방거점국립대</a:t>
            </a:r>
          </a:p>
        </p:txBody>
      </p:sp>
      <p:sp>
        <p:nvSpPr>
          <p:cNvPr id="2" name="">
            <a:extLst xmlns:a="http://schemas.openxmlformats.org/drawingml/2006/main">
              <a:ext uri="{FF2B5EF4-FFF2-40B4-BE49-F238E27FC236}">
                <a16:creationId xmlns:a16="http://schemas.microsoft.com/office/drawing/2014/main" id="{5AC3993A-5B17-4A89-B263-90ABBD19DD3B}"/>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일반전형과 지역 자격 전형을 분리해서 읽는다</a:t>
            </a:r>
          </a:p>
        </p:txBody>
      </p:sp>
      <p:graphicFrame>
        <p:nvGraphicFramePr>
          <p:cNvPr id="3" name="">
            <a:extLst xmlns:a="http://schemas.openxmlformats.org/drawingml/2006/main">
              <a:ext uri="{FF2B5EF4-FFF2-40B4-BE49-F238E27FC236}">
                <a16:creationId xmlns:a16="http://schemas.microsoft.com/office/drawing/2014/main" id="{EDD68720-911C-4028-8956-C72D213E4A34}"/>
              </a:ext>
            </a:extLst>
          </p:cNvPr>
          <p:cNvGraphicFramePr/>
          <p:nvPr/>
        </p:nvGraphicFramePr>
        <p:xfrm>
          <a:off xmlns:a="http://schemas.openxmlformats.org/drawingml/2006/main" x="314325" y="1362075"/>
          <a:ext xmlns:a="http://schemas.openxmlformats.org/drawingml/2006/main" cx="7953375" cy="2199704"/>
        </p:xfrm>
        <a:graphic xmlns:a="http://schemas.openxmlformats.org/drawingml/2006/main">
          <a:graphicData uri="http://schemas.openxmlformats.org/drawingml/2006/table">
            <a:tbl>
              <a:tblPr/>
              <a:tblGrid>
                <a:gridCol w="1828800"/>
                <a:gridCol w="1619250"/>
                <a:gridCol w="2381250"/>
                <a:gridCol w="2124075"/>
              </a:tblGrid>
              <a:tr h="400050">
                <a:tc>
                  <a:txBody>
                    <a:bodyPr/>
                    <a:lstStyle/>
                    <a:p>
                      <a:pPr algn="l"/>
                      <a:r>
                        <a:rPr sz="1275" b="1">
                          <a:solidFill>
                            <a:srgbClr val="FFFFFF"/>
                          </a:solidFill>
                          <a:latin typeface="맑은 고딕"/>
                          <a:ea typeface="맑은 고딕"/>
                          <a:cs typeface="맑은 고딕"/>
                        </a:rPr>
                        <a:t>대학</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일반 주력 구조</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전형방법의 핵심</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일반 지원자격</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전북대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일반학생 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모집단위 수능 100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제주대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일반학생 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 모집단위 수능 100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85204">
                <a:tc>
                  <a:txBody>
                    <a:bodyPr/>
                    <a:lstStyle/>
                    <a:p>
                      <a:pPr algn="l"/>
                      <a:r>
                        <a:rPr sz="1238" b="1">
                          <a:solidFill>
                            <a:srgbClr val="111111"/>
                          </a:solidFill>
                          <a:latin typeface="맑은 고딕"/>
                          <a:ea typeface="맑은 고딕"/>
                          <a:cs typeface="맑은 고딕"/>
                        </a:rPr>
                        <a:t>충남대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일반 1</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실질비율 수능 80+교과 15+출결 5</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38" b="1">
                          <a:solidFill>
                            <a:srgbClr val="111111"/>
                          </a:solidFill>
                          <a:latin typeface="맑은 고딕"/>
                          <a:ea typeface="맑은 고딕"/>
                          <a:cs typeface="맑은 고딕"/>
                        </a:rPr>
                        <a:t>충북대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 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일반 모집단위 수능 100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현역·졸업생 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C1D6612F-0296-455E-BF8F-D791EB65928C}"/>
              </a:ext>
            </a:extLst>
          </p:cNvPr>
          <p:cNvSpPr>
            <a:spLocks xmlns:a="http://schemas.openxmlformats.org/drawingml/2006/main" noGrp="1"/>
          </p:cNvSpPr>
          <p:nvPr/>
        </p:nvSpPr>
        <p:spPr>
          <a:xfrm xmlns:a="http://schemas.openxmlformats.org/drawingml/2006/main">
            <a:off x="314325" y="3657029"/>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지역인재·지역의사·경제배려·농어촌·이월 전형은 위 구조 수에서 제외.</a:t>
            </a:r>
          </a:p>
        </p:txBody>
      </p:sp>
      <p:sp>
        <p:nvSpPr>
          <p:cNvPr id="5" name="">
            <a:extLst xmlns:a="http://schemas.openxmlformats.org/drawingml/2006/main">
              <a:ext uri="{FF2B5EF4-FFF2-40B4-BE49-F238E27FC236}">
                <a16:creationId xmlns:a16="http://schemas.microsoft.com/office/drawing/2014/main" id="{9B74DBD9-EB7A-4B48-808B-E0D862819E22}"/>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전북대와 제주대, 충북대는 일반 인문·자연계의 수능 100% 구조를 확인할 수 있다. 충남대는 수능과 학교생활기록부를 함께 반영하며, 시행계획에 제시된 80·15·5는 실질반영비율이라는 점에 유의해야 한다.</a:t>
            </a:r>
          </a:p>
        </p:txBody>
      </p:sp>
      <p:sp>
        <p:nvSpPr>
          <p:cNvPr id="6" name="">
            <a:extLst xmlns:a="http://schemas.openxmlformats.org/drawingml/2006/main">
              <a:ext uri="{FF2B5EF4-FFF2-40B4-BE49-F238E27FC236}">
                <a16:creationId xmlns:a16="http://schemas.microsoft.com/office/drawing/2014/main" id="{3DEEEFBD-BF9F-4570-BCF0-021775AEF762}"/>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졸업생이라는 이유만으로 일반전형 지원이 제한되는 것은 아니다. 다만 지역인재 전형은 고교 소재지와 이수기간을 확인해야 하며, 일부 의약학·간호 모집단위는 중학교 이수 및 거주 요건도 적용된다.</a:t>
            </a:r>
          </a:p>
        </p:txBody>
      </p:sp>
      <p:sp>
        <p:nvSpPr>
          <p:cNvPr id="7" name="">
            <a:extLst xmlns:a="http://schemas.openxmlformats.org/drawingml/2006/main">
              <a:ext uri="{FF2B5EF4-FFF2-40B4-BE49-F238E27FC236}">
                <a16:creationId xmlns:a16="http://schemas.microsoft.com/office/drawing/2014/main" id="{752700A8-6BF6-49E5-9E94-E407E29E20DA}"/>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249·252·265·269쪽 / 전북 PDF 43쪽, 제주 38쪽, 충남 32쪽, 충북 17쪽</a:t>
            </a:r>
          </a:p>
        </p:txBody>
      </p:sp>
      <p:sp>
        <p:nvSpPr>
          <p:cNvPr id="8" name="">
            <a:extLst xmlns:a="http://schemas.openxmlformats.org/drawingml/2006/main">
              <a:ext uri="{FF2B5EF4-FFF2-40B4-BE49-F238E27FC236}">
                <a16:creationId xmlns:a16="http://schemas.microsoft.com/office/drawing/2014/main" id="{6914B157-2CE4-4F27-8178-971BCE521E1E}"/>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11</a:t>
            </a:r>
          </a:p>
        </p:txBody>
      </p:sp>
    </p:spTree>
    <p:extLst>
      <p:ext uri="{BB962C8B-B14F-4D97-AF65-F5344CB8AC3E}">
        <p14:creationId xmlns:p14="http://schemas.microsoft.com/office/powerpoint/2010/main" val="5077940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A67F15-5DE0-4B05-9012-A9616BEBB41B}"/>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03 지방거점국립대</a:t>
            </a:r>
          </a:p>
        </p:txBody>
      </p:sp>
      <p:sp>
        <p:nvSpPr>
          <p:cNvPr id="2" name="">
            <a:extLst xmlns:a="http://schemas.openxmlformats.org/drawingml/2006/main">
              <a:ext uri="{FF2B5EF4-FFF2-40B4-BE49-F238E27FC236}">
                <a16:creationId xmlns:a16="http://schemas.microsoft.com/office/drawing/2014/main" id="{536FD7C1-E1EB-49DB-8524-D633F5C208F4}"/>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지역인재는 졸업연도보다 이수·거주 요건이 중요하다</a:t>
            </a:r>
          </a:p>
        </p:txBody>
      </p:sp>
      <p:graphicFrame>
        <p:nvGraphicFramePr>
          <p:cNvPr id="3" name="">
            <a:extLst xmlns:a="http://schemas.openxmlformats.org/drawingml/2006/main">
              <a:ext uri="{FF2B5EF4-FFF2-40B4-BE49-F238E27FC236}">
                <a16:creationId xmlns:a16="http://schemas.microsoft.com/office/drawing/2014/main" id="{A30F37AA-84A4-47CA-8A85-D17F2294CCAC}"/>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대학·전형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기본 지역 요건</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현역·졸업생 판단</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경북대 지역인재</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대구·경북 고교 전 과정</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졸업(예정)자, 추가 요건 적용</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경상국립대 지역인재</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경남·부산·울산 고교 전 과정</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졸업(예정)자, 추가 요건 적용</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부산대 수능지역</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부산·울산·경남 고교 전 과정</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졸업(예정)자, 추가 요건 적용</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전남대 지역인재</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광주·전남·전북 고교 전 과정</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졸업(예정)자, 추가 요건 적용</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제주대 지역인재</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제주 소재 고교 전 과정</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졸업(예정)자, 추가 요건 적용</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B5510F-E3DB-47D1-B234-99C7E49DC767}"/>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수의예과를 의·치·약·간호의 강화 요건과 일괄적으로 묶지 않음.</a:t>
            </a:r>
          </a:p>
        </p:txBody>
      </p:sp>
      <p:sp>
        <p:nvSpPr>
          <p:cNvPr id="5" name="">
            <a:extLst xmlns:a="http://schemas.openxmlformats.org/drawingml/2006/main">
              <a:ext uri="{FF2B5EF4-FFF2-40B4-BE49-F238E27FC236}">
                <a16:creationId xmlns:a16="http://schemas.microsoft.com/office/drawing/2014/main" id="{00E34E8E-A282-40D9-9147-53E90C60F1DA}"/>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지역인재 전형은 해당 지역의 고교 교육과정을 이수했는지가 출발점이다. 같은 지역에 현재 거주하고 있다는 사실만으로 지원자격이 성립하는 것은 아니며, 입학일부터 졸업일까지의 이수 조건을 살펴야 한다.</a:t>
            </a:r>
          </a:p>
        </p:txBody>
      </p:sp>
      <p:sp>
        <p:nvSpPr>
          <p:cNvPr id="6" name="">
            <a:extLst xmlns:a="http://schemas.openxmlformats.org/drawingml/2006/main">
              <a:ext uri="{FF2B5EF4-FFF2-40B4-BE49-F238E27FC236}">
                <a16:creationId xmlns:a16="http://schemas.microsoft.com/office/drawing/2014/main" id="{DEADCD08-23DF-470B-B61A-B88AE4E67215}"/>
              </a:ext>
            </a:extLst>
          </p:cNvPr>
          <p:cNvSpPr>
            <a:spLocks xmlns:a="http://schemas.openxmlformats.org/drawingml/2006/main" noGrp="1"/>
          </p:cNvSpPr>
          <p:nvPr/>
        </p:nvSpPr>
        <p:spPr>
          <a:xfrm xmlns:a="http://schemas.openxmlformats.org/drawingml/2006/main">
            <a:off x="314325" y="5629123"/>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2022학년도 이후 중학교 입학자 중 대학이 지정한 의약학·간호 모집단위 지원자는 비수도권 중학교와 해당 지역 고교 이수, 재학기간 중 거주 요건을 추가로 확인해야 한다. 적용 모집단위가 대학마다 다르므로 하나의 조건으로 일반화해서는 안 된다.</a:t>
            </a:r>
          </a:p>
        </p:txBody>
      </p:sp>
      <p:sp>
        <p:nvSpPr>
          <p:cNvPr id="7" name="">
            <a:extLst xmlns:a="http://schemas.openxmlformats.org/drawingml/2006/main">
              <a:ext uri="{FF2B5EF4-FFF2-40B4-BE49-F238E27FC236}">
                <a16:creationId xmlns:a16="http://schemas.microsoft.com/office/drawing/2014/main" id="{1BB31965-0E31-498F-BC8D-EA14F8B68659}"/>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경북 PDF 43쪽, 경상 16쪽, 부산 30쪽, 전남 22쪽, 제주 38쪽</a:t>
            </a:r>
          </a:p>
        </p:txBody>
      </p:sp>
      <p:sp>
        <p:nvSpPr>
          <p:cNvPr id="8" name="">
            <a:extLst xmlns:a="http://schemas.openxmlformats.org/drawingml/2006/main">
              <a:ext uri="{FF2B5EF4-FFF2-40B4-BE49-F238E27FC236}">
                <a16:creationId xmlns:a16="http://schemas.microsoft.com/office/drawing/2014/main" id="{288F9C67-BAE5-49EA-9E3A-C9E6493E882D}"/>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12</a:t>
            </a:r>
          </a:p>
        </p:txBody>
      </p:sp>
    </p:spTree>
    <p:extLst>
      <p:ext uri="{BB962C8B-B14F-4D97-AF65-F5344CB8AC3E}">
        <p14:creationId xmlns:p14="http://schemas.microsoft.com/office/powerpoint/2010/main" val="10975089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95DD23-ADAE-4D9A-B6D8-0417BCBC6926}"/>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04 신설과 변경</a:t>
            </a:r>
          </a:p>
        </p:txBody>
      </p:sp>
      <p:sp>
        <p:nvSpPr>
          <p:cNvPr id="2" name="">
            <a:extLst xmlns:a="http://schemas.openxmlformats.org/drawingml/2006/main">
              <a:ext uri="{FF2B5EF4-FFF2-40B4-BE49-F238E27FC236}">
                <a16:creationId xmlns:a16="http://schemas.microsoft.com/office/drawing/2014/main" id="{73867EB2-32E6-413B-B6B1-BC388867803A}"/>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신설·이원화·방법 변경을 구분한다</a:t>
            </a:r>
          </a:p>
        </p:txBody>
      </p:sp>
      <p:graphicFrame>
        <p:nvGraphicFramePr>
          <p:cNvPr id="3" name="">
            <a:extLst xmlns:a="http://schemas.openxmlformats.org/drawingml/2006/main">
              <a:ext uri="{FF2B5EF4-FFF2-40B4-BE49-F238E27FC236}">
                <a16:creationId xmlns:a16="http://schemas.microsoft.com/office/drawing/2014/main" id="{773117F1-3B3D-4E48-9782-2E6036FA0581}"/>
              </a:ext>
            </a:extLst>
          </p:cNvPr>
          <p:cNvGraphicFramePr/>
          <p:nvPr/>
        </p:nvGraphicFramePr>
        <p:xfrm>
          <a:off xmlns:a="http://schemas.openxmlformats.org/drawingml/2006/main" x="314325" y="1362075"/>
          <a:ext xmlns:a="http://schemas.openxmlformats.org/drawingml/2006/main" cx="7953375" cy="2649093"/>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변화의 성격</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2028학년도 핵심</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96443">
                <a:tc>
                  <a:txBody>
                    <a:bodyPr/>
                    <a:lstStyle/>
                    <a:p>
                      <a:pPr algn="l"/>
                      <a:r>
                        <a:rPr sz="1275" b="1">
                          <a:solidFill>
                            <a:srgbClr val="111111"/>
                          </a:solidFill>
                          <a:latin typeface="맑은 고딕"/>
                          <a:ea typeface="맑은 고딕"/>
                          <a:cs typeface="맑은 고딕"/>
                        </a:rPr>
                        <a:t>서강대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전형 신설</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정시 지역균형 90명, 졸업예정자+학교장 추천</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경희대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일반전형 이원화</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수능·학생부형 / 수능형</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성균관대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수능위주 분리 선발</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일반형 / 특화형, 정시 융합인재 별도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세종대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전형 분리·신설</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수능형 / 융합형(학생부교과 정성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이화여대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전형 신설</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수능-학생부전형(수능 85+서류 15)</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5500E9-E1D3-411A-81F0-61118616E910}"/>
              </a:ext>
            </a:extLst>
          </p:cNvPr>
          <p:cNvSpPr>
            <a:spLocks xmlns:a="http://schemas.openxmlformats.org/drawingml/2006/main" noGrp="1"/>
          </p:cNvSpPr>
          <p:nvPr/>
        </p:nvSpPr>
        <p:spPr>
          <a:xfrm xmlns:a="http://schemas.openxmlformats.org/drawingml/2006/main">
            <a:off x="314325" y="4106418"/>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성균관대 융합인재는 존재·방법을 확인했으며, 이 표에서 신설로 단정하지 않음.</a:t>
            </a:r>
          </a:p>
        </p:txBody>
      </p:sp>
      <p:sp>
        <p:nvSpPr>
          <p:cNvPr id="5" name="">
            <a:extLst xmlns:a="http://schemas.openxmlformats.org/drawingml/2006/main">
              <a:ext uri="{FF2B5EF4-FFF2-40B4-BE49-F238E27FC236}">
                <a16:creationId xmlns:a16="http://schemas.microsoft.com/office/drawing/2014/main" id="{6868A0D7-F4A6-426E-9EE5-3915BBD9D1C5}"/>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신설 전형의 등장은 지원 경로가 달라졌다는 뜻이지만, 모든 변화가 신설에 해당하는 것은 아니다. 기존 전형을 유형별로 나눈 경우와 같은 전형 안에서 평가요소를 바꾼 경우를 구분해야 전년 결과를 정확히 해석할 수 있다.</a:t>
            </a:r>
          </a:p>
        </p:txBody>
      </p:sp>
      <p:sp>
        <p:nvSpPr>
          <p:cNvPr id="6" name="">
            <a:extLst xmlns:a="http://schemas.openxmlformats.org/drawingml/2006/main">
              <a:ext uri="{FF2B5EF4-FFF2-40B4-BE49-F238E27FC236}">
                <a16:creationId xmlns:a16="http://schemas.microsoft.com/office/drawing/2014/main" id="{C896FC1F-1803-4495-B2E8-BABF6DA3AE0E}"/>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서강대 지역균형은 지원자격 자체가 다른 신설 전형이다. 경희대·성균관대·세종대는 세부 유형별 평가방식과 수능 산출 구조를 비교해야 하며, 이화여대는 수능전형과 수능-학생부전형의 차이를 함께 살펴야 한다.</a:t>
            </a:r>
          </a:p>
        </p:txBody>
      </p:sp>
      <p:sp>
        <p:nvSpPr>
          <p:cNvPr id="7" name="">
            <a:extLst xmlns:a="http://schemas.openxmlformats.org/drawingml/2006/main">
              <a:ext uri="{FF2B5EF4-FFF2-40B4-BE49-F238E27FC236}">
                <a16:creationId xmlns:a16="http://schemas.microsoft.com/office/drawing/2014/main" id="{A7D0C7A4-3D4A-48F8-AC81-25DD364F0E9A}"/>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131·183·204·211쪽 / 이화 PDF 3·15~16쪽</a:t>
            </a:r>
          </a:p>
        </p:txBody>
      </p:sp>
      <p:sp>
        <p:nvSpPr>
          <p:cNvPr id="8" name="">
            <a:extLst xmlns:a="http://schemas.openxmlformats.org/drawingml/2006/main">
              <a:ext uri="{FF2B5EF4-FFF2-40B4-BE49-F238E27FC236}">
                <a16:creationId xmlns:a16="http://schemas.microsoft.com/office/drawing/2014/main" id="{1417FC99-B244-4960-B9D7-652E3FCE447F}"/>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13</a:t>
            </a:r>
          </a:p>
        </p:txBody>
      </p:sp>
    </p:spTree>
    <p:extLst>
      <p:ext uri="{BB962C8B-B14F-4D97-AF65-F5344CB8AC3E}">
        <p14:creationId xmlns:p14="http://schemas.microsoft.com/office/powerpoint/2010/main" val="654997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E3F3D8-7A73-4B81-9854-A718E02863DE}"/>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04 신설과 변경</a:t>
            </a:r>
          </a:p>
        </p:txBody>
      </p:sp>
      <p:sp>
        <p:nvSpPr>
          <p:cNvPr id="2" name="">
            <a:extLst xmlns:a="http://schemas.openxmlformats.org/drawingml/2006/main">
              <a:ext uri="{FF2B5EF4-FFF2-40B4-BE49-F238E27FC236}">
                <a16:creationId xmlns:a16="http://schemas.microsoft.com/office/drawing/2014/main" id="{64600DCF-5369-494C-B8F2-0EA25891DB77}"/>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학생부 반영의 범위와 비율이 바뀐다</a:t>
            </a:r>
          </a:p>
        </p:txBody>
      </p:sp>
      <p:graphicFrame>
        <p:nvGraphicFramePr>
          <p:cNvPr id="3" name="">
            <a:extLst xmlns:a="http://schemas.openxmlformats.org/drawingml/2006/main">
              <a:ext uri="{FF2B5EF4-FFF2-40B4-BE49-F238E27FC236}">
                <a16:creationId xmlns:a16="http://schemas.microsoft.com/office/drawing/2014/main" id="{0CD0D139-5B28-45E4-BD66-76F4552B5D4A}"/>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대학·적용 범위</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2027학년도</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2028학년도</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서울시립대 인문·자연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100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80+교과 18+출결 2</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동국대 일반 인문·자연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가·나 100 / 다 90+학생부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가·나·다 수능 80+학생부 20</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단국대 일반 인문·자연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100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90+학생부정성 10</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홍익대 다군 인문·자연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100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90+교과정량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부산대 일반 비실기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100 중심</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80+학업충실도평가 20</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D8E248A-AE40-4D51-AF93-805FB7F49C19}"/>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반영비율은 별도 표시가 없는 한 시행계획의 명목비율. 충남대 실질비율과 혼용하지 않음.</a:t>
            </a:r>
          </a:p>
        </p:txBody>
      </p:sp>
      <p:sp>
        <p:nvSpPr>
          <p:cNvPr id="5" name="">
            <a:extLst xmlns:a="http://schemas.openxmlformats.org/drawingml/2006/main">
              <a:ext uri="{FF2B5EF4-FFF2-40B4-BE49-F238E27FC236}">
                <a16:creationId xmlns:a16="http://schemas.microsoft.com/office/drawing/2014/main" id="{D627FACD-6EAF-473A-851A-8B9422BD8A31}"/>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학생부를 반영한다는 사실보다 어디에, 어떤 방식으로 반영하는지가 중요하다. 교과성적을 정해진 산식으로 환산하는 방식과 학교생활기록부의 내용을 종합적으로 평가하는 방식은 준비 방향이 다르다.</a:t>
            </a:r>
          </a:p>
        </p:txBody>
      </p:sp>
      <p:sp>
        <p:nvSpPr>
          <p:cNvPr id="6" name="">
            <a:extLst xmlns:a="http://schemas.openxmlformats.org/drawingml/2006/main">
              <a:ext uri="{FF2B5EF4-FFF2-40B4-BE49-F238E27FC236}">
                <a16:creationId xmlns:a16="http://schemas.microsoft.com/office/drawing/2014/main" id="{CEEFBEA9-2818-496E-990D-FB62846C9962}"/>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대학 전체로 확대해서 해석하지 않는 것도 중요하다. 이 표는 기재된 적용 범위의 변화를 설명한다. 예체능 실기 모집단위, 군사학과, 별도 특별전형은 해당 모집단위의 전형방법을 따로 확인해야 한다.</a:t>
            </a:r>
          </a:p>
        </p:txBody>
      </p:sp>
      <p:sp>
        <p:nvSpPr>
          <p:cNvPr id="7" name="">
            <a:extLst xmlns:a="http://schemas.openxmlformats.org/drawingml/2006/main">
              <a:ext uri="{FF2B5EF4-FFF2-40B4-BE49-F238E27FC236}">
                <a16:creationId xmlns:a16="http://schemas.microsoft.com/office/drawing/2014/main" id="{D35382F3-7368-4C9E-8D04-15798C7792E8}"/>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160·195·307쪽 / 단국 시행계획 주요 변경사항</a:t>
            </a:r>
          </a:p>
        </p:txBody>
      </p:sp>
      <p:sp>
        <p:nvSpPr>
          <p:cNvPr id="8" name="">
            <a:extLst xmlns:a="http://schemas.openxmlformats.org/drawingml/2006/main">
              <a:ext uri="{FF2B5EF4-FFF2-40B4-BE49-F238E27FC236}">
                <a16:creationId xmlns:a16="http://schemas.microsoft.com/office/drawing/2014/main" id="{DBA8EDBD-AE9C-4DA5-A652-993D0EE7BA55}"/>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14</a:t>
            </a:r>
          </a:p>
        </p:txBody>
      </p:sp>
    </p:spTree>
    <p:extLst>
      <p:ext uri="{BB962C8B-B14F-4D97-AF65-F5344CB8AC3E}">
        <p14:creationId xmlns:p14="http://schemas.microsoft.com/office/powerpoint/2010/main" val="67505090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4B68D9-C015-4912-9C72-E3BC6059199A}"/>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04 신설과 변경</a:t>
            </a:r>
          </a:p>
        </p:txBody>
      </p:sp>
      <p:sp>
        <p:nvSpPr>
          <p:cNvPr id="2" name="">
            <a:extLst xmlns:a="http://schemas.openxmlformats.org/drawingml/2006/main">
              <a:ext uri="{FF2B5EF4-FFF2-40B4-BE49-F238E27FC236}">
                <a16:creationId xmlns:a16="http://schemas.microsoft.com/office/drawing/2014/main" id="{B2E22685-D4EA-476A-AD4A-435C435D344F}"/>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지표 변경과 군 이동도 전년 비교를 바꾼다</a:t>
            </a:r>
          </a:p>
        </p:txBody>
      </p:sp>
      <p:graphicFrame>
        <p:nvGraphicFramePr>
          <p:cNvPr id="3" name="">
            <a:extLst xmlns:a="http://schemas.openxmlformats.org/drawingml/2006/main">
              <a:ext uri="{FF2B5EF4-FFF2-40B4-BE49-F238E27FC236}">
                <a16:creationId xmlns:a16="http://schemas.microsoft.com/office/drawing/2014/main" id="{5DFC5A86-80D5-47F3-AD58-3043D6B64677}"/>
              </a:ext>
            </a:extLst>
          </p:cNvPr>
          <p:cNvGraphicFramePr/>
          <p:nvPr/>
        </p:nvGraphicFramePr>
        <p:xfrm>
          <a:off xmlns:a="http://schemas.openxmlformats.org/drawingml/2006/main" x="314325" y="1362075"/>
          <a:ext xmlns:a="http://schemas.openxmlformats.org/drawingml/2006/main" cx="7953375" cy="2707386"/>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전년 대비 달라진 지점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집필·지원 시 해석</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고려대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교과우수 졸업연도 제한 강화</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졸업생은 일반전형과 구분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연세대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정량 50점 폐지, 서류 100점 반영</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기존 교과·출결 환산과 구분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한양대(서울)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컴퓨터소프트웨어·파이낸스경영 다→나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해당 모집단위의 군 이동</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세종대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탐구 변환표준점수→표준점수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전형요소와 수능 지표 동시 확인</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인하대·제주대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선택과목별 가산점 폐지</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영역별 반영비율과는 별개</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ECFDFD9-9650-4796-9FE2-FBB1C95B15C6}"/>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전년도 결과를 참고할 때에는 모집인원뿐 아니라 모집군, 지원자격, 활용지표가 같은지도 확인해야 한다. 전형명이 같아도 계산에 사용하는 점수가 달라지면 같은 수능 성적의 환산 결과가 달라질 수 있다.</a:t>
            </a:r>
          </a:p>
        </p:txBody>
      </p:sp>
      <p:sp>
        <p:nvSpPr>
          <p:cNvPr id="5" name="">
            <a:extLst xmlns:a="http://schemas.openxmlformats.org/drawingml/2006/main">
              <a:ext uri="{FF2B5EF4-FFF2-40B4-BE49-F238E27FC236}">
                <a16:creationId xmlns:a16="http://schemas.microsoft.com/office/drawing/2014/main" id="{F86BA606-B13A-4DAA-8DCA-775D903131F2}"/>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선택과목 가산점의 폐지를 사회·과학탐구 반영비율의 동일화로 해석해서는 안 된다. 가산점과 영역별 가중치는 다른 장치이므로, 대학이 공표한 2028학년도 반영표를 기준으로 구분해야 한다.</a:t>
            </a:r>
          </a:p>
        </p:txBody>
      </p:sp>
      <p:sp>
        <p:nvSpPr>
          <p:cNvPr id="6" name="">
            <a:extLst xmlns:a="http://schemas.openxmlformats.org/drawingml/2006/main">
              <a:ext uri="{FF2B5EF4-FFF2-40B4-BE49-F238E27FC236}">
                <a16:creationId xmlns:a16="http://schemas.microsoft.com/office/drawing/2014/main" id="{7203C68B-F89B-4EBE-A3B8-AE18C4FC336E}"/>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고려 PDF 4쪽, 연세 주요 변경사항 / SEN 211·242·252·298쪽</a:t>
            </a:r>
          </a:p>
        </p:txBody>
      </p:sp>
      <p:sp>
        <p:nvSpPr>
          <p:cNvPr id="7" name="">
            <a:extLst xmlns:a="http://schemas.openxmlformats.org/drawingml/2006/main">
              <a:ext uri="{FF2B5EF4-FFF2-40B4-BE49-F238E27FC236}">
                <a16:creationId xmlns:a16="http://schemas.microsoft.com/office/drawing/2014/main" id="{8519FD2A-DD91-4824-9416-3E37F8495DA8}"/>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15</a:t>
            </a:r>
          </a:p>
        </p:txBody>
      </p:sp>
    </p:spTree>
    <p:extLst>
      <p:ext uri="{BB962C8B-B14F-4D97-AF65-F5344CB8AC3E}">
        <p14:creationId xmlns:p14="http://schemas.microsoft.com/office/powerpoint/2010/main" val="8332284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0BA748-1C81-49F3-AD44-C06388BC942A}"/>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05 지원자격</a:t>
            </a:r>
          </a:p>
        </p:txBody>
      </p:sp>
      <p:sp>
        <p:nvSpPr>
          <p:cNvPr id="2" name="">
            <a:extLst xmlns:a="http://schemas.openxmlformats.org/drawingml/2006/main">
              <a:ext uri="{FF2B5EF4-FFF2-40B4-BE49-F238E27FC236}">
                <a16:creationId xmlns:a16="http://schemas.microsoft.com/office/drawing/2014/main" id="{58C6A9A3-2F5E-446F-BE96-94521504F372}"/>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학생부 반영 전형이라고 졸업생이 모두 배제되지는 않는다</a:t>
            </a:r>
          </a:p>
        </p:txBody>
      </p:sp>
      <p:graphicFrame>
        <p:nvGraphicFramePr>
          <p:cNvPr id="3" name="">
            <a:extLst xmlns:a="http://schemas.openxmlformats.org/drawingml/2006/main">
              <a:ext uri="{FF2B5EF4-FFF2-40B4-BE49-F238E27FC236}">
                <a16:creationId xmlns:a16="http://schemas.microsoft.com/office/drawing/2014/main" id="{A8D70994-D767-4EB2-8E21-1E54ACD71CE6}"/>
              </a:ext>
            </a:extLst>
          </p:cNvPr>
          <p:cNvGraphicFramePr/>
          <p:nvPr/>
        </p:nvGraphicFramePr>
        <p:xfrm>
          <a:off xmlns:a="http://schemas.openxmlformats.org/drawingml/2006/main" x="314325" y="1362075"/>
          <a:ext xmlns:a="http://schemas.openxmlformats.org/drawingml/2006/main" cx="7953375" cy="2731961"/>
        </p:xfrm>
        <a:graphic xmlns:a="http://schemas.openxmlformats.org/drawingml/2006/main">
          <a:graphicData uri="http://schemas.openxmlformats.org/drawingml/2006/table">
            <a:tbl>
              <a:tblPr/>
              <a:tblGrid>
                <a:gridCol w="1828800"/>
                <a:gridCol w="1619250"/>
                <a:gridCol w="2381250"/>
                <a:gridCol w="2124075"/>
              </a:tblGrid>
              <a:tr h="400050">
                <a:tc>
                  <a:txBody>
                    <a:bodyPr/>
                    <a:lstStyle/>
                    <a:p>
                      <a:pPr algn="l"/>
                      <a:r>
                        <a:rPr sz="1275" b="1">
                          <a:solidFill>
                            <a:srgbClr val="FFFFFF"/>
                          </a:solidFill>
                          <a:latin typeface="맑은 고딕"/>
                          <a:ea typeface="맑은 고딕"/>
                          <a:cs typeface="맑은 고딕"/>
                        </a:rPr>
                        <a:t>대학·전형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현역</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졸업생</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추가 조건</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38" b="1">
                          <a:solidFill>
                            <a:srgbClr val="111111"/>
                          </a:solidFill>
                          <a:latin typeface="맑은 고딕"/>
                          <a:ea typeface="맑은 고딕"/>
                          <a:cs typeface="맑은 고딕"/>
                        </a:rPr>
                        <a:t>고려대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수능 지정 응시영역 충족</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85204">
                <a:tc>
                  <a:txBody>
                    <a:bodyPr/>
                    <a:lstStyle/>
                    <a:p>
                      <a:pPr algn="l"/>
                      <a:r>
                        <a:rPr sz="1238" b="1">
                          <a:solidFill>
                            <a:srgbClr val="111111"/>
                          </a:solidFill>
                          <a:latin typeface="맑은 고딕"/>
                          <a:ea typeface="맑은 고딕"/>
                          <a:cs typeface="맑은 고딕"/>
                        </a:rPr>
                        <a:t>고려대 교과우수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B00000"/>
                          </a:solidFill>
                          <a:latin typeface="맑은 고딕"/>
                          <a:ea typeface="맑은 고딕"/>
                          <a:cs typeface="맑은 고딕"/>
                        </a:rPr>
                        <a:t>불가</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국내고, 2028년 2월 졸업, 6학기 성적</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38" b="1">
                          <a:solidFill>
                            <a:srgbClr val="111111"/>
                          </a:solidFill>
                          <a:latin typeface="맑은 고딕"/>
                          <a:ea typeface="맑은 고딕"/>
                          <a:cs typeface="맑은 고딕"/>
                        </a:rPr>
                        <a:t>서강대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필수 응시영역 충족</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85204">
                <a:tc>
                  <a:txBody>
                    <a:bodyPr/>
                    <a:lstStyle/>
                    <a:p>
                      <a:pPr algn="l"/>
                      <a:r>
                        <a:rPr sz="1238" b="1">
                          <a:solidFill>
                            <a:srgbClr val="111111"/>
                          </a:solidFill>
                          <a:latin typeface="맑은 고딕"/>
                          <a:ea typeface="맑은 고딕"/>
                          <a:cs typeface="맑은 고딕"/>
                        </a:rPr>
                        <a:t>서강대 지역균형</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가능</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B00000"/>
                          </a:solidFill>
                          <a:latin typeface="맑은 고딕"/>
                          <a:ea typeface="맑은 고딕"/>
                          <a:cs typeface="맑은 고딕"/>
                        </a:rPr>
                        <a:t>불가</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38" b="0">
                          <a:solidFill>
                            <a:srgbClr val="111111"/>
                          </a:solidFill>
                          <a:latin typeface="맑은 고딕"/>
                          <a:ea typeface="맑은 고딕"/>
                          <a:cs typeface="맑은 고딕"/>
                        </a:rPr>
                        <a:t>국내고 당해 졸업예정+학교장 추천</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85204">
                <a:tc>
                  <a:txBody>
                    <a:bodyPr/>
                    <a:lstStyle/>
                    <a:p>
                      <a:pPr algn="l"/>
                      <a:r>
                        <a:rPr sz="1238" b="1">
                          <a:solidFill>
                            <a:srgbClr val="111111"/>
                          </a:solidFill>
                          <a:latin typeface="맑은 고딕"/>
                          <a:ea typeface="맑은 고딕"/>
                          <a:cs typeface="맑은 고딕"/>
                        </a:rPr>
                        <a:t>성균관대 정시 융합인재</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38" b="0">
                          <a:solidFill>
                            <a:srgbClr val="111111"/>
                          </a:solidFill>
                          <a:latin typeface="맑은 고딕"/>
                          <a:ea typeface="맑은 고딕"/>
                          <a:cs typeface="맑은 고딕"/>
                        </a:rPr>
                        <a:t>학생부 100, 수능최저 3개 합 6</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4DE8B6B-3F17-4C52-91CB-090ACE9087DB}"/>
              </a:ext>
            </a:extLst>
          </p:cNvPr>
          <p:cNvSpPr>
            <a:spLocks xmlns:a="http://schemas.openxmlformats.org/drawingml/2006/main" noGrp="1"/>
          </p:cNvSpPr>
          <p:nvPr/>
        </p:nvSpPr>
        <p:spPr>
          <a:xfrm xmlns:a="http://schemas.openxmlformats.org/drawingml/2006/main">
            <a:off x="314325" y="4189286"/>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고려 교과우수는 지원 불가 학교 유형이 별도로 규정됨. 서강은 졸업기준의 연말·1월 졸업 포함 규정 확인.</a:t>
            </a:r>
          </a:p>
        </p:txBody>
      </p:sp>
      <p:sp>
        <p:nvSpPr>
          <p:cNvPr id="5" name="">
            <a:extLst xmlns:a="http://schemas.openxmlformats.org/drawingml/2006/main">
              <a:ext uri="{FF2B5EF4-FFF2-40B4-BE49-F238E27FC236}">
                <a16:creationId xmlns:a16="http://schemas.microsoft.com/office/drawing/2014/main" id="{9EF8A5B8-2781-4049-B215-4AF13C635395}"/>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졸업생 지원 가능 여부는 학생부 반영 비율만으로 판단할 수 없다. 고려대 교과우수와 서강대 지역균형은 졸업예정자 제한이 있지만, 성균관대 정시 융합인재는 고교 졸업(예정)자와 동등 학력 인정자에게 지원자격을 부여한다.</a:t>
            </a:r>
          </a:p>
        </p:txBody>
      </p:sp>
      <p:sp>
        <p:nvSpPr>
          <p:cNvPr id="6" name="">
            <a:extLst xmlns:a="http://schemas.openxmlformats.org/drawingml/2006/main">
              <a:ext uri="{FF2B5EF4-FFF2-40B4-BE49-F238E27FC236}">
                <a16:creationId xmlns:a16="http://schemas.microsoft.com/office/drawing/2014/main" id="{619FE0F7-9D88-4E07-AE52-4D1336969B7D}"/>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‘현역 가능’도 모든 재학생에게 지원자격이 있다는 뜻은 아니다. 해당 학년도 졸업예정 여부와 학교 유형, 성적 기재 학기, 학교장 추천 등 각 전형의 조건을 함께 충족해야 한다.</a:t>
            </a:r>
          </a:p>
        </p:txBody>
      </p:sp>
      <p:sp>
        <p:nvSpPr>
          <p:cNvPr id="7" name="">
            <a:extLst xmlns:a="http://schemas.openxmlformats.org/drawingml/2006/main">
              <a:ext uri="{FF2B5EF4-FFF2-40B4-BE49-F238E27FC236}">
                <a16:creationId xmlns:a16="http://schemas.microsoft.com/office/drawing/2014/main" id="{B4D9AAF2-DEC6-4C6D-B121-15F52168BA7E}"/>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고려 PDF 24·26쪽 / 서강 PDF 18~19쪽</a:t>
            </a:r>
          </a:p>
        </p:txBody>
      </p:sp>
      <p:sp>
        <p:nvSpPr>
          <p:cNvPr id="8" name="">
            <a:extLst xmlns:a="http://schemas.openxmlformats.org/drawingml/2006/main">
              <a:ext uri="{FF2B5EF4-FFF2-40B4-BE49-F238E27FC236}">
                <a16:creationId xmlns:a16="http://schemas.microsoft.com/office/drawing/2014/main" id="{8477F2CC-4DAB-4AD9-9428-BDCD573E77A2}"/>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16</a:t>
            </a:r>
          </a:p>
        </p:txBody>
      </p:sp>
    </p:spTree>
    <p:extLst>
      <p:ext uri="{BB962C8B-B14F-4D97-AF65-F5344CB8AC3E}">
        <p14:creationId xmlns:p14="http://schemas.microsoft.com/office/powerpoint/2010/main" val="4838714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E30F78-488F-4385-BC85-C4816AC3B5F7}"/>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06 학생부 정성평가</a:t>
            </a:r>
          </a:p>
        </p:txBody>
      </p:sp>
      <p:sp>
        <p:nvSpPr>
          <p:cNvPr id="2" name="">
            <a:extLst xmlns:a="http://schemas.openxmlformats.org/drawingml/2006/main">
              <a:ext uri="{FF2B5EF4-FFF2-40B4-BE49-F238E27FC236}">
                <a16:creationId xmlns:a16="http://schemas.microsoft.com/office/drawing/2014/main" id="{075D2E10-A6EE-4B0C-86BE-F4D2F53C674F}"/>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정성평가는 점수보다 평가 대상부터 읽는다</a:t>
            </a:r>
          </a:p>
        </p:txBody>
      </p:sp>
      <p:graphicFrame>
        <p:nvGraphicFramePr>
          <p:cNvPr id="3" name="">
            <a:extLst xmlns:a="http://schemas.openxmlformats.org/drawingml/2006/main">
              <a:ext uri="{FF2B5EF4-FFF2-40B4-BE49-F238E27FC236}">
                <a16:creationId xmlns:a16="http://schemas.microsoft.com/office/drawing/2014/main" id="{F23DA5E8-1CCC-4D74-AC8A-09E0AF1734A0}"/>
              </a:ext>
            </a:extLst>
          </p:cNvPr>
          <p:cNvGraphicFramePr/>
          <p:nvPr/>
        </p:nvGraphicFramePr>
        <p:xfrm>
          <a:off xmlns:a="http://schemas.openxmlformats.org/drawingml/2006/main" x="314325" y="1362075"/>
          <a:ext xmlns:a="http://schemas.openxmlformats.org/drawingml/2006/main" cx="7953375" cy="2210943"/>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대학·전형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반영 구조</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평가 대상과 특징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서울대 일반(대부분)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2단계 수능 60+교과역량 40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과목 이수·성취·수행·공동체역량</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연세대 일반계열</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90+서류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교과학습발달상황·출결 등 정성평가</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동국대 일반(체육·조소 제외)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80+학생부 20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학업·진로탐구·성실성 종합평가</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한양대(서울)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90+학생부종합평가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교육과정 이수·과목 선택·성취도 등</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A1837777-C398-42BA-9147-3F82E5F6D566}"/>
              </a:ext>
            </a:extLst>
          </p:cNvPr>
          <p:cNvSpPr>
            <a:spLocks xmlns:a="http://schemas.openxmlformats.org/drawingml/2006/main" noGrp="1"/>
          </p:cNvSpPr>
          <p:nvPr/>
        </p:nvSpPr>
        <p:spPr>
          <a:xfrm xmlns:a="http://schemas.openxmlformats.org/drawingml/2006/main">
            <a:off x="314325" y="3668268"/>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서울대 의·수의는 60+20+면접 20. 연세대 의예는 단계형으로 별도.</a:t>
            </a:r>
          </a:p>
        </p:txBody>
      </p:sp>
      <p:sp>
        <p:nvSpPr>
          <p:cNvPr id="5" name="">
            <a:extLst xmlns:a="http://schemas.openxmlformats.org/drawingml/2006/main">
              <a:ext uri="{FF2B5EF4-FFF2-40B4-BE49-F238E27FC236}">
                <a16:creationId xmlns:a16="http://schemas.microsoft.com/office/drawing/2014/main" id="{F40E59A1-8945-4879-A093-1B479D1CF5B9}"/>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정성평가는 학생부의 한 항목을 수치로 바꾸는 데 그치지 않는다. 지원자가 어떤 과목을 선택하고 어떻게 학습했는지, 학교생활을 얼마나 충실하게 수행했는지를 대학이 제시한 기준에 따라 평가한다.</a:t>
            </a:r>
          </a:p>
        </p:txBody>
      </p:sp>
      <p:sp>
        <p:nvSpPr>
          <p:cNvPr id="6" name="">
            <a:extLst xmlns:a="http://schemas.openxmlformats.org/drawingml/2006/main">
              <a:ext uri="{FF2B5EF4-FFF2-40B4-BE49-F238E27FC236}">
                <a16:creationId xmlns:a16="http://schemas.microsoft.com/office/drawing/2014/main" id="{44A374BD-1AEF-40D9-8580-661230EAF607}"/>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다만 평가 대상이 모든 대학에서 동일하지는 않다. 교과학습발달상황을 중심으로 보는지, 출결과 행동특성까지 포함하는지 구분해야 한다. 반영비율만 비교하면 실제 평가의 차이를 놓칠 수 있다.</a:t>
            </a:r>
          </a:p>
        </p:txBody>
      </p:sp>
      <p:sp>
        <p:nvSpPr>
          <p:cNvPr id="7" name="">
            <a:extLst xmlns:a="http://schemas.openxmlformats.org/drawingml/2006/main">
              <a:ext uri="{FF2B5EF4-FFF2-40B4-BE49-F238E27FC236}">
                <a16:creationId xmlns:a16="http://schemas.microsoft.com/office/drawing/2014/main" id="{EEAC00CB-DF0B-4C7F-82B8-829A96D540A1}"/>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인천 18~20쪽 / 서울 PDF 17~20·36쪽</a:t>
            </a:r>
          </a:p>
        </p:txBody>
      </p:sp>
      <p:sp>
        <p:nvSpPr>
          <p:cNvPr id="8" name="">
            <a:extLst xmlns:a="http://schemas.openxmlformats.org/drawingml/2006/main">
              <a:ext uri="{FF2B5EF4-FFF2-40B4-BE49-F238E27FC236}">
                <a16:creationId xmlns:a16="http://schemas.microsoft.com/office/drawing/2014/main" id="{1FF0D7FB-8C1C-4E9C-A4F7-32DA10C1815C}"/>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17</a:t>
            </a:r>
          </a:p>
        </p:txBody>
      </p:sp>
    </p:spTree>
    <p:extLst>
      <p:ext uri="{BB962C8B-B14F-4D97-AF65-F5344CB8AC3E}">
        <p14:creationId xmlns:p14="http://schemas.microsoft.com/office/powerpoint/2010/main" val="6402722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79CCE1-7194-444A-A973-6777DC757A24}"/>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06 학생부 정성평가</a:t>
            </a:r>
          </a:p>
        </p:txBody>
      </p:sp>
      <p:sp>
        <p:nvSpPr>
          <p:cNvPr id="2" name="">
            <a:extLst xmlns:a="http://schemas.openxmlformats.org/drawingml/2006/main">
              <a:ext uri="{FF2B5EF4-FFF2-40B4-BE49-F238E27FC236}">
                <a16:creationId xmlns:a16="http://schemas.microsoft.com/office/drawing/2014/main" id="{F66D3A52-B18E-4FCC-92A6-A8CBF64594DF}"/>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서류 반영 비율이 같아도 내용은 다르다</a:t>
            </a:r>
          </a:p>
        </p:txBody>
      </p:sp>
      <p:graphicFrame>
        <p:nvGraphicFramePr>
          <p:cNvPr id="3" name="">
            <a:extLst xmlns:a="http://schemas.openxmlformats.org/drawingml/2006/main">
              <a:ext uri="{FF2B5EF4-FFF2-40B4-BE49-F238E27FC236}">
                <a16:creationId xmlns:a16="http://schemas.microsoft.com/office/drawing/2014/main" id="{4EA8E8C7-D99D-4285-99F5-FCFC109B38E7}"/>
              </a:ext>
            </a:extLst>
          </p:cNvPr>
          <p:cNvGraphicFramePr/>
          <p:nvPr/>
        </p:nvGraphicFramePr>
        <p:xfrm>
          <a:off xmlns:a="http://schemas.openxmlformats.org/drawingml/2006/main" x="314325" y="1362075"/>
          <a:ext xmlns:a="http://schemas.openxmlformats.org/drawingml/2006/main" cx="7953375" cy="2152650"/>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대학·전형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반영 구조</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적용 범위와 특징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중앙대 수능67</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67+서류 33</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성장 가능성 종합평가+수능최저</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이화여대 수능-학생부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85+서류 15</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교과·비교과, 학업준비도·성실성 등</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숙명여대 일반학생 가군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80+서류 20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인문·자연, 교과 위주 서류평가</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성균관대 정시 융합인재</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학생부 100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사범대 일부 40명, 수능최저 적용</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6593DACC-D000-409C-80C9-A0B709625413}"/>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중앙대 수능67은 수능 등급을 전형점수로 활용하면서 서류평가와 수능최저학력기준을 함께 적용한다. 성균관대 정시 융합인재는 학생부 100%로 선발하되 수능최저를 충족해야 하므로, 일반적인 수능 100% 전형과는 구조가 다르다.</a:t>
            </a:r>
          </a:p>
        </p:txBody>
      </p:sp>
      <p:sp>
        <p:nvSpPr>
          <p:cNvPr id="5" name="">
            <a:extLst xmlns:a="http://schemas.openxmlformats.org/drawingml/2006/main">
              <a:ext uri="{FF2B5EF4-FFF2-40B4-BE49-F238E27FC236}">
                <a16:creationId xmlns:a16="http://schemas.microsoft.com/office/drawing/2014/main" id="{E3C5DB6C-B39E-4EAF-996E-C3A14EE33D7B}"/>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숙명여대는 모집군별 적용 범위에 특히 주의해야 한다. 가군 인문·자연의 서류 20%를 나·다군 수능 100% 모집단위에까지 확대해서 해석해서는 안 된다. 이화여대 역시 수능전형과 수능-학생부전형을 구분해야 한다.</a:t>
            </a:r>
          </a:p>
        </p:txBody>
      </p:sp>
      <p:sp>
        <p:nvSpPr>
          <p:cNvPr id="6" name="">
            <a:extLst xmlns:a="http://schemas.openxmlformats.org/drawingml/2006/main">
              <a:ext uri="{FF2B5EF4-FFF2-40B4-BE49-F238E27FC236}">
                <a16:creationId xmlns:a16="http://schemas.microsoft.com/office/drawing/2014/main" id="{684455A8-6873-4214-A09D-92BD681425F8}"/>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중앙 PDF 32쪽 / 이화 PDF 15~16쪽</a:t>
            </a:r>
          </a:p>
        </p:txBody>
      </p:sp>
      <p:sp>
        <p:nvSpPr>
          <p:cNvPr id="7" name="">
            <a:extLst xmlns:a="http://schemas.openxmlformats.org/drawingml/2006/main">
              <a:ext uri="{FF2B5EF4-FFF2-40B4-BE49-F238E27FC236}">
                <a16:creationId xmlns:a16="http://schemas.microsoft.com/office/drawing/2014/main" id="{0BFD62B7-6A79-41FA-A34A-AAFE6D7032AB}"/>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18</a:t>
            </a:r>
          </a:p>
        </p:txBody>
      </p:sp>
    </p:spTree>
    <p:extLst>
      <p:ext uri="{BB962C8B-B14F-4D97-AF65-F5344CB8AC3E}">
        <p14:creationId xmlns:p14="http://schemas.microsoft.com/office/powerpoint/2010/main" val="4764836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9B876A-67BE-415A-8D10-36992CDEC2B1}"/>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06 학생부 정성평가</a:t>
            </a:r>
          </a:p>
        </p:txBody>
      </p:sp>
      <p:sp>
        <p:nvSpPr>
          <p:cNvPr id="2" name="">
            <a:extLst xmlns:a="http://schemas.openxmlformats.org/drawingml/2006/main">
              <a:ext uri="{FF2B5EF4-FFF2-40B4-BE49-F238E27FC236}">
                <a16:creationId xmlns:a16="http://schemas.microsoft.com/office/drawing/2014/main" id="{AECB4F69-587B-4FA6-B4C1-B44F0C359276}"/>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일부 모집단위에만 적용되는 정성평가도 있다</a:t>
            </a:r>
          </a:p>
        </p:txBody>
      </p:sp>
      <p:graphicFrame>
        <p:nvGraphicFramePr>
          <p:cNvPr id="3" name="">
            <a:extLst xmlns:a="http://schemas.openxmlformats.org/drawingml/2006/main">
              <a:ext uri="{FF2B5EF4-FFF2-40B4-BE49-F238E27FC236}">
                <a16:creationId xmlns:a16="http://schemas.microsoft.com/office/drawing/2014/main" id="{20E8458C-E7DC-4218-AF14-2723E924AF57}"/>
              </a:ext>
            </a:extLst>
          </p:cNvPr>
          <p:cNvGraphicFramePr/>
          <p:nvPr/>
        </p:nvGraphicFramePr>
        <p:xfrm>
          <a:off xmlns:a="http://schemas.openxmlformats.org/drawingml/2006/main" x="314325" y="1362075"/>
          <a:ext xmlns:a="http://schemas.openxmlformats.org/drawingml/2006/main" cx="7953375" cy="2269236"/>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대학·전형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반영 구조</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적용 범위·특징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건국대 KU일반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90+교과정성 10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다군 단과대학 자유전공학부</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단국대 일반학생</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90+학생부정성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일반 인문·자연, 진로적합성·성실성 등</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세종대 융합형</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90+교과정성 10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수능형 100%와 별도 유형</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부산대 수능우수·수능지역</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80+학업충실도 20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교과 이수노력·성취·학교생활 성실도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4994DCA7-9C66-454C-B42F-16F70EDBC15B}"/>
              </a:ext>
            </a:extLst>
          </p:cNvPr>
          <p:cNvSpPr>
            <a:spLocks xmlns:a="http://schemas.openxmlformats.org/drawingml/2006/main" noGrp="1"/>
          </p:cNvSpPr>
          <p:nvPr/>
        </p:nvSpPr>
        <p:spPr>
          <a:xfrm xmlns:a="http://schemas.openxmlformats.org/drawingml/2006/main">
            <a:off x="314325" y="3726561"/>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원고의 “자유전공”은 KU자유전공학부와 단과대학 자유전공학부를 구분하여 사용.</a:t>
            </a:r>
          </a:p>
        </p:txBody>
      </p:sp>
      <p:sp>
        <p:nvSpPr>
          <p:cNvPr id="5" name="">
            <a:extLst xmlns:a="http://schemas.openxmlformats.org/drawingml/2006/main">
              <a:ext uri="{FF2B5EF4-FFF2-40B4-BE49-F238E27FC236}">
                <a16:creationId xmlns:a16="http://schemas.microsoft.com/office/drawing/2014/main" id="{87386764-58AA-4AE4-8C49-737B61E5BA5E}"/>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건국대는 대학 전체의 KU일반을 90+10으로 묶어 설명하면 오류가 생긴다. 교과정성 10%는 다군 단과대학 자유전공학부에 적용되며, 가·나군의 학과·학부와 다른 자유전공 모집단위는 해당 시행계획의 구분을 따라야 한다.</a:t>
            </a:r>
          </a:p>
        </p:txBody>
      </p:sp>
      <p:sp>
        <p:nvSpPr>
          <p:cNvPr id="6" name="">
            <a:extLst xmlns:a="http://schemas.openxmlformats.org/drawingml/2006/main">
              <a:ext uri="{FF2B5EF4-FFF2-40B4-BE49-F238E27FC236}">
                <a16:creationId xmlns:a16="http://schemas.microsoft.com/office/drawing/2014/main" id="{9CA0D1CE-D598-49FB-82F2-137AE02D348B}"/>
              </a:ext>
            </a:extLst>
          </p:cNvPr>
          <p:cNvSpPr>
            <a:spLocks xmlns:a="http://schemas.openxmlformats.org/drawingml/2006/main" noGrp="1"/>
          </p:cNvSpPr>
          <p:nvPr/>
        </p:nvSpPr>
        <p:spPr>
          <a:xfrm xmlns:a="http://schemas.openxmlformats.org/drawingml/2006/main">
            <a:off x="314325" y="5829071"/>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세종대는 수능형과 융합형을 나누어 비교하고, 단국대와 부산대는 예체능·군사 등 별도 평가방법이 있는 모집단위를 분리해야 한다. 일부 적용 사례를 대학 전체의 특성으로 일반화하지 않는 것이 정확한 집필의 출발점이다.</a:t>
            </a:r>
          </a:p>
        </p:txBody>
      </p:sp>
      <p:sp>
        <p:nvSpPr>
          <p:cNvPr id="7" name="">
            <a:extLst xmlns:a="http://schemas.openxmlformats.org/drawingml/2006/main">
              <a:ext uri="{FF2B5EF4-FFF2-40B4-BE49-F238E27FC236}">
                <a16:creationId xmlns:a16="http://schemas.microsoft.com/office/drawing/2014/main" id="{C073690B-602B-4652-90F9-FC294D17ACF3}"/>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건국 PDF 36쪽 / 단국 PDF 25·35쪽</a:t>
            </a:r>
          </a:p>
        </p:txBody>
      </p:sp>
      <p:sp>
        <p:nvSpPr>
          <p:cNvPr id="8" name="">
            <a:extLst xmlns:a="http://schemas.openxmlformats.org/drawingml/2006/main">
              <a:ext uri="{FF2B5EF4-FFF2-40B4-BE49-F238E27FC236}">
                <a16:creationId xmlns:a16="http://schemas.microsoft.com/office/drawing/2014/main" id="{260443BE-A3A1-46C5-8200-0A426B40E1EA}"/>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19</a:t>
            </a:r>
          </a:p>
        </p:txBody>
      </p:sp>
    </p:spTree>
    <p:extLst>
      <p:ext uri="{BB962C8B-B14F-4D97-AF65-F5344CB8AC3E}">
        <p14:creationId xmlns:p14="http://schemas.microsoft.com/office/powerpoint/2010/main" val="13887725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F257F0-0FF0-4FDC-BF97-1DD3CB9CFE39}"/>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07 학생부 정량평가</a:t>
            </a:r>
          </a:p>
        </p:txBody>
      </p:sp>
      <p:sp>
        <p:nvSpPr>
          <p:cNvPr id="2" name="">
            <a:extLst xmlns:a="http://schemas.openxmlformats.org/drawingml/2006/main">
              <a:ext uri="{FF2B5EF4-FFF2-40B4-BE49-F238E27FC236}">
                <a16:creationId xmlns:a16="http://schemas.microsoft.com/office/drawing/2014/main" id="{7CEF49E4-059D-41D0-A762-362F38C787E2}"/>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정량평가는 반영 과목과 환산표를 확인한다</a:t>
            </a:r>
          </a:p>
        </p:txBody>
      </p:sp>
      <p:graphicFrame>
        <p:nvGraphicFramePr>
          <p:cNvPr id="3" name="">
            <a:extLst xmlns:a="http://schemas.openxmlformats.org/drawingml/2006/main">
              <a:ext uri="{FF2B5EF4-FFF2-40B4-BE49-F238E27FC236}">
                <a16:creationId xmlns:a16="http://schemas.microsoft.com/office/drawing/2014/main" id="{A186615B-CE3B-4512-A7CF-26250650216B}"/>
              </a:ext>
            </a:extLst>
          </p:cNvPr>
          <p:cNvGraphicFramePr/>
          <p:nvPr/>
        </p:nvGraphicFramePr>
        <p:xfrm>
          <a:off xmlns:a="http://schemas.openxmlformats.org/drawingml/2006/main" x="314325" y="1362075"/>
          <a:ext xmlns:a="http://schemas.openxmlformats.org/drawingml/2006/main" cx="7953375" cy="2152650"/>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대학·전형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반영 구조</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정량 반영 특징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고려대 교과우수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80+교과 20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6학기 전 교과, 등급·성취도 활용</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서강대 지역균형</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80+교과 10+출결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성적 상위 12과목, 출결 별도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서울시립대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80+교과 18+출결 2</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전 학년 전 교과의 반영 대상 과목</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홍익대 다군 인문·자연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90+교과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성취도 환산, 교과 이수학점 가중</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ABF39297-CA27-4C3F-A05A-11693D2E987B}"/>
              </a:ext>
            </a:extLst>
          </p:cNvPr>
          <p:cNvSpPr>
            <a:spLocks xmlns:a="http://schemas.openxmlformats.org/drawingml/2006/main" noGrp="1"/>
          </p:cNvSpPr>
          <p:nvPr/>
        </p:nvSpPr>
        <p:spPr>
          <a:xfrm xmlns:a="http://schemas.openxmlformats.org/drawingml/2006/main">
            <a:off x="314325" y="360997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홍익대는 다군 인문·자연 기준. 미술계열 단계별 전형과 구분.</a:t>
            </a:r>
          </a:p>
        </p:txBody>
      </p:sp>
      <p:sp>
        <p:nvSpPr>
          <p:cNvPr id="5" name="">
            <a:extLst xmlns:a="http://schemas.openxmlformats.org/drawingml/2006/main">
              <a:ext uri="{FF2B5EF4-FFF2-40B4-BE49-F238E27FC236}">
                <a16:creationId xmlns:a16="http://schemas.microsoft.com/office/drawing/2014/main" id="{15911834-813C-4BBB-9FF8-30E938A6FDC4}"/>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정량평가에서는 대학의 반영 대상 과목과 성적 산출식이 핵심이다. 전 과목을 반영하는 대학과 상위 과목을 골라 반영하는 대학은 같은 내신 평균을 사용하더라도 결과가 달라질 수 있다.</a:t>
            </a:r>
          </a:p>
        </p:txBody>
      </p:sp>
      <p:sp>
        <p:nvSpPr>
          <p:cNvPr id="6" name="">
            <a:extLst xmlns:a="http://schemas.openxmlformats.org/drawingml/2006/main">
              <a:ext uri="{FF2B5EF4-FFF2-40B4-BE49-F238E27FC236}">
                <a16:creationId xmlns:a16="http://schemas.microsoft.com/office/drawing/2014/main" id="{356277EF-73F5-441B-B2FC-76D87B71E30F}"/>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석차등급과 성취도를 어떻게 연결하는지, 이수학점을 가중하는지, 출결을 별도 점수로 반영하는지를 확인해야 한다. 대학별 환산점수를 계산하지 않고 학생부 반영비율만으로 유불리를 단정하기는 어렵다.</a:t>
            </a:r>
          </a:p>
        </p:txBody>
      </p:sp>
      <p:sp>
        <p:nvSpPr>
          <p:cNvPr id="7" name="">
            <a:extLst xmlns:a="http://schemas.openxmlformats.org/drawingml/2006/main">
              <a:ext uri="{FF2B5EF4-FFF2-40B4-BE49-F238E27FC236}">
                <a16:creationId xmlns:a16="http://schemas.microsoft.com/office/drawing/2014/main" id="{F73576FF-D3E6-4642-8DD3-710991472255}"/>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인천 18~20쪽 / 고려 PDF 26쪽</a:t>
            </a:r>
          </a:p>
        </p:txBody>
      </p:sp>
      <p:sp>
        <p:nvSpPr>
          <p:cNvPr id="8" name="">
            <a:extLst xmlns:a="http://schemas.openxmlformats.org/drawingml/2006/main">
              <a:ext uri="{FF2B5EF4-FFF2-40B4-BE49-F238E27FC236}">
                <a16:creationId xmlns:a16="http://schemas.microsoft.com/office/drawing/2014/main" id="{F5C21DA3-4060-4271-90A3-E6A31C26027A}"/>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20</a:t>
            </a:r>
          </a:p>
        </p:txBody>
      </p:sp>
    </p:spTree>
    <p:extLst>
      <p:ext uri="{BB962C8B-B14F-4D97-AF65-F5344CB8AC3E}">
        <p14:creationId xmlns:p14="http://schemas.microsoft.com/office/powerpoint/2010/main" val="11298703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A4282E-3081-4E41-9340-4B2D2EF33651}"/>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07 학생부 정량평가</a:t>
            </a:r>
          </a:p>
        </p:txBody>
      </p:sp>
      <p:sp>
        <p:nvSpPr>
          <p:cNvPr id="2" name="">
            <a:extLst xmlns:a="http://schemas.openxmlformats.org/drawingml/2006/main">
              <a:ext uri="{FF2B5EF4-FFF2-40B4-BE49-F238E27FC236}">
                <a16:creationId xmlns:a16="http://schemas.microsoft.com/office/drawing/2014/main" id="{85955045-A0B1-4DD9-9A94-4E8CA7375EBD}"/>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교과 반영과 출결 반영은 다른 요소다</a:t>
            </a:r>
          </a:p>
        </p:txBody>
      </p:sp>
      <p:graphicFrame>
        <p:nvGraphicFramePr>
          <p:cNvPr id="3" name="">
            <a:extLst xmlns:a="http://schemas.openxmlformats.org/drawingml/2006/main">
              <a:ext uri="{FF2B5EF4-FFF2-40B4-BE49-F238E27FC236}">
                <a16:creationId xmlns:a16="http://schemas.microsoft.com/office/drawing/2014/main" id="{BC6AE613-832B-4C10-B8D8-B3E78D14CEFA}"/>
              </a:ext>
            </a:extLst>
          </p:cNvPr>
          <p:cNvGraphicFramePr/>
          <p:nvPr/>
        </p:nvGraphicFramePr>
        <p:xfrm>
          <a:off xmlns:a="http://schemas.openxmlformats.org/drawingml/2006/main" x="314325" y="1362075"/>
          <a:ext xmlns:a="http://schemas.openxmlformats.org/drawingml/2006/main" cx="7953375" cy="2327529"/>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대학·전형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반영 방식</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읽어야 할 조건</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96443">
                <a:tc>
                  <a:txBody>
                    <a:bodyPr/>
                    <a:lstStyle/>
                    <a:p>
                      <a:pPr algn="l"/>
                      <a:r>
                        <a:rPr sz="1275" b="1">
                          <a:solidFill>
                            <a:srgbClr val="111111"/>
                          </a:solidFill>
                          <a:latin typeface="맑은 고딕"/>
                          <a:ea typeface="맑은 고딕"/>
                          <a:cs typeface="맑은 고딕"/>
                        </a:rPr>
                        <a:t>경희대 수능·학생부형</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90+교과 5+출결 2.5+봉사 2.5</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수능형 100과 구분, 자연 이수 가산 별도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경북대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90+교과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정시 교과 반영과 수시 교과이수충실도 구분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충남대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실질비율 수능 80+교과 15+출결 5</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교과·출결의 기본점수와 실질비율 확인</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중앙대 수능89</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89+출결 11</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교과등급 정량평가가 아닌 출결 반영</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86718557-B8D4-4E8A-A4D3-38995A910DD1}"/>
              </a:ext>
            </a:extLst>
          </p:cNvPr>
          <p:cNvSpPr>
            <a:spLocks xmlns:a="http://schemas.openxmlformats.org/drawingml/2006/main" noGrp="1"/>
          </p:cNvSpPr>
          <p:nvPr/>
        </p:nvSpPr>
        <p:spPr>
          <a:xfrm xmlns:a="http://schemas.openxmlformats.org/drawingml/2006/main">
            <a:off x="314325" y="3784854"/>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충남대 전형 배점 수능 300·교과 100·출결 100, 시행계획에 실질반영비율 별도 표기.</a:t>
            </a:r>
          </a:p>
        </p:txBody>
      </p:sp>
      <p:sp>
        <p:nvSpPr>
          <p:cNvPr id="5" name="">
            <a:extLst xmlns:a="http://schemas.openxmlformats.org/drawingml/2006/main">
              <a:ext uri="{FF2B5EF4-FFF2-40B4-BE49-F238E27FC236}">
                <a16:creationId xmlns:a16="http://schemas.microsoft.com/office/drawing/2014/main" id="{14DB70F1-4261-414D-B96E-CFE8B5A0A14B}"/>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학생부를 반영하는 대학을 모두 내신등급 반영 대학으로 묶어서는 안 된다. 중앙대 수능89는 출결을 반영하며, 경희대 수능·학생부형은 교과·출결·봉사를 나누어 적용한다. 무엇을 평가하는지부터 구분해야 한다.</a:t>
            </a:r>
          </a:p>
        </p:txBody>
      </p:sp>
      <p:sp>
        <p:nvSpPr>
          <p:cNvPr id="6" name="">
            <a:extLst xmlns:a="http://schemas.openxmlformats.org/drawingml/2006/main">
              <a:ext uri="{FF2B5EF4-FFF2-40B4-BE49-F238E27FC236}">
                <a16:creationId xmlns:a16="http://schemas.microsoft.com/office/drawing/2014/main" id="{F11B5C2D-7913-4675-8662-9E778D6F6B03}"/>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충남대는 명목 배점과 실질반영비율이 다르다. 시행계획의 80·15·5를 사용할 때에는 반드시 실질반영비율이라고 밝혀야 한다. 경북대도 수시의 교과이수충실도 평가를 정시 교과 10%에 그대로 대입해서는 안 된다.</a:t>
            </a:r>
          </a:p>
        </p:txBody>
      </p:sp>
      <p:sp>
        <p:nvSpPr>
          <p:cNvPr id="7" name="">
            <a:extLst xmlns:a="http://schemas.openxmlformats.org/drawingml/2006/main">
              <a:ext uri="{FF2B5EF4-FFF2-40B4-BE49-F238E27FC236}">
                <a16:creationId xmlns:a16="http://schemas.microsoft.com/office/drawing/2014/main" id="{3C676ADA-CA5A-4664-AAC3-460C846BCAFE}"/>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131·123·265쪽 / 중앙 PDF 30쪽</a:t>
            </a:r>
          </a:p>
        </p:txBody>
      </p:sp>
      <p:sp>
        <p:nvSpPr>
          <p:cNvPr id="8" name="">
            <a:extLst xmlns:a="http://schemas.openxmlformats.org/drawingml/2006/main">
              <a:ext uri="{FF2B5EF4-FFF2-40B4-BE49-F238E27FC236}">
                <a16:creationId xmlns:a16="http://schemas.microsoft.com/office/drawing/2014/main" id="{8BD35ADE-7222-41AA-A940-786D2FAA65F2}"/>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21</a:t>
            </a:r>
          </a:p>
        </p:txBody>
      </p:sp>
    </p:spTree>
    <p:extLst>
      <p:ext uri="{BB962C8B-B14F-4D97-AF65-F5344CB8AC3E}">
        <p14:creationId xmlns:p14="http://schemas.microsoft.com/office/powerpoint/2010/main" val="19803921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A1A5F6-503C-4474-8BE5-210D12C15F1B}"/>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08 수능 반영지표</a:t>
            </a:r>
          </a:p>
        </p:txBody>
      </p:sp>
      <p:sp>
        <p:nvSpPr>
          <p:cNvPr id="2" name="">
            <a:extLst xmlns:a="http://schemas.openxmlformats.org/drawingml/2006/main">
              <a:ext uri="{FF2B5EF4-FFF2-40B4-BE49-F238E27FC236}">
                <a16:creationId xmlns:a16="http://schemas.microsoft.com/office/drawing/2014/main" id="{D9E9ABE7-41B5-4981-B8FD-60B1CBACE171}"/>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표준점수·백분위·등급은 서로 다른 지표다</a:t>
            </a:r>
          </a:p>
        </p:txBody>
      </p:sp>
      <p:graphicFrame>
        <p:nvGraphicFramePr>
          <p:cNvPr id="3" name="">
            <a:extLst xmlns:a="http://schemas.openxmlformats.org/drawingml/2006/main">
              <a:ext uri="{FF2B5EF4-FFF2-40B4-BE49-F238E27FC236}">
                <a16:creationId xmlns:a16="http://schemas.microsoft.com/office/drawing/2014/main" id="{7BF6E514-6028-403F-92DB-F0903AACA55F}"/>
              </a:ext>
            </a:extLst>
          </p:cNvPr>
          <p:cNvGraphicFramePr/>
          <p:nvPr/>
        </p:nvGraphicFramePr>
        <p:xfrm>
          <a:off xmlns:a="http://schemas.openxmlformats.org/drawingml/2006/main" x="314325" y="1362075"/>
          <a:ext xmlns:a="http://schemas.openxmlformats.org/drawingml/2006/main" cx="7953375" cy="2210943"/>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활용지표</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확인 사례</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해석의 핵심</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표준점수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경북대·세종대·인하대 등</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대학별 영역 가중치·영어 환산 별도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백분위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단국대(죽전)·전북대·제주대 등</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대학별 영역 반영비율·가산점 별도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등급</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서울대 일반 1단계, 중앙대 수능67</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등급을 전형점수로 활용하는 방식 확인</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혼합·자체변환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한양대(서울)·성균관대 등</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영역별로 사용하는 원자료가 다름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AF385E54-5F69-4837-BFD7-0648AF81FB38}"/>
              </a:ext>
            </a:extLst>
          </p:cNvPr>
          <p:cNvSpPr>
            <a:spLocks xmlns:a="http://schemas.openxmlformats.org/drawingml/2006/main" noGrp="1"/>
          </p:cNvSpPr>
          <p:nvPr/>
        </p:nvSpPr>
        <p:spPr>
          <a:xfrm xmlns:a="http://schemas.openxmlformats.org/drawingml/2006/main">
            <a:off x="314325" y="3668268"/>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영어·한국사 처리까지 모든 영역이 동일한 지표를 사용한다는 뜻은 아님.</a:t>
            </a:r>
          </a:p>
        </p:txBody>
      </p:sp>
      <p:sp>
        <p:nvSpPr>
          <p:cNvPr id="5" name="">
            <a:extLst xmlns:a="http://schemas.openxmlformats.org/drawingml/2006/main">
              <a:ext uri="{FF2B5EF4-FFF2-40B4-BE49-F238E27FC236}">
                <a16:creationId xmlns:a16="http://schemas.microsoft.com/office/drawing/2014/main" id="{85D41DC0-37A3-4DDD-A040-B073915E6A1D}"/>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수능 활용지표는 단순한 표기의 차이가 아니다. 같은 성적표라도 표준점수와 백분위 중 무엇을 사용하는지에 따라 대학별 환산 결과가 달라진다. 영어·한국사는 등급을 별도 환산하거나 가감점으로 적용하는 경우가 많다.</a:t>
            </a:r>
          </a:p>
        </p:txBody>
      </p:sp>
      <p:sp>
        <p:nvSpPr>
          <p:cNvPr id="6" name="">
            <a:extLst xmlns:a="http://schemas.openxmlformats.org/drawingml/2006/main">
              <a:ext uri="{FF2B5EF4-FFF2-40B4-BE49-F238E27FC236}">
                <a16:creationId xmlns:a16="http://schemas.microsoft.com/office/drawing/2014/main" id="{B0E8461B-1D7D-4F04-812F-6667DF6529F6}"/>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‘혼합’이나 ‘표준점수’라는 요약 표기만으로 세부 계산을 끝내서는 안 된다. 국어·수학·탐구의 원자료와 대학 자체 변환 여부를 나누어 확인해야 하며, 확정되지 않은 변환점수는 임의로 산출해서는 안 된다.</a:t>
            </a:r>
          </a:p>
        </p:txBody>
      </p:sp>
      <p:sp>
        <p:nvSpPr>
          <p:cNvPr id="7" name="">
            <a:extLst xmlns:a="http://schemas.openxmlformats.org/drawingml/2006/main">
              <a:ext uri="{FF2B5EF4-FFF2-40B4-BE49-F238E27FC236}">
                <a16:creationId xmlns:a16="http://schemas.microsoft.com/office/drawing/2014/main" id="{4F15B668-BCEE-45FF-810A-C28226694CAA}"/>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인천 18~20쪽 / SEN 109·124·250·253·258·299쪽</a:t>
            </a:r>
          </a:p>
        </p:txBody>
      </p:sp>
      <p:sp>
        <p:nvSpPr>
          <p:cNvPr id="8" name="">
            <a:extLst xmlns:a="http://schemas.openxmlformats.org/drawingml/2006/main">
              <a:ext uri="{FF2B5EF4-FFF2-40B4-BE49-F238E27FC236}">
                <a16:creationId xmlns:a16="http://schemas.microsoft.com/office/drawing/2014/main" id="{132D5B5B-D706-45E8-983C-E14040A0D204}"/>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22</a:t>
            </a:r>
          </a:p>
        </p:txBody>
      </p:sp>
    </p:spTree>
    <p:extLst>
      <p:ext uri="{BB962C8B-B14F-4D97-AF65-F5344CB8AC3E}">
        <p14:creationId xmlns:p14="http://schemas.microsoft.com/office/powerpoint/2010/main" val="78233733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DD58F5-BED2-4307-B1EA-3AD65188AB81}"/>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08 수능 반영지표</a:t>
            </a:r>
          </a:p>
        </p:txBody>
      </p:sp>
      <p:sp>
        <p:nvSpPr>
          <p:cNvPr id="2" name="">
            <a:extLst xmlns:a="http://schemas.openxmlformats.org/drawingml/2006/main">
              <a:ext uri="{FF2B5EF4-FFF2-40B4-BE49-F238E27FC236}">
                <a16:creationId xmlns:a16="http://schemas.microsoft.com/office/drawing/2014/main" id="{6A0C2AC7-20EB-438A-939F-CE62F30C5ACF}"/>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같은 대학에서도 전형별 활용지표가 다르다</a:t>
            </a:r>
          </a:p>
        </p:txBody>
      </p:sp>
      <p:graphicFrame>
        <p:nvGraphicFramePr>
          <p:cNvPr id="3" name="">
            <a:extLst xmlns:a="http://schemas.openxmlformats.org/drawingml/2006/main">
              <a:ext uri="{FF2B5EF4-FFF2-40B4-BE49-F238E27FC236}">
                <a16:creationId xmlns:a16="http://schemas.microsoft.com/office/drawing/2014/main" id="{419ADBA3-2CF0-4651-AD96-8F4B01743ACD}"/>
              </a:ext>
            </a:extLst>
          </p:cNvPr>
          <p:cNvGraphicFramePr/>
          <p:nvPr/>
        </p:nvGraphicFramePr>
        <p:xfrm>
          <a:off xmlns:a="http://schemas.openxmlformats.org/drawingml/2006/main" x="314325" y="1362075"/>
          <a:ext xmlns:a="http://schemas.openxmlformats.org/drawingml/2006/main" cx="7953375" cy="2649093"/>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전형·단계</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활용지표의 차이</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가천대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일반1 / 일반2</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일반1 백분위 / 일반2 표준점수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고려대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일반 / 교과우수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일반 표준점수 / 교과우수 백분위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서강대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일반 / 지역균형</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일반 국·수 표준+탐구 변환 / 지역균형 백분위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서울대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일반 1단계 / 2단계</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1단계 등급 / 2단계 국·수·탐 백분위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중앙대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수능89 / 수능67</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수능89 표준·변환 / 수능67 등급</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B32AC16-CDA9-43AA-8AAC-063BEB9835F3}"/>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전형별 비교에서는 학생부 비율뿐 아니라 수능 성적의 산출 방식도 함께 바뀌는지 확인해야 한다. 고려대 일반과 교과우수, 서강대 일반과 지역균형은 수능 활용지표가 달라 단순히 학생부 점수만 더해 비교할 수 없다.</a:t>
            </a:r>
          </a:p>
        </p:txBody>
      </p:sp>
      <p:sp>
        <p:nvSpPr>
          <p:cNvPr id="5" name="">
            <a:extLst xmlns:a="http://schemas.openxmlformats.org/drawingml/2006/main">
              <a:ext uri="{FF2B5EF4-FFF2-40B4-BE49-F238E27FC236}">
                <a16:creationId xmlns:a16="http://schemas.microsoft.com/office/drawing/2014/main" id="{039E8C0D-69D5-461A-87F7-8AA7A5994B07}"/>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서울대는 단계별로 수능 지표 자체가 바뀐다. 1단계 통과 가능성과 2단계 최종 선발 가능성을 나누어 판단해야 한다. 중앙대 수능67도 수능최저 충족 여부와 등급의 전형점수 환산을 서로 구분해야 한다.</a:t>
            </a:r>
          </a:p>
        </p:txBody>
      </p:sp>
      <p:sp>
        <p:nvSpPr>
          <p:cNvPr id="6" name="">
            <a:extLst xmlns:a="http://schemas.openxmlformats.org/drawingml/2006/main">
              <a:ext uri="{FF2B5EF4-FFF2-40B4-BE49-F238E27FC236}">
                <a16:creationId xmlns:a16="http://schemas.microsoft.com/office/drawing/2014/main" id="{21BD1EAC-6332-493E-B4AC-1C7763ECB4BF}"/>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가천 시행계획 정시 반영방법 / 고려 PDF 4·24~26쪽</a:t>
            </a:r>
          </a:p>
        </p:txBody>
      </p:sp>
      <p:sp>
        <p:nvSpPr>
          <p:cNvPr id="7" name="">
            <a:extLst xmlns:a="http://schemas.openxmlformats.org/drawingml/2006/main">
              <a:ext uri="{FF2B5EF4-FFF2-40B4-BE49-F238E27FC236}">
                <a16:creationId xmlns:a16="http://schemas.microsoft.com/office/drawing/2014/main" id="{169613C4-52F5-4F38-B769-12A92F39B608}"/>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23</a:t>
            </a:r>
          </a:p>
        </p:txBody>
      </p:sp>
    </p:spTree>
    <p:extLst>
      <p:ext uri="{BB962C8B-B14F-4D97-AF65-F5344CB8AC3E}">
        <p14:creationId xmlns:p14="http://schemas.microsoft.com/office/powerpoint/2010/main" val="13093993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B66CD9-F0AE-4B3E-8914-5EC808BC4D7A}"/>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09 단계형 선발</a:t>
            </a:r>
          </a:p>
        </p:txBody>
      </p:sp>
      <p:sp>
        <p:nvSpPr>
          <p:cNvPr id="2" name="">
            <a:extLst xmlns:a="http://schemas.openxmlformats.org/drawingml/2006/main">
              <a:ext uri="{FF2B5EF4-FFF2-40B4-BE49-F238E27FC236}">
                <a16:creationId xmlns:a16="http://schemas.microsoft.com/office/drawing/2014/main" id="{EB23CEA0-C951-477B-BC25-FE4D81CD5D20}"/>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단계형은 1단계와 최종 선발을 따로 읽는다</a:t>
            </a:r>
          </a:p>
        </p:txBody>
      </p:sp>
      <p:graphicFrame>
        <p:nvGraphicFramePr>
          <p:cNvPr id="3" name="">
            <a:extLst xmlns:a="http://schemas.openxmlformats.org/drawingml/2006/main">
              <a:ext uri="{FF2B5EF4-FFF2-40B4-BE49-F238E27FC236}">
                <a16:creationId xmlns:a16="http://schemas.microsoft.com/office/drawing/2014/main" id="{412FF772-8193-42D9-A3A7-EAF0BE64818C}"/>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대학·모집단위</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1단계</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최종 선발 또는 후속 평가</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서울대 일반(대부분)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100, 3배수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60+교과역량 40</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서울대 의·수의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100, 3배수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60+교과역량 20+면접 20</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연세대 의예</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100, 2.5배수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85+서류 10+면접 5</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홍익대 서울 미술</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100, 3배수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1단계 60+서류 40</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아주대 의학 일반1</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일괄합산</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95+면접 5</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A3D08AD-90EE-4A55-9049-C481BE871769}"/>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예체능·군사·의학 특수 모집단위를 일반 인문·자연 전형에 일반화하지 않음.</a:t>
            </a:r>
          </a:p>
        </p:txBody>
      </p:sp>
      <p:sp>
        <p:nvSpPr>
          <p:cNvPr id="5" name="">
            <a:extLst xmlns:a="http://schemas.openxmlformats.org/drawingml/2006/main">
              <a:ext uri="{FF2B5EF4-FFF2-40B4-BE49-F238E27FC236}">
                <a16:creationId xmlns:a16="http://schemas.microsoft.com/office/drawing/2014/main" id="{5303B6C5-3CD5-4084-BA1A-0262761D608B}"/>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단계형 전형에서는 1단계 선발기준과 최종 합격기준이 다르다. 먼저 수능으로 일정 배수를 선발한 뒤 학생부·면접·실기 등을 합산하는 구조라면, 각 단계의 평가요소를 분리해서 읽어야 한다.</a:t>
            </a:r>
          </a:p>
        </p:txBody>
      </p:sp>
      <p:sp>
        <p:nvSpPr>
          <p:cNvPr id="6" name="">
            <a:extLst xmlns:a="http://schemas.openxmlformats.org/drawingml/2006/main">
              <a:ext uri="{FF2B5EF4-FFF2-40B4-BE49-F238E27FC236}">
                <a16:creationId xmlns:a16="http://schemas.microsoft.com/office/drawing/2014/main" id="{210AE021-BB99-4F44-809F-A6F1E6F2E6D4}"/>
              </a:ext>
            </a:extLst>
          </p:cNvPr>
          <p:cNvSpPr>
            <a:spLocks xmlns:a="http://schemas.openxmlformats.org/drawingml/2006/main" noGrp="1"/>
          </p:cNvSpPr>
          <p:nvPr/>
        </p:nvSpPr>
        <p:spPr>
          <a:xfrm xmlns:a="http://schemas.openxmlformats.org/drawingml/2006/main">
            <a:off x="314325" y="5629123"/>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면접이 있다는 이유만으로 단계형이라고 판단해서도 안 된다. 아주대 의학 일반1은 수능과 면접을 일괄합산한다. 고려대 의학 일반·교과우수의 적성·인성면접처럼 별도 배점 없이 활용하는 방식도 구분할 필요가 있다.</a:t>
            </a:r>
          </a:p>
        </p:txBody>
      </p:sp>
      <p:sp>
        <p:nvSpPr>
          <p:cNvPr id="7" name="">
            <a:extLst xmlns:a="http://schemas.openxmlformats.org/drawingml/2006/main">
              <a:ext uri="{FF2B5EF4-FFF2-40B4-BE49-F238E27FC236}">
                <a16:creationId xmlns:a16="http://schemas.microsoft.com/office/drawing/2014/main" id="{45904456-2228-4F80-8B7A-01E7DF1D098F}"/>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서울 PDF 17·20쪽 / 연세 PDF 24쪽</a:t>
            </a:r>
          </a:p>
        </p:txBody>
      </p:sp>
      <p:sp>
        <p:nvSpPr>
          <p:cNvPr id="8" name="">
            <a:extLst xmlns:a="http://schemas.openxmlformats.org/drawingml/2006/main">
              <a:ext uri="{FF2B5EF4-FFF2-40B4-BE49-F238E27FC236}">
                <a16:creationId xmlns:a16="http://schemas.microsoft.com/office/drawing/2014/main" id="{AD94EE27-A3B3-436B-8698-D46352052451}"/>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24</a:t>
            </a:r>
          </a:p>
        </p:txBody>
      </p:sp>
    </p:spTree>
    <p:extLst>
      <p:ext uri="{BB962C8B-B14F-4D97-AF65-F5344CB8AC3E}">
        <p14:creationId xmlns:p14="http://schemas.microsoft.com/office/powerpoint/2010/main" val="80890153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D6E865-10F0-4256-9DA7-56E8439D8227}"/>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10 탐구 반영방식</a:t>
            </a:r>
          </a:p>
        </p:txBody>
      </p:sp>
      <p:sp>
        <p:nvSpPr>
          <p:cNvPr id="2" name="">
            <a:extLst xmlns:a="http://schemas.openxmlformats.org/drawingml/2006/main">
              <a:ext uri="{FF2B5EF4-FFF2-40B4-BE49-F238E27FC236}">
                <a16:creationId xmlns:a16="http://schemas.microsoft.com/office/drawing/2014/main" id="{17EE10C2-777A-40CE-9316-DB1816E9E9A8}"/>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응시 과목 수와 반영 과목 수는 다르다</a:t>
            </a:r>
          </a:p>
        </p:txBody>
      </p:sp>
      <p:graphicFrame>
        <p:nvGraphicFramePr>
          <p:cNvPr id="3" name="">
            <a:extLst xmlns:a="http://schemas.openxmlformats.org/drawingml/2006/main">
              <a:ext uri="{FF2B5EF4-FFF2-40B4-BE49-F238E27FC236}">
                <a16:creationId xmlns:a16="http://schemas.microsoft.com/office/drawing/2014/main" id="{3278AC71-DD4B-4DAD-A5B9-C0DFD1F24EC3}"/>
              </a:ext>
            </a:extLst>
          </p:cNvPr>
          <p:cNvGraphicFramePr/>
          <p:nvPr/>
        </p:nvGraphicFramePr>
        <p:xfrm>
          <a:off xmlns:a="http://schemas.openxmlformats.org/drawingml/2006/main" x="314325" y="1362075"/>
          <a:ext xmlns:a="http://schemas.openxmlformats.org/drawingml/2006/main" cx="7953375" cy="2327529"/>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구분</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의미</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확인 사례</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두 과목 응시</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통합사회·통합과학의 응시 조건</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반드시 대학별 필수 응시영역 확인</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상위 1과목 반영</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두 점수 중 지정 기준에 따라 하나 활용</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국민대·한국외대·한국항공대 등</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두 과목 고정 반영</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사회와 과학을 각각 정해진 비율로 반영</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광운대·숭실대·세종대 등</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두 과목 차등 반영</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상위 점수에 더 큰 가중치 적용</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성균관대 일부 70:30, 이화 수능 일부 20:10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A26FFF66-EC72-42A1-BB84-18EC7F452C96}"/>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탐구 1과목 반영은 수능에서 한 과목만 응시해도 된다는 뜻과 다르다. 수능 응시 체제와 대학이 성적을 계산하는 방식을 구분해야 한다. 대학별 필수 응시영역을 먼저 확인하고, 그다음 실제 반영 과목 수를 살펴야 한다.</a:t>
            </a:r>
          </a:p>
        </p:txBody>
      </p:sp>
      <p:sp>
        <p:nvSpPr>
          <p:cNvPr id="5" name="">
            <a:extLst xmlns:a="http://schemas.openxmlformats.org/drawingml/2006/main">
              <a:ext uri="{FF2B5EF4-FFF2-40B4-BE49-F238E27FC236}">
                <a16:creationId xmlns:a16="http://schemas.microsoft.com/office/drawing/2014/main" id="{E0273826-0817-470D-B92A-15FD61C176CF}"/>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두 과목을 반영하는 경우에도 단순 평균인지, 사회·과학을 고정 가중하는지, 높은 점수에 더 큰 비중을 주는지에 따라 결과가 달라진다. ‘탐구 2’라는 한 줄 표기로는 이 차이를 충분히 설명할 수 없다.</a:t>
            </a:r>
          </a:p>
        </p:txBody>
      </p:sp>
      <p:sp>
        <p:nvSpPr>
          <p:cNvPr id="6" name="">
            <a:extLst xmlns:a="http://schemas.openxmlformats.org/drawingml/2006/main">
              <a:ext uri="{FF2B5EF4-FFF2-40B4-BE49-F238E27FC236}">
                <a16:creationId xmlns:a16="http://schemas.microsoft.com/office/drawing/2014/main" id="{D9A2B2FC-1C8F-4161-93AF-45ECD24D751B}"/>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인천 18~20·24쪽 / 성균관 PDF 38쪽</a:t>
            </a:r>
          </a:p>
        </p:txBody>
      </p:sp>
      <p:sp>
        <p:nvSpPr>
          <p:cNvPr id="7" name="">
            <a:extLst xmlns:a="http://schemas.openxmlformats.org/drawingml/2006/main">
              <a:ext uri="{FF2B5EF4-FFF2-40B4-BE49-F238E27FC236}">
                <a16:creationId xmlns:a16="http://schemas.microsoft.com/office/drawing/2014/main" id="{55587692-16EB-4FCF-88A9-456A6F2D5C1A}"/>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25</a:t>
            </a:r>
          </a:p>
        </p:txBody>
      </p:sp>
    </p:spTree>
    <p:extLst>
      <p:ext uri="{BB962C8B-B14F-4D97-AF65-F5344CB8AC3E}">
        <p14:creationId xmlns:p14="http://schemas.microsoft.com/office/powerpoint/2010/main" val="183560707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AF13F4-60D2-401F-9175-CC8B5CD2FE01}"/>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10 탐구 반영방식</a:t>
            </a:r>
          </a:p>
        </p:txBody>
      </p:sp>
      <p:sp>
        <p:nvSpPr>
          <p:cNvPr id="2" name="">
            <a:extLst xmlns:a="http://schemas.openxmlformats.org/drawingml/2006/main">
              <a:ext uri="{FF2B5EF4-FFF2-40B4-BE49-F238E27FC236}">
                <a16:creationId xmlns:a16="http://schemas.microsoft.com/office/drawing/2014/main" id="{5E35720A-6E72-4759-9129-E20E614D8FB5}"/>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상위 1과목 반영 대학은 적용 범위를 확인한다</a:t>
            </a:r>
          </a:p>
        </p:txBody>
      </p:sp>
      <p:graphicFrame>
        <p:nvGraphicFramePr>
          <p:cNvPr id="3" name="">
            <a:extLst xmlns:a="http://schemas.openxmlformats.org/drawingml/2006/main">
              <a:ext uri="{FF2B5EF4-FFF2-40B4-BE49-F238E27FC236}">
                <a16:creationId xmlns:a16="http://schemas.microsoft.com/office/drawing/2014/main" id="{F538D673-EA19-452A-8C75-4B2A901A3C88}"/>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대학·범위</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반영 방식</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주의할 점</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건국대 일반 인문·자연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탐구 상위 1과목</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예체능의 별도 영역 선택과 구분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국민대 일반 인문·자연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탐구 상위 1과목</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국어·수학·영어 비율은 모집단위별</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한국외대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탐구 상위 1과목</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A·B 유형 중 유리한 환산점수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한국항공대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탐구 1과목</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공학적성 통합과학 가산점 확인</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경희대 인문·사회</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탐구 상위 1과목</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자연은 사회·과학을 각각 반영</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6CCA121-1C19-4153-9441-8A5FB55DA5FE}"/>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상위 1과목 반영은 탐구 두 점수의 차이가 큰 수험생에게 중요한 비교 항목이 된다. 다만 유리한 탐구 한 과목만으로 지원 유불리를 판단할 수는 없으며, 다른 영역의 가중치와 가산점까지 합친 환산점수를 비교해야 한다.</a:t>
            </a:r>
          </a:p>
        </p:txBody>
      </p:sp>
      <p:sp>
        <p:nvSpPr>
          <p:cNvPr id="5" name="">
            <a:extLst xmlns:a="http://schemas.openxmlformats.org/drawingml/2006/main">
              <a:ext uri="{FF2B5EF4-FFF2-40B4-BE49-F238E27FC236}">
                <a16:creationId xmlns:a16="http://schemas.microsoft.com/office/drawing/2014/main" id="{8E5DFD42-DAAB-4397-BA49-A525C184564E}"/>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특히 경희대는 인문·사회와 자연의 방식이 다르다. 건국대도 일반 인문·자연과 예체능을 같은 표기로 묶지 않아야 한다. 대학명 옆에 적용 계열과 전형 범위를 함께 적는 편이 정확하다.</a:t>
            </a:r>
          </a:p>
        </p:txBody>
      </p:sp>
      <p:sp>
        <p:nvSpPr>
          <p:cNvPr id="6" name="">
            <a:extLst xmlns:a="http://schemas.openxmlformats.org/drawingml/2006/main">
              <a:ext uri="{FF2B5EF4-FFF2-40B4-BE49-F238E27FC236}">
                <a16:creationId xmlns:a16="http://schemas.microsoft.com/office/drawing/2014/main" id="{F1F7CCD9-12B9-4753-BCE2-C05638312B20}"/>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114·132쪽 / 인천 18·20쪽</a:t>
            </a:r>
          </a:p>
        </p:txBody>
      </p:sp>
      <p:sp>
        <p:nvSpPr>
          <p:cNvPr id="7" name="">
            <a:extLst xmlns:a="http://schemas.openxmlformats.org/drawingml/2006/main">
              <a:ext uri="{FF2B5EF4-FFF2-40B4-BE49-F238E27FC236}">
                <a16:creationId xmlns:a16="http://schemas.microsoft.com/office/drawing/2014/main" id="{9EA45D3B-9FCA-431B-8F73-740CB29310EB}"/>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26</a:t>
            </a:r>
          </a:p>
        </p:txBody>
      </p:sp>
    </p:spTree>
    <p:extLst>
      <p:ext uri="{BB962C8B-B14F-4D97-AF65-F5344CB8AC3E}">
        <p14:creationId xmlns:p14="http://schemas.microsoft.com/office/powerpoint/2010/main" val="108012114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CD7217-8A2E-496A-B224-95C2A4F89485}"/>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10 탐구 반영방식</a:t>
            </a:r>
          </a:p>
        </p:txBody>
      </p:sp>
      <p:sp>
        <p:nvSpPr>
          <p:cNvPr id="2" name="">
            <a:extLst xmlns:a="http://schemas.openxmlformats.org/drawingml/2006/main">
              <a:ext uri="{FF2B5EF4-FFF2-40B4-BE49-F238E27FC236}">
                <a16:creationId xmlns:a16="http://schemas.microsoft.com/office/drawing/2014/main" id="{FE2BF078-E37E-413D-911F-510EBCDB0EC0}"/>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두 과목 반영도 가중 방식에 따라 달라진다</a:t>
            </a:r>
          </a:p>
        </p:txBody>
      </p:sp>
      <p:graphicFrame>
        <p:nvGraphicFramePr>
          <p:cNvPr id="3" name="">
            <a:extLst xmlns:a="http://schemas.openxmlformats.org/drawingml/2006/main">
              <a:ext uri="{FF2B5EF4-FFF2-40B4-BE49-F238E27FC236}">
                <a16:creationId xmlns:a16="http://schemas.microsoft.com/office/drawing/2014/main" id="{6FC65CFD-93D1-4796-84AB-0BA77D5FC9F0}"/>
              </a:ext>
            </a:extLst>
          </p:cNvPr>
          <p:cNvGraphicFramePr/>
          <p:nvPr/>
        </p:nvGraphicFramePr>
        <p:xfrm>
          <a:off xmlns:a="http://schemas.openxmlformats.org/drawingml/2006/main" x="314325" y="1362075"/>
          <a:ext xmlns:a="http://schemas.openxmlformats.org/drawingml/2006/main" cx="7953375" cy="2590800"/>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대학·전형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탐구 반영 예시</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해석</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성균관대 특화형</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2과목 변환점수 상위 순 70:30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두 점수의 단순 평균과 다름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이화여대 수능(가·나)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우수한 영역 순 20%, 10%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높은 탐구 점수의 비중이 더 큼</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이화여대 수능-학생부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사회 15%+과학 15%</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수능전형과 다른 탐구 구조</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서울대 일반 2단계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인문 예: 사회 50·과학 30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총점 비율이 아닌 상대 반영비율</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경희대 자연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사회 10%+과학 20%</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인문·사회의 상위 1과목과 구분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C9EA7E9-14B5-4B98-B128-7C952CF39F82}"/>
              </a:ext>
            </a:extLst>
          </p:cNvPr>
          <p:cNvSpPr>
            <a:spLocks xmlns:a="http://schemas.openxmlformats.org/drawingml/2006/main" noGrp="1"/>
          </p:cNvSpPr>
          <p:nvPr/>
        </p:nvSpPr>
        <p:spPr>
          <a:xfrm xmlns:a="http://schemas.openxmlformats.org/drawingml/2006/main">
            <a:off x="314325" y="404812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서울대의 상대비율은 모집단위군별로 다름. 이화 다군 일부 수능전형은 탐구 우수 1개 영역.</a:t>
            </a:r>
          </a:p>
        </p:txBody>
      </p:sp>
      <p:sp>
        <p:nvSpPr>
          <p:cNvPr id="5" name="">
            <a:extLst xmlns:a="http://schemas.openxmlformats.org/drawingml/2006/main">
              <a:ext uri="{FF2B5EF4-FFF2-40B4-BE49-F238E27FC236}">
                <a16:creationId xmlns:a16="http://schemas.microsoft.com/office/drawing/2014/main" id="{9271CEC7-2EA5-4C63-92F2-5E043BAAA1C5}"/>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탐구 두 과목을 반영한다는 공통점만으로 대학들을 같은 방식으로 분류해서는 안 된다. 성균관대의 상위 순 70:30, 이화여대의 우수 영역 순 반영, 사회·과학 고정 가중은 서로 다른 계산 방식이다.</a:t>
            </a:r>
          </a:p>
        </p:txBody>
      </p:sp>
      <p:sp>
        <p:nvSpPr>
          <p:cNvPr id="6" name="">
            <a:extLst xmlns:a="http://schemas.openxmlformats.org/drawingml/2006/main">
              <a:ext uri="{FF2B5EF4-FFF2-40B4-BE49-F238E27FC236}">
                <a16:creationId xmlns:a16="http://schemas.microsoft.com/office/drawing/2014/main" id="{95961AD8-358A-4B75-B0DA-397A92A71757}"/>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서울대의 국어 100·수학 120·사회 50·과학 30은 상대 반영비율이다. 이를 그대로 퍼센트로 적으면 오류가 된다. 표에 반영비율의 단위와 기준을 밝히면 독자가 계산의 의미를 오해하지 않는다.</a:t>
            </a:r>
          </a:p>
        </p:txBody>
      </p:sp>
      <p:sp>
        <p:nvSpPr>
          <p:cNvPr id="7" name="">
            <a:extLst xmlns:a="http://schemas.openxmlformats.org/drawingml/2006/main">
              <a:ext uri="{FF2B5EF4-FFF2-40B4-BE49-F238E27FC236}">
                <a16:creationId xmlns:a16="http://schemas.microsoft.com/office/drawing/2014/main" id="{7BEC87B7-DF1B-44F0-B884-A29C740467F2}"/>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성균관 PDF 38쪽 / 이화 PDF 15~16쪽</a:t>
            </a:r>
          </a:p>
        </p:txBody>
      </p:sp>
      <p:sp>
        <p:nvSpPr>
          <p:cNvPr id="8" name="">
            <a:extLst xmlns:a="http://schemas.openxmlformats.org/drawingml/2006/main">
              <a:ext uri="{FF2B5EF4-FFF2-40B4-BE49-F238E27FC236}">
                <a16:creationId xmlns:a16="http://schemas.microsoft.com/office/drawing/2014/main" id="{10C51F5F-8770-4328-8CD2-CD18C7F51E25}"/>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27</a:t>
            </a:r>
          </a:p>
        </p:txBody>
      </p:sp>
    </p:spTree>
    <p:extLst>
      <p:ext uri="{BB962C8B-B14F-4D97-AF65-F5344CB8AC3E}">
        <p14:creationId xmlns:p14="http://schemas.microsoft.com/office/powerpoint/2010/main" val="157154992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960D7C-5CC7-4226-9C45-28A76737F090}"/>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11 거점국립대의 수능 반영</a:t>
            </a:r>
          </a:p>
        </p:txBody>
      </p:sp>
      <p:sp>
        <p:nvSpPr>
          <p:cNvPr id="2" name="">
            <a:extLst xmlns:a="http://schemas.openxmlformats.org/drawingml/2006/main">
              <a:ext uri="{FF2B5EF4-FFF2-40B4-BE49-F238E27FC236}">
                <a16:creationId xmlns:a16="http://schemas.microsoft.com/office/drawing/2014/main" id="{C427A847-1686-4A6E-AC52-288824A6B6B2}"/>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거점국립대 활용지표와 탐구 비교 1</a:t>
            </a:r>
          </a:p>
        </p:txBody>
      </p:sp>
      <p:graphicFrame>
        <p:nvGraphicFramePr>
          <p:cNvPr id="3" name="">
            <a:extLst xmlns:a="http://schemas.openxmlformats.org/drawingml/2006/main">
              <a:ext uri="{FF2B5EF4-FFF2-40B4-BE49-F238E27FC236}">
                <a16:creationId xmlns:a16="http://schemas.microsoft.com/office/drawing/2014/main" id="{A7C61A27-9420-4432-A55F-811D9FAF9EDA}"/>
              </a:ext>
            </a:extLst>
          </p:cNvPr>
          <p:cNvGraphicFramePr/>
          <p:nvPr/>
        </p:nvGraphicFramePr>
        <p:xfrm>
          <a:off xmlns:a="http://schemas.openxmlformats.org/drawingml/2006/main" x="314325" y="1362075"/>
          <a:ext xmlns:a="http://schemas.openxmlformats.org/drawingml/2006/main" cx="7953375" cy="2649093"/>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대학·범위</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국·수·탐 활용지표</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탐구 반영 특징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강원대 춘천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백분위</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사회·과학 2과목, 계열별 가중</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강원대 삼척·도계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백분위</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우수 2개 영역, 탐구 반영 시 1과목</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강원대 강릉·원주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백분위</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우수 3개 영역, 치의예 별도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경북대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표준점수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2과목, 인문·자연의 사회·과학 가중 차이</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경상국립대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표준점수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2과목, 인문과 자연의 가중 차이</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019D6B1-A16A-4751-ABE8-DDA8420CEEA1}"/>
              </a:ext>
            </a:extLst>
          </p:cNvPr>
          <p:cNvSpPr>
            <a:spLocks xmlns:a="http://schemas.openxmlformats.org/drawingml/2006/main" noGrp="1"/>
          </p:cNvSpPr>
          <p:nvPr/>
        </p:nvSpPr>
        <p:spPr>
          <a:xfrm xmlns:a="http://schemas.openxmlformats.org/drawingml/2006/main">
            <a:off x="314325" y="4106418"/>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강원대 캠퍼스별 모집단위 예외·가산점은 해당 캠퍼스 시행계획 기준.</a:t>
            </a:r>
          </a:p>
        </p:txBody>
      </p:sp>
      <p:sp>
        <p:nvSpPr>
          <p:cNvPr id="5" name="">
            <a:extLst xmlns:a="http://schemas.openxmlformats.org/drawingml/2006/main">
              <a:ext uri="{FF2B5EF4-FFF2-40B4-BE49-F238E27FC236}">
                <a16:creationId xmlns:a16="http://schemas.microsoft.com/office/drawing/2014/main" id="{77E4131C-A1D5-4F40-A950-9E3A7E6B6330}"/>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강원대는 캠퍼스별 반영방식을 하나로 묶지 않는 것이 중요하다. 춘천의 계열별 반영비율과 삼척·도계의 우수 영역 선택 방식, 강릉·원주의 우수 영역 선택 방식을 나누어 정리해야 한다.</a:t>
            </a:r>
          </a:p>
        </p:txBody>
      </p:sp>
      <p:sp>
        <p:nvSpPr>
          <p:cNvPr id="6" name="">
            <a:extLst xmlns:a="http://schemas.openxmlformats.org/drawingml/2006/main">
              <a:ext uri="{FF2B5EF4-FFF2-40B4-BE49-F238E27FC236}">
                <a16:creationId xmlns:a16="http://schemas.microsoft.com/office/drawing/2014/main" id="{B4529C46-ACEA-4589-9534-07AD81CDE501}"/>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경북대와 경상국립대는 표준점수를 활용하지만 영역별 반영비율은 같지 않다. 인문·자연계열의 사회·과학 가중치를 확인하고, 영어와 한국사의 별도 처리까지 포함해 환산 구조를 읽어야 한다.</a:t>
            </a:r>
          </a:p>
        </p:txBody>
      </p:sp>
      <p:sp>
        <p:nvSpPr>
          <p:cNvPr id="7" name="">
            <a:extLst xmlns:a="http://schemas.openxmlformats.org/drawingml/2006/main">
              <a:ext uri="{FF2B5EF4-FFF2-40B4-BE49-F238E27FC236}">
                <a16:creationId xmlns:a16="http://schemas.microsoft.com/office/drawing/2014/main" id="{41313706-A1EC-49A5-A7CA-213B01A1E249}"/>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109·124·128쪽 / 강원·경북·경상 시행계획 수능 반영방법</a:t>
            </a:r>
          </a:p>
        </p:txBody>
      </p:sp>
      <p:sp>
        <p:nvSpPr>
          <p:cNvPr id="8" name="">
            <a:extLst xmlns:a="http://schemas.openxmlformats.org/drawingml/2006/main">
              <a:ext uri="{FF2B5EF4-FFF2-40B4-BE49-F238E27FC236}">
                <a16:creationId xmlns:a16="http://schemas.microsoft.com/office/drawing/2014/main" id="{6161105D-E6DD-4FB0-A1D0-7B90822E79E5}"/>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28</a:t>
            </a:r>
          </a:p>
        </p:txBody>
      </p:sp>
    </p:spTree>
    <p:extLst>
      <p:ext uri="{BB962C8B-B14F-4D97-AF65-F5344CB8AC3E}">
        <p14:creationId xmlns:p14="http://schemas.microsoft.com/office/powerpoint/2010/main" val="93154056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6C266B-F04F-4E49-9DDF-9D36B03548AF}"/>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11 거점국립대의 수능 반영</a:t>
            </a:r>
          </a:p>
        </p:txBody>
      </p:sp>
      <p:sp>
        <p:nvSpPr>
          <p:cNvPr id="2" name="">
            <a:extLst xmlns:a="http://schemas.openxmlformats.org/drawingml/2006/main">
              <a:ext uri="{FF2B5EF4-FFF2-40B4-BE49-F238E27FC236}">
                <a16:creationId xmlns:a16="http://schemas.microsoft.com/office/drawing/2014/main" id="{7F841D49-C0F8-4DF7-995C-3855C93BAC37}"/>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거점국립대 활용지표와 탐구 비교 2</a:t>
            </a:r>
          </a:p>
        </p:txBody>
      </p:sp>
      <p:graphicFrame>
        <p:nvGraphicFramePr>
          <p:cNvPr id="3" name="">
            <a:extLst xmlns:a="http://schemas.openxmlformats.org/drawingml/2006/main">
              <a:ext uri="{FF2B5EF4-FFF2-40B4-BE49-F238E27FC236}">
                <a16:creationId xmlns:a16="http://schemas.microsoft.com/office/drawing/2014/main" id="{0C498A06-A93A-46B3-A2AD-C348412F7963}"/>
              </a:ext>
            </a:extLst>
          </p:cNvPr>
          <p:cNvGraphicFramePr/>
          <p:nvPr/>
        </p:nvGraphicFramePr>
        <p:xfrm>
          <a:off xmlns:a="http://schemas.openxmlformats.org/drawingml/2006/main" x="314325" y="1362075"/>
          <a:ext xmlns:a="http://schemas.openxmlformats.org/drawingml/2006/main" cx="7953375" cy="2707386"/>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대학·범위</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국·수·탐 활용지표</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탐구 반영 특징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96443">
                <a:tc>
                  <a:txBody>
                    <a:bodyPr/>
                    <a:lstStyle/>
                    <a:p>
                      <a:pPr algn="l"/>
                      <a:r>
                        <a:rPr sz="1275" b="1">
                          <a:solidFill>
                            <a:srgbClr val="111111"/>
                          </a:solidFill>
                          <a:latin typeface="맑은 고딕"/>
                          <a:ea typeface="맑은 고딕"/>
                          <a:cs typeface="맑은 고딕"/>
                        </a:rPr>
                        <a:t>부산대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표준점수 기반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사회·과학을 계열별 배점으로 각각 반영</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전남대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표준점수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일반 1과목, 의·치·약·수의는 2과목 평균</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전북대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백분위</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2과목, 계열별 사회·과학 가중 차이</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제주대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백분위</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탐구 1과목</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충남대·충북대 일반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표준점수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탐구 2과목, 계열별 가중 차이</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7149A30-1DCD-497B-8028-1360B1667434}"/>
              </a:ext>
            </a:extLst>
          </p:cNvPr>
          <p:cNvSpPr>
            <a:spLocks xmlns:a="http://schemas.openxmlformats.org/drawingml/2006/main" noGrp="1"/>
          </p:cNvSpPr>
          <p:nvPr/>
        </p:nvSpPr>
        <p:spPr>
          <a:xfrm xmlns:a="http://schemas.openxmlformats.org/drawingml/2006/main">
            <a:off x="314325" y="4164711"/>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부산대는 요약자료의 지표 명칭보다 시행계획의 영역별 산출식을 우선 확인.</a:t>
            </a:r>
          </a:p>
        </p:txBody>
      </p:sp>
      <p:sp>
        <p:nvSpPr>
          <p:cNvPr id="5" name="">
            <a:extLst xmlns:a="http://schemas.openxmlformats.org/drawingml/2006/main">
              <a:ext uri="{FF2B5EF4-FFF2-40B4-BE49-F238E27FC236}">
                <a16:creationId xmlns:a16="http://schemas.microsoft.com/office/drawing/2014/main" id="{E4CB594F-FA7F-4A2B-B868-B09AE51623C3}"/>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지방거점국립대의 탐구 반영 과목 수도 동일하지 않다. 전남대는 일반 모집단위와 의약학계열의 반영방식이 다르고, 제주대는 1과목을 반영한다. 다른 대학의 기준을 그대로 옮겨 쓰지 않아야 한다.</a:t>
            </a:r>
          </a:p>
        </p:txBody>
      </p:sp>
      <p:sp>
        <p:nvSpPr>
          <p:cNvPr id="6" name="">
            <a:extLst xmlns:a="http://schemas.openxmlformats.org/drawingml/2006/main">
              <a:ext uri="{FF2B5EF4-FFF2-40B4-BE49-F238E27FC236}">
                <a16:creationId xmlns:a16="http://schemas.microsoft.com/office/drawing/2014/main" id="{80F913E9-E2CE-4256-980A-A39682E36C97}"/>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전북대는 백분위를, 충남대와 충북대는 표준점수를 활용한다. 같은 탐구 2과목 반영이라도 활용지표와 계열별 가중치가 다르므로, 대학별 환산식에 따라 비교해야 한다.</a:t>
            </a:r>
          </a:p>
        </p:txBody>
      </p:sp>
      <p:sp>
        <p:nvSpPr>
          <p:cNvPr id="7" name="">
            <a:extLst xmlns:a="http://schemas.openxmlformats.org/drawingml/2006/main">
              <a:ext uri="{FF2B5EF4-FFF2-40B4-BE49-F238E27FC236}">
                <a16:creationId xmlns:a16="http://schemas.microsoft.com/office/drawing/2014/main" id="{E829ABB6-7F12-4C6D-9D76-86C8F7DA2BBC}"/>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SEN 173·246·250·253·266·270쪽 / 각 대학 시행계획 수능 반영방법</a:t>
            </a:r>
          </a:p>
        </p:txBody>
      </p:sp>
      <p:sp>
        <p:nvSpPr>
          <p:cNvPr id="8" name="">
            <a:extLst xmlns:a="http://schemas.openxmlformats.org/drawingml/2006/main">
              <a:ext uri="{FF2B5EF4-FFF2-40B4-BE49-F238E27FC236}">
                <a16:creationId xmlns:a16="http://schemas.microsoft.com/office/drawing/2014/main" id="{3431B072-6853-44C0-8204-A1312B190EE3}"/>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29</a:t>
            </a:r>
          </a:p>
        </p:txBody>
      </p:sp>
    </p:spTree>
    <p:extLst>
      <p:ext uri="{BB962C8B-B14F-4D97-AF65-F5344CB8AC3E}">
        <p14:creationId xmlns:p14="http://schemas.microsoft.com/office/powerpoint/2010/main" val="19272237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F37222-44E9-4715-8247-15EA7D3F5E31}"/>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12 주요 대학 심화</a:t>
            </a:r>
          </a:p>
        </p:txBody>
      </p:sp>
      <p:sp>
        <p:nvSpPr>
          <p:cNvPr id="2" name="">
            <a:extLst xmlns:a="http://schemas.openxmlformats.org/drawingml/2006/main">
              <a:ext uri="{FF2B5EF4-FFF2-40B4-BE49-F238E27FC236}">
                <a16:creationId xmlns:a16="http://schemas.microsoft.com/office/drawing/2014/main" id="{D9BD663F-4F1E-4485-A011-7B883B2BD997}"/>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서울대는 단계와 평가점수 범위를 함께 본다</a:t>
            </a:r>
          </a:p>
        </p:txBody>
      </p:sp>
      <p:graphicFrame>
        <p:nvGraphicFramePr>
          <p:cNvPr id="3" name="">
            <a:extLst xmlns:a="http://schemas.openxmlformats.org/drawingml/2006/main">
              <a:ext uri="{FF2B5EF4-FFF2-40B4-BE49-F238E27FC236}">
                <a16:creationId xmlns:a16="http://schemas.microsoft.com/office/drawing/2014/main" id="{159FB16D-CA67-408B-9DA7-7D14170BAACB}"/>
              </a:ext>
            </a:extLst>
          </p:cNvPr>
          <p:cNvGraphicFramePr/>
          <p:nvPr/>
        </p:nvGraphicFramePr>
        <p:xfrm>
          <a:off xmlns:a="http://schemas.openxmlformats.org/drawingml/2006/main" x="314325" y="1362075"/>
          <a:ext xmlns:a="http://schemas.openxmlformats.org/drawingml/2006/main" cx="7953375" cy="2152650"/>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구분</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일반전형 대부분 모집단위</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의·수의 모집단위</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1단계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등급 환산 합, 3배수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등급 환산 합, 3배수</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2단계</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60+교과역량 40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60+교과역량 20+면접 20</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수능 원자료</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국어·수학·탐구 백분위</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국어·수학·탐구 백분위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교과역량 등급점수</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A+ 40점 ~ C 35점</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A+ 20점 ~ C 17.5점</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426CD9C4-CBE3-4206-9E38-8432C64240B6}"/>
              </a:ext>
            </a:extLst>
          </p:cNvPr>
          <p:cNvSpPr>
            <a:spLocks xmlns:a="http://schemas.openxmlformats.org/drawingml/2006/main" noGrp="1"/>
          </p:cNvSpPr>
          <p:nvPr/>
        </p:nvSpPr>
        <p:spPr>
          <a:xfrm xmlns:a="http://schemas.openxmlformats.org/drawingml/2006/main">
            <a:off x="314325" y="3609975"/>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미술·체육·음악 등은 별도 전형방법. 교과역량 2인 평가점수 평균, 결격 사유 규정 별도.</a:t>
            </a:r>
          </a:p>
        </p:txBody>
      </p:sp>
      <p:sp>
        <p:nvSpPr>
          <p:cNvPr id="5" name="">
            <a:extLst xmlns:a="http://schemas.openxmlformats.org/drawingml/2006/main">
              <a:ext uri="{FF2B5EF4-FFF2-40B4-BE49-F238E27FC236}">
                <a16:creationId xmlns:a16="http://schemas.microsoft.com/office/drawing/2014/main" id="{9D775F71-5A00-4429-B36B-DD2B1CE2D799}"/>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서울대 정시 일반전형은 1단계와 2단계에서 수능 지표와 평가요소가 달라진다. 대부분 모집단위는 수능 등급으로 3배수를 선발한 뒤 수능 백분위와 교과역량평가를 합산한다. 의과대학과 수의과대학은 면접 20점을 별도로 반영한다.</a:t>
            </a:r>
          </a:p>
        </p:txBody>
      </p:sp>
      <p:sp>
        <p:nvSpPr>
          <p:cNvPr id="6" name="">
            <a:extLst xmlns:a="http://schemas.openxmlformats.org/drawingml/2006/main">
              <a:ext uri="{FF2B5EF4-FFF2-40B4-BE49-F238E27FC236}">
                <a16:creationId xmlns:a16="http://schemas.microsoft.com/office/drawing/2014/main" id="{8A275492-009F-4827-BE7E-A697A3D0BA66}"/>
              </a:ext>
            </a:extLst>
          </p:cNvPr>
          <p:cNvSpPr>
            <a:spLocks xmlns:a="http://schemas.openxmlformats.org/drawingml/2006/main" noGrp="1"/>
          </p:cNvSpPr>
          <p:nvPr/>
        </p:nvSpPr>
        <p:spPr>
          <a:xfrm xmlns:a="http://schemas.openxmlformats.org/drawingml/2006/main">
            <a:off x="314325" y="5829071"/>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교과역량평가 40점이라는 배점을 곧바로 40점의 변별폭으로 해석해서는 안 된다. 제시된 평가등급 점수는 35~40점이다. 또 일부 인문 모집단위는 수능 제2외국어/한문 응시가 필수이며, 고교 과목 이수 권장과는 다른 조건이다.</a:t>
            </a:r>
          </a:p>
        </p:txBody>
      </p:sp>
      <p:sp>
        <p:nvSpPr>
          <p:cNvPr id="7" name="">
            <a:extLst xmlns:a="http://schemas.openxmlformats.org/drawingml/2006/main">
              <a:ext uri="{FF2B5EF4-FFF2-40B4-BE49-F238E27FC236}">
                <a16:creationId xmlns:a16="http://schemas.microsoft.com/office/drawing/2014/main" id="{7B43C68D-CF61-4F27-8A9C-E0218D2A67E8}"/>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서울 PDF 17~20·35~36쪽</a:t>
            </a:r>
          </a:p>
        </p:txBody>
      </p:sp>
      <p:sp>
        <p:nvSpPr>
          <p:cNvPr id="8" name="">
            <a:extLst xmlns:a="http://schemas.openxmlformats.org/drawingml/2006/main">
              <a:ext uri="{FF2B5EF4-FFF2-40B4-BE49-F238E27FC236}">
                <a16:creationId xmlns:a16="http://schemas.microsoft.com/office/drawing/2014/main" id="{4826DBCA-0F80-41D6-9DE1-7FD315791E84}"/>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30</a:t>
            </a:r>
          </a:p>
        </p:txBody>
      </p:sp>
    </p:spTree>
    <p:extLst>
      <p:ext uri="{BB962C8B-B14F-4D97-AF65-F5344CB8AC3E}">
        <p14:creationId xmlns:p14="http://schemas.microsoft.com/office/powerpoint/2010/main" val="67450884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F87A4F-D16C-4AEB-A881-072395F193EA}"/>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12 주요 대학 심화</a:t>
            </a:r>
          </a:p>
        </p:txBody>
      </p:sp>
      <p:sp>
        <p:nvSpPr>
          <p:cNvPr id="2" name="">
            <a:extLst xmlns:a="http://schemas.openxmlformats.org/drawingml/2006/main">
              <a:ext uri="{FF2B5EF4-FFF2-40B4-BE49-F238E27FC236}">
                <a16:creationId xmlns:a16="http://schemas.microsoft.com/office/drawing/2014/main" id="{E60602F5-CDC3-4585-9E72-91D7D2AD307B}"/>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성균관대는 수능 유형과 학생부형을 구분한다</a:t>
            </a:r>
          </a:p>
        </p:txBody>
      </p:sp>
      <p:graphicFrame>
        <p:nvGraphicFramePr>
          <p:cNvPr id="3" name="">
            <a:extLst xmlns:a="http://schemas.openxmlformats.org/drawingml/2006/main">
              <a:ext uri="{FF2B5EF4-FFF2-40B4-BE49-F238E27FC236}">
                <a16:creationId xmlns:a16="http://schemas.microsoft.com/office/drawing/2014/main" id="{BB2ED8F3-75F2-4842-9FCB-A0E860749445}"/>
              </a:ext>
            </a:extLst>
          </p:cNvPr>
          <p:cNvGraphicFramePr/>
          <p:nvPr/>
        </p:nvGraphicFramePr>
        <p:xfrm>
          <a:off xmlns:a="http://schemas.openxmlformats.org/drawingml/2006/main" x="314325" y="1362075"/>
          <a:ext xmlns:a="http://schemas.openxmlformats.org/drawingml/2006/main" cx="7953375" cy="2210943"/>
        </p:xfrm>
        <a:graphic xmlns:a="http://schemas.openxmlformats.org/drawingml/2006/main">
          <a:graphicData uri="http://schemas.openxmlformats.org/drawingml/2006/table">
            <a:tbl>
              <a:tblPr/>
              <a:tblGrid>
                <a:gridCol w="2047875"/>
                <a:gridCol w="2762250"/>
                <a:gridCol w="3143250"/>
              </a:tblGrid>
              <a:tr h="400050">
                <a:tc>
                  <a:txBody>
                    <a:bodyPr/>
                    <a:lstStyle/>
                    <a:p>
                      <a:pPr algn="l"/>
                      <a:r>
                        <a:rPr sz="1275" b="1">
                          <a:solidFill>
                            <a:srgbClr val="FFFFFF"/>
                          </a:solidFill>
                          <a:latin typeface="맑은 고딕"/>
                          <a:ea typeface="맑은 고딕"/>
                          <a:cs typeface="맑은 고딕"/>
                        </a:rPr>
                        <a:t>유형</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선발 기준</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지원·반영 특징</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38150">
                <a:tc>
                  <a:txBody>
                    <a:bodyPr/>
                    <a:lstStyle/>
                    <a:p>
                      <a:pPr algn="l"/>
                      <a:r>
                        <a:rPr sz="1275" b="1">
                          <a:solidFill>
                            <a:srgbClr val="111111"/>
                          </a:solidFill>
                          <a:latin typeface="맑은 고딕"/>
                          <a:ea typeface="맑은 고딕"/>
                          <a:cs typeface="맑은 고딕"/>
                        </a:rPr>
                        <a:t>일반형</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수능 100 중심</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모집군·모집단위별 반영방식 차등</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38150">
                <a:tc>
                  <a:txBody>
                    <a:bodyPr/>
                    <a:lstStyle/>
                    <a:p>
                      <a:pPr algn="l"/>
                      <a:r>
                        <a:rPr sz="1275" b="1">
                          <a:solidFill>
                            <a:srgbClr val="111111"/>
                          </a:solidFill>
                          <a:latin typeface="맑은 고딕"/>
                          <a:ea typeface="맑은 고딕"/>
                          <a:cs typeface="맑은 고딕"/>
                        </a:rPr>
                        <a:t>특화형</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수능 100</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국어+탐구 또는 수학+탐구 중심 가중</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38150">
                <a:tc>
                  <a:txBody>
                    <a:bodyPr/>
                    <a:lstStyle/>
                    <a:p>
                      <a:pPr algn="l"/>
                      <a:r>
                        <a:rPr sz="1275" b="1">
                          <a:solidFill>
                            <a:srgbClr val="111111"/>
                          </a:solidFill>
                          <a:latin typeface="맑은 고딕"/>
                          <a:ea typeface="맑은 고딕"/>
                          <a:cs typeface="맑은 고딕"/>
                        </a:rPr>
                        <a:t>정시 융합인재</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학생부 100+수능최저</a:t>
                      </a:r>
                    </a:p>
                  </a:txBody>
                  <a:tcPr marL="85725" marR="85725" marT="47625" marB="47625" anchor="ctr">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다군 40명, 현역·졸업생 지원 가능</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공통 확인</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자체 변환점수</a:t>
                      </a:r>
                    </a:p>
                  </a:txBody>
                  <a:tcPr marL="85725" marR="85725" marT="47625" marB="47625" anchor="ctr">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표준점수·백분위·등급의 사용 영역 확인</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bl>
          </a:graphicData>
        </a:graphic>
      </p:graphicFrame>
      <p:sp>
        <p:nvSpPr>
          <p:cNvPr id="4" name="">
            <a:extLst xmlns:a="http://schemas.openxmlformats.org/drawingml/2006/main">
              <a:ext uri="{FF2B5EF4-FFF2-40B4-BE49-F238E27FC236}">
                <a16:creationId xmlns:a16="http://schemas.microsoft.com/office/drawing/2014/main" id="{36D94B77-A39D-437D-9297-819F661C5206}"/>
              </a:ext>
            </a:extLst>
          </p:cNvPr>
          <p:cNvSpPr>
            <a:spLocks xmlns:a="http://schemas.openxmlformats.org/drawingml/2006/main" noGrp="1"/>
          </p:cNvSpPr>
          <p:nvPr/>
        </p:nvSpPr>
        <p:spPr>
          <a:xfrm xmlns:a="http://schemas.openxmlformats.org/drawingml/2006/main">
            <a:off x="314325" y="3668268"/>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정시 융합인재 모집단위: 교육학·한문교육·수학교육·컴퓨터교육. 일반형 정원내·계약학과 인원 구분.</a:t>
            </a:r>
          </a:p>
        </p:txBody>
      </p:sp>
      <p:sp>
        <p:nvSpPr>
          <p:cNvPr id="5" name="">
            <a:extLst xmlns:a="http://schemas.openxmlformats.org/drawingml/2006/main">
              <a:ext uri="{FF2B5EF4-FFF2-40B4-BE49-F238E27FC236}">
                <a16:creationId xmlns:a16="http://schemas.microsoft.com/office/drawing/2014/main" id="{17C10FF2-2595-4D86-9F44-21A4AFC70F8D}"/>
              </a:ext>
            </a:extLst>
          </p:cNvPr>
          <p:cNvSpPr>
            <a:spLocks xmlns:a="http://schemas.openxmlformats.org/drawingml/2006/main" noGrp="1"/>
          </p:cNvSpPr>
          <p:nvPr/>
        </p:nvSpPr>
        <p:spPr>
          <a:xfrm xmlns:a="http://schemas.openxmlformats.org/drawingml/2006/main">
            <a:off x="314325" y="5048250"/>
            <a:ext cx="7953375" cy="6569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성균관대 정시는 일반형과 특화형의 수능 산출방식을 구분하는 것이 먼저다. 특화형도 수능 100% 전형이지만, 특정 영역을 강조하는 가중 구조와 대학 자체 변환점수를 활용한다. 수능 100%라는 공통점만으로 두 유형을 동일하게 볼 수 없다.</a:t>
            </a:r>
          </a:p>
        </p:txBody>
      </p:sp>
      <p:sp>
        <p:nvSpPr>
          <p:cNvPr id="6" name="">
            <a:extLst xmlns:a="http://schemas.openxmlformats.org/drawingml/2006/main">
              <a:ext uri="{FF2B5EF4-FFF2-40B4-BE49-F238E27FC236}">
                <a16:creationId xmlns:a16="http://schemas.microsoft.com/office/drawing/2014/main" id="{14027999-A91C-432F-AD38-1DEE5E3A5C8A}"/>
              </a:ext>
            </a:extLst>
          </p:cNvPr>
          <p:cNvSpPr>
            <a:spLocks xmlns:a="http://schemas.openxmlformats.org/drawingml/2006/main" noGrp="1"/>
          </p:cNvSpPr>
          <p:nvPr/>
        </p:nvSpPr>
        <p:spPr>
          <a:xfrm xmlns:a="http://schemas.openxmlformats.org/drawingml/2006/main">
            <a:off x="314325" y="5829071"/>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다군 융합인재는 학생부 100%로 선발하며 수능최저학력기준을 적용한다. 국어·수학·영어·사회·과학의 5개 영역(과목) 중 3개 등급 합 6 이내가 기준이다. 해당 전형은 졸업생도 지원할 수 있다.</a:t>
            </a:r>
          </a:p>
        </p:txBody>
      </p:sp>
      <p:sp>
        <p:nvSpPr>
          <p:cNvPr id="7" name="">
            <a:extLst xmlns:a="http://schemas.openxmlformats.org/drawingml/2006/main">
              <a:ext uri="{FF2B5EF4-FFF2-40B4-BE49-F238E27FC236}">
                <a16:creationId xmlns:a16="http://schemas.microsoft.com/office/drawing/2014/main" id="{520F6888-8D12-4E2F-8580-0542DB2AB28B}"/>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성균관 PDF 34~42쪽</a:t>
            </a:r>
          </a:p>
        </p:txBody>
      </p:sp>
      <p:sp>
        <p:nvSpPr>
          <p:cNvPr id="8" name="">
            <a:extLst xmlns:a="http://schemas.openxmlformats.org/drawingml/2006/main">
              <a:ext uri="{FF2B5EF4-FFF2-40B4-BE49-F238E27FC236}">
                <a16:creationId xmlns:a16="http://schemas.microsoft.com/office/drawing/2014/main" id="{254E59A6-D9FD-42F9-B2CA-D84F9DC97775}"/>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31</a:t>
            </a:r>
          </a:p>
        </p:txBody>
      </p:sp>
    </p:spTree>
    <p:extLst>
      <p:ext uri="{BB962C8B-B14F-4D97-AF65-F5344CB8AC3E}">
        <p14:creationId xmlns:p14="http://schemas.microsoft.com/office/powerpoint/2010/main" val="20528442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BBE497-3E18-4B2A-8AE6-D1187D7D0922}"/>
              </a:ext>
            </a:extLst>
          </p:cNvPr>
          <p:cNvSpPr>
            <a:spLocks xmlns:a="http://schemas.openxmlformats.org/drawingml/2006/main" noGrp="1"/>
          </p:cNvSpPr>
          <p:nvPr/>
        </p:nvSpPr>
        <p:spPr>
          <a:xfrm xmlns:a="http://schemas.openxmlformats.org/drawingml/2006/main">
            <a:off x="314325" y="209550"/>
            <a:ext cx="795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2060"/>
                </a:solidFill>
                <a:latin typeface="맑은 고딕"/>
                <a:ea typeface="맑은 고딕"/>
                <a:cs typeface="맑은 고딕"/>
              </a:defRPr>
            </a:defPPr>
            <a:lvl1pPr>
              <a:defRPr sz="1275" b="1">
                <a:solidFill>
                  <a:srgbClr val="002060"/>
                </a:solidFill>
                <a:latin typeface="맑은 고딕"/>
                <a:ea typeface="맑은 고딕"/>
                <a:cs typeface="맑은 고딕"/>
              </a:defRPr>
            </a:lvl1pPr>
            <a:lvl2pPr>
              <a:defRPr sz="1275" b="1">
                <a:solidFill>
                  <a:srgbClr val="002060"/>
                </a:solidFill>
                <a:latin typeface="맑은 고딕"/>
                <a:ea typeface="맑은 고딕"/>
                <a:cs typeface="맑은 고딕"/>
              </a:defRPr>
            </a:lvl2pPr>
            <a:lvl3pPr>
              <a:defRPr sz="1275" b="1">
                <a:solidFill>
                  <a:srgbClr val="002060"/>
                </a:solidFill>
                <a:latin typeface="맑은 고딕"/>
                <a:ea typeface="맑은 고딕"/>
                <a:cs typeface="맑은 고딕"/>
              </a:defRPr>
            </a:lvl3pPr>
            <a:lvl4pPr>
              <a:defRPr sz="1275" b="1">
                <a:solidFill>
                  <a:srgbClr val="002060"/>
                </a:solidFill>
                <a:latin typeface="맑은 고딕"/>
                <a:ea typeface="맑은 고딕"/>
                <a:cs typeface="맑은 고딕"/>
              </a:defRPr>
            </a:lvl4pPr>
            <a:lvl5pPr>
              <a:defRPr sz="1275" b="1">
                <a:solidFill>
                  <a:srgbClr val="002060"/>
                </a:solidFill>
                <a:latin typeface="맑은 고딕"/>
                <a:ea typeface="맑은 고딕"/>
                <a:cs typeface="맑은 고딕"/>
              </a:defRPr>
            </a:lvl5pPr>
            <a:lvl6pPr>
              <a:defRPr sz="1275" b="1">
                <a:solidFill>
                  <a:srgbClr val="002060"/>
                </a:solidFill>
                <a:latin typeface="맑은 고딕"/>
                <a:ea typeface="맑은 고딕"/>
                <a:cs typeface="맑은 고딕"/>
              </a:defRPr>
            </a:lvl6pPr>
            <a:lvl7pPr>
              <a:defRPr sz="1275" b="1">
                <a:solidFill>
                  <a:srgbClr val="002060"/>
                </a:solidFill>
                <a:latin typeface="맑은 고딕"/>
                <a:ea typeface="맑은 고딕"/>
                <a:cs typeface="맑은 고딕"/>
              </a:defRPr>
            </a:lvl7pPr>
            <a:lvl8pPr>
              <a:defRPr sz="1275" b="1">
                <a:solidFill>
                  <a:srgbClr val="002060"/>
                </a:solidFill>
                <a:latin typeface="맑은 고딕"/>
                <a:ea typeface="맑은 고딕"/>
                <a:cs typeface="맑은 고딕"/>
              </a:defRPr>
            </a:lvl8pPr>
            <a:lvl9pPr>
              <a:defRPr sz="1275" b="1">
                <a:solidFill>
                  <a:srgbClr val="002060"/>
                </a:solidFill>
                <a:latin typeface="맑은 고딕"/>
                <a:ea typeface="맑은 고딕"/>
                <a:cs typeface="맑은 고딕"/>
              </a:defRPr>
            </a:lvl9pPr>
          </a:lstStyle>
          <a:p xmlns:a="http://schemas.openxmlformats.org/drawingml/2006/main">
            <a:pPr>
              <a:defRPr sz="1275" b="1">
                <a:solidFill>
                  <a:srgbClr val="002060"/>
                </a:solidFill>
                <a:latin typeface="맑은 고딕"/>
                <a:ea typeface="맑은 고딕"/>
                <a:cs typeface="맑은 고딕"/>
              </a:defRPr>
            </a:pPr>
            <a:r>
              <a:rPr sz="1275" b="1">
                <a:solidFill>
                  <a:srgbClr val="002060"/>
                </a:solidFill>
                <a:latin typeface="맑은 고딕"/>
                <a:ea typeface="맑은 고딕"/>
                <a:cs typeface="맑은 고딕"/>
              </a:rPr>
              <a:t>13 집필의 정확성을 지키는 기준</a:t>
            </a:r>
          </a:p>
        </p:txBody>
      </p:sp>
      <p:sp>
        <p:nvSpPr>
          <p:cNvPr id="2" name="">
            <a:extLst xmlns:a="http://schemas.openxmlformats.org/drawingml/2006/main">
              <a:ext uri="{FF2B5EF4-FFF2-40B4-BE49-F238E27FC236}">
                <a16:creationId xmlns:a16="http://schemas.microsoft.com/office/drawing/2014/main" id="{0A540C72-3E77-4538-9B9A-9152BCCC3C72}"/>
              </a:ext>
            </a:extLst>
          </p:cNvPr>
          <p:cNvSpPr>
            <a:spLocks xmlns:a="http://schemas.openxmlformats.org/drawingml/2006/main" noGrp="1"/>
          </p:cNvSpPr>
          <p:nvPr/>
        </p:nvSpPr>
        <p:spPr>
          <a:xfrm xmlns:a="http://schemas.openxmlformats.org/drawingml/2006/main">
            <a:off x="314325" y="600075"/>
            <a:ext cx="795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2060"/>
                </a:solidFill>
                <a:latin typeface="맑은 고딕"/>
                <a:ea typeface="맑은 고딕"/>
                <a:cs typeface="맑은 고딕"/>
              </a:defRPr>
            </a:defPPr>
            <a:lvl1pPr>
              <a:defRPr sz="2100" b="1">
                <a:solidFill>
                  <a:srgbClr val="002060"/>
                </a:solidFill>
                <a:latin typeface="맑은 고딕"/>
                <a:ea typeface="맑은 고딕"/>
                <a:cs typeface="맑은 고딕"/>
              </a:defRPr>
            </a:lvl1pPr>
            <a:lvl2pPr>
              <a:defRPr sz="2100" b="1">
                <a:solidFill>
                  <a:srgbClr val="002060"/>
                </a:solidFill>
                <a:latin typeface="맑은 고딕"/>
                <a:ea typeface="맑은 고딕"/>
                <a:cs typeface="맑은 고딕"/>
              </a:defRPr>
            </a:lvl2pPr>
            <a:lvl3pPr>
              <a:defRPr sz="2100" b="1">
                <a:solidFill>
                  <a:srgbClr val="002060"/>
                </a:solidFill>
                <a:latin typeface="맑은 고딕"/>
                <a:ea typeface="맑은 고딕"/>
                <a:cs typeface="맑은 고딕"/>
              </a:defRPr>
            </a:lvl3pPr>
            <a:lvl4pPr>
              <a:defRPr sz="2100" b="1">
                <a:solidFill>
                  <a:srgbClr val="002060"/>
                </a:solidFill>
                <a:latin typeface="맑은 고딕"/>
                <a:ea typeface="맑은 고딕"/>
                <a:cs typeface="맑은 고딕"/>
              </a:defRPr>
            </a:lvl4pPr>
            <a:lvl5pPr>
              <a:defRPr sz="2100" b="1">
                <a:solidFill>
                  <a:srgbClr val="002060"/>
                </a:solidFill>
                <a:latin typeface="맑은 고딕"/>
                <a:ea typeface="맑은 고딕"/>
                <a:cs typeface="맑은 고딕"/>
              </a:defRPr>
            </a:lvl5pPr>
            <a:lvl6pPr>
              <a:defRPr sz="2100" b="1">
                <a:solidFill>
                  <a:srgbClr val="002060"/>
                </a:solidFill>
                <a:latin typeface="맑은 고딕"/>
                <a:ea typeface="맑은 고딕"/>
                <a:cs typeface="맑은 고딕"/>
              </a:defRPr>
            </a:lvl6pPr>
            <a:lvl7pPr>
              <a:defRPr sz="2100" b="1">
                <a:solidFill>
                  <a:srgbClr val="002060"/>
                </a:solidFill>
                <a:latin typeface="맑은 고딕"/>
                <a:ea typeface="맑은 고딕"/>
                <a:cs typeface="맑은 고딕"/>
              </a:defRPr>
            </a:lvl7pPr>
            <a:lvl8pPr>
              <a:defRPr sz="2100" b="1">
                <a:solidFill>
                  <a:srgbClr val="002060"/>
                </a:solidFill>
                <a:latin typeface="맑은 고딕"/>
                <a:ea typeface="맑은 고딕"/>
                <a:cs typeface="맑은 고딕"/>
              </a:defRPr>
            </a:lvl8pPr>
            <a:lvl9pPr>
              <a:defRPr sz="2100" b="1">
                <a:solidFill>
                  <a:srgbClr val="002060"/>
                </a:solidFill>
                <a:latin typeface="맑은 고딕"/>
                <a:ea typeface="맑은 고딕"/>
                <a:cs typeface="맑은 고딕"/>
              </a:defRPr>
            </a:lvl9pPr>
          </a:lstStyle>
          <a:p xmlns:a="http://schemas.openxmlformats.org/drawingml/2006/main">
            <a:pPr>
              <a:defRPr sz="2100" b="1">
                <a:solidFill>
                  <a:srgbClr val="002060"/>
                </a:solidFill>
                <a:latin typeface="맑은 고딕"/>
                <a:ea typeface="맑은 고딕"/>
                <a:cs typeface="맑은 고딕"/>
              </a:defRPr>
            </a:pPr>
            <a:r>
              <a:rPr sz="2100" b="1">
                <a:solidFill>
                  <a:srgbClr val="002060"/>
                </a:solidFill>
                <a:latin typeface="맑은 고딕"/>
                <a:ea typeface="맑은 고딕"/>
                <a:cs typeface="맑은 고딕"/>
              </a:rPr>
              <a:t>전형 이름보다 적용 범위와 근거가 먼저다</a:t>
            </a:r>
          </a:p>
        </p:txBody>
      </p:sp>
      <p:graphicFrame>
        <p:nvGraphicFramePr>
          <p:cNvPr id="3" name="">
            <a:extLst xmlns:a="http://schemas.openxmlformats.org/drawingml/2006/main">
              <a:ext uri="{FF2B5EF4-FFF2-40B4-BE49-F238E27FC236}">
                <a16:creationId xmlns:a16="http://schemas.microsoft.com/office/drawing/2014/main" id="{194930A6-0784-461C-8DC1-C8721ADADD39}"/>
              </a:ext>
            </a:extLst>
          </p:cNvPr>
          <p:cNvGraphicFramePr/>
          <p:nvPr/>
        </p:nvGraphicFramePr>
        <p:xfrm>
          <a:off xmlns:a="http://schemas.openxmlformats.org/drawingml/2006/main" x="314325" y="1362075"/>
          <a:ext xmlns:a="http://schemas.openxmlformats.org/drawingml/2006/main" cx="7953375" cy="2882265"/>
        </p:xfrm>
        <a:graphic xmlns:a="http://schemas.openxmlformats.org/drawingml/2006/main">
          <a:graphicData uri="http://schemas.openxmlformats.org/drawingml/2006/table">
            <a:tbl>
              <a:tblPr/>
              <a:tblGrid>
                <a:gridCol w="2143125"/>
                <a:gridCol w="5810250"/>
              </a:tblGrid>
              <a:tr h="400050">
                <a:tc>
                  <a:txBody>
                    <a:bodyPr/>
                    <a:lstStyle/>
                    <a:p>
                      <a:pPr algn="l"/>
                      <a:r>
                        <a:rPr sz="1275" b="1">
                          <a:solidFill>
                            <a:srgbClr val="FFFFFF"/>
                          </a:solidFill>
                          <a:latin typeface="맑은 고딕"/>
                          <a:ea typeface="맑은 고딕"/>
                          <a:cs typeface="맑은 고딕"/>
                        </a:rPr>
                        <a:t>오해하기 쉬운 문장</a:t>
                      </a:r>
                    </a:p>
                  </a:txBody>
                  <a:tcPr marL="85725" marR="85725" marT="47625" marB="47625" anchor="ctr">
                    <a:lnL w="5715">
                      <a:solidFill>
                        <a:srgbClr val="BCC6D3"/>
                      </a:solidFill>
                      <a:prstDash val="solid"/>
                    </a:lnL>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c>
                  <a:txBody>
                    <a:bodyPr/>
                    <a:lstStyle/>
                    <a:p>
                      <a:pPr algn="l"/>
                      <a:r>
                        <a:rPr sz="1275" b="1">
                          <a:solidFill>
                            <a:srgbClr val="FFFFFF"/>
                          </a:solidFill>
                          <a:latin typeface="맑은 고딕"/>
                          <a:ea typeface="맑은 고딕"/>
                          <a:cs typeface="맑은 고딕"/>
                        </a:rPr>
                        <a:t>정확하게 쓰는 방식</a:t>
                      </a:r>
                    </a:p>
                  </a:txBody>
                  <a:tcPr marL="85725" marR="85725" marT="47625" marB="47625" anchor="ctr">
                    <a:lnR w="5715">
                      <a:solidFill>
                        <a:srgbClr val="BCC6D3"/>
                      </a:solidFill>
                      <a:prstDash val="solid"/>
                    </a:lnR>
                    <a:lnT w="5715">
                      <a:solidFill>
                        <a:srgbClr val="BCC6D3"/>
                      </a:solidFill>
                      <a:prstDash val="solid"/>
                    </a:lnT>
                    <a:lnB w="5715">
                      <a:solidFill>
                        <a:srgbClr val="BCC6D3"/>
                      </a:solidFill>
                      <a:prstDash val="solid"/>
                    </a:lnB>
                    <a:solidFill>
                      <a:srgbClr val="002060"/>
                    </a:solidFill>
                  </a:tcPr>
                </a:tc>
              </a:tr>
              <a:tr h="496443">
                <a:tc>
                  <a:txBody>
                    <a:bodyPr/>
                    <a:lstStyle/>
                    <a:p>
                      <a:pPr algn="l"/>
                      <a:r>
                        <a:rPr sz="1275" b="1">
                          <a:solidFill>
                            <a:srgbClr val="111111"/>
                          </a:solidFill>
                          <a:latin typeface="맑은 고딕"/>
                          <a:ea typeface="맑은 고딕"/>
                          <a:cs typeface="맑은 고딕"/>
                        </a:rPr>
                        <a:t>“정시는 모두 수능 100%다”</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학생부 합산·정시 학생부종합·면접 전형을 구분</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“학생부 반영이면 졸업생은 불가”</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각 전형의 졸업연도·추천·학기 조건 확인</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“학생부 정성평가 대학 전체 적용”</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모집군·모집단위·유형별 적용 범위 명시</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r h="496443">
                <a:tc>
                  <a:txBody>
                    <a:bodyPr/>
                    <a:lstStyle/>
                    <a:p>
                      <a:pPr algn="l"/>
                      <a:r>
                        <a:rPr sz="1275" b="1">
                          <a:solidFill>
                            <a:srgbClr val="111111"/>
                          </a:solidFill>
                          <a:latin typeface="맑은 고딕"/>
                          <a:ea typeface="맑은 고딕"/>
                          <a:cs typeface="맑은 고딕"/>
                        </a:rPr>
                        <a:t>“탐구 1과목이면 한 과목만 응시”</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0F3F7"/>
                    </a:solidFill>
                  </a:tcPr>
                </a:tc>
                <a:tc>
                  <a:txBody>
                    <a:bodyPr/>
                    <a:lstStyle/>
                    <a:p>
                      <a:pPr algn="l"/>
                      <a:r>
                        <a:rPr sz="1275" b="0">
                          <a:solidFill>
                            <a:srgbClr val="111111"/>
                          </a:solidFill>
                          <a:latin typeface="맑은 고딕"/>
                          <a:ea typeface="맑은 고딕"/>
                          <a:cs typeface="맑은 고딕"/>
                        </a:rPr>
                        <a:t>응시 조건과 성적 반영 과목 수를 분리</a:t>
                      </a:r>
                    </a:p>
                  </a:txBody>
                  <a:tcPr marL="85725" marR="85725" marT="47625" marB="47625" anchor="ctr">
                    <a:lnR w="5715">
                      <a:solidFill>
                        <a:srgbClr val="BCC6D3"/>
                      </a:solidFill>
                      <a:prstDash val="solid"/>
                    </a:lnR>
                    <a:lnB w="5715">
                      <a:solidFill>
                        <a:srgbClr val="BCC6D3"/>
                      </a:solidFill>
                      <a:prstDash val="solid"/>
                    </a:lnB>
                    <a:solidFill>
                      <a:srgbClr val="F0F3F7"/>
                    </a:solidFill>
                  </a:tcPr>
                </a:tc>
              </a:tr>
              <a:tr h="496443">
                <a:tc>
                  <a:txBody>
                    <a:bodyPr/>
                    <a:lstStyle/>
                    <a:p>
                      <a:pPr algn="l"/>
                      <a:r>
                        <a:rPr sz="1275" b="1">
                          <a:solidFill>
                            <a:srgbClr val="111111"/>
                          </a:solidFill>
                          <a:latin typeface="맑은 고딕"/>
                          <a:ea typeface="맑은 고딕"/>
                          <a:cs typeface="맑은 고딕"/>
                        </a:rPr>
                        <a:t>“자료 간 인원이 다르면 합산”</a:t>
                      </a:r>
                    </a:p>
                  </a:txBody>
                  <a:tcPr marL="85725" marR="85725" marT="47625" marB="47625" anchor="ctr">
                    <a:lnL w="5715">
                      <a:solidFill>
                        <a:srgbClr val="BCC6D3"/>
                      </a:solidFill>
                      <a:prstDash val="solid"/>
                    </a:lnL>
                    <a:lnR w="5715">
                      <a:solidFill>
                        <a:srgbClr val="BCC6D3"/>
                      </a:solidFill>
                      <a:prstDash val="solid"/>
                    </a:lnR>
                    <a:lnB w="5715">
                      <a:solidFill>
                        <a:srgbClr val="BCC6D3"/>
                      </a:solidFill>
                      <a:prstDash val="solid"/>
                    </a:lnB>
                    <a:solidFill>
                      <a:srgbClr val="FFFFFF"/>
                    </a:solidFill>
                  </a:tcPr>
                </a:tc>
                <a:tc>
                  <a:txBody>
                    <a:bodyPr/>
                    <a:lstStyle/>
                    <a:p>
                      <a:pPr algn="l"/>
                      <a:r>
                        <a:rPr sz="1275" b="0">
                          <a:solidFill>
                            <a:srgbClr val="111111"/>
                          </a:solidFill>
                          <a:latin typeface="맑은 고딕"/>
                          <a:ea typeface="맑은 고딕"/>
                          <a:cs typeface="맑은 고딕"/>
                        </a:rPr>
                        <a:t>같은 기준의 원문 확인, 불일치는 보류</a:t>
                      </a:r>
                    </a:p>
                  </a:txBody>
                  <a:tcPr marL="85725" marR="85725" marT="47625" marB="47625" anchor="ctr">
                    <a:lnR w="5715">
                      <a:solidFill>
                        <a:srgbClr val="BCC6D3"/>
                      </a:solidFill>
                      <a:prstDash val="solid"/>
                    </a:lnR>
                    <a:lnB w="5715">
                      <a:solidFill>
                        <a:srgbClr val="BCC6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BD1EB84-0F10-4558-A18F-6005E495E218}"/>
              </a:ext>
            </a:extLst>
          </p:cNvPr>
          <p:cNvSpPr>
            <a:spLocks xmlns:a="http://schemas.openxmlformats.org/drawingml/2006/main" noGrp="1"/>
          </p:cNvSpPr>
          <p:nvPr/>
        </p:nvSpPr>
        <p:spPr>
          <a:xfrm xmlns:a="http://schemas.openxmlformats.org/drawingml/2006/main">
            <a:off x="314325" y="4339590"/>
            <a:ext cx="7953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30" b="0">
                <a:solidFill>
                  <a:srgbClr val="555555"/>
                </a:solidFill>
                <a:latin typeface="맑은 고딕"/>
                <a:ea typeface="맑은 고딕"/>
                <a:cs typeface="맑은 고딕"/>
              </a:defRPr>
            </a:defPPr>
            <a:lvl1pPr>
              <a:defRPr sz="930" b="0">
                <a:solidFill>
                  <a:srgbClr val="555555"/>
                </a:solidFill>
                <a:latin typeface="맑은 고딕"/>
                <a:ea typeface="맑은 고딕"/>
                <a:cs typeface="맑은 고딕"/>
              </a:defRPr>
            </a:lvl1pPr>
            <a:lvl2pPr>
              <a:defRPr sz="930" b="0">
                <a:solidFill>
                  <a:srgbClr val="555555"/>
                </a:solidFill>
                <a:latin typeface="맑은 고딕"/>
                <a:ea typeface="맑은 고딕"/>
                <a:cs typeface="맑은 고딕"/>
              </a:defRPr>
            </a:lvl2pPr>
            <a:lvl3pPr>
              <a:defRPr sz="930" b="0">
                <a:solidFill>
                  <a:srgbClr val="555555"/>
                </a:solidFill>
                <a:latin typeface="맑은 고딕"/>
                <a:ea typeface="맑은 고딕"/>
                <a:cs typeface="맑은 고딕"/>
              </a:defRPr>
            </a:lvl3pPr>
            <a:lvl4pPr>
              <a:defRPr sz="930" b="0">
                <a:solidFill>
                  <a:srgbClr val="555555"/>
                </a:solidFill>
                <a:latin typeface="맑은 고딕"/>
                <a:ea typeface="맑은 고딕"/>
                <a:cs typeface="맑은 고딕"/>
              </a:defRPr>
            </a:lvl4pPr>
            <a:lvl5pPr>
              <a:defRPr sz="930" b="0">
                <a:solidFill>
                  <a:srgbClr val="555555"/>
                </a:solidFill>
                <a:latin typeface="맑은 고딕"/>
                <a:ea typeface="맑은 고딕"/>
                <a:cs typeface="맑은 고딕"/>
              </a:defRPr>
            </a:lvl5pPr>
            <a:lvl6pPr>
              <a:defRPr sz="930" b="0">
                <a:solidFill>
                  <a:srgbClr val="555555"/>
                </a:solidFill>
                <a:latin typeface="맑은 고딕"/>
                <a:ea typeface="맑은 고딕"/>
                <a:cs typeface="맑은 고딕"/>
              </a:defRPr>
            </a:lvl6pPr>
            <a:lvl7pPr>
              <a:defRPr sz="930" b="0">
                <a:solidFill>
                  <a:srgbClr val="555555"/>
                </a:solidFill>
                <a:latin typeface="맑은 고딕"/>
                <a:ea typeface="맑은 고딕"/>
                <a:cs typeface="맑은 고딕"/>
              </a:defRPr>
            </a:lvl7pPr>
            <a:lvl8pPr>
              <a:defRPr sz="930" b="0">
                <a:solidFill>
                  <a:srgbClr val="555555"/>
                </a:solidFill>
                <a:latin typeface="맑은 고딕"/>
                <a:ea typeface="맑은 고딕"/>
                <a:cs typeface="맑은 고딕"/>
              </a:defRPr>
            </a:lvl8pPr>
            <a:lvl9pPr>
              <a:defRPr sz="930" b="0">
                <a:solidFill>
                  <a:srgbClr val="555555"/>
                </a:solidFill>
                <a:latin typeface="맑은 고딕"/>
                <a:ea typeface="맑은 고딕"/>
                <a:cs typeface="맑은 고딕"/>
              </a:defRPr>
            </a:lvl9pPr>
          </a:lstStyle>
          <a:p xmlns:a="http://schemas.openxmlformats.org/drawingml/2006/main">
            <a:pPr>
              <a:defRPr sz="930" b="0">
                <a:solidFill>
                  <a:srgbClr val="555555"/>
                </a:solidFill>
                <a:latin typeface="맑은 고딕"/>
                <a:ea typeface="맑은 고딕"/>
                <a:cs typeface="맑은 고딕"/>
              </a:defRPr>
            </a:pPr>
            <a:r>
              <a:rPr sz="930" b="0">
                <a:solidFill>
                  <a:srgbClr val="555555"/>
                </a:solidFill>
                <a:latin typeface="맑은 고딕"/>
                <a:ea typeface="맑은 고딕"/>
                <a:cs typeface="맑은 고딕"/>
              </a:rPr>
              <a:t>자료 기준: SEN 2026. 7. 2. 및 각 시행계획 공표본. 최신 변경 공지 전체를 확인한 최종 요강판은 아님.</a:t>
            </a:r>
          </a:p>
        </p:txBody>
      </p:sp>
      <p:sp>
        <p:nvSpPr>
          <p:cNvPr id="5" name="">
            <a:extLst xmlns:a="http://schemas.openxmlformats.org/drawingml/2006/main">
              <a:ext uri="{FF2B5EF4-FFF2-40B4-BE49-F238E27FC236}">
                <a16:creationId xmlns:a16="http://schemas.microsoft.com/office/drawing/2014/main" id="{142BF970-187B-419C-ADFA-28E7CF0CD6A8}"/>
              </a:ext>
            </a:extLst>
          </p:cNvPr>
          <p:cNvSpPr>
            <a:spLocks xmlns:a="http://schemas.openxmlformats.org/drawingml/2006/main" noGrp="1"/>
          </p:cNvSpPr>
          <p:nvPr/>
        </p:nvSpPr>
        <p:spPr>
          <a:xfrm xmlns:a="http://schemas.openxmlformats.org/drawingml/2006/main">
            <a:off x="314325" y="5048250"/>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이 자료는 대학별 시행계획을 기준으로 전형의 구조를 비교한 집필용 원고이다. 원문에 명시된 사실과 준비 방향에 대한 해석을 구분하고, 적용 범위가 있는 사례에는 모집군·전형·모집단위를 함께 표기하였다.</a:t>
            </a:r>
          </a:p>
        </p:txBody>
      </p:sp>
      <p:sp>
        <p:nvSpPr>
          <p:cNvPr id="6" name="">
            <a:extLst xmlns:a="http://schemas.openxmlformats.org/drawingml/2006/main">
              <a:ext uri="{FF2B5EF4-FFF2-40B4-BE49-F238E27FC236}">
                <a16:creationId xmlns:a16="http://schemas.microsoft.com/office/drawing/2014/main" id="{1C726FE6-AF52-4B89-9D62-DF6559FC7A1F}"/>
              </a:ext>
            </a:extLst>
          </p:cNvPr>
          <p:cNvSpPr>
            <a:spLocks xmlns:a="http://schemas.openxmlformats.org/drawingml/2006/main" noGrp="1"/>
          </p:cNvSpPr>
          <p:nvPr/>
        </p:nvSpPr>
        <p:spPr>
          <a:xfrm xmlns:a="http://schemas.openxmlformats.org/drawingml/2006/main">
            <a:off x="314325" y="5629123"/>
            <a:ext cx="7953375" cy="457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30" b="0">
                <a:solidFill>
                  <a:srgbClr val="111111"/>
                </a:solidFill>
                <a:latin typeface="맑은 고딕"/>
                <a:ea typeface="맑은 고딕"/>
                <a:cs typeface="맑은 고딕"/>
              </a:defRPr>
            </a:defPPr>
            <a:lvl1pPr>
              <a:defRPr sz="1230" b="0">
                <a:solidFill>
                  <a:srgbClr val="111111"/>
                </a:solidFill>
                <a:latin typeface="맑은 고딕"/>
                <a:ea typeface="맑은 고딕"/>
                <a:cs typeface="맑은 고딕"/>
              </a:defRPr>
            </a:lvl1pPr>
            <a:lvl2pPr>
              <a:defRPr sz="1230" b="0">
                <a:solidFill>
                  <a:srgbClr val="111111"/>
                </a:solidFill>
                <a:latin typeface="맑은 고딕"/>
                <a:ea typeface="맑은 고딕"/>
                <a:cs typeface="맑은 고딕"/>
              </a:defRPr>
            </a:lvl2pPr>
            <a:lvl3pPr>
              <a:defRPr sz="1230" b="0">
                <a:solidFill>
                  <a:srgbClr val="111111"/>
                </a:solidFill>
                <a:latin typeface="맑은 고딕"/>
                <a:ea typeface="맑은 고딕"/>
                <a:cs typeface="맑은 고딕"/>
              </a:defRPr>
            </a:lvl3pPr>
            <a:lvl4pPr>
              <a:defRPr sz="1230" b="0">
                <a:solidFill>
                  <a:srgbClr val="111111"/>
                </a:solidFill>
                <a:latin typeface="맑은 고딕"/>
                <a:ea typeface="맑은 고딕"/>
                <a:cs typeface="맑은 고딕"/>
              </a:defRPr>
            </a:lvl4pPr>
            <a:lvl5pPr>
              <a:defRPr sz="1230" b="0">
                <a:solidFill>
                  <a:srgbClr val="111111"/>
                </a:solidFill>
                <a:latin typeface="맑은 고딕"/>
                <a:ea typeface="맑은 고딕"/>
                <a:cs typeface="맑은 고딕"/>
              </a:defRPr>
            </a:lvl5pPr>
            <a:lvl6pPr>
              <a:defRPr sz="1230" b="0">
                <a:solidFill>
                  <a:srgbClr val="111111"/>
                </a:solidFill>
                <a:latin typeface="맑은 고딕"/>
                <a:ea typeface="맑은 고딕"/>
                <a:cs typeface="맑은 고딕"/>
              </a:defRPr>
            </a:lvl6pPr>
            <a:lvl7pPr>
              <a:defRPr sz="1230" b="0">
                <a:solidFill>
                  <a:srgbClr val="111111"/>
                </a:solidFill>
                <a:latin typeface="맑은 고딕"/>
                <a:ea typeface="맑은 고딕"/>
                <a:cs typeface="맑은 고딕"/>
              </a:defRPr>
            </a:lvl7pPr>
            <a:lvl8pPr>
              <a:defRPr sz="1230" b="0">
                <a:solidFill>
                  <a:srgbClr val="111111"/>
                </a:solidFill>
                <a:latin typeface="맑은 고딕"/>
                <a:ea typeface="맑은 고딕"/>
                <a:cs typeface="맑은 고딕"/>
              </a:defRPr>
            </a:lvl8pPr>
            <a:lvl9pPr>
              <a:defRPr sz="1230" b="0">
                <a:solidFill>
                  <a:srgbClr val="111111"/>
                </a:solidFill>
                <a:latin typeface="맑은 고딕"/>
                <a:ea typeface="맑은 고딕"/>
                <a:cs typeface="맑은 고딕"/>
              </a:defRPr>
            </a:lvl9pPr>
          </a:lstStyle>
          <a:p xmlns:a="http://schemas.openxmlformats.org/drawingml/2006/main">
            <a:pPr>
              <a:defRPr sz="1230" b="0">
                <a:solidFill>
                  <a:srgbClr val="111111"/>
                </a:solidFill>
                <a:latin typeface="맑은 고딕"/>
                <a:ea typeface="맑은 고딕"/>
                <a:cs typeface="맑은 고딕"/>
              </a:defRPr>
            </a:pPr>
            <a:r>
              <a:rPr sz="1230" b="0">
                <a:solidFill>
                  <a:srgbClr val="111111"/>
                </a:solidFill>
                <a:latin typeface="맑은 고딕"/>
                <a:ea typeface="맑은 고딕"/>
                <a:cs typeface="맑은 고딕"/>
              </a:rPr>
              <a:t>최종 모집요강이 발표되면 지원자격, 모집단위, 모집군, 수시 이월, 학생부 및 수능 산출식을 다시 대조해야 한다. 시행계획에 없는 비교내신이나 미확정 변환점수는 수치로 가정해 제시하지 않았다.</a:t>
            </a:r>
          </a:p>
        </p:txBody>
      </p:sp>
      <p:sp>
        <p:nvSpPr>
          <p:cNvPr id="7" name="">
            <a:extLst xmlns:a="http://schemas.openxmlformats.org/drawingml/2006/main">
              <a:ext uri="{FF2B5EF4-FFF2-40B4-BE49-F238E27FC236}">
                <a16:creationId xmlns:a16="http://schemas.microsoft.com/office/drawing/2014/main" id="{157C8E46-5270-4021-AA50-54E0538DA03F}"/>
              </a:ext>
            </a:extLst>
          </p:cNvPr>
          <p:cNvSpPr>
            <a:spLocks xmlns:a="http://schemas.openxmlformats.org/drawingml/2006/main" noGrp="1"/>
          </p:cNvSpPr>
          <p:nvPr/>
        </p:nvSpPr>
        <p:spPr>
          <a:xfrm xmlns:a="http://schemas.openxmlformats.org/drawingml/2006/main">
            <a:off x="314325" y="7200900"/>
            <a:ext cx="757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88" b="0">
                <a:solidFill>
                  <a:srgbClr val="666666"/>
                </a:solidFill>
                <a:latin typeface="맑은 고딕"/>
                <a:ea typeface="맑은 고딕"/>
                <a:cs typeface="맑은 고딕"/>
              </a:defRPr>
            </a:defPPr>
            <a:lvl1pPr>
              <a:defRPr sz="788" b="0">
                <a:solidFill>
                  <a:srgbClr val="666666"/>
                </a:solidFill>
                <a:latin typeface="맑은 고딕"/>
                <a:ea typeface="맑은 고딕"/>
                <a:cs typeface="맑은 고딕"/>
              </a:defRPr>
            </a:lvl1pPr>
            <a:lvl2pPr>
              <a:defRPr sz="788" b="0">
                <a:solidFill>
                  <a:srgbClr val="666666"/>
                </a:solidFill>
                <a:latin typeface="맑은 고딕"/>
                <a:ea typeface="맑은 고딕"/>
                <a:cs typeface="맑은 고딕"/>
              </a:defRPr>
            </a:lvl2pPr>
            <a:lvl3pPr>
              <a:defRPr sz="788" b="0">
                <a:solidFill>
                  <a:srgbClr val="666666"/>
                </a:solidFill>
                <a:latin typeface="맑은 고딕"/>
                <a:ea typeface="맑은 고딕"/>
                <a:cs typeface="맑은 고딕"/>
              </a:defRPr>
            </a:lvl3pPr>
            <a:lvl4pPr>
              <a:defRPr sz="788" b="0">
                <a:solidFill>
                  <a:srgbClr val="666666"/>
                </a:solidFill>
                <a:latin typeface="맑은 고딕"/>
                <a:ea typeface="맑은 고딕"/>
                <a:cs typeface="맑은 고딕"/>
              </a:defRPr>
            </a:lvl4pPr>
            <a:lvl5pPr>
              <a:defRPr sz="788" b="0">
                <a:solidFill>
                  <a:srgbClr val="666666"/>
                </a:solidFill>
                <a:latin typeface="맑은 고딕"/>
                <a:ea typeface="맑은 고딕"/>
                <a:cs typeface="맑은 고딕"/>
              </a:defRPr>
            </a:lvl5pPr>
            <a:lvl6pPr>
              <a:defRPr sz="788" b="0">
                <a:solidFill>
                  <a:srgbClr val="666666"/>
                </a:solidFill>
                <a:latin typeface="맑은 고딕"/>
                <a:ea typeface="맑은 고딕"/>
                <a:cs typeface="맑은 고딕"/>
              </a:defRPr>
            </a:lvl6pPr>
            <a:lvl7pPr>
              <a:defRPr sz="788" b="0">
                <a:solidFill>
                  <a:srgbClr val="666666"/>
                </a:solidFill>
                <a:latin typeface="맑은 고딕"/>
                <a:ea typeface="맑은 고딕"/>
                <a:cs typeface="맑은 고딕"/>
              </a:defRPr>
            </a:lvl7pPr>
            <a:lvl8pPr>
              <a:defRPr sz="788" b="0">
                <a:solidFill>
                  <a:srgbClr val="666666"/>
                </a:solidFill>
                <a:latin typeface="맑은 고딕"/>
                <a:ea typeface="맑은 고딕"/>
                <a:cs typeface="맑은 고딕"/>
              </a:defRPr>
            </a:lvl8pPr>
            <a:lvl9pPr>
              <a:defRPr sz="788" b="0">
                <a:solidFill>
                  <a:srgbClr val="666666"/>
                </a:solidFill>
                <a:latin typeface="맑은 고딕"/>
                <a:ea typeface="맑은 고딕"/>
                <a:cs typeface="맑은 고딕"/>
              </a:defRPr>
            </a:lvl9pPr>
          </a:lstStyle>
          <a:p xmlns:a="http://schemas.openxmlformats.org/drawingml/2006/main">
            <a:pPr>
              <a:defRPr sz="788" b="0">
                <a:solidFill>
                  <a:srgbClr val="666666"/>
                </a:solidFill>
                <a:latin typeface="맑은 고딕"/>
                <a:ea typeface="맑은 고딕"/>
                <a:cs typeface="맑은 고딕"/>
              </a:defRPr>
            </a:pPr>
            <a:r>
              <a:rPr sz="788" b="0">
                <a:solidFill>
                  <a:srgbClr val="666666"/>
                </a:solidFill>
                <a:latin typeface="맑은 고딕"/>
                <a:ea typeface="맑은 고딕"/>
                <a:cs typeface="맑은 고딕"/>
              </a:rPr>
              <a:t>근거  첨부 PDF 2종·엑셀, 보관 시행계획 원문 / 대학별 원문 경로·페이지는 슬라이드 노트와 근거 목록 참조</a:t>
            </a:r>
          </a:p>
        </p:txBody>
      </p:sp>
      <p:sp>
        <p:nvSpPr>
          <p:cNvPr id="8" name="">
            <a:extLst xmlns:a="http://schemas.openxmlformats.org/drawingml/2006/main">
              <a:ext uri="{FF2B5EF4-FFF2-40B4-BE49-F238E27FC236}">
                <a16:creationId xmlns:a16="http://schemas.microsoft.com/office/drawing/2014/main" id="{7BB3A2F5-E085-45C4-BF99-83FBA31AAA99}"/>
              </a:ext>
            </a:extLst>
          </p:cNvPr>
          <p:cNvSpPr>
            <a:spLocks xmlns:a="http://schemas.openxmlformats.org/drawingml/2006/main" noGrp="1"/>
          </p:cNvSpPr>
          <p:nvPr/>
        </p:nvSpPr>
        <p:spPr>
          <a:xfrm xmlns:a="http://schemas.openxmlformats.org/drawingml/2006/main">
            <a:off x="7953375" y="7200900"/>
            <a:ext cx="314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002060"/>
                </a:solidFill>
                <a:latin typeface="맑은 고딕"/>
                <a:ea typeface="맑은 고딕"/>
                <a:cs typeface="맑은 고딕"/>
              </a:defRPr>
            </a:defPPr>
            <a:lvl1pPr>
              <a:defRPr sz="900" b="0">
                <a:solidFill>
                  <a:srgbClr val="002060"/>
                </a:solidFill>
                <a:latin typeface="맑은 고딕"/>
                <a:ea typeface="맑은 고딕"/>
                <a:cs typeface="맑은 고딕"/>
              </a:defRPr>
            </a:lvl1pPr>
            <a:lvl2pPr>
              <a:defRPr sz="900" b="0">
                <a:solidFill>
                  <a:srgbClr val="002060"/>
                </a:solidFill>
                <a:latin typeface="맑은 고딕"/>
                <a:ea typeface="맑은 고딕"/>
                <a:cs typeface="맑은 고딕"/>
              </a:defRPr>
            </a:lvl2pPr>
            <a:lvl3pPr>
              <a:defRPr sz="900" b="0">
                <a:solidFill>
                  <a:srgbClr val="002060"/>
                </a:solidFill>
                <a:latin typeface="맑은 고딕"/>
                <a:ea typeface="맑은 고딕"/>
                <a:cs typeface="맑은 고딕"/>
              </a:defRPr>
            </a:lvl3pPr>
            <a:lvl4pPr>
              <a:defRPr sz="900" b="0">
                <a:solidFill>
                  <a:srgbClr val="002060"/>
                </a:solidFill>
                <a:latin typeface="맑은 고딕"/>
                <a:ea typeface="맑은 고딕"/>
                <a:cs typeface="맑은 고딕"/>
              </a:defRPr>
            </a:lvl4pPr>
            <a:lvl5pPr>
              <a:defRPr sz="900" b="0">
                <a:solidFill>
                  <a:srgbClr val="002060"/>
                </a:solidFill>
                <a:latin typeface="맑은 고딕"/>
                <a:ea typeface="맑은 고딕"/>
                <a:cs typeface="맑은 고딕"/>
              </a:defRPr>
            </a:lvl5pPr>
            <a:lvl6pPr>
              <a:defRPr sz="900" b="0">
                <a:solidFill>
                  <a:srgbClr val="002060"/>
                </a:solidFill>
                <a:latin typeface="맑은 고딕"/>
                <a:ea typeface="맑은 고딕"/>
                <a:cs typeface="맑은 고딕"/>
              </a:defRPr>
            </a:lvl6pPr>
            <a:lvl7pPr>
              <a:defRPr sz="900" b="0">
                <a:solidFill>
                  <a:srgbClr val="002060"/>
                </a:solidFill>
                <a:latin typeface="맑은 고딕"/>
                <a:ea typeface="맑은 고딕"/>
                <a:cs typeface="맑은 고딕"/>
              </a:defRPr>
            </a:lvl7pPr>
            <a:lvl8pPr>
              <a:defRPr sz="900" b="0">
                <a:solidFill>
                  <a:srgbClr val="002060"/>
                </a:solidFill>
                <a:latin typeface="맑은 고딕"/>
                <a:ea typeface="맑은 고딕"/>
                <a:cs typeface="맑은 고딕"/>
              </a:defRPr>
            </a:lvl8pPr>
            <a:lvl9pPr>
              <a:defRPr sz="900" b="0">
                <a:solidFill>
                  <a:srgbClr val="002060"/>
                </a:solidFill>
                <a:latin typeface="맑은 고딕"/>
                <a:ea typeface="맑은 고딕"/>
                <a:cs typeface="맑은 고딕"/>
              </a:defRPr>
            </a:lvl9pPr>
          </a:lstStyle>
          <a:p xmlns:a="http://schemas.openxmlformats.org/drawingml/2006/main">
            <a:pPr>
              <a:defRPr sz="900" b="0">
                <a:solidFill>
                  <a:srgbClr val="002060"/>
                </a:solidFill>
                <a:latin typeface="맑은 고딕"/>
                <a:ea typeface="맑은 고딕"/>
                <a:cs typeface="맑은 고딕"/>
              </a:defRPr>
            </a:pPr>
            <a:r>
              <a:rPr sz="900" b="0">
                <a:solidFill>
                  <a:srgbClr val="002060"/>
                </a:solidFill>
                <a:latin typeface="맑은 고딕"/>
                <a:ea typeface="맑은 고딕"/>
                <a:cs typeface="맑은 고딕"/>
              </a:rPr>
              <a:t>32</a:t>
            </a:r>
          </a:p>
        </p:txBody>
      </p:sp>
    </p:spTree>
    <p:extLst>
      <p:ext uri="{BB962C8B-B14F-4D97-AF65-F5344CB8AC3E}">
        <p14:creationId xmlns:p14="http://schemas.microsoft.com/office/powerpoint/2010/main" val="16276463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2026-10-19T00:56:14.8510000Z</dcterms:created>
  <dcterms:modified xsi:type="dcterms:W3CDTF">2026-10-19T00:56:14.8510000Z</dcterms:modified>
</coreProperties>
</file>